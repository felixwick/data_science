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3"/>
  </p:notesMasterIdLst>
  <p:sldIdLst>
    <p:sldId id="256" r:id="rId2"/>
    <p:sldId id="265" r:id="rId3"/>
    <p:sldId id="262" r:id="rId4"/>
    <p:sldId id="268" r:id="rId5"/>
    <p:sldId id="266" r:id="rId6"/>
    <p:sldId id="273" r:id="rId7"/>
    <p:sldId id="269" r:id="rId8"/>
    <p:sldId id="274" r:id="rId9"/>
    <p:sldId id="271" r:id="rId10"/>
    <p:sldId id="270" r:id="rId11"/>
    <p:sldId id="272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C76E5F-9D68-4973-8A2A-59949176DA9A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31405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11/01/2026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11/01/2026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11/01/2026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f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tiff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jpe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cs/python/environments" TargetMode="External"/><Relationship Id="rId2" Type="http://schemas.openxmlformats.org/officeDocument/2006/relationships/hyperlink" Target="https://docs.python.org/3/tutorial/venv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lab.research.google.com/" TargetMode="External"/><Relationship Id="rId4" Type="http://schemas.openxmlformats.org/officeDocument/2006/relationships/hyperlink" Target="https://code.visualstudio.com/docs/datascience/jupyter-notebooks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fleuret.org/public/lbdl.pdf" TargetMode="External"/><Relationship Id="rId2" Type="http://schemas.openxmlformats.org/officeDocument/2006/relationships/hyperlink" Target="https://www.deeplearningbook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udlbook.github.io/udlbook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Exploratory</a:t>
            </a:r>
            <a:r>
              <a:rPr lang="de-DE" dirty="0"/>
              <a:t> Data Analysis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Clustering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Probabilistic</a:t>
            </a:r>
            <a:r>
              <a:rPr lang="de-DE" dirty="0"/>
              <a:t>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Machine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de-DE" dirty="0"/>
              <a:t>Feature Engineering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Model Evaluation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Deep Learning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Time Series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 err="1"/>
              <a:t>Causality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B44F7-861D-5F7F-A3C4-DC4382499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Main Areas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Artificial</a:t>
            </a:r>
            <a:r>
              <a:rPr lang="de-DE" dirty="0"/>
              <a:t> </a:t>
            </a:r>
            <a:r>
              <a:rPr lang="de-DE" dirty="0" err="1"/>
              <a:t>Intelligence</a:t>
            </a:r>
            <a:r>
              <a:rPr lang="de-DE" dirty="0"/>
              <a:t> (AI)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CC8EC6-3F79-485E-71D3-142E15936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0461BE-CBBC-633F-BF4F-AD6554B61B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111" y="2282706"/>
            <a:ext cx="5603963" cy="921243"/>
          </a:xfrm>
          <a:prstGeom prst="rect">
            <a:avLst/>
          </a:prstGeom>
        </p:spPr>
      </p:pic>
      <p:pic>
        <p:nvPicPr>
          <p:cNvPr id="6" name="Picture 5" descr="A collage of many images&#10;&#10;Description automatically generated">
            <a:extLst>
              <a:ext uri="{FF2B5EF4-FFF2-40B4-BE49-F238E27FC236}">
                <a16:creationId xmlns:a16="http://schemas.microsoft.com/office/drawing/2014/main" id="{029F3378-177B-1DEF-9328-6E0FCD05D6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720" y="3952220"/>
            <a:ext cx="2078016" cy="207801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5A4FFF-1D36-AC9C-C62A-4BAEB008BB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1244" y="2218617"/>
            <a:ext cx="1841655" cy="199878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BAD89D0-9E61-6800-832F-2640E2937535}"/>
              </a:ext>
            </a:extLst>
          </p:cNvPr>
          <p:cNvSpPr txBox="1"/>
          <p:nvPr/>
        </p:nvSpPr>
        <p:spPr>
          <a:xfrm>
            <a:off x="439111" y="1759486"/>
            <a:ext cx="20638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tabular data</a:t>
            </a:r>
            <a:endParaRPr lang="en-GB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7F4D34-236A-5C86-228F-99672208DBD8}"/>
              </a:ext>
            </a:extLst>
          </p:cNvPr>
          <p:cNvSpPr txBox="1"/>
          <p:nvPr/>
        </p:nvSpPr>
        <p:spPr>
          <a:xfrm>
            <a:off x="609521" y="3429000"/>
            <a:ext cx="26804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computer vision</a:t>
            </a:r>
            <a:endParaRPr lang="en-GB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119B08-DDB6-BE91-ADEA-700B82E1A498}"/>
              </a:ext>
            </a:extLst>
          </p:cNvPr>
          <p:cNvSpPr txBox="1"/>
          <p:nvPr/>
        </p:nvSpPr>
        <p:spPr>
          <a:xfrm>
            <a:off x="7976972" y="1695397"/>
            <a:ext cx="28301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language models</a:t>
            </a:r>
            <a:endParaRPr lang="en-GB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CB25F8-AE37-1ACB-BA8E-33CFFD038092}"/>
              </a:ext>
            </a:extLst>
          </p:cNvPr>
          <p:cNvSpPr txBox="1"/>
          <p:nvPr/>
        </p:nvSpPr>
        <p:spPr>
          <a:xfrm>
            <a:off x="4725673" y="3654052"/>
            <a:ext cx="12922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control</a:t>
            </a:r>
            <a:endParaRPr lang="en-GB" sz="28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28E3C93-9BB5-54EC-0C68-41D872F0A9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5673" y="4177272"/>
            <a:ext cx="2750387" cy="134321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B545444-0F88-D652-43F5-7AB41F39A7A8}"/>
              </a:ext>
            </a:extLst>
          </p:cNvPr>
          <p:cNvSpPr txBox="1"/>
          <p:nvPr/>
        </p:nvSpPr>
        <p:spPr>
          <a:xfrm>
            <a:off x="3885793" y="5835544"/>
            <a:ext cx="5506278" cy="7694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200" dirty="0"/>
              <a:t>all </a:t>
            </a:r>
            <a:r>
              <a:rPr lang="de-DE" sz="2200" dirty="0" err="1"/>
              <a:t>empowered</a:t>
            </a:r>
            <a:r>
              <a:rPr lang="de-DE" sz="2200" dirty="0"/>
              <a:t> by one key </a:t>
            </a:r>
            <a:r>
              <a:rPr lang="de-DE" sz="2200" dirty="0" err="1"/>
              <a:t>component</a:t>
            </a:r>
            <a:r>
              <a:rPr lang="de-DE" sz="2200" dirty="0"/>
              <a:t>:</a:t>
            </a:r>
          </a:p>
          <a:p>
            <a:r>
              <a:rPr lang="de-DE" sz="2200" dirty="0" err="1"/>
              <a:t>learning</a:t>
            </a:r>
            <a:r>
              <a:rPr lang="de-DE" sz="2200" dirty="0"/>
              <a:t> from </a:t>
            </a:r>
            <a:r>
              <a:rPr lang="de-DE" sz="2200" dirty="0" err="1"/>
              <a:t>data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 err="1">
                <a:sym typeface="Wingdings" pitchFamily="2" charset="2"/>
              </a:rPr>
              <a:t>Machine</a:t>
            </a:r>
            <a:r>
              <a:rPr lang="de-DE" sz="2200" dirty="0">
                <a:sym typeface="Wingdings" pitchFamily="2" charset="2"/>
              </a:rPr>
              <a:t> Learning </a:t>
            </a:r>
            <a:r>
              <a:rPr lang="de-DE" sz="2200" dirty="0"/>
              <a:t>(ML)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1120484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CA917D1-CFE8-CFA0-EC29-D31E03982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When to Use ML (Learning from Data)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A10007-F622-5B4B-B5A0-241B785D7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4</a:t>
            </a:fld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4151AC-16C9-C1FF-7D4B-9897133BE633}"/>
              </a:ext>
            </a:extLst>
          </p:cNvPr>
          <p:cNvSpPr txBox="1"/>
          <p:nvPr/>
        </p:nvSpPr>
        <p:spPr>
          <a:xfrm>
            <a:off x="838200" y="2016445"/>
            <a:ext cx="376732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dirty="0"/>
              <a:t>automation</a:t>
            </a:r>
          </a:p>
          <a:p>
            <a:r>
              <a:rPr lang="en-GB" sz="2400" dirty="0"/>
              <a:t>too complex for rules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1C67E1-0656-937B-6797-538377633F26}"/>
              </a:ext>
            </a:extLst>
          </p:cNvPr>
          <p:cNvSpPr txBox="1"/>
          <p:nvPr/>
        </p:nvSpPr>
        <p:spPr>
          <a:xfrm>
            <a:off x="6214111" y="2016445"/>
            <a:ext cx="430783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dirty="0"/>
              <a:t>uncertainty</a:t>
            </a:r>
          </a:p>
          <a:p>
            <a:r>
              <a:rPr lang="en-GB" sz="2400" dirty="0"/>
              <a:t>too complex for humans</a:t>
            </a:r>
          </a:p>
        </p:txBody>
      </p:sp>
      <p:pic>
        <p:nvPicPr>
          <p:cNvPr id="8" name="Picture 2" descr="Alphafold-2 Brief Summary. How it works and what it means for… | by ...">
            <a:extLst>
              <a:ext uri="{FF2B5EF4-FFF2-40B4-BE49-F238E27FC236}">
                <a16:creationId xmlns:a16="http://schemas.microsoft.com/office/drawing/2014/main" id="{A734C35A-F9EC-16AF-C578-6C4A860B7B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4111" y="3192255"/>
            <a:ext cx="4307839" cy="2423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3CD0BC8-8653-739C-7ACE-3DB4279978A0}"/>
              </a:ext>
            </a:extLst>
          </p:cNvPr>
          <p:cNvSpPr txBox="1"/>
          <p:nvPr/>
        </p:nvSpPr>
        <p:spPr>
          <a:xfrm>
            <a:off x="6096001" y="5700575"/>
            <a:ext cx="60054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/>
              <a:t>protein structure predictions, demand forecasting, …</a:t>
            </a:r>
          </a:p>
        </p:txBody>
      </p:sp>
      <p:pic>
        <p:nvPicPr>
          <p:cNvPr id="10" name="Picture 9" descr="A computer on a table&#10;&#10;Description automatically generated">
            <a:extLst>
              <a:ext uri="{FF2B5EF4-FFF2-40B4-BE49-F238E27FC236}">
                <a16:creationId xmlns:a16="http://schemas.microsoft.com/office/drawing/2014/main" id="{236AF176-CF90-9AEF-5F5A-62931A1F15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192255"/>
            <a:ext cx="3767320" cy="242315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7A78324-008A-CDED-13FB-DBF4795BDAC2}"/>
              </a:ext>
            </a:extLst>
          </p:cNvPr>
          <p:cNvSpPr txBox="1"/>
          <p:nvPr/>
        </p:nvSpPr>
        <p:spPr>
          <a:xfrm>
            <a:off x="838200" y="5692867"/>
            <a:ext cx="3767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/>
              <a:t>object recognition, chatbot, 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2CA6B1-3E7B-83D8-2B03-2A610283AD83}"/>
              </a:ext>
            </a:extLst>
          </p:cNvPr>
          <p:cNvSpPr txBox="1"/>
          <p:nvPr/>
        </p:nvSpPr>
        <p:spPr>
          <a:xfrm>
            <a:off x="10521950" y="4694111"/>
            <a:ext cx="12274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 err="1"/>
              <a:t>AlphaFold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354429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35F983-758A-EB88-9012-92F52DEF2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5</a:t>
            </a:fld>
            <a:endParaRPr lang="en-GB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23A792F-00C8-7D7F-6BEC-906378FBE986}"/>
              </a:ext>
            </a:extLst>
          </p:cNvPr>
          <p:cNvGrpSpPr/>
          <p:nvPr/>
        </p:nvGrpSpPr>
        <p:grpSpPr>
          <a:xfrm>
            <a:off x="206653" y="742950"/>
            <a:ext cx="5467350" cy="5372100"/>
            <a:chOff x="218096" y="1278538"/>
            <a:chExt cx="5467350" cy="537210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C8034507-EBF5-C8B0-E02C-648EBA958CA2}"/>
                </a:ext>
              </a:extLst>
            </p:cNvPr>
            <p:cNvSpPr/>
            <p:nvPr/>
          </p:nvSpPr>
          <p:spPr>
            <a:xfrm>
              <a:off x="218096" y="1278538"/>
              <a:ext cx="5467350" cy="537210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9D9A571-5F1B-A287-1366-448584434981}"/>
                </a:ext>
              </a:extLst>
            </p:cNvPr>
            <p:cNvSpPr/>
            <p:nvPr/>
          </p:nvSpPr>
          <p:spPr>
            <a:xfrm>
              <a:off x="1008671" y="2716812"/>
              <a:ext cx="3886200" cy="393382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DF898E0-A5FF-7737-66AF-823C4CB0027D}"/>
                </a:ext>
              </a:extLst>
            </p:cNvPr>
            <p:cNvSpPr/>
            <p:nvPr/>
          </p:nvSpPr>
          <p:spPr>
            <a:xfrm>
              <a:off x="1675421" y="4097938"/>
              <a:ext cx="2552700" cy="2552700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Deep</a:t>
              </a:r>
            </a:p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Learning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10D5185-9D95-297D-29A1-2586D8B69CF6}"/>
                </a:ext>
              </a:extLst>
            </p:cNvPr>
            <p:cNvSpPr txBox="1"/>
            <p:nvPr/>
          </p:nvSpPr>
          <p:spPr>
            <a:xfrm>
              <a:off x="2151671" y="3097812"/>
              <a:ext cx="16002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Machine Learning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4AAA9D3-BD6B-71DE-CA94-73864BEDEEFC}"/>
                </a:ext>
              </a:extLst>
            </p:cNvPr>
            <p:cNvSpPr txBox="1"/>
            <p:nvPr/>
          </p:nvSpPr>
          <p:spPr>
            <a:xfrm>
              <a:off x="1999271" y="1627787"/>
              <a:ext cx="178117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Artificial Intelligence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152B53FA-A449-0AAB-DB4F-BAE16BB65419}"/>
              </a:ext>
            </a:extLst>
          </p:cNvPr>
          <p:cNvSpPr txBox="1"/>
          <p:nvPr/>
        </p:nvSpPr>
        <p:spPr>
          <a:xfrm>
            <a:off x="7282270" y="812715"/>
            <a:ext cx="4490629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200" dirty="0"/>
              <a:t>blend of diverse components from different domains (statistics, optimization, computer science, …)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B3D8FE-44A8-3988-9D54-5D7977569E3A}"/>
              </a:ext>
            </a:extLst>
          </p:cNvPr>
          <p:cNvSpPr txBox="1"/>
          <p:nvPr/>
        </p:nvSpPr>
        <p:spPr>
          <a:xfrm>
            <a:off x="7472770" y="3801805"/>
            <a:ext cx="471923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DE" sz="2200" b="1" dirty="0"/>
              <a:t>Deep Learning</a:t>
            </a:r>
            <a:r>
              <a:rPr lang="en-DE" sz="2200" dirty="0"/>
              <a:t>:</a:t>
            </a:r>
            <a:r>
              <a:rPr lang="de-DE" sz="2200" dirty="0"/>
              <a:t> </a:t>
            </a:r>
            <a:r>
              <a:rPr lang="en-DE" sz="2200" dirty="0"/>
              <a:t>special kind of ML </a:t>
            </a:r>
            <a:r>
              <a:rPr lang="de-DE" sz="2200" dirty="0"/>
              <a:t>method</a:t>
            </a:r>
            <a:r>
              <a:rPr lang="en-DE" sz="2200" dirty="0"/>
              <a:t>s using </a:t>
            </a:r>
            <a:r>
              <a:rPr lang="en-DE" sz="2200" i="1" dirty="0"/>
              <a:t>deep</a:t>
            </a:r>
            <a:r>
              <a:rPr lang="en-DE" sz="2200" dirty="0"/>
              <a:t> neural networks</a:t>
            </a:r>
            <a:r>
              <a:rPr lang="en-GB" sz="2200" dirty="0"/>
              <a:t> (e.g., CNNs, transformers)</a:t>
            </a:r>
          </a:p>
          <a:p>
            <a:pPr marL="0" indent="0">
              <a:buNone/>
            </a:pPr>
            <a:endParaRPr lang="en-GB" sz="2200" dirty="0"/>
          </a:p>
          <a:p>
            <a:r>
              <a:rPr lang="en-DE" sz="2200" b="1"/>
              <a:t>Data Science</a:t>
            </a:r>
            <a:r>
              <a:rPr lang="en-DE" sz="2200"/>
              <a:t>:</a:t>
            </a:r>
          </a:p>
          <a:p>
            <a:r>
              <a:rPr lang="en-GB" sz="2200" dirty="0"/>
              <a:t>e</a:t>
            </a:r>
            <a:r>
              <a:rPr lang="en-DE" sz="2200"/>
              <a:t>xtract knowledge from data (by means of ML, among other things)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8DC0299-4CEA-3836-0CA3-856D5253E62A}"/>
              </a:ext>
            </a:extLst>
          </p:cNvPr>
          <p:cNvSpPr/>
          <p:nvPr/>
        </p:nvSpPr>
        <p:spPr>
          <a:xfrm>
            <a:off x="3596095" y="1595437"/>
            <a:ext cx="3886200" cy="3933826"/>
          </a:xfrm>
          <a:prstGeom prst="ellipse">
            <a:avLst/>
          </a:prstGeom>
          <a:solidFill>
            <a:schemeClr val="bg1">
              <a:lumMod val="85000"/>
              <a:alpha val="34000"/>
            </a:schemeClr>
          </a:solidFill>
          <a:ln w="3810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24">
            <a:extLst>
              <a:ext uri="{FF2B5EF4-FFF2-40B4-BE49-F238E27FC236}">
                <a16:creationId xmlns:a16="http://schemas.microsoft.com/office/drawing/2014/main" id="{61FAD28E-59CD-01AB-B575-7B01663D09A2}"/>
              </a:ext>
            </a:extLst>
          </p:cNvPr>
          <p:cNvSpPr txBox="1"/>
          <p:nvPr/>
        </p:nvSpPr>
        <p:spPr>
          <a:xfrm>
            <a:off x="5672545" y="3146851"/>
            <a:ext cx="16097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365998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0AEF908-D62B-6A6D-87B6-FC24F85EF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Typical</a:t>
            </a:r>
            <a:r>
              <a:rPr lang="de-DE" dirty="0"/>
              <a:t> Data Science Workflow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AAF2F99-958E-01A0-B671-67F68797F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A88F1996-6422-164F-6384-0F54EF74E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11892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8E70834-2630-CF53-46B9-4A5595D21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Used Programming Language: Python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C0850-2155-3201-EF3C-EFB7157E61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  <a:p>
            <a:r>
              <a:rPr lang="en-GB" dirty="0"/>
              <a:t>good compromise between rapid prototyping and production</a:t>
            </a:r>
          </a:p>
          <a:p>
            <a:r>
              <a:rPr lang="en-GB" dirty="0"/>
              <a:t>vast ecosystem</a:t>
            </a:r>
          </a:p>
          <a:p>
            <a:r>
              <a:rPr lang="en-GB" dirty="0"/>
              <a:t>very popular for data processing and ML: scientific Python stack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14FD3-2384-341A-0192-D9784F9FF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7</a:t>
            </a:fld>
            <a:endParaRPr lang="en-GB"/>
          </a:p>
        </p:txBody>
      </p:sp>
      <p:pic>
        <p:nvPicPr>
          <p:cNvPr id="8" name="Picture 2" descr="undefined">
            <a:extLst>
              <a:ext uri="{FF2B5EF4-FFF2-40B4-BE49-F238E27FC236}">
                <a16:creationId xmlns:a16="http://schemas.microsoft.com/office/drawing/2014/main" id="{558D5A92-0B5B-7717-CB3F-2D03E1B522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9950" y="86276"/>
            <a:ext cx="1667700" cy="18271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27205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7A085A14-E5B9-2CDA-B8F3-5540818E7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Scientific Python Stack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33213A8-AD9A-08FD-93A2-6EC329714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p:pic>
        <p:nvPicPr>
          <p:cNvPr id="6" name="Picture 4" descr="undefined">
            <a:extLst>
              <a:ext uri="{FF2B5EF4-FFF2-40B4-BE49-F238E27FC236}">
                <a16:creationId xmlns:a16="http://schemas.microsoft.com/office/drawing/2014/main" id="{C4C4CA85-CA02-5CEC-E497-8645D86B4E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434" y="1680462"/>
            <a:ext cx="3394103" cy="1527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 descr="undefined">
            <a:extLst>
              <a:ext uri="{FF2B5EF4-FFF2-40B4-BE49-F238E27FC236}">
                <a16:creationId xmlns:a16="http://schemas.microsoft.com/office/drawing/2014/main" id="{010E6F5D-F0AD-FA59-1902-BFCCAAB6AC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657" y="3397494"/>
            <a:ext cx="3230880" cy="1305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10" descr="undefined">
            <a:extLst>
              <a:ext uri="{FF2B5EF4-FFF2-40B4-BE49-F238E27FC236}">
                <a16:creationId xmlns:a16="http://schemas.microsoft.com/office/drawing/2014/main" id="{AA5BAFEE-C896-E6FB-353D-E7A0D33081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8203" y="3566553"/>
            <a:ext cx="2075592" cy="1117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undefined">
            <a:extLst>
              <a:ext uri="{FF2B5EF4-FFF2-40B4-BE49-F238E27FC236}">
                <a16:creationId xmlns:a16="http://schemas.microsoft.com/office/drawing/2014/main" id="{1D89C534-E5E4-0350-1B0D-226C906CA9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0005" y="2444135"/>
            <a:ext cx="2984390" cy="547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Polars — Blog">
            <a:extLst>
              <a:ext uri="{FF2B5EF4-FFF2-40B4-BE49-F238E27FC236}">
                <a16:creationId xmlns:a16="http://schemas.microsoft.com/office/drawing/2014/main" id="{3980B49B-F458-A6F5-8130-2061912655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4833999"/>
            <a:ext cx="3070337" cy="1586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iting and logo — seaborn 0.13.2 documentation">
            <a:extLst>
              <a:ext uri="{FF2B5EF4-FFF2-40B4-BE49-F238E27FC236}">
                <a16:creationId xmlns:a16="http://schemas.microsoft.com/office/drawing/2014/main" id="{584C7085-9185-67BA-E2FD-04067089B0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0600" y="3866728"/>
            <a:ext cx="2934730" cy="838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B5ABA211-F974-116B-E331-42D5EF556F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2634" y="1750769"/>
            <a:ext cx="1386731" cy="13867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About statsmodels - statsmodels 0.14.6">
            <a:extLst>
              <a:ext uri="{FF2B5EF4-FFF2-40B4-BE49-F238E27FC236}">
                <a16:creationId xmlns:a16="http://schemas.microsoft.com/office/drawing/2014/main" id="{CB63EB80-8D63-2A78-176F-27B79F8440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8203" y="5113400"/>
            <a:ext cx="2222679" cy="1608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14122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931D7-F116-6FF9-9B2A-660AE0271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Programming 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2A4C1-FFFD-3C44-E2CA-D30093EF7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locally, best use</a:t>
            </a:r>
          </a:p>
          <a:p>
            <a:r>
              <a:rPr lang="en-GB" dirty="0"/>
              <a:t>a virtual environment to flexibly install packages (e.g., </a:t>
            </a:r>
            <a:r>
              <a:rPr lang="en-GB" dirty="0" err="1">
                <a:hlinkClick r:id="rId2"/>
              </a:rPr>
              <a:t>venv</a:t>
            </a:r>
            <a:r>
              <a:rPr lang="en-GB" dirty="0"/>
              <a:t>)</a:t>
            </a:r>
          </a:p>
          <a:p>
            <a:r>
              <a:rPr lang="en-GB" dirty="0"/>
              <a:t>an IDE of your choice (e.g., </a:t>
            </a:r>
            <a:r>
              <a:rPr lang="en-GB" dirty="0">
                <a:hlinkClick r:id="rId3"/>
              </a:rPr>
              <a:t>VS Code</a:t>
            </a:r>
            <a:r>
              <a:rPr lang="en-GB" dirty="0"/>
              <a:t>)</a:t>
            </a:r>
          </a:p>
          <a:p>
            <a:r>
              <a:rPr lang="en-GB" dirty="0"/>
              <a:t>both plain Python files or </a:t>
            </a:r>
            <a:r>
              <a:rPr lang="en-GB" dirty="0" err="1">
                <a:hlinkClick r:id="rId4"/>
              </a:rPr>
              <a:t>Jupyter</a:t>
            </a:r>
            <a:r>
              <a:rPr lang="en-GB" dirty="0">
                <a:hlinkClick r:id="rId4"/>
              </a:rPr>
              <a:t> notebooks</a:t>
            </a:r>
            <a:r>
              <a:rPr lang="en-GB" dirty="0"/>
              <a:t> are fine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but cloud-based environments also fine (e.g., </a:t>
            </a:r>
            <a:r>
              <a:rPr lang="en-GB" dirty="0">
                <a:hlinkClick r:id="rId5"/>
              </a:rPr>
              <a:t>Google </a:t>
            </a:r>
            <a:r>
              <a:rPr lang="en-GB" dirty="0" err="1">
                <a:hlinkClick r:id="rId5"/>
              </a:rPr>
              <a:t>Colab</a:t>
            </a:r>
            <a:r>
              <a:rPr lang="en-GB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EB8C7-7F0B-BA44-36D2-4511056C6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37282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F9571-C6ED-CFC8-29FD-1B24BD4B2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Deep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5B97E4-48D3-5CA3-B6B2-3BC5DD716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10</a:t>
            </a:fld>
            <a:endParaRPr lang="en-GB"/>
          </a:p>
        </p:txBody>
      </p:sp>
      <p:pic>
        <p:nvPicPr>
          <p:cNvPr id="5" name="Picture 2" descr="PyTorch is evolving fast. Listen to this podcast to find out how!">
            <a:extLst>
              <a:ext uri="{FF2B5EF4-FFF2-40B4-BE49-F238E27FC236}">
                <a16:creationId xmlns:a16="http://schemas.microsoft.com/office/drawing/2014/main" id="{FD58764D-2B67-728C-787A-C6B642EBCF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430102"/>
            <a:ext cx="3701716" cy="789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 descr="Machine Learning in the Browser using TensorFlow.js | by Suraj Parmar ...">
            <a:extLst>
              <a:ext uri="{FF2B5EF4-FFF2-40B4-BE49-F238E27FC236}">
                <a16:creationId xmlns:a16="http://schemas.microsoft.com/office/drawing/2014/main" id="{9C0D363E-EF7C-EEF1-BD05-D7980098DD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2086" y="3261935"/>
            <a:ext cx="3284621" cy="11021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F8A9556-CB38-5619-CC52-7BD00B11B476}"/>
              </a:ext>
            </a:extLst>
          </p:cNvPr>
          <p:cNvSpPr/>
          <p:nvPr/>
        </p:nvSpPr>
        <p:spPr>
          <a:xfrm>
            <a:off x="838200" y="3285804"/>
            <a:ext cx="3701716" cy="1078275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47958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9DE35-6DC5-4B43-A28D-7DF616D39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Literature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AFC3B-A5E8-E02B-3B57-552EF4E575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…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>
                <a:hlinkClick r:id="rId2"/>
              </a:rPr>
              <a:t>Deep Learning</a:t>
            </a:r>
            <a:endParaRPr lang="en-GB" dirty="0"/>
          </a:p>
          <a:p>
            <a:r>
              <a:rPr lang="en-GB" dirty="0">
                <a:hlinkClick r:id="rId3"/>
              </a:rPr>
              <a:t>The Little Book of Deep Learning</a:t>
            </a:r>
            <a:endParaRPr lang="en-GB" dirty="0"/>
          </a:p>
          <a:p>
            <a:r>
              <a:rPr lang="en-GB" dirty="0">
                <a:hlinkClick r:id="rId4"/>
              </a:rPr>
              <a:t>Understanding Deep Learning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038C66-2088-1B70-03A1-D7C86EDA2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36832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266</Words>
  <Application>Microsoft Macintosh PowerPoint</Application>
  <PresentationFormat>Breitbild</PresentationFormat>
  <Paragraphs>78</Paragraphs>
  <Slides>11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Wingdings</vt:lpstr>
      <vt:lpstr>Office Theme</vt:lpstr>
      <vt:lpstr>Introduction</vt:lpstr>
      <vt:lpstr>Course Schedule</vt:lpstr>
      <vt:lpstr>Main Areas of Artificial Intelligence (AI)</vt:lpstr>
      <vt:lpstr>When to Use ML (Learning from Data)</vt:lpstr>
      <vt:lpstr>PowerPoint-Präsentation</vt:lpstr>
      <vt:lpstr>Typical Data Science Workflow</vt:lpstr>
      <vt:lpstr>Used Programming Language: Python</vt:lpstr>
      <vt:lpstr>Scientific Python Stack</vt:lpstr>
      <vt:lpstr>Programming Environments</vt:lpstr>
      <vt:lpstr>Deep Learning</vt:lpstr>
      <vt:lpstr>Literature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40</cp:revision>
  <dcterms:created xsi:type="dcterms:W3CDTF">2025-01-08T09:27:30Z</dcterms:created>
  <dcterms:modified xsi:type="dcterms:W3CDTF">2026-01-11T12:30:34Z</dcterms:modified>
</cp:coreProperties>
</file>