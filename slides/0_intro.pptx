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66" r:id="rId4"/>
    <p:sldId id="273" r:id="rId5"/>
    <p:sldId id="262" r:id="rId6"/>
    <p:sldId id="268" r:id="rId7"/>
    <p:sldId id="258" r:id="rId8"/>
    <p:sldId id="269" r:id="rId9"/>
    <p:sldId id="274" r:id="rId10"/>
    <p:sldId id="271" r:id="rId11"/>
    <p:sldId id="272" r:id="rId12"/>
    <p:sldId id="275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28" autoAdjust="0"/>
  </p:normalViewPr>
  <p:slideViewPr>
    <p:cSldViewPr snapToGrid="0">
      <p:cViewPr varScale="1">
        <p:scale>
          <a:sx n="63" d="100"/>
          <a:sy n="63" d="100"/>
        </p:scale>
        <p:origin x="52" y="7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22/03/2026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22/03/2026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22/03/2026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22/03/2026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22/03/2026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python/environments" TargetMode="External"/><Relationship Id="rId2" Type="http://schemas.openxmlformats.org/officeDocument/2006/relationships/hyperlink" Target="https://docs.python.org/3/tutorial/venv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code.visualstudio.com/docs/datascience/jupyter-notebook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astie.su.domains/ElemStatLearn/" TargetMode="External"/><Relationship Id="rId7" Type="http://schemas.openxmlformats.org/officeDocument/2006/relationships/hyperlink" Target="https://udlbook.github.io/udlbook/" TargetMode="External"/><Relationship Id="rId2" Type="http://schemas.openxmlformats.org/officeDocument/2006/relationships/hyperlink" Target="https://www.statlearning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eeplearningbook.org/" TargetMode="External"/><Relationship Id="rId5" Type="http://schemas.openxmlformats.org/officeDocument/2006/relationships/hyperlink" Target="https://www.cs.cmu.edu/afs/cs.cmu.edu/user/mitchell/ftp/mlbook.html" TargetMode="External"/><Relationship Id="rId4" Type="http://schemas.openxmlformats.org/officeDocument/2006/relationships/hyperlink" Target="https://www.microsoft.com/en-us/research/uploads/prod/2006/01/Bishop-Pattern-Recognition-and-Machine-Learning-2006.pdf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 err="1"/>
              <a:t>Exploratory</a:t>
            </a:r>
            <a:r>
              <a:rPr lang="de-DE" dirty="0"/>
              <a:t> Data Analysis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Clustering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Probabilistic</a:t>
            </a:r>
            <a:r>
              <a:rPr lang="de-DE" dirty="0"/>
              <a:t> Models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Statistical </a:t>
            </a:r>
            <a:r>
              <a:rPr lang="de-DE" dirty="0" err="1"/>
              <a:t>Inference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Machine</a:t>
            </a:r>
            <a:r>
              <a:rPr lang="de-DE" dirty="0"/>
              <a:t> 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de-DE" dirty="0"/>
              <a:t>Feature Engineering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Model Evaluation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Deep Learning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/>
              <a:t>Time Series</a:t>
            </a:r>
          </a:p>
          <a:p>
            <a:pPr marL="514350" indent="-514350">
              <a:buFont typeface="+mj-lt"/>
              <a:buAutoNum type="arabicPeriod" startAt="6"/>
            </a:pPr>
            <a:endParaRPr lang="de-DE" dirty="0"/>
          </a:p>
          <a:p>
            <a:pPr marL="514350" indent="-514350">
              <a:buFont typeface="+mj-lt"/>
              <a:buAutoNum type="arabicPeriod" startAt="6"/>
            </a:pPr>
            <a:r>
              <a:rPr lang="de-DE" dirty="0" err="1"/>
              <a:t>Causality</a:t>
            </a:r>
            <a:endParaRPr lang="de-D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35F983-758A-EB88-9012-92F52DEF2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3</a:t>
            </a:fld>
            <a:endParaRPr lang="en-GB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3A792F-00C8-7D7F-6BEC-906378FBE986}"/>
              </a:ext>
            </a:extLst>
          </p:cNvPr>
          <p:cNvGrpSpPr/>
          <p:nvPr/>
        </p:nvGrpSpPr>
        <p:grpSpPr>
          <a:xfrm>
            <a:off x="206653" y="742950"/>
            <a:ext cx="5467350" cy="5372100"/>
            <a:chOff x="218096" y="1278538"/>
            <a:chExt cx="5467350" cy="5372100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8034507-EBF5-C8B0-E02C-648EBA958CA2}"/>
                </a:ext>
              </a:extLst>
            </p:cNvPr>
            <p:cNvSpPr/>
            <p:nvPr/>
          </p:nvSpPr>
          <p:spPr>
            <a:xfrm>
              <a:off x="218096" y="1278538"/>
              <a:ext cx="5467350" cy="53721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9D9A571-5F1B-A287-1366-448584434981}"/>
                </a:ext>
              </a:extLst>
            </p:cNvPr>
            <p:cNvSpPr/>
            <p:nvPr/>
          </p:nvSpPr>
          <p:spPr>
            <a:xfrm>
              <a:off x="1008671" y="2716812"/>
              <a:ext cx="3886200" cy="3933826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DF898E0-A5FF-7737-66AF-823C4CB0027D}"/>
                </a:ext>
              </a:extLst>
            </p:cNvPr>
            <p:cNvSpPr/>
            <p:nvPr/>
          </p:nvSpPr>
          <p:spPr>
            <a:xfrm>
              <a:off x="1675421" y="4097938"/>
              <a:ext cx="2552700" cy="25527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Deep</a:t>
              </a:r>
            </a:p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Learning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10D5185-9D95-297D-29A1-2586D8B69CF6}"/>
                </a:ext>
              </a:extLst>
            </p:cNvPr>
            <p:cNvSpPr txBox="1"/>
            <p:nvPr/>
          </p:nvSpPr>
          <p:spPr>
            <a:xfrm>
              <a:off x="2151671" y="3097812"/>
              <a:ext cx="16002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Machine Learning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AAA9D3-BD6B-71DE-CA94-73864BEDEEFC}"/>
                </a:ext>
              </a:extLst>
            </p:cNvPr>
            <p:cNvSpPr txBox="1"/>
            <p:nvPr/>
          </p:nvSpPr>
          <p:spPr>
            <a:xfrm>
              <a:off x="1999271" y="1627787"/>
              <a:ext cx="17811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Artificial Intelligence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52B53FA-A449-0AAB-DB4F-BAE16BB65419}"/>
              </a:ext>
            </a:extLst>
          </p:cNvPr>
          <p:cNvSpPr txBox="1"/>
          <p:nvPr/>
        </p:nvSpPr>
        <p:spPr>
          <a:xfrm>
            <a:off x="7282270" y="812715"/>
            <a:ext cx="4490629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200" dirty="0"/>
              <a:t>blend of diverse components from different domains (statistics, optimization, computer science, …)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B3D8FE-44A8-3988-9D54-5D7977569E3A}"/>
              </a:ext>
            </a:extLst>
          </p:cNvPr>
          <p:cNvSpPr txBox="1"/>
          <p:nvPr/>
        </p:nvSpPr>
        <p:spPr>
          <a:xfrm>
            <a:off x="7472770" y="3801805"/>
            <a:ext cx="47192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DE" sz="2200" b="1" dirty="0"/>
              <a:t>Deep Learning</a:t>
            </a:r>
            <a:r>
              <a:rPr lang="en-DE" sz="2200" dirty="0"/>
              <a:t>:</a:t>
            </a:r>
            <a:r>
              <a:rPr lang="de-DE" sz="2200" dirty="0"/>
              <a:t> </a:t>
            </a:r>
            <a:r>
              <a:rPr lang="en-DE" sz="2200" dirty="0"/>
              <a:t>special kind of ML </a:t>
            </a:r>
            <a:r>
              <a:rPr lang="de-DE" sz="2200" dirty="0"/>
              <a:t>method</a:t>
            </a:r>
            <a:r>
              <a:rPr lang="en-DE" sz="2200" dirty="0"/>
              <a:t>s using </a:t>
            </a:r>
            <a:r>
              <a:rPr lang="en-DE" sz="2200" i="1" dirty="0"/>
              <a:t>deep</a:t>
            </a:r>
            <a:r>
              <a:rPr lang="en-DE" sz="2200" dirty="0"/>
              <a:t> neural networks</a:t>
            </a:r>
            <a:r>
              <a:rPr lang="en-GB" sz="2200" dirty="0"/>
              <a:t> (e.g., CNNs, transformers)</a:t>
            </a:r>
          </a:p>
          <a:p>
            <a:pPr marL="0" indent="0">
              <a:buNone/>
            </a:pPr>
            <a:endParaRPr lang="en-GB" sz="2200" dirty="0"/>
          </a:p>
          <a:p>
            <a:r>
              <a:rPr lang="en-DE" sz="2200" b="1"/>
              <a:t>Data Science</a:t>
            </a:r>
            <a:r>
              <a:rPr lang="en-DE" sz="2200"/>
              <a:t>:</a:t>
            </a:r>
          </a:p>
          <a:p>
            <a:r>
              <a:rPr lang="en-GB" sz="2200" dirty="0"/>
              <a:t>e</a:t>
            </a:r>
            <a:r>
              <a:rPr lang="en-DE" sz="2200"/>
              <a:t>xtract knowledge from data (by means of ML, among other things)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8DC0299-4CEA-3836-0CA3-856D5253E62A}"/>
              </a:ext>
            </a:extLst>
          </p:cNvPr>
          <p:cNvSpPr/>
          <p:nvPr/>
        </p:nvSpPr>
        <p:spPr>
          <a:xfrm>
            <a:off x="3596095" y="1595437"/>
            <a:ext cx="3886200" cy="3933826"/>
          </a:xfrm>
          <a:prstGeom prst="ellipse">
            <a:avLst/>
          </a:prstGeom>
          <a:solidFill>
            <a:schemeClr val="bg1">
              <a:lumMod val="85000"/>
              <a:alpha val="34000"/>
            </a:schemeClr>
          </a:solidFill>
          <a:ln w="381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24">
            <a:extLst>
              <a:ext uri="{FF2B5EF4-FFF2-40B4-BE49-F238E27FC236}">
                <a16:creationId xmlns:a16="http://schemas.microsoft.com/office/drawing/2014/main" id="{61FAD28E-59CD-01AB-B575-7B01663D09A2}"/>
              </a:ext>
            </a:extLst>
          </p:cNvPr>
          <p:cNvSpPr txBox="1"/>
          <p:nvPr/>
        </p:nvSpPr>
        <p:spPr>
          <a:xfrm>
            <a:off x="5672545" y="3146851"/>
            <a:ext cx="16097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Data Science</a:t>
            </a:r>
          </a:p>
        </p:txBody>
      </p:sp>
    </p:spTree>
    <p:extLst>
      <p:ext uri="{BB962C8B-B14F-4D97-AF65-F5344CB8AC3E}">
        <p14:creationId xmlns:p14="http://schemas.microsoft.com/office/powerpoint/2010/main" val="36599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0AEF908-D62B-6A6D-87B6-FC24F85EF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Typical</a:t>
            </a:r>
            <a:r>
              <a:rPr lang="de-DE" dirty="0"/>
              <a:t> Data Science Workflow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AF2F99-958E-01A0-B671-67F68797F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Business Understanding</a:t>
            </a:r>
          </a:p>
          <a:p>
            <a:pPr marL="0" indent="0">
              <a:buNone/>
            </a:pPr>
            <a:r>
              <a:rPr lang="de-DE" dirty="0"/>
              <a:t>→ Data Collection</a:t>
            </a:r>
          </a:p>
          <a:p>
            <a:pPr marL="0" indent="0">
              <a:buNone/>
            </a:pPr>
            <a:r>
              <a:rPr lang="de-DE" dirty="0"/>
              <a:t>→ Data Exploration </a:t>
            </a:r>
          </a:p>
          <a:p>
            <a:pPr marL="0" indent="0">
              <a:buNone/>
            </a:pPr>
            <a:r>
              <a:rPr lang="de-DE" dirty="0"/>
              <a:t>→ Data </a:t>
            </a:r>
            <a:r>
              <a:rPr lang="de-DE" dirty="0" err="1"/>
              <a:t>Cleaning</a:t>
            </a:r>
            <a:r>
              <a:rPr lang="de-DE" dirty="0"/>
              <a:t> &amp; </a:t>
            </a:r>
            <a:r>
              <a:rPr lang="de-DE" dirty="0" err="1"/>
              <a:t>Preparation</a:t>
            </a:r>
            <a:endParaRPr lang="de-DE" dirty="0"/>
          </a:p>
          <a:p>
            <a:pPr marL="0" indent="0">
              <a:buNone/>
            </a:pPr>
            <a:r>
              <a:rPr lang="de-DE" dirty="0"/>
              <a:t>→ Modeling</a:t>
            </a:r>
          </a:p>
          <a:p>
            <a:pPr marL="0" indent="0">
              <a:buNone/>
            </a:pPr>
            <a:r>
              <a:rPr lang="de-DE" dirty="0"/>
              <a:t>→ Evaluation</a:t>
            </a:r>
          </a:p>
          <a:p>
            <a:pPr marL="0" indent="0">
              <a:buNone/>
            </a:pPr>
            <a:r>
              <a:rPr lang="de-DE" dirty="0"/>
              <a:t>→ </a:t>
            </a:r>
            <a:r>
              <a:rPr lang="de-DE" dirty="0" err="1"/>
              <a:t>Deployment</a:t>
            </a:r>
            <a:r>
              <a:rPr lang="de-DE" dirty="0"/>
              <a:t> &amp; Monitoring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88F1996-6422-164F-6384-0F54EF74E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B5D0225-54DA-888D-C45E-EA07926C4B43}"/>
              </a:ext>
            </a:extLst>
          </p:cNvPr>
          <p:cNvSpPr txBox="1"/>
          <p:nvPr/>
        </p:nvSpPr>
        <p:spPr>
          <a:xfrm>
            <a:off x="7247156" y="3831223"/>
            <a:ext cx="2735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iterative </a:t>
            </a:r>
            <a:r>
              <a:rPr lang="de-DE" sz="2800" dirty="0" err="1"/>
              <a:t>process</a:t>
            </a:r>
            <a:endParaRPr lang="de-DE" sz="2800" dirty="0"/>
          </a:p>
        </p:txBody>
      </p:sp>
      <p:sp>
        <p:nvSpPr>
          <p:cNvPr id="6" name="Geschweifte Klammer rechts 5">
            <a:extLst>
              <a:ext uri="{FF2B5EF4-FFF2-40B4-BE49-F238E27FC236}">
                <a16:creationId xmlns:a16="http://schemas.microsoft.com/office/drawing/2014/main" id="{3292F64E-6271-97C7-7F2A-8AC5E345AE33}"/>
              </a:ext>
            </a:extLst>
          </p:cNvPr>
          <p:cNvSpPr/>
          <p:nvPr/>
        </p:nvSpPr>
        <p:spPr>
          <a:xfrm>
            <a:off x="6096000" y="2375452"/>
            <a:ext cx="1113183" cy="3434763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18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44F7-861D-5F7F-A3C4-DC438249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Main Areas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r>
              <a:rPr lang="de-DE" dirty="0"/>
              <a:t> (AI)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8EC6-3F79-485E-71D3-142E1593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461BE-CBBC-633F-BF4F-AD6554B6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111" y="2282706"/>
            <a:ext cx="5603963" cy="921243"/>
          </a:xfrm>
          <a:prstGeom prst="rect">
            <a:avLst/>
          </a:prstGeom>
        </p:spPr>
      </p:pic>
      <p:pic>
        <p:nvPicPr>
          <p:cNvPr id="6" name="Picture 5" descr="A collage of many images&#10;&#10;Description automatically generated">
            <a:extLst>
              <a:ext uri="{FF2B5EF4-FFF2-40B4-BE49-F238E27FC236}">
                <a16:creationId xmlns:a16="http://schemas.microsoft.com/office/drawing/2014/main" id="{029F3378-177B-1DEF-9328-6E0FCD05D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20" y="3952220"/>
            <a:ext cx="2078016" cy="2078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A4FFF-1D36-AC9C-C62A-4BAEB008B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1244" y="2218617"/>
            <a:ext cx="1841655" cy="19987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D89D0-9E61-6800-832F-2640E2937535}"/>
              </a:ext>
            </a:extLst>
          </p:cNvPr>
          <p:cNvSpPr txBox="1"/>
          <p:nvPr/>
        </p:nvSpPr>
        <p:spPr>
          <a:xfrm>
            <a:off x="439111" y="1759486"/>
            <a:ext cx="2063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tabular data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F4D34-236A-5C86-228F-99672208DBD8}"/>
              </a:ext>
            </a:extLst>
          </p:cNvPr>
          <p:cNvSpPr txBox="1"/>
          <p:nvPr/>
        </p:nvSpPr>
        <p:spPr>
          <a:xfrm>
            <a:off x="609521" y="3429000"/>
            <a:ext cx="2680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computer vision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19B08-DDB6-BE91-ADEA-700B82E1A498}"/>
              </a:ext>
            </a:extLst>
          </p:cNvPr>
          <p:cNvSpPr txBox="1"/>
          <p:nvPr/>
        </p:nvSpPr>
        <p:spPr>
          <a:xfrm>
            <a:off x="7976972" y="1695397"/>
            <a:ext cx="2830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language models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25F8-AE37-1ACB-BA8E-33CFFD038092}"/>
              </a:ext>
            </a:extLst>
          </p:cNvPr>
          <p:cNvSpPr txBox="1"/>
          <p:nvPr/>
        </p:nvSpPr>
        <p:spPr>
          <a:xfrm>
            <a:off x="4725673" y="3654052"/>
            <a:ext cx="1292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control</a:t>
            </a:r>
            <a:endParaRPr lang="en-GB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E3C93-9BB5-54EC-0C68-41D872F0A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673" y="4177272"/>
            <a:ext cx="2750387" cy="1343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545444-0F88-D652-43F5-7AB41F39A7A8}"/>
              </a:ext>
            </a:extLst>
          </p:cNvPr>
          <p:cNvSpPr txBox="1"/>
          <p:nvPr/>
        </p:nvSpPr>
        <p:spPr>
          <a:xfrm>
            <a:off x="3885793" y="5835544"/>
            <a:ext cx="5506278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200" dirty="0"/>
              <a:t>all </a:t>
            </a:r>
            <a:r>
              <a:rPr lang="de-DE" sz="2200" dirty="0" err="1"/>
              <a:t>empowered</a:t>
            </a:r>
            <a:r>
              <a:rPr lang="de-DE" sz="2200" dirty="0"/>
              <a:t> by one key </a:t>
            </a:r>
            <a:r>
              <a:rPr lang="de-DE" sz="2200" dirty="0" err="1"/>
              <a:t>component</a:t>
            </a:r>
            <a:r>
              <a:rPr lang="de-DE" sz="2200" dirty="0"/>
              <a:t>:</a:t>
            </a:r>
          </a:p>
          <a:p>
            <a:r>
              <a:rPr lang="de-DE" sz="2200" dirty="0" err="1"/>
              <a:t>learning</a:t>
            </a:r>
            <a:r>
              <a:rPr lang="de-DE" sz="2200" dirty="0"/>
              <a:t> from </a:t>
            </a: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Machine</a:t>
            </a:r>
            <a:r>
              <a:rPr lang="de-DE" sz="2200" dirty="0">
                <a:sym typeface="Wingdings" pitchFamily="2" charset="2"/>
              </a:rPr>
              <a:t> Learning </a:t>
            </a:r>
            <a:r>
              <a:rPr lang="de-DE" sz="2200" dirty="0"/>
              <a:t>(ML)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120484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A917D1-CFE8-CFA0-EC29-D31E0398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When to Use ML (Learning from Data)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0007-F622-5B4B-B5A0-241B785D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4151AC-16C9-C1FF-7D4B-9897133BE633}"/>
              </a:ext>
            </a:extLst>
          </p:cNvPr>
          <p:cNvSpPr txBox="1"/>
          <p:nvPr/>
        </p:nvSpPr>
        <p:spPr>
          <a:xfrm>
            <a:off x="838200" y="2016445"/>
            <a:ext cx="3767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automation</a:t>
            </a:r>
          </a:p>
          <a:p>
            <a:r>
              <a:rPr lang="en-GB" sz="2400" dirty="0"/>
              <a:t>too complex for rules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C67E1-0656-937B-6797-538377633F26}"/>
              </a:ext>
            </a:extLst>
          </p:cNvPr>
          <p:cNvSpPr txBox="1"/>
          <p:nvPr/>
        </p:nvSpPr>
        <p:spPr>
          <a:xfrm>
            <a:off x="6214111" y="2016445"/>
            <a:ext cx="43078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dirty="0"/>
              <a:t>uncertainty</a:t>
            </a:r>
          </a:p>
          <a:p>
            <a:r>
              <a:rPr lang="en-GB" sz="2400" dirty="0"/>
              <a:t>too complex for humans</a:t>
            </a:r>
          </a:p>
        </p:txBody>
      </p:sp>
      <p:pic>
        <p:nvPicPr>
          <p:cNvPr id="8" name="Picture 2" descr="Alphafold-2 Brief Summary. How it works and what it means for… | by ...">
            <a:extLst>
              <a:ext uri="{FF2B5EF4-FFF2-40B4-BE49-F238E27FC236}">
                <a16:creationId xmlns:a16="http://schemas.microsoft.com/office/drawing/2014/main" id="{A734C35A-F9EC-16AF-C578-6C4A860B7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111" y="3192255"/>
            <a:ext cx="4307839" cy="242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CD0BC8-8653-739C-7ACE-3DB4279978A0}"/>
              </a:ext>
            </a:extLst>
          </p:cNvPr>
          <p:cNvSpPr txBox="1"/>
          <p:nvPr/>
        </p:nvSpPr>
        <p:spPr>
          <a:xfrm>
            <a:off x="6096001" y="5700575"/>
            <a:ext cx="60054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protein structure predictions, demand forecasting, …</a:t>
            </a:r>
          </a:p>
        </p:txBody>
      </p:sp>
      <p:pic>
        <p:nvPicPr>
          <p:cNvPr id="10" name="Picture 9" descr="A computer on a table&#10;&#10;Description automatically generated">
            <a:extLst>
              <a:ext uri="{FF2B5EF4-FFF2-40B4-BE49-F238E27FC236}">
                <a16:creationId xmlns:a16="http://schemas.microsoft.com/office/drawing/2014/main" id="{236AF176-CF90-9AEF-5F5A-62931A1F15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92255"/>
            <a:ext cx="3767320" cy="24231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A78324-008A-CDED-13FB-DBF4795BDAC2}"/>
              </a:ext>
            </a:extLst>
          </p:cNvPr>
          <p:cNvSpPr txBox="1"/>
          <p:nvPr/>
        </p:nvSpPr>
        <p:spPr>
          <a:xfrm>
            <a:off x="838200" y="5692867"/>
            <a:ext cx="3767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object recognition, chatbot, 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CA6B1-3E7B-83D8-2B03-2A610283AD83}"/>
              </a:ext>
            </a:extLst>
          </p:cNvPr>
          <p:cNvSpPr txBox="1"/>
          <p:nvPr/>
        </p:nvSpPr>
        <p:spPr>
          <a:xfrm>
            <a:off x="10521950" y="4694111"/>
            <a:ext cx="12274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 err="1"/>
              <a:t>AlphaFold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5442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7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1411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E70834-2630-CF53-46B9-4A5595D2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Used Programming Language: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C0850-2155-3201-EF3C-EFB7157E6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good compromise between rapid prototyping and production</a:t>
            </a:r>
          </a:p>
          <a:p>
            <a:r>
              <a:rPr lang="en-GB" dirty="0"/>
              <a:t>vast ecosystem</a:t>
            </a:r>
          </a:p>
          <a:p>
            <a:r>
              <a:rPr lang="en-GB" dirty="0"/>
              <a:t>very popular for data processing and ML: scientific Python stack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14FD3-2384-341A-0192-D9784F9F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8</a:t>
            </a:fld>
            <a:endParaRPr lang="en-GB"/>
          </a:p>
        </p:txBody>
      </p:sp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558D5A92-0B5B-7717-CB3F-2D03E1B5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950" y="86276"/>
            <a:ext cx="1667700" cy="182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72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7A085A14-E5B9-2CDA-B8F3-5540818E7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Scientific Python Stack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33213A8-AD9A-08FD-93A2-6EC32971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9</a:t>
            </a:fld>
            <a:endParaRPr lang="en-GB"/>
          </a:p>
        </p:txBody>
      </p:sp>
      <p:pic>
        <p:nvPicPr>
          <p:cNvPr id="6" name="Picture 4" descr="undefined">
            <a:extLst>
              <a:ext uri="{FF2B5EF4-FFF2-40B4-BE49-F238E27FC236}">
                <a16:creationId xmlns:a16="http://schemas.microsoft.com/office/drawing/2014/main" id="{C4C4CA85-CA02-5CEC-E497-8645D86B4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33" y="1690688"/>
            <a:ext cx="3394103" cy="152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undefined">
            <a:extLst>
              <a:ext uri="{FF2B5EF4-FFF2-40B4-BE49-F238E27FC236}">
                <a16:creationId xmlns:a16="http://schemas.microsoft.com/office/drawing/2014/main" id="{010E6F5D-F0AD-FA59-1902-BFCCAAB6AC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56" y="3429000"/>
            <a:ext cx="3230880" cy="130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undefined">
            <a:extLst>
              <a:ext uri="{FF2B5EF4-FFF2-40B4-BE49-F238E27FC236}">
                <a16:creationId xmlns:a16="http://schemas.microsoft.com/office/drawing/2014/main" id="{AA5BAFEE-C896-E6FB-353D-E7A0D3308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343" y="5238557"/>
            <a:ext cx="2075592" cy="111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undefined">
            <a:extLst>
              <a:ext uri="{FF2B5EF4-FFF2-40B4-BE49-F238E27FC236}">
                <a16:creationId xmlns:a16="http://schemas.microsoft.com/office/drawing/2014/main" id="{1D89C534-E5E4-0350-1B0D-226C906CA9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2428578"/>
            <a:ext cx="2984390" cy="54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olars — Blog">
            <a:extLst>
              <a:ext uri="{FF2B5EF4-FFF2-40B4-BE49-F238E27FC236}">
                <a16:creationId xmlns:a16="http://schemas.microsoft.com/office/drawing/2014/main" id="{3980B49B-F458-A6F5-8130-206191265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928" y="4952571"/>
            <a:ext cx="3070337" cy="1586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iting and logo — seaborn 0.13.2 documentation">
            <a:extLst>
              <a:ext uri="{FF2B5EF4-FFF2-40B4-BE49-F238E27FC236}">
                <a16:creationId xmlns:a16="http://schemas.microsoft.com/office/drawing/2014/main" id="{584C7085-9185-67BA-E2FD-04067089B0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766" y="3294359"/>
            <a:ext cx="2934730" cy="838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B5ABA211-F974-116B-E331-42D5EF556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482" y="1690688"/>
            <a:ext cx="1386731" cy="1386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bout statsmodels - statsmodels 0.14.6">
            <a:extLst>
              <a:ext uri="{FF2B5EF4-FFF2-40B4-BE49-F238E27FC236}">
                <a16:creationId xmlns:a16="http://schemas.microsoft.com/office/drawing/2014/main" id="{CB63EB80-8D63-2A78-176F-27B79F844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873" y="3201175"/>
            <a:ext cx="2222679" cy="160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yTorch is evolving fast. Listen to this podcast to find out how!">
            <a:extLst>
              <a:ext uri="{FF2B5EF4-FFF2-40B4-BE49-F238E27FC236}">
                <a16:creationId xmlns:a16="http://schemas.microsoft.com/office/drawing/2014/main" id="{03EFA391-0540-053A-0BFD-2FB91B5A0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2144" y="5238557"/>
            <a:ext cx="3701716" cy="78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412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31D7-F116-6FF9-9B2A-660AE027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2A4C1-FFFD-3C44-E2CA-D30093EF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locally, best use</a:t>
            </a:r>
          </a:p>
          <a:p>
            <a:r>
              <a:rPr lang="en-GB" dirty="0"/>
              <a:t>a virtual environment to flexibly install packages (e.g., </a:t>
            </a:r>
            <a:r>
              <a:rPr lang="en-GB" dirty="0" err="1">
                <a:hlinkClick r:id="rId2"/>
              </a:rPr>
              <a:t>venv</a:t>
            </a:r>
            <a:r>
              <a:rPr lang="en-GB" dirty="0"/>
              <a:t>)</a:t>
            </a:r>
          </a:p>
          <a:p>
            <a:r>
              <a:rPr lang="en-GB" dirty="0"/>
              <a:t>an IDE of your choice (e.g., </a:t>
            </a:r>
            <a:r>
              <a:rPr lang="en-GB" dirty="0">
                <a:hlinkClick r:id="rId3"/>
              </a:rPr>
              <a:t>VS Code</a:t>
            </a:r>
            <a:r>
              <a:rPr lang="en-GB" dirty="0"/>
              <a:t>)</a:t>
            </a:r>
          </a:p>
          <a:p>
            <a:r>
              <a:rPr lang="en-GB" dirty="0"/>
              <a:t>both plain Python files or </a:t>
            </a:r>
            <a:r>
              <a:rPr lang="en-GB" dirty="0" err="1">
                <a:hlinkClick r:id="rId4"/>
              </a:rPr>
              <a:t>Jupyter</a:t>
            </a:r>
            <a:r>
              <a:rPr lang="en-GB" dirty="0">
                <a:hlinkClick r:id="rId4"/>
              </a:rPr>
              <a:t> notebooks</a:t>
            </a:r>
            <a:r>
              <a:rPr lang="en-GB" dirty="0"/>
              <a:t> are fine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 cloud-based environments also fine (e.g., </a:t>
            </a:r>
            <a:r>
              <a:rPr lang="en-GB" dirty="0">
                <a:hlinkClick r:id="rId5"/>
              </a:rPr>
              <a:t>Google </a:t>
            </a:r>
            <a:r>
              <a:rPr lang="en-GB" dirty="0" err="1">
                <a:hlinkClick r:id="rId5"/>
              </a:rPr>
              <a:t>Colab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B8C7-7F0B-BA44-36D2-4511056C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728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9DE35-6DC5-4B43-A28D-7DF616D39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AFC3B-A5E8-E02B-3B57-552EF4E57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hlinkClick r:id="rId2"/>
              </a:rPr>
              <a:t>An Introduction to Statistical Learning</a:t>
            </a:r>
            <a:endParaRPr lang="de-DE" dirty="0">
              <a:hlinkClick r:id="rId3"/>
            </a:endParaRPr>
          </a:p>
          <a:p>
            <a:r>
              <a:rPr lang="de-DE" dirty="0">
                <a:hlinkClick r:id="rId3"/>
              </a:rPr>
              <a:t>The Elements of Statistical Learning</a:t>
            </a:r>
            <a:endParaRPr lang="de-DE" dirty="0"/>
          </a:p>
          <a:p>
            <a:r>
              <a:rPr lang="de-DE" dirty="0">
                <a:hlinkClick r:id="rId4"/>
              </a:rPr>
              <a:t>Pattern Recognition and Machine Learning</a:t>
            </a:r>
            <a:endParaRPr lang="de-DE" dirty="0"/>
          </a:p>
          <a:p>
            <a:r>
              <a:rPr lang="en-DE">
                <a:hlinkClick r:id="rId5"/>
              </a:rPr>
              <a:t>M</a:t>
            </a:r>
            <a:r>
              <a:rPr lang="de-DE" dirty="0">
                <a:hlinkClick r:id="rId5"/>
              </a:rPr>
              <a:t>achine Learning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>
                <a:hlinkClick r:id="rId6"/>
              </a:rPr>
              <a:t>Deep Learning</a:t>
            </a:r>
            <a:endParaRPr lang="en-GB" dirty="0"/>
          </a:p>
          <a:p>
            <a:r>
              <a:rPr lang="en-GB" dirty="0">
                <a:hlinkClick r:id="rId7"/>
              </a:rPr>
              <a:t>Understanding Deep Learning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38C66-2088-1B70-03A1-D7C86EDA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3683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00577-1A45-E216-DEF8-BD7E708C3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246B3-6275-CB91-1DF3-1016B4FAA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 form – Assignment (A)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50199-2F53-5FC5-521A-A38336014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b="1" dirty="0"/>
          </a:p>
          <a:p>
            <a:r>
              <a:rPr lang="en-GB" b="1" dirty="0"/>
              <a:t>Two assignments </a:t>
            </a:r>
            <a:r>
              <a:rPr lang="en-GB" dirty="0"/>
              <a:t>during lecture time</a:t>
            </a:r>
          </a:p>
          <a:p>
            <a:r>
              <a:rPr lang="en-GB" dirty="0"/>
              <a:t>Working in </a:t>
            </a:r>
            <a:r>
              <a:rPr lang="en-GB" b="1" dirty="0"/>
              <a:t>groups of two </a:t>
            </a:r>
            <a:r>
              <a:rPr lang="en-GB" dirty="0"/>
              <a:t>(exceptional three) </a:t>
            </a:r>
            <a:r>
              <a:rPr lang="en-GB" b="1" dirty="0"/>
              <a:t>students</a:t>
            </a:r>
          </a:p>
          <a:p>
            <a:r>
              <a:rPr lang="en-GB" dirty="0"/>
              <a:t>An </a:t>
            </a:r>
            <a:r>
              <a:rPr lang="en-GB" b="1" dirty="0"/>
              <a:t>assignment</a:t>
            </a:r>
            <a:r>
              <a:rPr lang="en-GB" dirty="0"/>
              <a:t> consists of …</a:t>
            </a:r>
          </a:p>
          <a:p>
            <a:pPr lvl="1"/>
            <a:r>
              <a:rPr lang="en-GB" dirty="0"/>
              <a:t>a specific task given after deadline of registration</a:t>
            </a:r>
          </a:p>
          <a:p>
            <a:pPr lvl="1"/>
            <a:r>
              <a:rPr lang="en-GB" dirty="0"/>
              <a:t>processing and completing the task</a:t>
            </a:r>
          </a:p>
          <a:p>
            <a:pPr lvl="1"/>
            <a:r>
              <a:rPr lang="en-GB" dirty="0"/>
              <a:t>presentation (25-30 min) + oral discussion (15 min)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3C19B-2E9C-41EF-C38E-923297E4D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802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18705-A0D8-82EA-9919-BDE0A523A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393E-63BA-5E87-3F47-DB591718F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402E6085-D2F0-6C89-5A8B-49530E8246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2931701"/>
              </p:ext>
            </p:extLst>
          </p:nvPr>
        </p:nvGraphicFramePr>
        <p:xfrm>
          <a:off x="838200" y="1825625"/>
          <a:ext cx="10515597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517">
                  <a:extLst>
                    <a:ext uri="{9D8B030D-6E8A-4147-A177-3AD203B41FA5}">
                      <a16:colId xmlns:a16="http://schemas.microsoft.com/office/drawing/2014/main" val="1625432407"/>
                    </a:ext>
                  </a:extLst>
                </a:gridCol>
                <a:gridCol w="2309649">
                  <a:extLst>
                    <a:ext uri="{9D8B030D-6E8A-4147-A177-3AD203B41FA5}">
                      <a16:colId xmlns:a16="http://schemas.microsoft.com/office/drawing/2014/main" val="2116451947"/>
                    </a:ext>
                  </a:extLst>
                </a:gridCol>
                <a:gridCol w="6537431">
                  <a:extLst>
                    <a:ext uri="{9D8B030D-6E8A-4147-A177-3AD203B41FA5}">
                      <a16:colId xmlns:a16="http://schemas.microsoft.com/office/drawing/2014/main" val="3062158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week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29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17.04.2026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deadline of exam registration via QIS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47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20.-24.04.2026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announcement of assignments, groups &amp; presentation dates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4410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11.-15.05.2026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lectures for final preparation of assignment 1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49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18.-22.05.2026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assignment 1 (5 blocks including Friday (22.05.) block 4 and 5)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262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15.-19.06.2026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no lectures for final preparation of assignment 2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9679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22.-26.06.2026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assignment 2 (5 blocks including Friday (26.06.) block 4 and 5)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91922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A8E4E-B65A-9F65-A488-C177AA8C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552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Microsoft Office PowerPoint</Application>
  <PresentationFormat>Breitbild</PresentationFormat>
  <Paragraphs>140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9" baseType="lpstr">
      <vt:lpstr>AccordAlternate</vt:lpstr>
      <vt:lpstr>Aptos</vt:lpstr>
      <vt:lpstr>Aptos Display</vt:lpstr>
      <vt:lpstr>Arial</vt:lpstr>
      <vt:lpstr>Wingdings</vt:lpstr>
      <vt:lpstr>Office Theme</vt:lpstr>
      <vt:lpstr>Introduction</vt:lpstr>
      <vt:lpstr>Course Schedule</vt:lpstr>
      <vt:lpstr>PowerPoint-Präsentation</vt:lpstr>
      <vt:lpstr>Typical Data Science Workflow</vt:lpstr>
      <vt:lpstr>Main Areas of Artificial Intelligence (AI)</vt:lpstr>
      <vt:lpstr>When to Use ML (Learning from Data)</vt:lpstr>
      <vt:lpstr>PowerPoint-Präsentation</vt:lpstr>
      <vt:lpstr>Used Programming Language: Python</vt:lpstr>
      <vt:lpstr>Scientific Python Stack</vt:lpstr>
      <vt:lpstr>Programming Environments</vt:lpstr>
      <vt:lpstr>Literature</vt:lpstr>
      <vt:lpstr>Exam form – Assignment (A)</vt:lpstr>
      <vt:lpstr>Schedule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Steidel, Stefan</cp:lastModifiedBy>
  <cp:revision>46</cp:revision>
  <dcterms:created xsi:type="dcterms:W3CDTF">2025-01-08T09:27:30Z</dcterms:created>
  <dcterms:modified xsi:type="dcterms:W3CDTF">2026-03-22T11:48:20Z</dcterms:modified>
</cp:coreProperties>
</file>