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6" r:id="rId4"/>
    <p:sldId id="273" r:id="rId5"/>
    <p:sldId id="262" r:id="rId6"/>
    <p:sldId id="268" r:id="rId7"/>
    <p:sldId id="258" r:id="rId8"/>
    <p:sldId id="269" r:id="rId9"/>
    <p:sldId id="274" r:id="rId10"/>
    <p:sldId id="271" r:id="rId11"/>
    <p:sldId id="27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hastie.su.domains/ElemStatLearn/" TargetMode="External"/><Relationship Id="rId7" Type="http://schemas.openxmlformats.org/officeDocument/2006/relationships/hyperlink" Target="https://udlbook.github.io/udlbook/" TargetMode="External"/><Relationship Id="rId2" Type="http://schemas.openxmlformats.org/officeDocument/2006/relationships/hyperlink" Target="https://www.statlearning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org/" TargetMode="External"/><Relationship Id="rId5" Type="http://schemas.openxmlformats.org/officeDocument/2006/relationships/hyperlink" Target="https://www.cs.cmu.edu/afs/cs.cmu.edu/user/mitchell/ftp/mlbook.html" TargetMode="External"/><Relationship Id="rId4" Type="http://schemas.openxmlformats.org/officeDocument/2006/relationships/hyperlink" Target="https://www.microsoft.com/en-us/research/uploads/prod/2006/01/Bishop-Pattern-Recognition-and-Machine-Learning-200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5F983-758A-EB88-9012-92F52DEF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3</a:t>
            </a:fld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3A792F-00C8-7D7F-6BEC-906378FBE986}"/>
              </a:ext>
            </a:extLst>
          </p:cNvPr>
          <p:cNvGrpSpPr/>
          <p:nvPr/>
        </p:nvGrpSpPr>
        <p:grpSpPr>
          <a:xfrm>
            <a:off x="206653" y="742950"/>
            <a:ext cx="5467350" cy="5372100"/>
            <a:chOff x="218096" y="1278538"/>
            <a:chExt cx="5467350" cy="53721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8034507-EBF5-C8B0-E02C-648EBA958CA2}"/>
                </a:ext>
              </a:extLst>
            </p:cNvPr>
            <p:cNvSpPr/>
            <p:nvPr/>
          </p:nvSpPr>
          <p:spPr>
            <a:xfrm>
              <a:off x="218096" y="1278538"/>
              <a:ext cx="5467350" cy="53721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9D9A571-5F1B-A287-1366-448584434981}"/>
                </a:ext>
              </a:extLst>
            </p:cNvPr>
            <p:cNvSpPr/>
            <p:nvPr/>
          </p:nvSpPr>
          <p:spPr>
            <a:xfrm>
              <a:off x="1008671" y="2716812"/>
              <a:ext cx="3886200" cy="393382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898E0-A5FF-7737-66AF-823C4CB0027D}"/>
                </a:ext>
              </a:extLst>
            </p:cNvPr>
            <p:cNvSpPr/>
            <p:nvPr/>
          </p:nvSpPr>
          <p:spPr>
            <a:xfrm>
              <a:off x="1675421" y="4097938"/>
              <a:ext cx="2552700" cy="25527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Deep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Learning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0D5185-9D95-297D-29A1-2586D8B69CF6}"/>
                </a:ext>
              </a:extLst>
            </p:cNvPr>
            <p:cNvSpPr txBox="1"/>
            <p:nvPr/>
          </p:nvSpPr>
          <p:spPr>
            <a:xfrm>
              <a:off x="2151671" y="3097812"/>
              <a:ext cx="16002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Machine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AA9D3-BD6B-71DE-CA94-73864BEDEEFC}"/>
                </a:ext>
              </a:extLst>
            </p:cNvPr>
            <p:cNvSpPr txBox="1"/>
            <p:nvPr/>
          </p:nvSpPr>
          <p:spPr>
            <a:xfrm>
              <a:off x="1999271" y="1627787"/>
              <a:ext cx="17811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Artificial Intelligence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2B53FA-A449-0AAB-DB4F-BAE16BB65419}"/>
              </a:ext>
            </a:extLst>
          </p:cNvPr>
          <p:cNvSpPr txBox="1"/>
          <p:nvPr/>
        </p:nvSpPr>
        <p:spPr>
          <a:xfrm>
            <a:off x="7282270" y="812715"/>
            <a:ext cx="4490629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blend of diverse components from different domains (statistics, optimization, computer science, …)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3D8FE-44A8-3988-9D54-5D7977569E3A}"/>
              </a:ext>
            </a:extLst>
          </p:cNvPr>
          <p:cNvSpPr txBox="1"/>
          <p:nvPr/>
        </p:nvSpPr>
        <p:spPr>
          <a:xfrm>
            <a:off x="7472770" y="3801805"/>
            <a:ext cx="471923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DE" sz="2200" b="1" dirty="0"/>
              <a:t>Deep Learning</a:t>
            </a:r>
            <a:r>
              <a:rPr lang="en-DE" sz="2200" dirty="0"/>
              <a:t>:</a:t>
            </a:r>
            <a:r>
              <a:rPr lang="de-DE" sz="2200" dirty="0"/>
              <a:t> </a:t>
            </a:r>
            <a:r>
              <a:rPr lang="en-DE" sz="2200" dirty="0"/>
              <a:t>special kind of ML </a:t>
            </a:r>
            <a:r>
              <a:rPr lang="de-DE" sz="2200" dirty="0"/>
              <a:t>method</a:t>
            </a:r>
            <a:r>
              <a:rPr lang="en-DE" sz="2200" dirty="0"/>
              <a:t>s using </a:t>
            </a:r>
            <a:r>
              <a:rPr lang="en-DE" sz="2200" i="1" dirty="0"/>
              <a:t>deep</a:t>
            </a:r>
            <a:r>
              <a:rPr lang="en-DE" sz="2200" dirty="0"/>
              <a:t> neural networks</a:t>
            </a:r>
            <a:r>
              <a:rPr lang="en-GB" sz="2200" dirty="0"/>
              <a:t> (e.g., CNNs, transformers)</a:t>
            </a:r>
          </a:p>
          <a:p>
            <a:pPr marL="0" indent="0">
              <a:buNone/>
            </a:pPr>
            <a:endParaRPr lang="en-GB" sz="2200" dirty="0"/>
          </a:p>
          <a:p>
            <a:r>
              <a:rPr lang="en-DE" sz="2200" b="1"/>
              <a:t>Data Science</a:t>
            </a:r>
            <a:r>
              <a:rPr lang="en-DE" sz="2200"/>
              <a:t>:</a:t>
            </a:r>
          </a:p>
          <a:p>
            <a:r>
              <a:rPr lang="en-GB" sz="2200" dirty="0"/>
              <a:t>e</a:t>
            </a:r>
            <a:r>
              <a:rPr lang="en-DE" sz="2200"/>
              <a:t>xtract knowledge from data (by means of ML, among other things)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8DC0299-4CEA-3836-0CA3-856D5253E62A}"/>
              </a:ext>
            </a:extLst>
          </p:cNvPr>
          <p:cNvSpPr/>
          <p:nvPr/>
        </p:nvSpPr>
        <p:spPr>
          <a:xfrm>
            <a:off x="3596095" y="1595437"/>
            <a:ext cx="3886200" cy="3933826"/>
          </a:xfrm>
          <a:prstGeom prst="ellipse">
            <a:avLst/>
          </a:prstGeom>
          <a:solidFill>
            <a:schemeClr val="bg1">
              <a:lumMod val="85000"/>
              <a:alpha val="34000"/>
            </a:schemeClr>
          </a:solidFill>
          <a:ln w="381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61FAD28E-59CD-01AB-B575-7B01663D09A2}"/>
              </a:ext>
            </a:extLst>
          </p:cNvPr>
          <p:cNvSpPr txBox="1"/>
          <p:nvPr/>
        </p:nvSpPr>
        <p:spPr>
          <a:xfrm>
            <a:off x="5672545" y="3146851"/>
            <a:ext cx="16097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365998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0AEF908-D62B-6A6D-87B6-FC24F85E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Data Science Workflow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AAF2F99-958E-01A0-B671-67F68797F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Business Understanding</a:t>
            </a:r>
          </a:p>
          <a:p>
            <a:pPr marL="0" indent="0">
              <a:buNone/>
            </a:pPr>
            <a:r>
              <a:rPr lang="de-DE" dirty="0"/>
              <a:t>→ Data Collection</a:t>
            </a:r>
          </a:p>
          <a:p>
            <a:pPr marL="0" indent="0">
              <a:buNone/>
            </a:pPr>
            <a:r>
              <a:rPr lang="de-DE" dirty="0"/>
              <a:t>→ Data Exploration </a:t>
            </a:r>
          </a:p>
          <a:p>
            <a:pPr marL="0" indent="0">
              <a:buNone/>
            </a:pPr>
            <a:r>
              <a:rPr lang="de-DE" dirty="0"/>
              <a:t>→ Data </a:t>
            </a:r>
            <a:r>
              <a:rPr lang="de-DE" dirty="0" err="1"/>
              <a:t>Cleaning</a:t>
            </a:r>
            <a:r>
              <a:rPr lang="de-DE" dirty="0"/>
              <a:t> &amp; </a:t>
            </a:r>
            <a:r>
              <a:rPr lang="de-DE" dirty="0" err="1"/>
              <a:t>Preparation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→ Modeling</a:t>
            </a:r>
          </a:p>
          <a:p>
            <a:pPr marL="0" indent="0">
              <a:buNone/>
            </a:pPr>
            <a:r>
              <a:rPr lang="de-DE" dirty="0"/>
              <a:t>→ Evaluation</a:t>
            </a:r>
          </a:p>
          <a:p>
            <a:pPr marL="0" indent="0">
              <a:buNone/>
            </a:pPr>
            <a:r>
              <a:rPr lang="de-DE" dirty="0"/>
              <a:t>→ </a:t>
            </a:r>
            <a:r>
              <a:rPr lang="de-DE" dirty="0" err="1"/>
              <a:t>Deployment</a:t>
            </a:r>
            <a:r>
              <a:rPr lang="de-DE" dirty="0"/>
              <a:t> &amp; Monitoring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88F1996-6422-164F-6384-0F54EF74E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5D0225-54DA-888D-C45E-EA07926C4B43}"/>
              </a:ext>
            </a:extLst>
          </p:cNvPr>
          <p:cNvSpPr txBox="1"/>
          <p:nvPr/>
        </p:nvSpPr>
        <p:spPr>
          <a:xfrm>
            <a:off x="7247156" y="3831223"/>
            <a:ext cx="2735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iterative </a:t>
            </a:r>
            <a:r>
              <a:rPr lang="de-DE" sz="2800" dirty="0" err="1"/>
              <a:t>process</a:t>
            </a:r>
            <a:endParaRPr lang="de-DE" sz="28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3292F64E-6271-97C7-7F2A-8AC5E345AE33}"/>
              </a:ext>
            </a:extLst>
          </p:cNvPr>
          <p:cNvSpPr/>
          <p:nvPr/>
        </p:nvSpPr>
        <p:spPr>
          <a:xfrm>
            <a:off x="6096000" y="2375452"/>
            <a:ext cx="1113183" cy="34347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1189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11" y="2282706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20" y="3952220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244" y="2218617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439111" y="1759486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609521" y="3429000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976972" y="1695397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725673" y="3654052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73" y="4177272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3885793" y="5835544"/>
            <a:ext cx="5506278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</a:t>
            </a:r>
            <a:r>
              <a:rPr lang="de-DE" sz="2200" dirty="0" err="1"/>
              <a:t>component</a:t>
            </a:r>
            <a:r>
              <a:rPr lang="de-DE" sz="2200" dirty="0"/>
              <a:t>:</a:t>
            </a:r>
          </a:p>
          <a:p>
            <a:r>
              <a:rPr lang="de-DE" sz="2200" dirty="0" err="1"/>
              <a:t>learning</a:t>
            </a:r>
            <a:r>
              <a:rPr lang="de-DE" sz="2200" dirty="0"/>
              <a:t>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Machine</a:t>
            </a:r>
            <a:r>
              <a:rPr lang="de-DE" sz="2200" dirty="0">
                <a:sym typeface="Wingdings" pitchFamily="2" charset="2"/>
              </a:rPr>
              <a:t> Learning </a:t>
            </a:r>
            <a:r>
              <a:rPr lang="de-DE" sz="2200" dirty="0"/>
              <a:t>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CA917D1-CFE8-CFA0-EC29-D31E0398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When to Use ML (Learning from Data)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10007-F622-5B4B-B5A0-241B785D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6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151AC-16C9-C1FF-7D4B-9897133BE633}"/>
              </a:ext>
            </a:extLst>
          </p:cNvPr>
          <p:cNvSpPr txBox="1"/>
          <p:nvPr/>
        </p:nvSpPr>
        <p:spPr>
          <a:xfrm>
            <a:off x="838200" y="2016445"/>
            <a:ext cx="3767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automation</a:t>
            </a:r>
          </a:p>
          <a:p>
            <a:r>
              <a:rPr lang="en-GB" sz="2400" dirty="0"/>
              <a:t>too complex for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C67E1-0656-937B-6797-538377633F26}"/>
              </a:ext>
            </a:extLst>
          </p:cNvPr>
          <p:cNvSpPr txBox="1"/>
          <p:nvPr/>
        </p:nvSpPr>
        <p:spPr>
          <a:xfrm>
            <a:off x="6214111" y="2016445"/>
            <a:ext cx="43078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uncertainty</a:t>
            </a:r>
          </a:p>
          <a:p>
            <a:r>
              <a:rPr lang="en-GB" sz="2400" dirty="0"/>
              <a:t>too complex for humans</a:t>
            </a:r>
          </a:p>
        </p:txBody>
      </p:sp>
      <p:pic>
        <p:nvPicPr>
          <p:cNvPr id="8" name="Picture 2" descr="Alphafold-2 Brief Summary. How it works and what it means for… | by ...">
            <a:extLst>
              <a:ext uri="{FF2B5EF4-FFF2-40B4-BE49-F238E27FC236}">
                <a16:creationId xmlns:a16="http://schemas.microsoft.com/office/drawing/2014/main" id="{A734C35A-F9EC-16AF-C578-6C4A860B7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4111" y="3192255"/>
            <a:ext cx="4307839" cy="242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CD0BC8-8653-739C-7ACE-3DB4279978A0}"/>
              </a:ext>
            </a:extLst>
          </p:cNvPr>
          <p:cNvSpPr txBox="1"/>
          <p:nvPr/>
        </p:nvSpPr>
        <p:spPr>
          <a:xfrm>
            <a:off x="6096001" y="5700575"/>
            <a:ext cx="6005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protein structure predictions, demand forecasting, …</a:t>
            </a:r>
          </a:p>
        </p:txBody>
      </p:sp>
      <p:pic>
        <p:nvPicPr>
          <p:cNvPr id="10" name="Picture 9" descr="A computer on a table&#10;&#10;Description automatically generated">
            <a:extLst>
              <a:ext uri="{FF2B5EF4-FFF2-40B4-BE49-F238E27FC236}">
                <a16:creationId xmlns:a16="http://schemas.microsoft.com/office/drawing/2014/main" id="{236AF176-CF90-9AEF-5F5A-62931A1F1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92255"/>
            <a:ext cx="3767320" cy="2423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A78324-008A-CDED-13FB-DBF4795BDAC2}"/>
              </a:ext>
            </a:extLst>
          </p:cNvPr>
          <p:cNvSpPr txBox="1"/>
          <p:nvPr/>
        </p:nvSpPr>
        <p:spPr>
          <a:xfrm>
            <a:off x="838200" y="5692867"/>
            <a:ext cx="376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object recognition, chatbot, 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CA6B1-3E7B-83D8-2B03-2A610283AD83}"/>
              </a:ext>
            </a:extLst>
          </p:cNvPr>
          <p:cNvSpPr txBox="1"/>
          <p:nvPr/>
        </p:nvSpPr>
        <p:spPr>
          <a:xfrm>
            <a:off x="10521950" y="4694111"/>
            <a:ext cx="1227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AlphaFold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5442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8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A085A14-E5B9-2CDA-B8F3-5540818E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Scientific Python Stack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3213A8-AD9A-08FD-93A2-6EC32971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4" descr="undefined">
            <a:extLst>
              <a:ext uri="{FF2B5EF4-FFF2-40B4-BE49-F238E27FC236}">
                <a16:creationId xmlns:a16="http://schemas.microsoft.com/office/drawing/2014/main" id="{C4C4CA85-CA02-5CEC-E497-8645D86B4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" y="1690688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undefined">
            <a:extLst>
              <a:ext uri="{FF2B5EF4-FFF2-40B4-BE49-F238E27FC236}">
                <a16:creationId xmlns:a16="http://schemas.microsoft.com/office/drawing/2014/main" id="{010E6F5D-F0AD-FA59-1902-BFCCAAB6AC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56" y="3429000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undefined">
            <a:extLst>
              <a:ext uri="{FF2B5EF4-FFF2-40B4-BE49-F238E27FC236}">
                <a16:creationId xmlns:a16="http://schemas.microsoft.com/office/drawing/2014/main" id="{AA5BAFEE-C896-E6FB-353D-E7A0D3308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343" y="5238557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1D89C534-E5E4-0350-1B0D-226C906CA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428578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lars — Blog">
            <a:extLst>
              <a:ext uri="{FF2B5EF4-FFF2-40B4-BE49-F238E27FC236}">
                <a16:creationId xmlns:a16="http://schemas.microsoft.com/office/drawing/2014/main" id="{3980B49B-F458-A6F5-8130-206191265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928" y="4952571"/>
            <a:ext cx="3070337" cy="158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iting and logo — seaborn 0.13.2 documentation">
            <a:extLst>
              <a:ext uri="{FF2B5EF4-FFF2-40B4-BE49-F238E27FC236}">
                <a16:creationId xmlns:a16="http://schemas.microsoft.com/office/drawing/2014/main" id="{584C7085-9185-67BA-E2FD-04067089B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3766" y="3294359"/>
            <a:ext cx="2934730" cy="83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5ABA211-F974-116B-E331-42D5EF556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482" y="1690688"/>
            <a:ext cx="1386731" cy="1386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bout statsmodels - statsmodels 0.14.6">
            <a:extLst>
              <a:ext uri="{FF2B5EF4-FFF2-40B4-BE49-F238E27FC236}">
                <a16:creationId xmlns:a16="http://schemas.microsoft.com/office/drawing/2014/main" id="{CB63EB80-8D63-2A78-176F-27B79F844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873" y="3201175"/>
            <a:ext cx="2222679" cy="160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03EFA391-0540-053A-0BFD-2FB91B5A0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2144" y="5238557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412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9DE35-6DC5-4B43-A28D-7DF616D39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FC3B-A5E8-E02B-3B57-552EF4E57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hlinkClick r:id="rId2"/>
              </a:rPr>
              <a:t>An Introduction to Statistical Learning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The Elements of Statistical Learning</a:t>
            </a:r>
            <a:endParaRPr lang="de-DE" dirty="0"/>
          </a:p>
          <a:p>
            <a:r>
              <a:rPr lang="de-DE" dirty="0">
                <a:hlinkClick r:id="rId4"/>
              </a:rPr>
              <a:t>Pattern Recognition and Machine Learning</a:t>
            </a:r>
            <a:endParaRPr lang="de-DE" dirty="0"/>
          </a:p>
          <a:p>
            <a:r>
              <a:rPr lang="en-DE">
                <a:hlinkClick r:id="rId5"/>
              </a:rPr>
              <a:t>M</a:t>
            </a:r>
            <a:r>
              <a:rPr lang="de-DE" dirty="0">
                <a:hlinkClick r:id="rId5"/>
              </a:rPr>
              <a:t>achine Learning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6"/>
              </a:rPr>
              <a:t>Deep Learning</a:t>
            </a:r>
            <a:endParaRPr lang="en-GB" dirty="0"/>
          </a:p>
          <a:p>
            <a:r>
              <a:rPr lang="en-GB" dirty="0">
                <a:hlinkClick r:id="rId7"/>
              </a:rPr>
              <a:t>Understanding Deep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8C66-2088-1B70-03A1-D7C86EDA2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683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364</Words>
  <Application>Microsoft Macintosh PowerPoint</Application>
  <PresentationFormat>Breitbild</PresentationFormat>
  <Paragraphs>108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AccordAlternate</vt:lpstr>
      <vt:lpstr>Aptos</vt:lpstr>
      <vt:lpstr>Aptos Display</vt:lpstr>
      <vt:lpstr>Arial</vt:lpstr>
      <vt:lpstr>Wingdings</vt:lpstr>
      <vt:lpstr>Office Theme</vt:lpstr>
      <vt:lpstr>Introduction</vt:lpstr>
      <vt:lpstr>Course Schedule</vt:lpstr>
      <vt:lpstr>PowerPoint-Präsentation</vt:lpstr>
      <vt:lpstr>Typical Data Science Workflow</vt:lpstr>
      <vt:lpstr>Main Areas of Artificial Intelligence (AI)</vt:lpstr>
      <vt:lpstr>When to Use ML (Learning from Data)</vt:lpstr>
      <vt:lpstr>PowerPoint-Präsentation</vt:lpstr>
      <vt:lpstr>Used Programming Language: Python</vt:lpstr>
      <vt:lpstr>Scientific Python Stack</vt:lpstr>
      <vt:lpstr>Programming Environments</vt:lpstr>
      <vt:lpstr>Literature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43</cp:revision>
  <dcterms:created xsi:type="dcterms:W3CDTF">2025-01-08T09:27:30Z</dcterms:created>
  <dcterms:modified xsi:type="dcterms:W3CDTF">2026-03-05T10:29:25Z</dcterms:modified>
</cp:coreProperties>
</file>