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8"/>
  </p:notesMasterIdLst>
  <p:sldIdLst>
    <p:sldId id="323" r:id="rId2"/>
    <p:sldId id="2076137264" r:id="rId3"/>
    <p:sldId id="2076137268" r:id="rId4"/>
    <p:sldId id="2076137280" r:id="rId5"/>
    <p:sldId id="2076137282" r:id="rId6"/>
    <p:sldId id="2076137283" r:id="rId7"/>
    <p:sldId id="2076137284" r:id="rId8"/>
    <p:sldId id="2076137285" r:id="rId9"/>
    <p:sldId id="2076137286" r:id="rId10"/>
    <p:sldId id="2076137287" r:id="rId11"/>
    <p:sldId id="2076137288" r:id="rId12"/>
    <p:sldId id="2076137289" r:id="rId13"/>
    <p:sldId id="2076137303" r:id="rId14"/>
    <p:sldId id="2076137291" r:id="rId15"/>
    <p:sldId id="2076137292" r:id="rId16"/>
    <p:sldId id="2076137293" r:id="rId17"/>
    <p:sldId id="2076137294" r:id="rId18"/>
    <p:sldId id="2076137295" r:id="rId19"/>
    <p:sldId id="2076137296" r:id="rId20"/>
    <p:sldId id="2076137297" r:id="rId21"/>
    <p:sldId id="2076137298" r:id="rId22"/>
    <p:sldId id="2076137299" r:id="rId23"/>
    <p:sldId id="2076137300" r:id="rId24"/>
    <p:sldId id="2076137301" r:id="rId25"/>
    <p:sldId id="2076137302" r:id="rId26"/>
    <p:sldId id="2076137281" r:id="rId2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/>
    <p:restoredTop sz="94646"/>
  </p:normalViewPr>
  <p:slideViewPr>
    <p:cSldViewPr snapToGrid="0">
      <p:cViewPr varScale="1">
        <p:scale>
          <a:sx n="108" d="100"/>
          <a:sy n="108" d="100"/>
        </p:scale>
        <p:origin x="1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DAC50-00D5-3946-BE94-3A206AB4E9F5}" type="datetimeFigureOut">
              <a:rPr lang="en-DE" smtClean="0"/>
              <a:t>6/12/26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6B5AC-7AD8-DB47-BC60-5A4A4C1CA99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1963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56D-5ACD-4673-BCE9-52505EC32CEF}" type="datetime1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634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3083-041D-491F-A9FE-D51D99E0B41E}" type="datetime1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738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55E6-A1CA-4CB6-9964-88D5086DA5CA}" type="datetime1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86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E38-24C1-4A8F-B916-1E714FC129DD}" type="datetime1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08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BCDC-BAA6-44B5-B642-6F28D623ABB1}" type="datetime1">
              <a:rPr lang="en-GB" smtClean="0"/>
              <a:t>12/06/2026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26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BEC3-2CF9-4B19-A0A5-E70A0675B677}" type="datetime1">
              <a:rPr lang="en-GB" smtClean="0"/>
              <a:t>12/06/2026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43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8BFD-B06D-4A45-8453-724AC7BA29C5}" type="datetime1">
              <a:rPr lang="en-GB" smtClean="0"/>
              <a:t>12/06/2026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45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99B0-2926-4194-B668-6A0D6123824C}" type="datetime1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07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26-21FD-40F4-9F0B-AD19F2317DCA}" type="datetime1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8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2639-5270-4811-807B-89D4AE95E7ED}" type="datetime1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84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976C-D408-4E27-8D02-D7795F6D8A01}" type="datetime1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74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896D-5D36-4D31-A0CE-0C2BFB17B225}" type="datetime1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34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1.10500" TargetMode="External"/><Relationship Id="rId2" Type="http://schemas.openxmlformats.org/officeDocument/2006/relationships/hyperlink" Target="https://dl.acm.org/doi/10.1145/324103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206.6471" TargetMode="External"/><Relationship Id="rId4" Type="http://schemas.openxmlformats.org/officeDocument/2006/relationships/hyperlink" Target="https://arxiv.org/abs/2102.111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Causality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77808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3897D96-EE3F-5B83-BF99-D21AC76D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Causality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7DFFDE4-8332-E672-8CEA-495A8A1F1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inference</a:t>
            </a:r>
            <a:endParaRPr lang="de-DE" dirty="0"/>
          </a:p>
          <a:p>
            <a:r>
              <a:rPr lang="de-DE" dirty="0" err="1"/>
              <a:t>confounding</a:t>
            </a:r>
            <a:endParaRPr lang="de-DE" dirty="0"/>
          </a:p>
          <a:p>
            <a:r>
              <a:rPr lang="de-DE" dirty="0"/>
              <a:t>DAG</a:t>
            </a:r>
          </a:p>
          <a:p>
            <a:r>
              <a:rPr lang="de-DE" dirty="0"/>
              <a:t>do-</a:t>
            </a:r>
            <a:r>
              <a:rPr lang="de-DE" dirty="0" err="1"/>
              <a:t>formalism</a:t>
            </a:r>
            <a:endParaRPr lang="de-DE" dirty="0"/>
          </a:p>
          <a:p>
            <a:r>
              <a:rPr lang="de-DE" dirty="0" err="1"/>
              <a:t>counterfactuals</a:t>
            </a:r>
            <a:endParaRPr lang="de-DE" dirty="0"/>
          </a:p>
          <a:p>
            <a:r>
              <a:rPr lang="de-DE" dirty="0"/>
              <a:t>inverse </a:t>
            </a:r>
            <a:r>
              <a:rPr lang="de-DE" dirty="0" err="1"/>
              <a:t>propensity</a:t>
            </a:r>
            <a:r>
              <a:rPr lang="de-DE" dirty="0"/>
              <a:t> score </a:t>
            </a:r>
            <a:r>
              <a:rPr lang="de-DE" dirty="0" err="1"/>
              <a:t>weighting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3B78F69-38CB-DF06-CD98-6D4C89B2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832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A11EC4-AB88-8790-06D5-8494E3B2E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Causality</a:t>
            </a:r>
            <a:r>
              <a:rPr lang="de-DE" dirty="0"/>
              <a:t> Matters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694769-D61A-3B98-A4E4-E81FF5303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DE" sz="2600"/>
              <a:t>story behind the data as important as the data itself</a:t>
            </a:r>
          </a:p>
          <a:p>
            <a:pPr marL="0" indent="0">
              <a:buNone/>
            </a:pPr>
            <a:endParaRPr lang="en-DE" sz="2600"/>
          </a:p>
          <a:p>
            <a:pPr marL="0" indent="0">
              <a:buNone/>
            </a:pPr>
            <a:r>
              <a:rPr lang="en-GB" sz="2600" dirty="0"/>
              <a:t>W</a:t>
            </a:r>
            <a:r>
              <a:rPr lang="en-DE" sz="2600"/>
              <a:t>hy are the statistical dependencies as observed?</a:t>
            </a:r>
          </a:p>
          <a:p>
            <a:pPr>
              <a:buFont typeface="Wingdings" pitchFamily="2" charset="2"/>
              <a:buChar char="à"/>
            </a:pPr>
            <a:r>
              <a:rPr lang="en-GB" sz="2600" dirty="0"/>
              <a:t> d</a:t>
            </a:r>
            <a:r>
              <a:rPr lang="en-DE" sz="2600"/>
              <a:t>ata-generating process mostly governed by causal dependencies</a:t>
            </a:r>
          </a:p>
          <a:p>
            <a:pPr marL="0" indent="0">
              <a:buNone/>
            </a:pPr>
            <a:endParaRPr lang="en-DE" sz="2600"/>
          </a:p>
          <a:p>
            <a:pPr marL="0" indent="0">
              <a:buNone/>
            </a:pPr>
            <a:r>
              <a:rPr lang="en-GB" sz="2600" dirty="0"/>
              <a:t>but l</a:t>
            </a:r>
            <a:r>
              <a:rPr lang="en-DE" sz="2600"/>
              <a:t>anguage of algebra symmetric</a:t>
            </a:r>
          </a:p>
          <a:p>
            <a:pPr marL="0" indent="0">
              <a:buNone/>
            </a:pPr>
            <a:r>
              <a:rPr lang="en-GB" sz="2600" dirty="0"/>
              <a:t>n</a:t>
            </a:r>
            <a:r>
              <a:rPr lang="en-DE" sz="2600"/>
              <a:t>o way to tell that a storm causes barometer to go down and not the other way around </a:t>
            </a:r>
            <a:r>
              <a:rPr lang="en-DE" sz="2600">
                <a:sym typeface="Wingdings" pitchFamily="2" charset="2"/>
              </a:rPr>
              <a:t> need for asymmetric mathematical language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E3D9A5-259C-7CEA-9207-FDF51DD9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  <p:pic>
        <p:nvPicPr>
          <p:cNvPr id="5" name="Picture 7" descr="Text&#10;&#10;Description automatically generated">
            <a:extLst>
              <a:ext uri="{FF2B5EF4-FFF2-40B4-BE49-F238E27FC236}">
                <a16:creationId xmlns:a16="http://schemas.microsoft.com/office/drawing/2014/main" id="{C6AB4372-AAD3-E8A0-D361-52910D169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316603"/>
            <a:ext cx="1695467" cy="265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78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069099-A2C1-90F6-A4C0-79A0954D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and Causal Models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A9E386-978D-425B-CCB4-F69AF2FC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</a:t>
            </a:fld>
            <a:endParaRPr lang="en-GB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7EBED0-5B29-C141-73B6-A99BFFFF568C}"/>
              </a:ext>
            </a:extLst>
          </p:cNvPr>
          <p:cNvSpPr txBox="1"/>
          <p:nvPr/>
        </p:nvSpPr>
        <p:spPr>
          <a:xfrm>
            <a:off x="1126272" y="4620064"/>
            <a:ext cx="1892378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de-DE" sz="2500" dirty="0" err="1"/>
              <a:t>causal</a:t>
            </a:r>
            <a:r>
              <a:rPr lang="de-DE" sz="2500" dirty="0"/>
              <a:t> </a:t>
            </a:r>
            <a:r>
              <a:rPr lang="de-DE" sz="2500" dirty="0" err="1"/>
              <a:t>model</a:t>
            </a:r>
            <a:endParaRPr lang="de-DE" sz="2500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86C331D-A420-76B9-1248-94B64F65510F}"/>
              </a:ext>
            </a:extLst>
          </p:cNvPr>
          <p:cNvSpPr txBox="1"/>
          <p:nvPr/>
        </p:nvSpPr>
        <p:spPr>
          <a:xfrm>
            <a:off x="8516679" y="4235343"/>
            <a:ext cx="2377787" cy="1246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2500" dirty="0" err="1"/>
              <a:t>observations</a:t>
            </a:r>
            <a:r>
              <a:rPr lang="de-DE" sz="2500" dirty="0"/>
              <a:t> &amp;</a:t>
            </a:r>
          </a:p>
          <a:p>
            <a:pPr algn="ctr"/>
            <a:r>
              <a:rPr lang="de-DE" sz="2500" dirty="0" err="1"/>
              <a:t>interventions</a:t>
            </a:r>
            <a:r>
              <a:rPr lang="de-DE" sz="2500" dirty="0"/>
              <a:t> &amp;</a:t>
            </a:r>
          </a:p>
          <a:p>
            <a:pPr algn="ctr"/>
            <a:r>
              <a:rPr lang="de-DE" sz="2500" dirty="0" err="1"/>
              <a:t>imagination</a:t>
            </a:r>
            <a:endParaRPr lang="de-DE" sz="2500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80794669-570A-891A-328B-C04C92C7DF95}"/>
              </a:ext>
            </a:extLst>
          </p:cNvPr>
          <p:cNvSpPr txBox="1"/>
          <p:nvPr/>
        </p:nvSpPr>
        <p:spPr>
          <a:xfrm>
            <a:off x="733376" y="2505050"/>
            <a:ext cx="2678169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de-DE" sz="2500" dirty="0" err="1"/>
              <a:t>probabilistic</a:t>
            </a:r>
            <a:r>
              <a:rPr lang="de-DE" sz="2500" dirty="0"/>
              <a:t> </a:t>
            </a:r>
            <a:r>
              <a:rPr lang="de-DE" sz="2500" dirty="0" err="1"/>
              <a:t>model</a:t>
            </a:r>
            <a:endParaRPr lang="de-DE" sz="2500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CCAB404-B486-6F3D-B230-399737C805E6}"/>
              </a:ext>
            </a:extLst>
          </p:cNvPr>
          <p:cNvSpPr txBox="1"/>
          <p:nvPr/>
        </p:nvSpPr>
        <p:spPr>
          <a:xfrm>
            <a:off x="8768294" y="2505050"/>
            <a:ext cx="1853584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de-DE" sz="2500" dirty="0" err="1"/>
              <a:t>observations</a:t>
            </a:r>
            <a:endParaRPr lang="de-DE" sz="2500" dirty="0"/>
          </a:p>
        </p:txBody>
      </p:sp>
      <p:cxnSp>
        <p:nvCxnSpPr>
          <p:cNvPr id="9" name="Straight Arrow Connector 7">
            <a:extLst>
              <a:ext uri="{FF2B5EF4-FFF2-40B4-BE49-F238E27FC236}">
                <a16:creationId xmlns:a16="http://schemas.microsoft.com/office/drawing/2014/main" id="{4849093A-E727-D7A2-0121-580B5135E07D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V="1">
            <a:off x="2072461" y="2982104"/>
            <a:ext cx="0" cy="1637960"/>
          </a:xfrm>
          <a:prstGeom prst="straightConnector1">
            <a:avLst/>
          </a:prstGeom>
          <a:ln w="12700" cmpd="sng">
            <a:solidFill>
              <a:schemeClr val="accent1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8">
            <a:extLst>
              <a:ext uri="{FF2B5EF4-FFF2-40B4-BE49-F238E27FC236}">
                <a16:creationId xmlns:a16="http://schemas.microsoft.com/office/drawing/2014/main" id="{2138A069-0F80-8C34-C9CD-B9A933793702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flipH="1" flipV="1">
            <a:off x="9695086" y="2982104"/>
            <a:ext cx="10487" cy="1253239"/>
          </a:xfrm>
          <a:prstGeom prst="straightConnector1">
            <a:avLst/>
          </a:prstGeom>
          <a:ln w="12700" cmpd="sng">
            <a:solidFill>
              <a:schemeClr val="accent1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9">
            <a:extLst>
              <a:ext uri="{FF2B5EF4-FFF2-40B4-BE49-F238E27FC236}">
                <a16:creationId xmlns:a16="http://schemas.microsoft.com/office/drawing/2014/main" id="{E3014F46-8011-338E-4D2F-64BDC31C23FF}"/>
              </a:ext>
            </a:extLst>
          </p:cNvPr>
          <p:cNvSpPr txBox="1"/>
          <p:nvPr/>
        </p:nvSpPr>
        <p:spPr>
          <a:xfrm>
            <a:off x="1044136" y="3700353"/>
            <a:ext cx="9627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/>
              <a:t>subsumes</a:t>
            </a:r>
            <a:endParaRPr lang="de-DE" sz="1500" dirty="0"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036EEA04-15FD-8185-F932-1981676089FA}"/>
              </a:ext>
            </a:extLst>
          </p:cNvPr>
          <p:cNvSpPr txBox="1"/>
          <p:nvPr/>
        </p:nvSpPr>
        <p:spPr>
          <a:xfrm>
            <a:off x="9703718" y="3621662"/>
            <a:ext cx="9627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/>
              <a:t>subsumes</a:t>
            </a:r>
            <a:endParaRPr lang="de-DE" sz="1500" dirty="0"/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47356526-B9A4-2C38-F9A5-A70EBA613001}"/>
              </a:ext>
            </a:extLst>
          </p:cNvPr>
          <p:cNvSpPr txBox="1"/>
          <p:nvPr/>
        </p:nvSpPr>
        <p:spPr>
          <a:xfrm>
            <a:off x="457200" y="5772354"/>
            <a:ext cx="3400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</a:t>
            </a:r>
            <a:r>
              <a:rPr lang="de-DE" sz="1000" i="1" dirty="0"/>
              <a:t>Elements </a:t>
            </a:r>
            <a:r>
              <a:rPr lang="de-DE" sz="1000" i="1" dirty="0" err="1"/>
              <a:t>of</a:t>
            </a:r>
            <a:r>
              <a:rPr lang="de-DE" sz="1000" i="1" dirty="0"/>
              <a:t> </a:t>
            </a:r>
            <a:r>
              <a:rPr lang="de-DE" sz="1000" i="1" dirty="0" err="1"/>
              <a:t>Causal</a:t>
            </a:r>
            <a:r>
              <a:rPr lang="de-DE" sz="1000" i="1" dirty="0"/>
              <a:t> </a:t>
            </a:r>
            <a:r>
              <a:rPr lang="de-DE" sz="1000" i="1" dirty="0" err="1"/>
              <a:t>Inference</a:t>
            </a:r>
            <a:r>
              <a:rPr lang="de-DE" sz="1000" i="1" dirty="0"/>
              <a:t> </a:t>
            </a:r>
            <a:r>
              <a:rPr lang="de-DE" sz="1000" dirty="0"/>
              <a:t>(Peters, </a:t>
            </a:r>
            <a:r>
              <a:rPr lang="de-DE" sz="1000" dirty="0" err="1"/>
              <a:t>Janzing</a:t>
            </a:r>
            <a:r>
              <a:rPr lang="de-DE" sz="1000" dirty="0"/>
              <a:t>, </a:t>
            </a:r>
            <a:r>
              <a:rPr lang="de-DE" sz="1000" dirty="0" err="1"/>
              <a:t>Schölkopf</a:t>
            </a:r>
            <a:r>
              <a:rPr lang="de-DE" sz="1000" dirty="0"/>
              <a:t>)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FF22F2C4-95B5-DC75-8203-982E8FEE52CD}"/>
              </a:ext>
            </a:extLst>
          </p:cNvPr>
          <p:cNvSpPr txBox="1"/>
          <p:nvPr/>
        </p:nvSpPr>
        <p:spPr>
          <a:xfrm>
            <a:off x="4944220" y="5104283"/>
            <a:ext cx="229139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i="1" dirty="0" err="1"/>
              <a:t>causal</a:t>
            </a:r>
            <a:r>
              <a:rPr lang="de-DE" sz="2500" i="1" dirty="0"/>
              <a:t> </a:t>
            </a:r>
            <a:r>
              <a:rPr lang="de-DE" sz="2500" i="1" dirty="0" err="1"/>
              <a:t>discovery</a:t>
            </a:r>
            <a:endParaRPr lang="de-DE" sz="2500" i="1" dirty="0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00FB0363-A133-A8AC-62A2-FAA341D43C39}"/>
              </a:ext>
            </a:extLst>
          </p:cNvPr>
          <p:cNvSpPr txBox="1"/>
          <p:nvPr/>
        </p:nvSpPr>
        <p:spPr>
          <a:xfrm>
            <a:off x="4865036" y="4143010"/>
            <a:ext cx="228190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i="1" dirty="0" err="1"/>
              <a:t>causal</a:t>
            </a:r>
            <a:r>
              <a:rPr lang="de-DE" sz="2500" i="1" dirty="0"/>
              <a:t> </a:t>
            </a:r>
            <a:r>
              <a:rPr lang="de-DE" sz="2500" i="1" dirty="0" err="1"/>
              <a:t>inference</a:t>
            </a:r>
            <a:endParaRPr lang="de-DE" sz="2500" i="1" dirty="0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C2391304-5225-CAEC-30B7-1F2F30B9060D}"/>
              </a:ext>
            </a:extLst>
          </p:cNvPr>
          <p:cNvSpPr txBox="1"/>
          <p:nvPr/>
        </p:nvSpPr>
        <p:spPr>
          <a:xfrm>
            <a:off x="4719803" y="2989270"/>
            <a:ext cx="257237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i="1" dirty="0" err="1"/>
              <a:t>statistical</a:t>
            </a:r>
            <a:r>
              <a:rPr lang="de-DE" sz="2500" i="1" dirty="0"/>
              <a:t> </a:t>
            </a:r>
            <a:r>
              <a:rPr lang="de-DE" sz="2500" i="1" dirty="0" err="1"/>
              <a:t>learning</a:t>
            </a:r>
            <a:endParaRPr lang="de-DE" sz="2500" i="1" dirty="0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B94AB6AC-1533-CE21-4F42-707EFD7B51F5}"/>
              </a:ext>
            </a:extLst>
          </p:cNvPr>
          <p:cNvSpPr txBox="1"/>
          <p:nvPr/>
        </p:nvSpPr>
        <p:spPr>
          <a:xfrm>
            <a:off x="4565015" y="2056255"/>
            <a:ext cx="304980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i="1" dirty="0" err="1"/>
              <a:t>probabilistic</a:t>
            </a:r>
            <a:r>
              <a:rPr lang="de-DE" sz="2500" i="1" dirty="0"/>
              <a:t> </a:t>
            </a:r>
            <a:r>
              <a:rPr lang="de-DE" sz="2500" i="1" dirty="0" err="1"/>
              <a:t>inference</a:t>
            </a:r>
            <a:endParaRPr lang="de-DE" sz="2500" i="1" dirty="0"/>
          </a:p>
        </p:txBody>
      </p:sp>
      <p:cxnSp>
        <p:nvCxnSpPr>
          <p:cNvPr id="18" name="Straight Arrow Connector 16">
            <a:extLst>
              <a:ext uri="{FF2B5EF4-FFF2-40B4-BE49-F238E27FC236}">
                <a16:creationId xmlns:a16="http://schemas.microsoft.com/office/drawing/2014/main" id="{31E5DE27-A144-497E-874E-ECF2E9A76A76}"/>
              </a:ext>
            </a:extLst>
          </p:cNvPr>
          <p:cNvCxnSpPr>
            <a:cxnSpLocks/>
          </p:cNvCxnSpPr>
          <p:nvPr/>
        </p:nvCxnSpPr>
        <p:spPr>
          <a:xfrm>
            <a:off x="3992134" y="2538502"/>
            <a:ext cx="4218596" cy="0"/>
          </a:xfrm>
          <a:prstGeom prst="straightConnector1">
            <a:avLst/>
          </a:prstGeom>
          <a:ln w="12700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7">
            <a:extLst>
              <a:ext uri="{FF2B5EF4-FFF2-40B4-BE49-F238E27FC236}">
                <a16:creationId xmlns:a16="http://schemas.microsoft.com/office/drawing/2014/main" id="{BE4A282B-0916-F810-ADFF-534268AD45A5}"/>
              </a:ext>
            </a:extLst>
          </p:cNvPr>
          <p:cNvCxnSpPr>
            <a:cxnSpLocks/>
          </p:cNvCxnSpPr>
          <p:nvPr/>
        </p:nvCxnSpPr>
        <p:spPr>
          <a:xfrm flipH="1">
            <a:off x="3992134" y="2982104"/>
            <a:ext cx="4218594" cy="0"/>
          </a:xfrm>
          <a:prstGeom prst="straightConnector1">
            <a:avLst/>
          </a:prstGeom>
          <a:ln w="12700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8">
            <a:extLst>
              <a:ext uri="{FF2B5EF4-FFF2-40B4-BE49-F238E27FC236}">
                <a16:creationId xmlns:a16="http://schemas.microsoft.com/office/drawing/2014/main" id="{F6E4DAEA-2D06-7022-26BB-1D16A5F5B3FB}"/>
              </a:ext>
            </a:extLst>
          </p:cNvPr>
          <p:cNvCxnSpPr>
            <a:cxnSpLocks/>
          </p:cNvCxnSpPr>
          <p:nvPr/>
        </p:nvCxnSpPr>
        <p:spPr>
          <a:xfrm>
            <a:off x="3992134" y="4620064"/>
            <a:ext cx="4218594" cy="0"/>
          </a:xfrm>
          <a:prstGeom prst="straightConnector1">
            <a:avLst/>
          </a:prstGeom>
          <a:ln w="12700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9">
            <a:extLst>
              <a:ext uri="{FF2B5EF4-FFF2-40B4-BE49-F238E27FC236}">
                <a16:creationId xmlns:a16="http://schemas.microsoft.com/office/drawing/2014/main" id="{5B489A02-D4B8-BACF-78A3-D08C87EC75F5}"/>
              </a:ext>
            </a:extLst>
          </p:cNvPr>
          <p:cNvCxnSpPr>
            <a:cxnSpLocks/>
          </p:cNvCxnSpPr>
          <p:nvPr/>
        </p:nvCxnSpPr>
        <p:spPr>
          <a:xfrm flipH="1">
            <a:off x="3992134" y="5097118"/>
            <a:ext cx="4218593" cy="0"/>
          </a:xfrm>
          <a:prstGeom prst="straightConnector1">
            <a:avLst/>
          </a:prstGeom>
          <a:ln w="12700" cmpd="sng">
            <a:solidFill>
              <a:schemeClr val="accent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F70E6179-5029-8196-C9F8-041E180BDBCD}"/>
              </a:ext>
            </a:extLst>
          </p:cNvPr>
          <p:cNvSpPr txBox="1"/>
          <p:nvPr/>
        </p:nvSpPr>
        <p:spPr>
          <a:xfrm>
            <a:off x="5300217" y="1744548"/>
            <a:ext cx="160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aka </a:t>
            </a:r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F0E0995-6158-728A-5ECB-843C32097379}"/>
              </a:ext>
            </a:extLst>
          </p:cNvPr>
          <p:cNvSpPr txBox="1"/>
          <p:nvPr/>
        </p:nvSpPr>
        <p:spPr>
          <a:xfrm>
            <a:off x="5647008" y="3443209"/>
            <a:ext cx="885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aka ML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918DAE5-D993-0924-1A55-8750803B894C}"/>
              </a:ext>
            </a:extLst>
          </p:cNvPr>
          <p:cNvSpPr txBox="1"/>
          <p:nvPr/>
        </p:nvSpPr>
        <p:spPr>
          <a:xfrm>
            <a:off x="3923848" y="4659999"/>
            <a:ext cx="435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 err="1"/>
              <a:t>Which</a:t>
            </a:r>
            <a:r>
              <a:rPr lang="de-DE" i="1" dirty="0"/>
              <a:t> </a:t>
            </a:r>
            <a:r>
              <a:rPr lang="de-DE" i="1" dirty="0" err="1"/>
              <a:t>causal</a:t>
            </a:r>
            <a:r>
              <a:rPr lang="de-DE" i="1" dirty="0"/>
              <a:t> </a:t>
            </a:r>
            <a:r>
              <a:rPr lang="de-DE" i="1" dirty="0" err="1"/>
              <a:t>structure</a:t>
            </a:r>
            <a:r>
              <a:rPr lang="de-DE" i="1" dirty="0"/>
              <a:t> </a:t>
            </a:r>
            <a:r>
              <a:rPr lang="de-DE" i="1" dirty="0" err="1"/>
              <a:t>is</a:t>
            </a:r>
            <a:r>
              <a:rPr lang="de-DE" i="1" dirty="0"/>
              <a:t> </a:t>
            </a:r>
            <a:r>
              <a:rPr lang="de-DE" i="1" dirty="0" err="1"/>
              <a:t>behind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data</a:t>
            </a:r>
            <a:r>
              <a:rPr lang="de-DE" i="1" dirty="0"/>
              <a:t>?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106AC8C-B6C1-72E7-FEBC-1CDB9758121B}"/>
              </a:ext>
            </a:extLst>
          </p:cNvPr>
          <p:cNvSpPr txBox="1"/>
          <p:nvPr/>
        </p:nvSpPr>
        <p:spPr>
          <a:xfrm>
            <a:off x="5200336" y="2581825"/>
            <a:ext cx="2599008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 err="1">
                <a:sym typeface="Wingdings" panose="05000000000000000000" pitchFamily="2" charset="2"/>
              </a:rPr>
              <a:t>What</a:t>
            </a:r>
            <a:r>
              <a:rPr lang="de-DE" i="1" dirty="0">
                <a:sym typeface="Wingdings" panose="05000000000000000000" pitchFamily="2" charset="2"/>
              </a:rPr>
              <a:t> will happen?</a:t>
            </a:r>
            <a:endParaRPr lang="de-DE" i="1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41113D8-D342-04A3-69C0-071AF6F143BF}"/>
              </a:ext>
            </a:extLst>
          </p:cNvPr>
          <p:cNvSpPr txBox="1"/>
          <p:nvPr/>
        </p:nvSpPr>
        <p:spPr>
          <a:xfrm>
            <a:off x="4861653" y="57963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 err="1"/>
              <a:t>Probabilistic</a:t>
            </a:r>
            <a:r>
              <a:rPr lang="de-DE" i="1" dirty="0"/>
              <a:t> </a:t>
            </a:r>
            <a:r>
              <a:rPr lang="de-DE" i="1" dirty="0" err="1"/>
              <a:t>models</a:t>
            </a:r>
            <a:r>
              <a:rPr lang="de-DE" i="1" dirty="0"/>
              <a:t> </a:t>
            </a:r>
            <a:r>
              <a:rPr lang="de-DE" i="1" dirty="0" err="1"/>
              <a:t>describe</a:t>
            </a:r>
            <a:r>
              <a:rPr lang="de-DE" i="1" dirty="0"/>
              <a:t> </a:t>
            </a:r>
            <a:r>
              <a:rPr lang="de-DE" i="1" dirty="0" err="1"/>
              <a:t>patterns</a:t>
            </a:r>
            <a:r>
              <a:rPr lang="de-DE" i="1" dirty="0"/>
              <a:t> in </a:t>
            </a:r>
            <a:r>
              <a:rPr lang="de-DE" i="1" dirty="0" err="1"/>
              <a:t>observed</a:t>
            </a:r>
            <a:r>
              <a:rPr lang="de-DE" i="1" dirty="0"/>
              <a:t> </a:t>
            </a:r>
            <a:r>
              <a:rPr lang="de-DE" i="1" dirty="0" err="1"/>
              <a:t>data</a:t>
            </a:r>
            <a:r>
              <a:rPr lang="de-DE" i="1" dirty="0"/>
              <a:t>. </a:t>
            </a:r>
            <a:r>
              <a:rPr lang="de-DE" i="1" dirty="0" err="1"/>
              <a:t>Causal</a:t>
            </a:r>
            <a:r>
              <a:rPr lang="de-DE" i="1" dirty="0"/>
              <a:t> </a:t>
            </a:r>
            <a:r>
              <a:rPr lang="de-DE" i="1" dirty="0" err="1"/>
              <a:t>models</a:t>
            </a:r>
            <a:r>
              <a:rPr lang="de-DE" i="1" dirty="0"/>
              <a:t> </a:t>
            </a:r>
            <a:r>
              <a:rPr lang="de-DE" i="1" dirty="0" err="1"/>
              <a:t>describe</a:t>
            </a:r>
            <a:r>
              <a:rPr lang="de-DE" i="1" dirty="0"/>
              <a:t> </a:t>
            </a:r>
            <a:r>
              <a:rPr lang="de-DE" i="1" dirty="0" err="1"/>
              <a:t>cause</a:t>
            </a:r>
            <a:r>
              <a:rPr lang="de-DE" i="1" dirty="0"/>
              <a:t>-and-</a:t>
            </a:r>
            <a:r>
              <a:rPr lang="de-DE" i="1" dirty="0" err="1"/>
              <a:t>effect</a:t>
            </a:r>
            <a:r>
              <a:rPr lang="de-DE" i="1" dirty="0"/>
              <a:t> </a:t>
            </a:r>
            <a:r>
              <a:rPr lang="de-DE" i="1" dirty="0" err="1"/>
              <a:t>relationships</a:t>
            </a:r>
            <a:r>
              <a:rPr lang="de-DE" i="1" dirty="0"/>
              <a:t> </a:t>
            </a:r>
            <a:br>
              <a:rPr lang="de-DE" i="1" dirty="0"/>
            </a:br>
            <a:r>
              <a:rPr lang="de-DE" i="1" dirty="0"/>
              <a:t>and also </a:t>
            </a:r>
            <a:r>
              <a:rPr lang="de-DE" i="1" dirty="0" err="1"/>
              <a:t>allow</a:t>
            </a:r>
            <a:r>
              <a:rPr lang="de-DE" i="1" dirty="0"/>
              <a:t> </a:t>
            </a:r>
            <a:r>
              <a:rPr lang="de-DE" i="1" dirty="0" err="1"/>
              <a:t>for</a:t>
            </a:r>
            <a:r>
              <a:rPr lang="de-DE" i="1" dirty="0"/>
              <a:t> </a:t>
            </a:r>
            <a:r>
              <a:rPr lang="de-DE" i="1" dirty="0" err="1"/>
              <a:t>interventions</a:t>
            </a:r>
            <a:r>
              <a:rPr lang="de-DE" i="1" dirty="0"/>
              <a:t> and </a:t>
            </a:r>
            <a:r>
              <a:rPr lang="de-DE" i="1" dirty="0" err="1"/>
              <a:t>counterfactuals</a:t>
            </a:r>
            <a:r>
              <a:rPr lang="de-DE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707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A8C398-7665-039B-F1E7-167B241E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Graphical Model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C2C496-E4C8-939E-A266-6C4EFABED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93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Directed Acyclic Graph (DAG): </a:t>
            </a:r>
            <a:br>
              <a:rPr lang="en-US" dirty="0"/>
            </a:br>
            <a:r>
              <a:rPr lang="en-US" dirty="0"/>
              <a:t>random variables (nodes) and their (conditional) dependencies (edges)</a:t>
            </a:r>
            <a:endParaRPr lang="de-DE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DE" dirty="0"/>
              <a:t>Bayesian network: DAG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updates</a:t>
            </a:r>
            <a:r>
              <a:rPr lang="de-DE" dirty="0"/>
              <a:t> on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evidence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Bayes</a:t>
            </a:r>
            <a:r>
              <a:rPr lang="en-US" dirty="0"/>
              <a:t>’</a:t>
            </a:r>
            <a:r>
              <a:rPr lang="de-DE" dirty="0"/>
              <a:t> </a:t>
            </a:r>
            <a:r>
              <a:rPr lang="de-DE" dirty="0" err="1"/>
              <a:t>rule</a:t>
            </a:r>
            <a:r>
              <a:rPr lang="de-DE" dirty="0"/>
              <a:t> (belief </a:t>
            </a:r>
            <a:r>
              <a:rPr lang="de-DE" dirty="0" err="1"/>
              <a:t>propagation</a:t>
            </a:r>
            <a:r>
              <a:rPr lang="de-DE" dirty="0"/>
              <a:t>)</a:t>
            </a:r>
          </a:p>
          <a:p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parent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child</a:t>
            </a:r>
            <a:r>
              <a:rPr lang="de-DE" dirty="0"/>
              <a:t>: update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conditional</a:t>
            </a:r>
            <a:r>
              <a:rPr lang="de-DE" dirty="0"/>
              <a:t> </a:t>
            </a:r>
            <a:r>
              <a:rPr lang="de-DE" dirty="0" err="1"/>
              <a:t>probabilities</a:t>
            </a:r>
            <a:endParaRPr lang="de-DE" dirty="0"/>
          </a:p>
          <a:p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child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parent</a:t>
            </a:r>
            <a:r>
              <a:rPr lang="de-DE" dirty="0"/>
              <a:t>: update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multiplication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likelihood</a:t>
            </a:r>
            <a:r>
              <a:rPr lang="de-DE" dirty="0"/>
              <a:t> </a:t>
            </a:r>
            <a:r>
              <a:rPr lang="de-DE" dirty="0" err="1"/>
              <a:t>ratio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72226C-F20A-FBEC-0244-A4262AF22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5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977FF7B-39EB-0B34-4DA0-E20C63182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7646" y="2350294"/>
            <a:ext cx="5829300" cy="330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41AE5C-00D6-3F63-90EE-27626DC2295C}"/>
              </a:ext>
            </a:extLst>
          </p:cNvPr>
          <p:cNvSpPr txBox="1"/>
          <p:nvPr/>
        </p:nvSpPr>
        <p:spPr>
          <a:xfrm>
            <a:off x="10577901" y="5406073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</a:t>
            </a:r>
            <a:r>
              <a:rPr lang="de-DE" sz="1000" dirty="0" err="1"/>
              <a:t>wikipedia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10825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E84F2-DB02-0E08-37E8-AEE9BB92C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Markov Property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32A89DE-4118-D124-49F5-E2AFD8696C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1649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Each variable in a DAG is independent of its non-descendants conditional on its parents.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chain</a:t>
                </a:r>
                <a:r>
                  <a:rPr lang="de-DE" dirty="0"/>
                  <a:t> </a:t>
                </a:r>
                <a:r>
                  <a:rPr lang="de-DE" dirty="0" err="1"/>
                  <a:t>rule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        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Char char="à"/>
                </a:pPr>
                <a:r>
                  <a:rPr lang="de-DE" dirty="0"/>
                  <a:t> </a:t>
                </a:r>
                <a:r>
                  <a:rPr lang="de-DE" dirty="0" err="1"/>
                  <a:t>compact</a:t>
                </a:r>
                <a:r>
                  <a:rPr lang="de-DE" dirty="0"/>
                  <a:t> </a:t>
                </a:r>
                <a:r>
                  <a:rPr lang="de-DE" dirty="0" err="1"/>
                  <a:t>representation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conditional</a:t>
                </a:r>
                <a:r>
                  <a:rPr lang="de-DE" dirty="0"/>
                  <a:t> </a:t>
                </a:r>
                <a:r>
                  <a:rPr lang="de-DE" dirty="0" err="1"/>
                  <a:t>probability</a:t>
                </a:r>
                <a:r>
                  <a:rPr lang="de-DE" dirty="0"/>
                  <a:t> </a:t>
                </a:r>
                <a:r>
                  <a:rPr lang="de-DE" dirty="0" err="1"/>
                  <a:t>table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without</a:t>
                </a:r>
                <a:r>
                  <a:rPr lang="de-DE" dirty="0"/>
                  <a:t> DAG, </a:t>
                </a:r>
                <a:r>
                  <a:rPr lang="de-DE" dirty="0" err="1"/>
                  <a:t>one</a:t>
                </a:r>
                <a:r>
                  <a:rPr lang="de-DE" dirty="0"/>
                  <a:t> </a:t>
                </a:r>
                <a:r>
                  <a:rPr lang="de-DE" dirty="0" err="1"/>
                  <a:t>would</a:t>
                </a:r>
                <a:r>
                  <a:rPr lang="de-DE" dirty="0"/>
                  <a:t> </a:t>
                </a:r>
                <a:r>
                  <a:rPr lang="de-DE" dirty="0" err="1"/>
                  <a:t>need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entire</a:t>
                </a:r>
                <a:r>
                  <a:rPr lang="de-DE" dirty="0"/>
                  <a:t> </a:t>
                </a:r>
                <a:r>
                  <a:rPr lang="de-DE" dirty="0" err="1"/>
                  <a:t>joint</a:t>
                </a:r>
                <a:r>
                  <a:rPr lang="de-DE" dirty="0"/>
                  <a:t> </a:t>
                </a:r>
                <a:r>
                  <a:rPr lang="de-DE" dirty="0" err="1"/>
                  <a:t>distribution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what</a:t>
                </a:r>
                <a:r>
                  <a:rPr lang="de-DE" dirty="0"/>
                  <a:t> </a:t>
                </a:r>
                <a:r>
                  <a:rPr lang="de-DE" dirty="0" err="1"/>
                  <a:t>becomes</a:t>
                </a:r>
                <a:r>
                  <a:rPr lang="de-DE" dirty="0"/>
                  <a:t> </a:t>
                </a:r>
                <a:r>
                  <a:rPr lang="de-DE" dirty="0" err="1"/>
                  <a:t>extremely</a:t>
                </a:r>
                <a:r>
                  <a:rPr lang="de-DE" dirty="0"/>
                  <a:t> large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many</a:t>
                </a:r>
                <a:r>
                  <a:rPr lang="de-DE" dirty="0"/>
                  <a:t> variables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32A89DE-4118-D124-49F5-E2AFD8696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16491" cy="4351338"/>
              </a:xfrm>
              <a:blipFill>
                <a:blip r:embed="rId2"/>
                <a:stretch>
                  <a:fillRect l="-1065" t="-2326" r="-828" b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4052D4-F892-58F1-7EE9-1966AF93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567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A1A5F5-0171-4633-F17D-118FA3D47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Conditional Independencies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256761-FE87-DDDF-7209-923127F193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DAG </a:t>
                </a:r>
                <a:r>
                  <a:rPr lang="de-DE" dirty="0" err="1"/>
                  <a:t>junctions</a:t>
                </a:r>
                <a:r>
                  <a:rPr lang="de-DE" dirty="0"/>
                  <a:t>:</a:t>
                </a:r>
              </a:p>
              <a:p>
                <a:r>
                  <a:rPr lang="de-DE" dirty="0" err="1"/>
                  <a:t>chains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	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conditionally</a:t>
                </a:r>
                <a:r>
                  <a:rPr lang="de-DE" dirty="0"/>
                  <a:t> </a:t>
                </a:r>
                <a:r>
                  <a:rPr lang="de-DE" dirty="0" err="1"/>
                  <a:t>independent</a:t>
                </a:r>
                <a:r>
                  <a:rPr lang="de-DE" dirty="0"/>
                  <a:t> </a:t>
                </a:r>
                <a:r>
                  <a:rPr lang="de-DE" dirty="0" err="1"/>
                  <a:t>given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dirty="0"/>
                  <a:t>)</a:t>
                </a:r>
              </a:p>
              <a:p>
                <a:r>
                  <a:rPr lang="de-DE" dirty="0" err="1"/>
                  <a:t>forks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	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conditionally</a:t>
                </a:r>
                <a:r>
                  <a:rPr lang="de-DE" dirty="0"/>
                  <a:t> </a:t>
                </a:r>
                <a:r>
                  <a:rPr lang="de-DE" dirty="0" err="1"/>
                  <a:t>independent</a:t>
                </a:r>
                <a:r>
                  <a:rPr lang="de-DE" dirty="0"/>
                  <a:t> </a:t>
                </a:r>
                <a:r>
                  <a:rPr lang="de-DE" dirty="0" err="1"/>
                  <a:t>given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dirty="0"/>
                  <a:t>)</a:t>
                </a:r>
              </a:p>
              <a:p>
                <a:r>
                  <a:rPr lang="de-DE" dirty="0" err="1"/>
                  <a:t>colliders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:r>
                  <a:rPr lang="de-DE" dirty="0"/>
                  <a:t>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conditionally</a:t>
                </a:r>
                <a:r>
                  <a:rPr lang="de-DE" dirty="0"/>
                  <a:t> </a:t>
                </a:r>
                <a:r>
                  <a:rPr lang="de-DE" dirty="0" err="1"/>
                  <a:t>dependent</a:t>
                </a:r>
                <a:r>
                  <a:rPr lang="de-DE" dirty="0"/>
                  <a:t> </a:t>
                </a:r>
                <a:r>
                  <a:rPr lang="de-DE" dirty="0" err="1"/>
                  <a:t>given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dirty="0"/>
                  <a:t>)</a:t>
                </a:r>
                <a:endParaRPr lang="de-DE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de-DE" dirty="0"/>
                  <a:t>d-separation (d </a:t>
                </a:r>
                <a:r>
                  <a:rPr lang="de-DE" dirty="0" err="1"/>
                  <a:t>means</a:t>
                </a:r>
                <a:r>
                  <a:rPr lang="de-DE" dirty="0"/>
                  <a:t> </a:t>
                </a:r>
                <a:r>
                  <a:rPr lang="de-DE" dirty="0" err="1"/>
                  <a:t>directional</a:t>
                </a:r>
                <a:r>
                  <a:rPr lang="de-DE" dirty="0"/>
                  <a:t>): </a:t>
                </a:r>
                <a:r>
                  <a:rPr lang="de-DE" dirty="0" err="1"/>
                  <a:t>conditional</a:t>
                </a:r>
                <a:r>
                  <a:rPr lang="de-DE" dirty="0"/>
                  <a:t> </a:t>
                </a:r>
                <a:r>
                  <a:rPr lang="de-DE" dirty="0" err="1"/>
                  <a:t>independencies</a:t>
                </a:r>
                <a:r>
                  <a:rPr lang="de-DE" dirty="0"/>
                  <a:t> in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corresponding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chains</a:t>
                </a:r>
                <a:r>
                  <a:rPr lang="de-DE" dirty="0"/>
                  <a:t>, </a:t>
                </a:r>
                <a:r>
                  <a:rPr lang="de-DE" dirty="0" err="1"/>
                  <a:t>forks</a:t>
                </a:r>
                <a:r>
                  <a:rPr lang="de-DE" dirty="0"/>
                  <a:t>, and </a:t>
                </a:r>
                <a:r>
                  <a:rPr lang="de-DE" dirty="0" err="1"/>
                  <a:t>colliders</a:t>
                </a:r>
                <a:r>
                  <a:rPr lang="de-DE" dirty="0"/>
                  <a:t> in a </a:t>
                </a:r>
                <a:r>
                  <a:rPr lang="de-DE" dirty="0" err="1"/>
                  <a:t>graph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allows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testing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256761-FE87-DDDF-7209-923127F193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094FE4-45A1-2CB1-85D6-C44AB825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74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24156-F424-4D11-6419-BC4607B3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Toward </a:t>
            </a:r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Diagrams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6A2E91-A9FD-0566-8BF0-3C37BBFC2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load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assumptions</a:t>
            </a:r>
            <a:r>
              <a:rPr lang="de-DE" dirty="0"/>
              <a:t> (</a:t>
            </a:r>
            <a:r>
              <a:rPr lang="de-DE" dirty="0" err="1"/>
              <a:t>model</a:t>
            </a:r>
            <a:r>
              <a:rPr lang="de-DE" dirty="0"/>
              <a:t>)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arrows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direction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cause-effect</a:t>
            </a:r>
            <a:r>
              <a:rPr lang="de-DE" dirty="0"/>
              <a:t> </a:t>
            </a:r>
            <a:r>
              <a:rPr lang="de-DE" dirty="0" err="1"/>
              <a:t>relationships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causal</a:t>
            </a:r>
            <a:r>
              <a:rPr lang="de-DE" dirty="0"/>
              <a:t> Markov </a:t>
            </a:r>
            <a:r>
              <a:rPr lang="de-DE" dirty="0" err="1"/>
              <a:t>property</a:t>
            </a:r>
            <a:r>
              <a:rPr lang="de-DE" dirty="0"/>
              <a:t>: </a:t>
            </a:r>
            <a:r>
              <a:rPr lang="en-GB" dirty="0"/>
              <a:t>Each variable in a causal graph is probabilistically independent of its non-effects conditional on its direct causes.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(</a:t>
            </a:r>
            <a:r>
              <a:rPr lang="de-DE" dirty="0" err="1"/>
              <a:t>represented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graphs</a:t>
            </a:r>
            <a:r>
              <a:rPr lang="de-DE" dirty="0"/>
              <a:t>) </a:t>
            </a:r>
            <a:r>
              <a:rPr lang="de-DE" dirty="0" err="1"/>
              <a:t>allow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answer</a:t>
            </a:r>
            <a:r>
              <a:rPr lang="de-DE" dirty="0"/>
              <a:t> interventional and </a:t>
            </a:r>
            <a:r>
              <a:rPr lang="de-DE" dirty="0" err="1"/>
              <a:t>counterfactual</a:t>
            </a:r>
            <a:r>
              <a:rPr lang="de-DE" dirty="0"/>
              <a:t> (</a:t>
            </a:r>
            <a:r>
              <a:rPr lang="de-DE" dirty="0" err="1"/>
              <a:t>fictional</a:t>
            </a:r>
            <a:r>
              <a:rPr lang="de-DE" dirty="0"/>
              <a:t>) </a:t>
            </a:r>
            <a:r>
              <a:rPr lang="de-DE" dirty="0" err="1"/>
              <a:t>queries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conducting</a:t>
            </a:r>
            <a:r>
              <a:rPr lang="de-DE" dirty="0"/>
              <a:t> </a:t>
            </a:r>
            <a:r>
              <a:rPr lang="de-DE" dirty="0" err="1"/>
              <a:t>experiments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034B8F-24F0-BFA3-071F-0EF3D104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486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C9F4DD-5E08-99A0-E1E4-132AA4DD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Ladder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Causation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3EDA43-6D6F-57EE-EA0E-42705CB9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9</a:t>
            </a:fld>
            <a:endParaRPr lang="en-GB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5246C33-3C26-7277-8E57-C313AE61681F}"/>
              </a:ext>
            </a:extLst>
          </p:cNvPr>
          <p:cNvSpPr txBox="1"/>
          <p:nvPr/>
        </p:nvSpPr>
        <p:spPr>
          <a:xfrm>
            <a:off x="457074" y="4309605"/>
            <a:ext cx="23423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</a:t>
            </a:r>
            <a:r>
              <a:rPr lang="de-DE" sz="1000" i="1" dirty="0"/>
              <a:t>The Book </a:t>
            </a:r>
            <a:r>
              <a:rPr lang="de-DE" sz="1000" i="1" dirty="0" err="1"/>
              <a:t>of</a:t>
            </a:r>
            <a:r>
              <a:rPr lang="de-DE" sz="1000" i="1" dirty="0"/>
              <a:t> </a:t>
            </a:r>
            <a:r>
              <a:rPr lang="de-DE" sz="1000" i="1" dirty="0" err="1"/>
              <a:t>Why</a:t>
            </a:r>
            <a:r>
              <a:rPr lang="de-DE" sz="1000" dirty="0"/>
              <a:t> (Pearl, </a:t>
            </a:r>
            <a:r>
              <a:rPr lang="de-DE" sz="1000" dirty="0" err="1"/>
              <a:t>MacKenzie</a:t>
            </a:r>
            <a:r>
              <a:rPr lang="de-DE" sz="1000" dirty="0"/>
              <a:t>)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671FD81-9C5E-2E07-BCD8-AFBF6F9312F8}"/>
              </a:ext>
            </a:extLst>
          </p:cNvPr>
          <p:cNvSpPr txBox="1"/>
          <p:nvPr/>
        </p:nvSpPr>
        <p:spPr>
          <a:xfrm>
            <a:off x="457074" y="1929458"/>
            <a:ext cx="1119190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800" b="1" dirty="0"/>
              <a:t>III</a:t>
            </a:r>
            <a:r>
              <a:rPr lang="de-DE" sz="2800" dirty="0"/>
              <a:t>	</a:t>
            </a:r>
            <a:r>
              <a:rPr lang="de-DE" sz="2800" i="1" dirty="0" err="1"/>
              <a:t>imagining</a:t>
            </a:r>
            <a:r>
              <a:rPr lang="de-DE" sz="2500" dirty="0"/>
              <a:t>	</a:t>
            </a:r>
            <a:r>
              <a:rPr lang="de-DE" sz="2800" b="1" dirty="0" err="1"/>
              <a:t>counterfactuals</a:t>
            </a:r>
            <a:r>
              <a:rPr lang="de-DE" sz="2800" b="1" dirty="0"/>
              <a:t>		</a:t>
            </a:r>
            <a:r>
              <a:rPr lang="de-DE" sz="2800" dirty="0" err="1"/>
              <a:t>What</a:t>
            </a:r>
            <a:r>
              <a:rPr lang="de-DE" sz="2800" dirty="0"/>
              <a:t> </a:t>
            </a:r>
            <a:r>
              <a:rPr lang="de-DE" sz="2800" dirty="0" err="1"/>
              <a:t>if</a:t>
            </a:r>
            <a:r>
              <a:rPr lang="de-DE" sz="2800" dirty="0"/>
              <a:t> I </a:t>
            </a:r>
            <a:r>
              <a:rPr lang="de-DE" sz="2800" dirty="0" err="1"/>
              <a:t>had</a:t>
            </a:r>
            <a:r>
              <a:rPr lang="de-DE" sz="2800" dirty="0"/>
              <a:t> </a:t>
            </a:r>
            <a:r>
              <a:rPr lang="de-DE" sz="2800" dirty="0" err="1"/>
              <a:t>done</a:t>
            </a:r>
            <a:r>
              <a:rPr lang="de-DE" sz="2800" dirty="0"/>
              <a:t> ...? </a:t>
            </a:r>
            <a:r>
              <a:rPr lang="de-DE" sz="2800" dirty="0" err="1"/>
              <a:t>Why</a:t>
            </a:r>
            <a:r>
              <a:rPr lang="de-DE" sz="2800" dirty="0"/>
              <a:t>?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8E9A6486-D701-DD9F-C6AE-66E99143B679}"/>
              </a:ext>
            </a:extLst>
          </p:cNvPr>
          <p:cNvSpPr txBox="1"/>
          <p:nvPr/>
        </p:nvSpPr>
        <p:spPr>
          <a:xfrm>
            <a:off x="457074" y="2754175"/>
            <a:ext cx="1119190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800" b="1" dirty="0"/>
              <a:t>II</a:t>
            </a:r>
            <a:r>
              <a:rPr lang="de-DE" sz="2800" dirty="0"/>
              <a:t>	</a:t>
            </a:r>
            <a:r>
              <a:rPr lang="de-DE" sz="2800" i="1" dirty="0" err="1"/>
              <a:t>doing</a:t>
            </a:r>
            <a:r>
              <a:rPr lang="de-DE" sz="2800" dirty="0"/>
              <a:t>		</a:t>
            </a:r>
            <a:r>
              <a:rPr lang="de-DE" sz="2800" b="1" dirty="0" err="1"/>
              <a:t>intervention</a:t>
            </a:r>
            <a:r>
              <a:rPr lang="de-DE" sz="2800" b="1" dirty="0"/>
              <a:t>		</a:t>
            </a:r>
            <a:r>
              <a:rPr lang="de-DE" sz="2800" dirty="0" err="1"/>
              <a:t>What</a:t>
            </a:r>
            <a:r>
              <a:rPr lang="de-DE" sz="2800" dirty="0"/>
              <a:t> </a:t>
            </a:r>
            <a:r>
              <a:rPr lang="de-DE" sz="2800" dirty="0" err="1"/>
              <a:t>if</a:t>
            </a:r>
            <a:r>
              <a:rPr lang="de-DE" sz="2800" dirty="0"/>
              <a:t> I do ...? </a:t>
            </a:r>
            <a:r>
              <a:rPr lang="de-DE" sz="2800" dirty="0" err="1"/>
              <a:t>How</a:t>
            </a:r>
            <a:r>
              <a:rPr lang="de-DE" sz="2800" dirty="0"/>
              <a:t>?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C1211DF-34E8-1303-06E8-28F844E0C07A}"/>
              </a:ext>
            </a:extLst>
          </p:cNvPr>
          <p:cNvSpPr txBox="1"/>
          <p:nvPr/>
        </p:nvSpPr>
        <p:spPr>
          <a:xfrm>
            <a:off x="457074" y="3578892"/>
            <a:ext cx="1119190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800" b="1" dirty="0"/>
              <a:t>I</a:t>
            </a:r>
            <a:r>
              <a:rPr lang="de-DE" sz="2800" dirty="0"/>
              <a:t>	</a:t>
            </a:r>
            <a:r>
              <a:rPr lang="de-DE" sz="2800" i="1" dirty="0" err="1"/>
              <a:t>seeing</a:t>
            </a:r>
            <a:r>
              <a:rPr lang="de-DE" sz="2800" dirty="0"/>
              <a:t>	</a:t>
            </a:r>
            <a:r>
              <a:rPr lang="de-DE" sz="2800" b="1" dirty="0" err="1"/>
              <a:t>association</a:t>
            </a:r>
            <a:r>
              <a:rPr lang="de-DE" sz="2800" b="1" dirty="0"/>
              <a:t>		</a:t>
            </a:r>
            <a:r>
              <a:rPr lang="de-DE" sz="2800" dirty="0" err="1"/>
              <a:t>What</a:t>
            </a:r>
            <a:r>
              <a:rPr lang="de-DE" sz="2800" dirty="0"/>
              <a:t> </a:t>
            </a:r>
            <a:r>
              <a:rPr lang="de-DE" sz="2800" dirty="0" err="1"/>
              <a:t>if</a:t>
            </a:r>
            <a:r>
              <a:rPr lang="de-DE" sz="2800" dirty="0"/>
              <a:t> I </a:t>
            </a:r>
            <a:r>
              <a:rPr lang="de-DE" sz="2800" dirty="0" err="1"/>
              <a:t>see</a:t>
            </a:r>
            <a:r>
              <a:rPr lang="de-DE" sz="2800" dirty="0"/>
              <a:t> ...? </a:t>
            </a:r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/>
              <a:t>Realm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ML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6FB3CFB-083C-C640-163E-95C044A73455}"/>
              </a:ext>
            </a:extLst>
          </p:cNvPr>
          <p:cNvSpPr txBox="1"/>
          <p:nvPr/>
        </p:nvSpPr>
        <p:spPr>
          <a:xfrm>
            <a:off x="533400" y="4868333"/>
            <a:ext cx="78635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  <a:p>
            <a:r>
              <a:rPr lang="en-US" b="1" dirty="0"/>
              <a:t>III</a:t>
            </a:r>
            <a:r>
              <a:rPr lang="en-US" dirty="0"/>
              <a:t>	 What would have happened if I hadn't sent the customer a voucher?</a:t>
            </a:r>
          </a:p>
          <a:p>
            <a:r>
              <a:rPr lang="en-US" b="1" dirty="0"/>
              <a:t>II</a:t>
            </a:r>
            <a:r>
              <a:rPr lang="en-US" dirty="0"/>
              <a:t>	 What happens when I send vouchers?</a:t>
            </a:r>
          </a:p>
          <a:p>
            <a:r>
              <a:rPr lang="en-US" b="1" dirty="0"/>
              <a:t>I</a:t>
            </a:r>
            <a:r>
              <a:rPr lang="en-US" dirty="0"/>
              <a:t>	 What do I see? Shoppers with vouchers spend more.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2761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EA122CF-7EE5-C4FA-70B4-DAA4285E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Simpson</a:t>
            </a:r>
            <a:r>
              <a:rPr lang="en-US" dirty="0"/>
              <a:t>’</a:t>
            </a:r>
            <a:r>
              <a:rPr lang="de-DE" dirty="0"/>
              <a:t>s Paradox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4C0E4F4-BF03-F5B2-9835-6DDCBE8B2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215"/>
            <a:ext cx="10515600" cy="79368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monthly</a:t>
            </a:r>
            <a:r>
              <a:rPr lang="de-DE" dirty="0"/>
              <a:t> </a:t>
            </a:r>
            <a:r>
              <a:rPr lang="de-DE" dirty="0" err="1"/>
              <a:t>sales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fashion</a:t>
            </a:r>
            <a:r>
              <a:rPr lang="de-DE" dirty="0"/>
              <a:t> </a:t>
            </a:r>
            <a:r>
              <a:rPr lang="de-DE" dirty="0" err="1"/>
              <a:t>article</a:t>
            </a:r>
            <a:r>
              <a:rPr lang="de-DE" dirty="0"/>
              <a:t> in different </a:t>
            </a:r>
            <a:r>
              <a:rPr lang="de-DE" dirty="0" err="1"/>
              <a:t>shops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winter</a:t>
            </a:r>
            <a:r>
              <a:rPr lang="de-DE" dirty="0"/>
              <a:t> </a:t>
            </a:r>
            <a:r>
              <a:rPr lang="de-DE" dirty="0" err="1"/>
              <a:t>season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Lower </a:t>
            </a:r>
            <a:r>
              <a:rPr lang="de-DE" dirty="0" err="1"/>
              <a:t>price</a:t>
            </a:r>
            <a:r>
              <a:rPr lang="de-DE" dirty="0"/>
              <a:t> </a:t>
            </a:r>
            <a:r>
              <a:rPr lang="de-DE" dirty="0" err="1"/>
              <a:t>yields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sales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month</a:t>
            </a:r>
            <a:r>
              <a:rPr lang="de-DE" dirty="0"/>
              <a:t> </a:t>
            </a:r>
            <a:r>
              <a:rPr lang="de-DE" dirty="0" err="1"/>
              <a:t>individually</a:t>
            </a:r>
            <a:r>
              <a:rPr lang="de-DE" dirty="0"/>
              <a:t>, but </a:t>
            </a:r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sales</a:t>
            </a:r>
            <a:r>
              <a:rPr lang="de-DE" dirty="0"/>
              <a:t> </a:t>
            </a:r>
            <a:r>
              <a:rPr lang="de-DE" dirty="0" err="1"/>
              <a:t>overall</a:t>
            </a:r>
            <a:r>
              <a:rPr lang="de-DE" dirty="0"/>
              <a:t>?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6A85B05-2957-25CB-4EB2-7C30BE1F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BB039D5-3742-71B5-9D8C-99004DAF75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9" r="9358"/>
          <a:stretch/>
        </p:blipFill>
        <p:spPr>
          <a:xfrm>
            <a:off x="1269571" y="2847905"/>
            <a:ext cx="8298181" cy="3644970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6134008E-8077-DFC2-DC35-6E1667A31132}"/>
              </a:ext>
            </a:extLst>
          </p:cNvPr>
          <p:cNvSpPr txBox="1"/>
          <p:nvPr/>
        </p:nvSpPr>
        <p:spPr>
          <a:xfrm>
            <a:off x="744146" y="6403632"/>
            <a:ext cx="23423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</a:t>
            </a:r>
            <a:r>
              <a:rPr lang="de-DE" sz="1000" i="1" dirty="0"/>
              <a:t>The Book </a:t>
            </a:r>
            <a:r>
              <a:rPr lang="de-DE" sz="1000" i="1" dirty="0" err="1"/>
              <a:t>of</a:t>
            </a:r>
            <a:r>
              <a:rPr lang="de-DE" sz="1000" i="1" dirty="0"/>
              <a:t> </a:t>
            </a:r>
            <a:r>
              <a:rPr lang="de-DE" sz="1000" i="1" dirty="0" err="1"/>
              <a:t>Why</a:t>
            </a:r>
            <a:r>
              <a:rPr lang="de-DE" sz="1000" dirty="0"/>
              <a:t> (Pearl, </a:t>
            </a:r>
            <a:r>
              <a:rPr lang="de-DE" sz="1000" dirty="0" err="1"/>
              <a:t>MacKenzie</a:t>
            </a:r>
            <a:r>
              <a:rPr lang="de-DE" sz="1000" dirty="0"/>
              <a:t>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7989864-6CFD-DF3B-4B7F-9E9999B8CA5D}"/>
              </a:ext>
            </a:extLst>
          </p:cNvPr>
          <p:cNvSpPr txBox="1"/>
          <p:nvPr/>
        </p:nvSpPr>
        <p:spPr>
          <a:xfrm>
            <a:off x="3216167" y="6382767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price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6208AD4-3EC9-5780-E913-9041BB785FB4}"/>
              </a:ext>
            </a:extLst>
          </p:cNvPr>
          <p:cNvSpPr txBox="1"/>
          <p:nvPr/>
        </p:nvSpPr>
        <p:spPr>
          <a:xfrm>
            <a:off x="7660628" y="6382767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price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9CE0A-1198-F812-1F74-83E4B465B33D}"/>
              </a:ext>
            </a:extLst>
          </p:cNvPr>
          <p:cNvCxnSpPr/>
          <p:nvPr/>
        </p:nvCxnSpPr>
        <p:spPr>
          <a:xfrm>
            <a:off x="3141519" y="6324485"/>
            <a:ext cx="72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17D264-9BAA-405D-2830-1469329ACFAA}"/>
              </a:ext>
            </a:extLst>
          </p:cNvPr>
          <p:cNvCxnSpPr/>
          <p:nvPr/>
        </p:nvCxnSpPr>
        <p:spPr>
          <a:xfrm>
            <a:off x="7564739" y="6313906"/>
            <a:ext cx="72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DE40123-2F04-B4F4-7E2F-91AE146C97BB}"/>
              </a:ext>
            </a:extLst>
          </p:cNvPr>
          <p:cNvSpPr txBox="1"/>
          <p:nvPr/>
        </p:nvSpPr>
        <p:spPr>
          <a:xfrm>
            <a:off x="1365200" y="5101990"/>
            <a:ext cx="591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sales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FEA9AE-268C-F521-A2D5-7441670B2710}"/>
              </a:ext>
            </a:extLst>
          </p:cNvPr>
          <p:cNvSpPr txBox="1"/>
          <p:nvPr/>
        </p:nvSpPr>
        <p:spPr>
          <a:xfrm>
            <a:off x="5763027" y="5101990"/>
            <a:ext cx="591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sales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D732D5-47F5-E607-0318-549D716FCC36}"/>
              </a:ext>
            </a:extLst>
          </p:cNvPr>
          <p:cNvCxnSpPr>
            <a:cxnSpLocks/>
          </p:cNvCxnSpPr>
          <p:nvPr/>
        </p:nvCxnSpPr>
        <p:spPr>
          <a:xfrm>
            <a:off x="1251456" y="4993318"/>
            <a:ext cx="9176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8256EAC7-4532-F8EB-200F-D8C66C7F84F9}"/>
              </a:ext>
            </a:extLst>
          </p:cNvPr>
          <p:cNvCxnSpPr>
            <a:cxnSpLocks/>
          </p:cNvCxnSpPr>
          <p:nvPr/>
        </p:nvCxnSpPr>
        <p:spPr>
          <a:xfrm>
            <a:off x="5632062" y="4921784"/>
            <a:ext cx="9176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A687CB7C-4663-791C-8E52-3298EA37A361}"/>
              </a:ext>
            </a:extLst>
          </p:cNvPr>
          <p:cNvCxnSpPr>
            <a:cxnSpLocks/>
          </p:cNvCxnSpPr>
          <p:nvPr/>
        </p:nvCxnSpPr>
        <p:spPr>
          <a:xfrm>
            <a:off x="2597675" y="3316917"/>
            <a:ext cx="4018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8">
            <a:extLst>
              <a:ext uri="{FF2B5EF4-FFF2-40B4-BE49-F238E27FC236}">
                <a16:creationId xmlns:a16="http://schemas.microsoft.com/office/drawing/2014/main" id="{DC30A3F8-1069-FD39-E7FA-C4A245C069C8}"/>
              </a:ext>
            </a:extLst>
          </p:cNvPr>
          <p:cNvCxnSpPr>
            <a:cxnSpLocks/>
          </p:cNvCxnSpPr>
          <p:nvPr/>
        </p:nvCxnSpPr>
        <p:spPr>
          <a:xfrm>
            <a:off x="2330447" y="4380607"/>
            <a:ext cx="2578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20">
            <a:extLst>
              <a:ext uri="{FF2B5EF4-FFF2-40B4-BE49-F238E27FC236}">
                <a16:creationId xmlns:a16="http://schemas.microsoft.com/office/drawing/2014/main" id="{F5D472BF-BEE2-C2F7-FD1F-54B383B314B4}"/>
              </a:ext>
            </a:extLst>
          </p:cNvPr>
          <p:cNvCxnSpPr>
            <a:cxnSpLocks/>
          </p:cNvCxnSpPr>
          <p:nvPr/>
        </p:nvCxnSpPr>
        <p:spPr>
          <a:xfrm>
            <a:off x="2579013" y="4113129"/>
            <a:ext cx="2578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BC6E582B-AE8F-F2F8-D921-E163B8E5AF96}"/>
              </a:ext>
            </a:extLst>
          </p:cNvPr>
          <p:cNvCxnSpPr>
            <a:cxnSpLocks/>
          </p:cNvCxnSpPr>
          <p:nvPr/>
        </p:nvCxnSpPr>
        <p:spPr>
          <a:xfrm>
            <a:off x="2939608" y="3758259"/>
            <a:ext cx="2578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22">
            <a:extLst>
              <a:ext uri="{FF2B5EF4-FFF2-40B4-BE49-F238E27FC236}">
                <a16:creationId xmlns:a16="http://schemas.microsoft.com/office/drawing/2014/main" id="{F449824E-F4D6-F8FC-148B-395BE59010E2}"/>
              </a:ext>
            </a:extLst>
          </p:cNvPr>
          <p:cNvCxnSpPr>
            <a:cxnSpLocks/>
          </p:cNvCxnSpPr>
          <p:nvPr/>
        </p:nvCxnSpPr>
        <p:spPr>
          <a:xfrm>
            <a:off x="3266721" y="3422664"/>
            <a:ext cx="2578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3">
            <a:extLst>
              <a:ext uri="{FF2B5EF4-FFF2-40B4-BE49-F238E27FC236}">
                <a16:creationId xmlns:a16="http://schemas.microsoft.com/office/drawing/2014/main" id="{8779CFD7-524C-6B25-16D5-CB2402ECD7B8}"/>
              </a:ext>
            </a:extLst>
          </p:cNvPr>
          <p:cNvCxnSpPr>
            <a:cxnSpLocks/>
          </p:cNvCxnSpPr>
          <p:nvPr/>
        </p:nvCxnSpPr>
        <p:spPr>
          <a:xfrm>
            <a:off x="3547180" y="3142746"/>
            <a:ext cx="2578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5">
            <a:extLst>
              <a:ext uri="{FF2B5EF4-FFF2-40B4-BE49-F238E27FC236}">
                <a16:creationId xmlns:a16="http://schemas.microsoft.com/office/drawing/2014/main" id="{F1AA1812-EE3D-1550-F1A5-DA006AA4E495}"/>
              </a:ext>
            </a:extLst>
          </p:cNvPr>
          <p:cNvSpPr txBox="1"/>
          <p:nvPr/>
        </p:nvSpPr>
        <p:spPr>
          <a:xfrm>
            <a:off x="881804" y="2913134"/>
            <a:ext cx="26064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m</a:t>
            </a:r>
            <a:r>
              <a:rPr lang="en-DE" sz="1600" dirty="0"/>
              <a:t>onths since start of season </a:t>
            </a: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53F431A6-74ED-1CEA-90AB-499DF9131A9C}"/>
              </a:ext>
            </a:extLst>
          </p:cNvPr>
          <p:cNvSpPr txBox="1"/>
          <p:nvPr/>
        </p:nvSpPr>
        <p:spPr>
          <a:xfrm>
            <a:off x="3731623" y="297836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1</a:t>
            </a: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D1D8AC40-AF4B-E551-8857-FFF8359BAD1D}"/>
              </a:ext>
            </a:extLst>
          </p:cNvPr>
          <p:cNvSpPr txBox="1"/>
          <p:nvPr/>
        </p:nvSpPr>
        <p:spPr>
          <a:xfrm>
            <a:off x="3437261" y="325168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2</a:t>
            </a: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291C149D-FCCB-2707-AAAD-D77A369989E3}"/>
              </a:ext>
            </a:extLst>
          </p:cNvPr>
          <p:cNvSpPr txBox="1"/>
          <p:nvPr/>
        </p:nvSpPr>
        <p:spPr>
          <a:xfrm>
            <a:off x="3139342" y="358837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3</a:t>
            </a:r>
          </a:p>
        </p:txBody>
      </p:sp>
      <p:sp>
        <p:nvSpPr>
          <p:cNvPr id="26" name="TextBox 29">
            <a:extLst>
              <a:ext uri="{FF2B5EF4-FFF2-40B4-BE49-F238E27FC236}">
                <a16:creationId xmlns:a16="http://schemas.microsoft.com/office/drawing/2014/main" id="{CA22F41C-450E-BC7A-67BB-D625AB4663C5}"/>
              </a:ext>
            </a:extLst>
          </p:cNvPr>
          <p:cNvSpPr txBox="1"/>
          <p:nvPr/>
        </p:nvSpPr>
        <p:spPr>
          <a:xfrm>
            <a:off x="2779027" y="394385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4</a:t>
            </a:r>
          </a:p>
        </p:txBody>
      </p:sp>
      <p:sp>
        <p:nvSpPr>
          <p:cNvPr id="27" name="TextBox 30">
            <a:extLst>
              <a:ext uri="{FF2B5EF4-FFF2-40B4-BE49-F238E27FC236}">
                <a16:creationId xmlns:a16="http://schemas.microsoft.com/office/drawing/2014/main" id="{110A6DCC-2A48-2C77-E22F-613FEC2CD0AE}"/>
              </a:ext>
            </a:extLst>
          </p:cNvPr>
          <p:cNvSpPr txBox="1"/>
          <p:nvPr/>
        </p:nvSpPr>
        <p:spPr>
          <a:xfrm>
            <a:off x="2534589" y="4212640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sz="1600" dirty="0"/>
          </a:p>
        </p:txBody>
      </p:sp>
      <p:sp>
        <p:nvSpPr>
          <p:cNvPr id="2" name="TextBox 25">
            <a:extLst>
              <a:ext uri="{FF2B5EF4-FFF2-40B4-BE49-F238E27FC236}">
                <a16:creationId xmlns:a16="http://schemas.microsoft.com/office/drawing/2014/main" id="{DC79CDC7-7C79-54EF-1817-B0838BBB9C1D}"/>
              </a:ext>
            </a:extLst>
          </p:cNvPr>
          <p:cNvSpPr txBox="1"/>
          <p:nvPr/>
        </p:nvSpPr>
        <p:spPr>
          <a:xfrm>
            <a:off x="5418661" y="2913134"/>
            <a:ext cx="426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all data together ignoring m</a:t>
            </a:r>
            <a:r>
              <a:rPr lang="en-DE" sz="1600" dirty="0"/>
              <a:t>onth</a:t>
            </a:r>
            <a:r>
              <a:rPr lang="en-US" sz="1600" dirty="0" err="1"/>
              <a:t>ly</a:t>
            </a:r>
            <a:r>
              <a:rPr lang="en-DE" sz="1600" dirty="0"/>
              <a:t> </a:t>
            </a:r>
            <a:r>
              <a:rPr lang="en-US" sz="1600" dirty="0"/>
              <a:t>information</a:t>
            </a:r>
            <a:r>
              <a:rPr lang="en-DE" sz="1600" dirty="0"/>
              <a:t> </a:t>
            </a:r>
          </a:p>
        </p:txBody>
      </p:sp>
      <p:sp>
        <p:nvSpPr>
          <p:cNvPr id="28" name="Geschweifte Klammer rechts 27">
            <a:extLst>
              <a:ext uri="{FF2B5EF4-FFF2-40B4-BE49-F238E27FC236}">
                <a16:creationId xmlns:a16="http://schemas.microsoft.com/office/drawing/2014/main" id="{B3C49C37-0FB3-8E5E-C080-1859480AB05A}"/>
              </a:ext>
            </a:extLst>
          </p:cNvPr>
          <p:cNvSpPr/>
          <p:nvPr/>
        </p:nvSpPr>
        <p:spPr>
          <a:xfrm>
            <a:off x="9567752" y="2743200"/>
            <a:ext cx="492597" cy="3906650"/>
          </a:xfrm>
          <a:prstGeom prst="rightBrace">
            <a:avLst>
              <a:gd name="adj1" fmla="val 99428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286B290-7136-551A-B2EF-C428BDBE5DE0}"/>
              </a:ext>
            </a:extLst>
          </p:cNvPr>
          <p:cNvSpPr txBox="1"/>
          <p:nvPr/>
        </p:nvSpPr>
        <p:spPr>
          <a:xfrm>
            <a:off x="10235593" y="3212695"/>
            <a:ext cx="15872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month is a hidden influencing factor on both variables:</a:t>
            </a:r>
          </a:p>
          <a:p>
            <a:endParaRPr lang="en-US" dirty="0"/>
          </a:p>
          <a:p>
            <a:pPr algn="ctr"/>
            <a:r>
              <a:rPr lang="en-US" dirty="0"/>
              <a:t>sales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month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price</a:t>
            </a:r>
            <a:endParaRPr lang="de-DE" dirty="0"/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187801FC-77E9-282D-75B0-A50200CAD44D}"/>
              </a:ext>
            </a:extLst>
          </p:cNvPr>
          <p:cNvCxnSpPr>
            <a:cxnSpLocks/>
          </p:cNvCxnSpPr>
          <p:nvPr/>
        </p:nvCxnSpPr>
        <p:spPr>
          <a:xfrm flipV="1">
            <a:off x="11029195" y="5187592"/>
            <a:ext cx="0" cy="296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83FE6B8-1071-6D6F-A66D-B10A0EF10C40}"/>
              </a:ext>
            </a:extLst>
          </p:cNvPr>
          <p:cNvCxnSpPr>
            <a:cxnSpLocks/>
          </p:cNvCxnSpPr>
          <p:nvPr/>
        </p:nvCxnSpPr>
        <p:spPr>
          <a:xfrm>
            <a:off x="11029195" y="5696052"/>
            <a:ext cx="0" cy="349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307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758234-7CE3-F3C2-09B3-99DD19D4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EC2F55B-CE4C-6BE2-B08E-5638E87B40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causal </a:t>
                </a:r>
                <a:r>
                  <a:rPr lang="de-DE" dirty="0" err="1"/>
                  <a:t>effect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dirty="0"/>
                  <a:t> on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confounded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</a:t>
                </a:r>
                <a:r>
                  <a:rPr lang="de-DE" dirty="0" err="1"/>
                  <a:t>cause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>
                  <a:sym typeface="Wingdings" pitchFamily="2" charset="2"/>
                </a:endParaRPr>
              </a:p>
              <a:p>
                <a:pPr>
                  <a:buFont typeface="Wingdings" pitchFamily="2" charset="2"/>
                  <a:buChar char="à"/>
                </a:pPr>
                <a:r>
                  <a:rPr lang="de-DE" dirty="0"/>
                  <a:t> </a:t>
                </a:r>
                <a:r>
                  <a:rPr lang="de-DE" dirty="0" err="1"/>
                  <a:t>spurious</a:t>
                </a:r>
                <a:r>
                  <a:rPr lang="de-DE" dirty="0"/>
                  <a:t> </a:t>
                </a:r>
                <a:r>
                  <a:rPr lang="de-DE" dirty="0" err="1"/>
                  <a:t>correlation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(</a:t>
                </a:r>
                <a:r>
                  <a:rPr lang="de-DE" dirty="0" err="1"/>
                  <a:t>overlaying</a:t>
                </a:r>
                <a:r>
                  <a:rPr lang="de-DE" dirty="0"/>
                  <a:t> potential </a:t>
                </a:r>
                <a:r>
                  <a:rPr lang="de-DE" dirty="0" err="1"/>
                  <a:t>true</a:t>
                </a:r>
                <a:r>
                  <a:rPr lang="de-DE" dirty="0"/>
                  <a:t> </a:t>
                </a:r>
                <a:r>
                  <a:rPr lang="de-DE" dirty="0" err="1"/>
                  <a:t>causal</a:t>
                </a:r>
                <a:r>
                  <a:rPr lang="de-DE" dirty="0"/>
                  <a:t> </a:t>
                </a:r>
                <a:r>
                  <a:rPr lang="de-DE" dirty="0" err="1"/>
                  <a:t>effect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dirty="0"/>
                  <a:t> on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common</a:t>
                </a:r>
                <a:r>
                  <a:rPr lang="de-DE" dirty="0"/>
                  <a:t> </a:t>
                </a:r>
                <a:r>
                  <a:rPr lang="de-DE" dirty="0" err="1"/>
                  <a:t>cause</a:t>
                </a:r>
                <a:r>
                  <a:rPr lang="de-DE" dirty="0"/>
                  <a:t> </a:t>
                </a:r>
                <a:r>
                  <a:rPr lang="de-DE" dirty="0" err="1"/>
                  <a:t>principle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202124"/>
                    </a:solidFill>
                  </a:rPr>
                  <a:t>every correlation either due to a direct causal effect linking the correlated entities or brought about by a third factor (confounder)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rgbClr val="202124"/>
                  </a:solidFill>
                </a:endParaRPr>
              </a:p>
              <a:p>
                <a:pPr marL="0" indent="0">
                  <a:buNone/>
                </a:pPr>
                <a:r>
                  <a:rPr lang="en-US" i="1" dirty="0"/>
                  <a:t>An observed correlation can be completely misleading if key influencing factors are not taken into account. </a:t>
                </a:r>
                <a:r>
                  <a:rPr lang="en-US" i="1" dirty="0">
                    <a:sym typeface="Wingdings" panose="05000000000000000000" pitchFamily="2" charset="2"/>
                  </a:rPr>
                  <a:t> Is there a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</m:oMath>
                </a14:m>
                <a:r>
                  <a:rPr lang="en-US" i="1" dirty="0">
                    <a:sym typeface="Wingdings" panose="05000000000000000000" pitchFamily="2" charset="2"/>
                  </a:rPr>
                  <a:t> that influences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𝑋</m:t>
                    </m:r>
                  </m:oMath>
                </a14:m>
                <a:r>
                  <a:rPr lang="en-US" i="1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𝑌</m:t>
                    </m:r>
                  </m:oMath>
                </a14:m>
                <a:r>
                  <a:rPr lang="en-US" i="1" dirty="0">
                    <a:sym typeface="Wingdings" panose="05000000000000000000" pitchFamily="2" charset="2"/>
                  </a:rPr>
                  <a:t>?</a:t>
                </a:r>
                <a:endParaRPr lang="de-DE" i="1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EC2F55B-CE4C-6BE2-B08E-5638E87B40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6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5D572A-A30E-A402-A015-526EF747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11</a:t>
            </a:fld>
            <a:endParaRPr lang="en-GB"/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FB27204E-FAEA-49E2-C428-B1FCF2B1A166}"/>
              </a:ext>
            </a:extLst>
          </p:cNvPr>
          <p:cNvGrpSpPr/>
          <p:nvPr/>
        </p:nvGrpSpPr>
        <p:grpSpPr>
          <a:xfrm>
            <a:off x="8806200" y="1429131"/>
            <a:ext cx="3041041" cy="2579884"/>
            <a:chOff x="8594740" y="3240973"/>
            <a:chExt cx="3041041" cy="257988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D179E70-49BE-1425-C073-22EBDEA3E7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9268" y="5177753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1DEDCE3-061D-291D-23FD-79A12A54E4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89268" y="5177753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C72B231-7172-01DA-677D-60B9040636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29268" y="3713040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A4015D7-A48E-A538-2116-FC634CEE3891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8949268" y="5267753"/>
              <a:ext cx="2340000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FBF80F5-1DAC-6652-3096-FC0FA0C845A7}"/>
                </a:ext>
              </a:extLst>
            </p:cNvPr>
            <p:cNvCxnSpPr>
              <a:cxnSpLocks/>
              <a:stCxn id="8" idx="5"/>
              <a:endCxn id="7" idx="1"/>
            </p:cNvCxnSpPr>
            <p:nvPr/>
          </p:nvCxnSpPr>
          <p:spPr>
            <a:xfrm>
              <a:off x="10182908" y="3866681"/>
              <a:ext cx="1132720" cy="1337433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43FBEEC-9221-6AE1-D231-80376676B886}"/>
                </a:ext>
              </a:extLst>
            </p:cNvPr>
            <p:cNvCxnSpPr>
              <a:cxnSpLocks/>
              <a:endCxn id="6" idx="7"/>
            </p:cNvCxnSpPr>
            <p:nvPr/>
          </p:nvCxnSpPr>
          <p:spPr>
            <a:xfrm flipH="1">
              <a:off x="8922908" y="3866681"/>
              <a:ext cx="1106360" cy="133743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3A522C6-4121-1163-1460-35484154142B}"/>
                    </a:ext>
                  </a:extLst>
                </p:cNvPr>
                <p:cNvSpPr txBox="1"/>
                <p:nvPr/>
              </p:nvSpPr>
              <p:spPr>
                <a:xfrm>
                  <a:off x="9865160" y="3240973"/>
                  <a:ext cx="517385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F0F6030-F492-3EBC-4D86-2A079D1BF4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5160" y="3240973"/>
                  <a:ext cx="517385" cy="5539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7BC1E23-07B9-24BA-B94E-0F9932FF4B99}"/>
                    </a:ext>
                  </a:extLst>
                </p:cNvPr>
                <p:cNvSpPr txBox="1"/>
                <p:nvPr/>
              </p:nvSpPr>
              <p:spPr>
                <a:xfrm>
                  <a:off x="8594740" y="5266859"/>
                  <a:ext cx="529055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30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11AC9F2-CCF6-7612-4D98-5C8D328E41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4740" y="5266859"/>
                  <a:ext cx="529055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4E27A1F-7A5E-7A5C-56F7-6168A88A172D}"/>
                    </a:ext>
                  </a:extLst>
                </p:cNvPr>
                <p:cNvSpPr txBox="1"/>
                <p:nvPr/>
              </p:nvSpPr>
              <p:spPr>
                <a:xfrm>
                  <a:off x="11122755" y="5266859"/>
                  <a:ext cx="513026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D303860-5003-9E81-7CE7-2DBC95BD6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2755" y="5266859"/>
                  <a:ext cx="513026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2933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B6491-27A3-AED8-A5F7-54FE300C7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Example: Pricing in Retail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D0DF2E-74C0-9BED-0EED-A3F62AFBC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price setting for a product can be considered a d</a:t>
            </a:r>
            <a:r>
              <a:rPr lang="en-DE"/>
              <a:t>emand shaping method</a:t>
            </a:r>
          </a:p>
          <a:p>
            <a:pPr marL="0" indent="0">
              <a:buNone/>
            </a:pPr>
            <a:r>
              <a:rPr lang="en-GB" dirty="0"/>
              <a:t>the idea is a causal effect: lower price leads to higher demand</a:t>
            </a: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 by estimating this causal effect, one can find an optimal price according to a given policy (like maximizing profit)</a:t>
            </a:r>
            <a:endParaRPr lang="en-GB" dirty="0"/>
          </a:p>
          <a:p>
            <a:pPr marL="0" indent="0">
              <a:buNone/>
            </a:pPr>
            <a:endParaRPr lang="en-DE"/>
          </a:p>
          <a:p>
            <a:pPr marL="0" indent="0">
              <a:buNone/>
            </a:pPr>
            <a:r>
              <a:rPr lang="en-GB" dirty="0"/>
              <a:t>p</a:t>
            </a:r>
            <a:r>
              <a:rPr lang="en-DE"/>
              <a:t>roblem: confounders influencing both pricing in past (obverved) data and demand, e.g., lowering prices on weekends only for grocery or lowering prices toward end of a season for fashion (most sales at beginning of season)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5CB4BE-19EC-3F62-3C38-A5A2D717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584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57A14-CC25-8775-A913-8F4019C88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Demand Shaping with Causal Inference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BF8DE5-8386-35D5-E074-8F712EE9B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9928"/>
            <a:ext cx="10515600" cy="9175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dynamic p</a:t>
            </a:r>
            <a:r>
              <a:rPr lang="en-DE"/>
              <a:t>ricing:</a:t>
            </a:r>
            <a:endParaRPr lang="de-DE" dirty="0"/>
          </a:p>
          <a:p>
            <a:pPr marL="0" indent="0">
              <a:buNone/>
            </a:pPr>
            <a:r>
              <a:rPr lang="en-DE"/>
              <a:t>influencing demand of different products by price setting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761188-8EA6-A452-00D2-5F9743C3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9" descr="Chart, scatter chart&#10;&#10;Description automatically generated">
            <a:extLst>
              <a:ext uri="{FF2B5EF4-FFF2-40B4-BE49-F238E27FC236}">
                <a16:creationId xmlns:a16="http://schemas.microsoft.com/office/drawing/2014/main" id="{CE6B223E-B2CE-0B81-3D47-D5720B37C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" y="3507444"/>
            <a:ext cx="3871843" cy="2903882"/>
          </a:xfrm>
          <a:prstGeom prst="rect">
            <a:avLst/>
          </a:prstGeom>
        </p:spPr>
      </p:pic>
      <p:pic>
        <p:nvPicPr>
          <p:cNvPr id="6" name="Picture 11" descr="Chart, scatter chart&#10;&#10;Description automatically generated">
            <a:extLst>
              <a:ext uri="{FF2B5EF4-FFF2-40B4-BE49-F238E27FC236}">
                <a16:creationId xmlns:a16="http://schemas.microsoft.com/office/drawing/2014/main" id="{BAAAA1B1-8FB9-235C-26EE-BC5B9F8D5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884" y="3507444"/>
            <a:ext cx="3389233" cy="2903882"/>
          </a:xfrm>
          <a:prstGeom prst="rect">
            <a:avLst/>
          </a:prstGeom>
        </p:spPr>
      </p:pic>
      <p:pic>
        <p:nvPicPr>
          <p:cNvPr id="7" name="Picture 13" descr="Chart&#10;&#10;Description automatically generated with low confidence">
            <a:extLst>
              <a:ext uri="{FF2B5EF4-FFF2-40B4-BE49-F238E27FC236}">
                <a16:creationId xmlns:a16="http://schemas.microsoft.com/office/drawing/2014/main" id="{74574924-7182-B95D-097A-73D3DCCBC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143" y="3507444"/>
            <a:ext cx="4198223" cy="2903882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108F8DC9-04BB-E99C-E5CE-25BAC5525073}"/>
              </a:ext>
            </a:extLst>
          </p:cNvPr>
          <p:cNvSpPr txBox="1"/>
          <p:nvPr/>
        </p:nvSpPr>
        <p:spPr>
          <a:xfrm>
            <a:off x="838200" y="2978310"/>
            <a:ext cx="2552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</a:t>
            </a:r>
            <a:r>
              <a:rPr lang="en-DE" sz="2400" dirty="0"/>
              <a:t>onfounded effect: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3F7B2CB-4A3F-B1FF-72E6-AB1E5757AC6D}"/>
              </a:ext>
            </a:extLst>
          </p:cNvPr>
          <p:cNvSpPr txBox="1"/>
          <p:nvPr/>
        </p:nvSpPr>
        <p:spPr>
          <a:xfrm>
            <a:off x="4124854" y="2978310"/>
            <a:ext cx="2908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after de-confounding:</a:t>
            </a:r>
            <a:endParaRPr lang="en-DE" sz="2400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BF1F3E4-9291-9C86-3372-3EDD0724DD3E}"/>
              </a:ext>
            </a:extLst>
          </p:cNvPr>
          <p:cNvSpPr txBox="1"/>
          <p:nvPr/>
        </p:nvSpPr>
        <p:spPr>
          <a:xfrm>
            <a:off x="7997292" y="2981134"/>
            <a:ext cx="3052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for pricing policies:</a:t>
            </a:r>
            <a:endParaRPr lang="en-DE" sz="24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B2CAAD2-244D-21BE-021A-7157A1739532}"/>
              </a:ext>
            </a:extLst>
          </p:cNvPr>
          <p:cNvSpPr/>
          <p:nvPr/>
        </p:nvSpPr>
        <p:spPr>
          <a:xfrm>
            <a:off x="7934143" y="4128679"/>
            <a:ext cx="295457" cy="1341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F53E0EEB-7C7F-D213-5FD6-27B7568A5F2D}"/>
              </a:ext>
            </a:extLst>
          </p:cNvPr>
          <p:cNvSpPr txBox="1"/>
          <p:nvPr/>
        </p:nvSpPr>
        <p:spPr>
          <a:xfrm>
            <a:off x="5725282" y="4559963"/>
            <a:ext cx="1996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</a:t>
            </a:r>
            <a:r>
              <a:rPr lang="en-DE" dirty="0"/>
              <a:t>sually exponential</a:t>
            </a:r>
          </a:p>
        </p:txBody>
      </p:sp>
    </p:spTree>
    <p:extLst>
      <p:ext uri="{BB962C8B-B14F-4D97-AF65-F5344CB8AC3E}">
        <p14:creationId xmlns:p14="http://schemas.microsoft.com/office/powerpoint/2010/main" val="1023792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46577A-A6FB-F504-295D-C00992BEA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Interventions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Observations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1CD5F7-96A5-31FC-3999-0B30D4DF2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>
                <a:sym typeface="Wingdings" pitchFamily="2" charset="2"/>
              </a:rPr>
              <a:t>goal</a:t>
            </a:r>
            <a:r>
              <a:rPr lang="de-DE" sz="2600" dirty="0">
                <a:sym typeface="Wingdings" pitchFamily="2" charset="2"/>
              </a:rPr>
              <a:t>: </a:t>
            </a:r>
            <a:r>
              <a:rPr lang="de-DE" sz="2600" dirty="0" err="1">
                <a:sym typeface="Wingdings" pitchFamily="2" charset="2"/>
              </a:rPr>
              <a:t>prediction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of</a:t>
            </a:r>
            <a:r>
              <a:rPr lang="de-DE" sz="2600" dirty="0">
                <a:sym typeface="Wingdings" pitchFamily="2" charset="2"/>
              </a:rPr>
              <a:t> (</a:t>
            </a:r>
            <a:r>
              <a:rPr lang="de-DE" sz="2600" dirty="0" err="1">
                <a:sym typeface="Wingdings" pitchFamily="2" charset="2"/>
              </a:rPr>
              <a:t>average</a:t>
            </a:r>
            <a:r>
              <a:rPr lang="de-DE" sz="2600" dirty="0">
                <a:sym typeface="Wingdings" pitchFamily="2" charset="2"/>
              </a:rPr>
              <a:t>) </a:t>
            </a:r>
            <a:r>
              <a:rPr lang="de-DE" sz="2600" dirty="0" err="1">
                <a:sym typeface="Wingdings" pitchFamily="2" charset="2"/>
              </a:rPr>
              <a:t>causal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effect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of</a:t>
            </a:r>
            <a:r>
              <a:rPr lang="de-DE" sz="2600" dirty="0">
                <a:sym typeface="Wingdings" pitchFamily="2" charset="2"/>
              </a:rPr>
              <a:t> (</a:t>
            </a:r>
            <a:r>
              <a:rPr lang="de-DE" sz="2600" dirty="0" err="1">
                <a:sym typeface="Wingdings" pitchFamily="2" charset="2"/>
              </a:rPr>
              <a:t>yet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untried</a:t>
            </a:r>
            <a:r>
              <a:rPr lang="de-DE" sz="2600" dirty="0">
                <a:sym typeface="Wingdings" pitchFamily="2" charset="2"/>
              </a:rPr>
              <a:t>) </a:t>
            </a:r>
            <a:r>
              <a:rPr lang="de-DE" sz="2600" dirty="0" err="1">
                <a:sym typeface="Wingdings" pitchFamily="2" charset="2"/>
              </a:rPr>
              <a:t>actions</a:t>
            </a:r>
            <a:r>
              <a:rPr lang="de-DE" sz="2600" dirty="0">
                <a:sym typeface="Wingdings" pitchFamily="2" charset="2"/>
              </a:rPr>
              <a:t> (</a:t>
            </a:r>
            <a:r>
              <a:rPr lang="de-DE" sz="2600" dirty="0" err="1">
                <a:sym typeface="Wingdings" pitchFamily="2" charset="2"/>
              </a:rPr>
              <a:t>interventions</a:t>
            </a:r>
            <a:r>
              <a:rPr lang="de-DE" sz="2600" dirty="0">
                <a:sym typeface="Wingdings" pitchFamily="2" charset="2"/>
              </a:rPr>
              <a:t>)</a:t>
            </a:r>
          </a:p>
          <a:p>
            <a:pPr marL="0" indent="0">
              <a:buNone/>
            </a:pPr>
            <a:endParaRPr lang="de-DE" sz="26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sz="2600" dirty="0" err="1">
                <a:sym typeface="Wingdings" pitchFamily="2" charset="2"/>
              </a:rPr>
              <a:t>two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ways</a:t>
            </a:r>
            <a:r>
              <a:rPr lang="de-DE" sz="2600" dirty="0">
                <a:sym typeface="Wingdings" pitchFamily="2" charset="2"/>
              </a:rPr>
              <a:t>:</a:t>
            </a:r>
            <a:endParaRPr lang="de-DE" sz="2600" dirty="0"/>
          </a:p>
          <a:p>
            <a:r>
              <a:rPr lang="de-DE" sz="2600" dirty="0" err="1"/>
              <a:t>intervene</a:t>
            </a:r>
            <a:r>
              <a:rPr lang="de-DE" sz="2600" dirty="0"/>
              <a:t> via </a:t>
            </a:r>
            <a:r>
              <a:rPr lang="de-DE" sz="2600" dirty="0" err="1"/>
              <a:t>randomized</a:t>
            </a:r>
            <a:r>
              <a:rPr lang="de-DE" sz="2600" dirty="0"/>
              <a:t> </a:t>
            </a:r>
            <a:r>
              <a:rPr lang="de-DE" sz="2600" dirty="0" err="1"/>
              <a:t>controlled</a:t>
            </a:r>
            <a:r>
              <a:rPr lang="de-DE" sz="2600" dirty="0"/>
              <a:t> </a:t>
            </a:r>
            <a:r>
              <a:rPr lang="de-DE" sz="2600" dirty="0" err="1"/>
              <a:t>trials</a:t>
            </a:r>
            <a:r>
              <a:rPr lang="de-DE" sz="2600" dirty="0"/>
              <a:t> (RCT): </a:t>
            </a:r>
            <a:r>
              <a:rPr lang="de-DE" sz="2600" dirty="0" err="1"/>
              <a:t>set</a:t>
            </a:r>
            <a:r>
              <a:rPr lang="de-DE" sz="2600" dirty="0"/>
              <a:t> </a:t>
            </a:r>
            <a:r>
              <a:rPr lang="de-DE" sz="2600" dirty="0" err="1"/>
              <a:t>action</a:t>
            </a:r>
            <a:r>
              <a:rPr lang="de-DE" sz="2600" dirty="0"/>
              <a:t> </a:t>
            </a:r>
            <a:r>
              <a:rPr lang="de-DE" sz="2600" dirty="0" err="1"/>
              <a:t>randomly</a:t>
            </a:r>
            <a:r>
              <a:rPr lang="de-DE" sz="2600" dirty="0"/>
              <a:t> and check </a:t>
            </a:r>
            <a:r>
              <a:rPr lang="de-DE" sz="2600" dirty="0" err="1"/>
              <a:t>effect</a:t>
            </a:r>
            <a:r>
              <a:rPr lang="de-DE" sz="2600" dirty="0"/>
              <a:t> </a:t>
            </a:r>
            <a:r>
              <a:rPr lang="de-DE" sz="2600" dirty="0">
                <a:sym typeface="Wingdings" pitchFamily="2" charset="2"/>
              </a:rPr>
              <a:t> </a:t>
            </a:r>
            <a:r>
              <a:rPr lang="de-DE" sz="2600" dirty="0" err="1">
                <a:sym typeface="Wingdings" pitchFamily="2" charset="2"/>
              </a:rPr>
              <a:t>physically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disassociate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cause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from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confounders</a:t>
            </a:r>
            <a:endParaRPr lang="de-DE" sz="2600" dirty="0">
              <a:sym typeface="Wingdings" pitchFamily="2" charset="2"/>
            </a:endParaRPr>
          </a:p>
          <a:p>
            <a:r>
              <a:rPr lang="de-DE" sz="2600" dirty="0" err="1">
                <a:sym typeface="Wingdings" pitchFamily="2" charset="2"/>
              </a:rPr>
              <a:t>causal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model</a:t>
            </a:r>
            <a:r>
              <a:rPr lang="de-DE" sz="2600" dirty="0">
                <a:sym typeface="Wingdings" pitchFamily="2" charset="2"/>
              </a:rPr>
              <a:t>: </a:t>
            </a:r>
            <a:r>
              <a:rPr lang="de-DE" sz="2600" dirty="0" err="1">
                <a:sym typeface="Wingdings" pitchFamily="2" charset="2"/>
              </a:rPr>
              <a:t>emulating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interventions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by</a:t>
            </a:r>
            <a:r>
              <a:rPr lang="de-DE" sz="2600" dirty="0">
                <a:sym typeface="Wingdings" pitchFamily="2" charset="2"/>
              </a:rPr>
              <a:t> smart </a:t>
            </a:r>
            <a:r>
              <a:rPr lang="de-DE" sz="2600" dirty="0" err="1">
                <a:sym typeface="Wingdings" pitchFamily="2" charset="2"/>
              </a:rPr>
              <a:t>calculations</a:t>
            </a:r>
            <a:r>
              <a:rPr lang="de-DE" sz="2600" dirty="0">
                <a:sym typeface="Wingdings" pitchFamily="2" charset="2"/>
              </a:rPr>
              <a:t>  </a:t>
            </a:r>
            <a:r>
              <a:rPr lang="de-DE" sz="2600" dirty="0" err="1">
                <a:sym typeface="Wingdings" pitchFamily="2" charset="2"/>
              </a:rPr>
              <a:t>predict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effects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of</a:t>
            </a:r>
            <a:r>
              <a:rPr lang="de-DE" sz="2600" dirty="0">
                <a:sym typeface="Wingdings" pitchFamily="2" charset="2"/>
              </a:rPr>
              <a:t> potential </a:t>
            </a:r>
            <a:r>
              <a:rPr lang="de-DE" sz="2600" dirty="0" err="1">
                <a:sym typeface="Wingdings" pitchFamily="2" charset="2"/>
              </a:rPr>
              <a:t>interventions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from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observational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studies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only</a:t>
            </a:r>
            <a:r>
              <a:rPr lang="de-DE" sz="2600" dirty="0">
                <a:sym typeface="Wingdings" pitchFamily="2" charset="2"/>
              </a:rPr>
              <a:t>, i.e., </a:t>
            </a:r>
            <a:r>
              <a:rPr lang="de-DE" sz="2600" dirty="0" err="1">
                <a:sym typeface="Wingdings" pitchFamily="2" charset="2"/>
              </a:rPr>
              <a:t>without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experiment</a:t>
            </a:r>
            <a:endParaRPr lang="de-DE" sz="2600" dirty="0">
              <a:sym typeface="Wingdings" pitchFamily="2" charset="2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380638-74F4-FBEF-2B79-9FD6FCCA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778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3B18D0-78FE-1313-444B-A5AC9B63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for Average Causal Effects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DDA1D84-A9CC-EE89-1339-829EF725FA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962528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causal </a:t>
                </a:r>
                <a:r>
                  <a:rPr lang="de-DE" dirty="0" err="1"/>
                  <a:t>effect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dirty="0"/>
                  <a:t>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confounded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</a:t>
                </a:r>
                <a:r>
                  <a:rPr lang="de-DE" dirty="0" err="1"/>
                  <a:t>cause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solution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computation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average</a:t>
                </a:r>
                <a:r>
                  <a:rPr lang="de-DE" dirty="0"/>
                  <a:t> </a:t>
                </a:r>
                <a:r>
                  <a:rPr lang="de-DE" dirty="0" err="1"/>
                  <a:t>causal</a:t>
                </a:r>
                <a:r>
                  <a:rPr lang="de-DE" dirty="0"/>
                  <a:t> </a:t>
                </a:r>
                <a:r>
                  <a:rPr lang="de-DE" dirty="0" err="1"/>
                  <a:t>effect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 err="1"/>
                  <a:t>adjust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there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measurements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), i.e.</a:t>
                </a:r>
                <a:r>
                  <a:rPr lang="en-DE" dirty="0"/>
                  <a:t>, stratification of data in terms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de-DE" dirty="0" err="1"/>
                  <a:t>fashion</a:t>
                </a:r>
                <a:r>
                  <a:rPr lang="de-DE" dirty="0"/>
                  <a:t> </a:t>
                </a:r>
                <a:r>
                  <a:rPr lang="de-DE" dirty="0" err="1"/>
                  <a:t>example</a:t>
                </a:r>
                <a:r>
                  <a:rPr lang="de-DE" dirty="0"/>
                  <a:t>: </a:t>
                </a:r>
                <a:r>
                  <a:rPr lang="de-DE" dirty="0" err="1"/>
                  <a:t>adjust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months</a:t>
                </a:r>
                <a:r>
                  <a:rPr lang="de-DE" dirty="0"/>
                  <a:t>-in-</a:t>
                </a:r>
                <a:r>
                  <a:rPr lang="de-DE" dirty="0" err="1"/>
                  <a:t>season</a:t>
                </a:r>
                <a:r>
                  <a:rPr lang="de-DE" dirty="0"/>
                  <a:t> </a:t>
                </a:r>
                <a:r>
                  <a:rPr lang="de-DE" dirty="0" err="1"/>
                  <a:t>groups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DDA1D84-A9CC-EE89-1339-829EF725FA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962528" cy="4351338"/>
              </a:xfrm>
              <a:blipFill>
                <a:blip r:embed="rId2"/>
                <a:stretch>
                  <a:fillRect l="-1592" t="-3198" b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13DC7B-529A-0714-8D73-9BA39F88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15</a:t>
            </a:fld>
            <a:endParaRPr lang="en-GB"/>
          </a:p>
        </p:txBody>
      </p:sp>
      <p:grpSp>
        <p:nvGrpSpPr>
          <p:cNvPr id="5" name="Group 24">
            <a:extLst>
              <a:ext uri="{FF2B5EF4-FFF2-40B4-BE49-F238E27FC236}">
                <a16:creationId xmlns:a16="http://schemas.microsoft.com/office/drawing/2014/main" id="{27F01D60-D40A-3FEA-77F4-096451270586}"/>
              </a:ext>
            </a:extLst>
          </p:cNvPr>
          <p:cNvGrpSpPr/>
          <p:nvPr/>
        </p:nvGrpSpPr>
        <p:grpSpPr>
          <a:xfrm>
            <a:off x="8806200" y="2123402"/>
            <a:ext cx="3041041" cy="2579884"/>
            <a:chOff x="8594740" y="3240973"/>
            <a:chExt cx="3041041" cy="257988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FAF33D0-839F-9143-5974-2550553313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9268" y="5177753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4ED0FA-EDBA-9B0C-E711-5F78677232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89268" y="5177753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B4844BD-7C29-3FD2-DC44-6AF40782CA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29268" y="3713040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28">
              <a:extLst>
                <a:ext uri="{FF2B5EF4-FFF2-40B4-BE49-F238E27FC236}">
                  <a16:creationId xmlns:a16="http://schemas.microsoft.com/office/drawing/2014/main" id="{57830124-7E83-430B-BF18-68E7B7038E70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8949268" y="5267753"/>
              <a:ext cx="2340000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29">
              <a:extLst>
                <a:ext uri="{FF2B5EF4-FFF2-40B4-BE49-F238E27FC236}">
                  <a16:creationId xmlns:a16="http://schemas.microsoft.com/office/drawing/2014/main" id="{EF14C3B2-FA0E-5CAE-D579-EA2655A96542}"/>
                </a:ext>
              </a:extLst>
            </p:cNvPr>
            <p:cNvCxnSpPr>
              <a:cxnSpLocks/>
              <a:stCxn id="8" idx="5"/>
              <a:endCxn id="7" idx="1"/>
            </p:cNvCxnSpPr>
            <p:nvPr/>
          </p:nvCxnSpPr>
          <p:spPr>
            <a:xfrm>
              <a:off x="10182908" y="3866681"/>
              <a:ext cx="1132720" cy="1337433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30">
              <a:extLst>
                <a:ext uri="{FF2B5EF4-FFF2-40B4-BE49-F238E27FC236}">
                  <a16:creationId xmlns:a16="http://schemas.microsoft.com/office/drawing/2014/main" id="{9BEA01F0-A546-3EAA-935E-1E47DA11B366}"/>
                </a:ext>
              </a:extLst>
            </p:cNvPr>
            <p:cNvCxnSpPr>
              <a:cxnSpLocks/>
              <a:endCxn id="6" idx="7"/>
            </p:cNvCxnSpPr>
            <p:nvPr/>
          </p:nvCxnSpPr>
          <p:spPr>
            <a:xfrm flipH="1">
              <a:off x="8922908" y="3866681"/>
              <a:ext cx="1106360" cy="133743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31">
                  <a:extLst>
                    <a:ext uri="{FF2B5EF4-FFF2-40B4-BE49-F238E27FC236}">
                      <a16:creationId xmlns:a16="http://schemas.microsoft.com/office/drawing/2014/main" id="{2B301F7B-E0F1-AEA8-E0C5-4326CEE85306}"/>
                    </a:ext>
                  </a:extLst>
                </p:cNvPr>
                <p:cNvSpPr txBox="1"/>
                <p:nvPr/>
              </p:nvSpPr>
              <p:spPr>
                <a:xfrm>
                  <a:off x="9865160" y="3240973"/>
                  <a:ext cx="517385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607BAA6-3882-C85B-0D8A-5D5B3E0122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5160" y="3240973"/>
                  <a:ext cx="517385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32">
                  <a:extLst>
                    <a:ext uri="{FF2B5EF4-FFF2-40B4-BE49-F238E27FC236}">
                      <a16:creationId xmlns:a16="http://schemas.microsoft.com/office/drawing/2014/main" id="{C0822E16-6D43-27FA-0DD5-5B9575C44749}"/>
                    </a:ext>
                  </a:extLst>
                </p:cNvPr>
                <p:cNvSpPr txBox="1"/>
                <p:nvPr/>
              </p:nvSpPr>
              <p:spPr>
                <a:xfrm>
                  <a:off x="8594740" y="5266859"/>
                  <a:ext cx="529055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30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EAA3966-90E7-413B-0159-2EB947EE4F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4740" y="5266859"/>
                  <a:ext cx="529055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33">
                  <a:extLst>
                    <a:ext uri="{FF2B5EF4-FFF2-40B4-BE49-F238E27FC236}">
                      <a16:creationId xmlns:a16="http://schemas.microsoft.com/office/drawing/2014/main" id="{ACDD6280-3772-9E78-9A1C-5010ECA2E7B5}"/>
                    </a:ext>
                  </a:extLst>
                </p:cNvPr>
                <p:cNvSpPr txBox="1"/>
                <p:nvPr/>
              </p:nvSpPr>
              <p:spPr>
                <a:xfrm>
                  <a:off x="11122755" y="5266859"/>
                  <a:ext cx="513026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C50D6DA-1EF7-FA44-C542-0EDC96AE9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2755" y="5266859"/>
                  <a:ext cx="513026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99582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5AFFB6-DEB1-2BCA-E358-BE9D2B25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Colliders and Mediators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ABD37B3-48FB-D673-9300-AF0DF9795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10381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unwanted </a:t>
                </a:r>
                <a:r>
                  <a:rPr lang="de-DE" dirty="0" err="1"/>
                  <a:t>effects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adjusting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third</a:t>
                </a:r>
                <a:r>
                  <a:rPr lang="de-DE" dirty="0"/>
                  <a:t> variable on </a:t>
                </a:r>
                <a:r>
                  <a:rPr lang="de-DE" dirty="0" err="1"/>
                  <a:t>causal</a:t>
                </a:r>
                <a:r>
                  <a:rPr lang="de-DE" dirty="0"/>
                  <a:t> </a:t>
                </a:r>
                <a:r>
                  <a:rPr lang="de-DE" dirty="0" err="1"/>
                  <a:t>effect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collider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de-DE" dirty="0"/>
              </a:p>
              <a:p>
                <a:r>
                  <a:rPr lang="de-DE" dirty="0" err="1"/>
                  <a:t>correlation</a:t>
                </a:r>
                <a:r>
                  <a:rPr lang="de-DE" dirty="0"/>
                  <a:t> </a:t>
                </a:r>
                <a:r>
                  <a:rPr lang="de-DE" dirty="0" err="1"/>
                  <a:t>without</a:t>
                </a:r>
                <a:r>
                  <a:rPr lang="de-DE" dirty="0"/>
                  <a:t> </a:t>
                </a:r>
                <a:r>
                  <a:rPr lang="de-DE" dirty="0" err="1"/>
                  <a:t>causation</a:t>
                </a:r>
                <a:r>
                  <a:rPr lang="de-DE" dirty="0"/>
                  <a:t> (</a:t>
                </a:r>
                <a:r>
                  <a:rPr lang="de-DE" dirty="0" err="1"/>
                  <a:t>exception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common</a:t>
                </a:r>
                <a:r>
                  <a:rPr lang="de-DE" dirty="0"/>
                  <a:t> </a:t>
                </a:r>
                <a:r>
                  <a:rPr lang="de-DE" dirty="0" err="1"/>
                  <a:t>cause</a:t>
                </a:r>
                <a:r>
                  <a:rPr lang="de-DE" dirty="0"/>
                  <a:t> </a:t>
                </a:r>
                <a:r>
                  <a:rPr lang="de-DE" dirty="0" err="1"/>
                  <a:t>principle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selection</a:t>
                </a:r>
                <a:r>
                  <a:rPr lang="de-DE" dirty="0"/>
                  <a:t> </a:t>
                </a:r>
                <a:r>
                  <a:rPr lang="de-DE" dirty="0" err="1"/>
                  <a:t>bias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mediator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mechanism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effects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 err="1"/>
                  <a:t>need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counterfactual</a:t>
                </a:r>
                <a:r>
                  <a:rPr lang="de-DE" dirty="0"/>
                  <a:t> </a:t>
                </a:r>
                <a:r>
                  <a:rPr lang="de-DE" dirty="0" err="1"/>
                  <a:t>description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ABD37B3-48FB-D673-9300-AF0DF9795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10381" cy="4351338"/>
              </a:xfrm>
              <a:blipFill>
                <a:blip r:embed="rId2"/>
                <a:stretch>
                  <a:fillRect l="-1630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57EBF1-E6A9-4335-4C6C-5863AF88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16</a:t>
            </a:fld>
            <a:endParaRPr lang="en-GB"/>
          </a:p>
        </p:txBody>
      </p:sp>
      <p:grpSp>
        <p:nvGrpSpPr>
          <p:cNvPr id="5" name="Group 22">
            <a:extLst>
              <a:ext uri="{FF2B5EF4-FFF2-40B4-BE49-F238E27FC236}">
                <a16:creationId xmlns:a16="http://schemas.microsoft.com/office/drawing/2014/main" id="{EAC380BE-7835-9DE2-5B8A-EF2B6BDA4E43}"/>
              </a:ext>
            </a:extLst>
          </p:cNvPr>
          <p:cNvGrpSpPr/>
          <p:nvPr/>
        </p:nvGrpSpPr>
        <p:grpSpPr>
          <a:xfrm>
            <a:off x="8062382" y="4425692"/>
            <a:ext cx="2700000" cy="1644713"/>
            <a:chOff x="7353253" y="3707232"/>
            <a:chExt cx="2700000" cy="164471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1527B8-C5A7-243E-4446-CC5564B4F9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3253" y="5171945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28BEC0E-21CE-9BA8-F845-33DA505AF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73253" y="5171945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AFC0E04-7517-1526-5920-C110034C67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13253" y="3707232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6">
              <a:extLst>
                <a:ext uri="{FF2B5EF4-FFF2-40B4-BE49-F238E27FC236}">
                  <a16:creationId xmlns:a16="http://schemas.microsoft.com/office/drawing/2014/main" id="{C7B745C2-ABBC-2159-EC2A-A39A5EC743E7}"/>
                </a:ext>
              </a:extLst>
            </p:cNvPr>
            <p:cNvCxnSpPr>
              <a:cxnSpLocks/>
            </p:cNvCxnSpPr>
            <p:nvPr/>
          </p:nvCxnSpPr>
          <p:spPr>
            <a:xfrm>
              <a:off x="7533253" y="5261945"/>
              <a:ext cx="2340000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7">
              <a:extLst>
                <a:ext uri="{FF2B5EF4-FFF2-40B4-BE49-F238E27FC236}">
                  <a16:creationId xmlns:a16="http://schemas.microsoft.com/office/drawing/2014/main" id="{3B0AD9C4-F483-62CD-C3B0-A48B26044A71}"/>
                </a:ext>
              </a:extLst>
            </p:cNvPr>
            <p:cNvCxnSpPr>
              <a:cxnSpLocks/>
            </p:cNvCxnSpPr>
            <p:nvPr/>
          </p:nvCxnSpPr>
          <p:spPr>
            <a:xfrm>
              <a:off x="8766893" y="3860872"/>
              <a:ext cx="1132720" cy="1337433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8">
              <a:extLst>
                <a:ext uri="{FF2B5EF4-FFF2-40B4-BE49-F238E27FC236}">
                  <a16:creationId xmlns:a16="http://schemas.microsoft.com/office/drawing/2014/main" id="{F0DEDFA0-ADD3-1BDA-1124-D7C145B0E0F0}"/>
                </a:ext>
              </a:extLst>
            </p:cNvPr>
            <p:cNvCxnSpPr>
              <a:cxnSpLocks/>
              <a:stCxn id="11" idx="7"/>
            </p:cNvCxnSpPr>
            <p:nvPr/>
          </p:nvCxnSpPr>
          <p:spPr>
            <a:xfrm flipV="1">
              <a:off x="7506893" y="3860872"/>
              <a:ext cx="1132720" cy="133743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23">
            <a:extLst>
              <a:ext uri="{FF2B5EF4-FFF2-40B4-BE49-F238E27FC236}">
                <a16:creationId xmlns:a16="http://schemas.microsoft.com/office/drawing/2014/main" id="{F1F57747-C94E-B5FF-9B4C-32464D4E1A62}"/>
              </a:ext>
            </a:extLst>
          </p:cNvPr>
          <p:cNvGrpSpPr/>
          <p:nvPr/>
        </p:nvGrpSpPr>
        <p:grpSpPr>
          <a:xfrm>
            <a:off x="8638661" y="1666760"/>
            <a:ext cx="2695609" cy="1642653"/>
            <a:chOff x="7929532" y="1396169"/>
            <a:chExt cx="2695609" cy="164265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42ED8DA-FE7D-61D6-5040-0A296E91ED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29532" y="1396169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EE6B78E-44C8-1589-2D0E-C3E902132C5B}"/>
                </a:ext>
              </a:extLst>
            </p:cNvPr>
            <p:cNvCxnSpPr>
              <a:cxnSpLocks/>
            </p:cNvCxnSpPr>
            <p:nvPr/>
          </p:nvCxnSpPr>
          <p:spPr>
            <a:xfrm>
              <a:off x="8083172" y="1549809"/>
              <a:ext cx="1171140" cy="133537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FE4B0C-B715-980C-231D-0C95E37708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27952" y="2858822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DC68D6-8618-A1BC-1D7F-A13BE31FD0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141" y="1396169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Arrow Connector 18">
              <a:extLst>
                <a:ext uri="{FF2B5EF4-FFF2-40B4-BE49-F238E27FC236}">
                  <a16:creationId xmlns:a16="http://schemas.microsoft.com/office/drawing/2014/main" id="{200203FC-C9AB-6857-0813-5854DFF2C7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1592" y="1549809"/>
              <a:ext cx="1089909" cy="133537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20">
              <a:extLst>
                <a:ext uri="{FF2B5EF4-FFF2-40B4-BE49-F238E27FC236}">
                  <a16:creationId xmlns:a16="http://schemas.microsoft.com/office/drawing/2014/main" id="{6BA887CE-39A6-914C-39B7-418B310FCD9A}"/>
                </a:ext>
              </a:extLst>
            </p:cNvPr>
            <p:cNvCxnSpPr>
              <a:cxnSpLocks/>
              <a:stCxn id="13" idx="6"/>
              <a:endCxn id="16" idx="2"/>
            </p:cNvCxnSpPr>
            <p:nvPr/>
          </p:nvCxnSpPr>
          <p:spPr>
            <a:xfrm>
              <a:off x="8109532" y="1486169"/>
              <a:ext cx="2335609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prstDash val="dash"/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34">
                <a:extLst>
                  <a:ext uri="{FF2B5EF4-FFF2-40B4-BE49-F238E27FC236}">
                    <a16:creationId xmlns:a16="http://schemas.microsoft.com/office/drawing/2014/main" id="{15FF0469-3E5D-84ED-253C-094EC04F003F}"/>
                  </a:ext>
                </a:extLst>
              </p:cNvPr>
              <p:cNvSpPr txBox="1"/>
              <p:nvPr/>
            </p:nvSpPr>
            <p:spPr>
              <a:xfrm>
                <a:off x="8229331" y="1470430"/>
                <a:ext cx="52905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19" name="TextBox 34">
                <a:extLst>
                  <a:ext uri="{FF2B5EF4-FFF2-40B4-BE49-F238E27FC236}">
                    <a16:creationId xmlns:a16="http://schemas.microsoft.com/office/drawing/2014/main" id="{15FF0469-3E5D-84ED-253C-094EC04F0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331" y="1470430"/>
                <a:ext cx="529055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35">
                <a:extLst>
                  <a:ext uri="{FF2B5EF4-FFF2-40B4-BE49-F238E27FC236}">
                    <a16:creationId xmlns:a16="http://schemas.microsoft.com/office/drawing/2014/main" id="{7C8B8953-6ED4-3102-4D85-3144775F865F}"/>
                  </a:ext>
                </a:extLst>
              </p:cNvPr>
              <p:cNvSpPr txBox="1"/>
              <p:nvPr/>
            </p:nvSpPr>
            <p:spPr>
              <a:xfrm>
                <a:off x="11214545" y="1480241"/>
                <a:ext cx="52905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20" name="TextBox 35">
                <a:extLst>
                  <a:ext uri="{FF2B5EF4-FFF2-40B4-BE49-F238E27FC236}">
                    <a16:creationId xmlns:a16="http://schemas.microsoft.com/office/drawing/2014/main" id="{7C8B8953-6ED4-3102-4D85-3144775F8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4545" y="1480241"/>
                <a:ext cx="52905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36">
                <a:extLst>
                  <a:ext uri="{FF2B5EF4-FFF2-40B4-BE49-F238E27FC236}">
                    <a16:creationId xmlns:a16="http://schemas.microsoft.com/office/drawing/2014/main" id="{F448C94A-5C34-3E97-2671-595860A985C6}"/>
                  </a:ext>
                </a:extLst>
              </p:cNvPr>
              <p:cNvSpPr txBox="1"/>
              <p:nvPr/>
            </p:nvSpPr>
            <p:spPr>
              <a:xfrm>
                <a:off x="9772973" y="3227403"/>
                <a:ext cx="5082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21" name="TextBox 36">
                <a:extLst>
                  <a:ext uri="{FF2B5EF4-FFF2-40B4-BE49-F238E27FC236}">
                    <a16:creationId xmlns:a16="http://schemas.microsoft.com/office/drawing/2014/main" id="{F448C94A-5C34-3E97-2671-595860A98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2973" y="3227403"/>
                <a:ext cx="50821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37">
                <a:extLst>
                  <a:ext uri="{FF2B5EF4-FFF2-40B4-BE49-F238E27FC236}">
                    <a16:creationId xmlns:a16="http://schemas.microsoft.com/office/drawing/2014/main" id="{D0FB2556-500A-37CA-AC3E-C02592B6AE8A}"/>
                  </a:ext>
                </a:extLst>
              </p:cNvPr>
              <p:cNvSpPr txBox="1"/>
              <p:nvPr/>
            </p:nvSpPr>
            <p:spPr>
              <a:xfrm>
                <a:off x="9108581" y="3949931"/>
                <a:ext cx="60760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22" name="TextBox 37">
                <a:extLst>
                  <a:ext uri="{FF2B5EF4-FFF2-40B4-BE49-F238E27FC236}">
                    <a16:creationId xmlns:a16="http://schemas.microsoft.com/office/drawing/2014/main" id="{D0FB2556-500A-37CA-AC3E-C02592B6A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581" y="3949931"/>
                <a:ext cx="607602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38">
                <a:extLst>
                  <a:ext uri="{FF2B5EF4-FFF2-40B4-BE49-F238E27FC236}">
                    <a16:creationId xmlns:a16="http://schemas.microsoft.com/office/drawing/2014/main" id="{2E27CB6F-8B6E-3F0E-0E3C-8C3C0700505A}"/>
                  </a:ext>
                </a:extLst>
              </p:cNvPr>
              <p:cNvSpPr txBox="1"/>
              <p:nvPr/>
            </p:nvSpPr>
            <p:spPr>
              <a:xfrm>
                <a:off x="7887854" y="5979581"/>
                <a:ext cx="52905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00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23" name="TextBox 38">
                <a:extLst>
                  <a:ext uri="{FF2B5EF4-FFF2-40B4-BE49-F238E27FC236}">
                    <a16:creationId xmlns:a16="http://schemas.microsoft.com/office/drawing/2014/main" id="{2E27CB6F-8B6E-3F0E-0E3C-8C3C07005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854" y="5979581"/>
                <a:ext cx="529055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39">
                <a:extLst>
                  <a:ext uri="{FF2B5EF4-FFF2-40B4-BE49-F238E27FC236}">
                    <a16:creationId xmlns:a16="http://schemas.microsoft.com/office/drawing/2014/main" id="{7FAB4A20-D0B7-599E-8335-C1A8AA8062E0}"/>
                  </a:ext>
                </a:extLst>
              </p:cNvPr>
              <p:cNvSpPr txBox="1"/>
              <p:nvPr/>
            </p:nvSpPr>
            <p:spPr>
              <a:xfrm>
                <a:off x="10407854" y="5976777"/>
                <a:ext cx="52905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24" name="TextBox 39">
                <a:extLst>
                  <a:ext uri="{FF2B5EF4-FFF2-40B4-BE49-F238E27FC236}">
                    <a16:creationId xmlns:a16="http://schemas.microsoft.com/office/drawing/2014/main" id="{7FAB4A20-D0B7-599E-8335-C1A8AA806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7854" y="5976777"/>
                <a:ext cx="529055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9">
            <a:extLst>
              <a:ext uri="{FF2B5EF4-FFF2-40B4-BE49-F238E27FC236}">
                <a16:creationId xmlns:a16="http://schemas.microsoft.com/office/drawing/2014/main" id="{F91B09E4-53C2-8A44-3012-82DFBD6C2BEC}"/>
              </a:ext>
            </a:extLst>
          </p:cNvPr>
          <p:cNvSpPr txBox="1"/>
          <p:nvPr/>
        </p:nvSpPr>
        <p:spPr>
          <a:xfrm>
            <a:off x="8436073" y="5992297"/>
            <a:ext cx="1950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DE" dirty="0"/>
              <a:t>irect causal effect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7113709-68F6-677C-754E-287C75B6F61C}"/>
              </a:ext>
            </a:extLst>
          </p:cNvPr>
          <p:cNvSpPr txBox="1"/>
          <p:nvPr/>
        </p:nvSpPr>
        <p:spPr>
          <a:xfrm>
            <a:off x="8893087" y="4957338"/>
            <a:ext cx="2178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ind</a:t>
            </a:r>
            <a:r>
              <a:rPr lang="en-DE" dirty="0"/>
              <a:t>irect causal effect</a:t>
            </a:r>
          </a:p>
        </p:txBody>
      </p:sp>
    </p:spTree>
    <p:extLst>
      <p:ext uri="{BB962C8B-B14F-4D97-AF65-F5344CB8AC3E}">
        <p14:creationId xmlns:p14="http://schemas.microsoft.com/office/powerpoint/2010/main" val="3468274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B6AA7-9C8C-8EB8-6D1B-C9F63CD0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Backdoor Criterion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26E9312-D795-7C98-FFE1-19D90C1088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65559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dirty="0"/>
                  <a:t>to stop information flow from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600" dirty="0"/>
                  <a:t> to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600" dirty="0"/>
                  <a:t> (d-separation):</a:t>
                </a:r>
              </a:p>
              <a:p>
                <a:pPr marL="744538" lvl="1" indent="-457200"/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600" dirty="0">
                    <a:sym typeface="Wingdings" pitchFamily="2" charset="2"/>
                  </a:rPr>
                  <a:t>	 adjust</a:t>
                </a:r>
                <a:r>
                  <a:rPr lang="en-US" sz="2600" dirty="0"/>
                  <a:t> for Z</a:t>
                </a:r>
              </a:p>
              <a:p>
                <a:pPr marL="744538" lvl="1" indent="-457200"/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600" dirty="0">
                    <a:sym typeface="Wingdings" pitchFamily="2" charset="2"/>
                  </a:rPr>
                  <a:t>	 adjust</a:t>
                </a:r>
                <a:r>
                  <a:rPr lang="en-US" sz="2600" dirty="0"/>
                  <a:t> for Z</a:t>
                </a:r>
              </a:p>
              <a:p>
                <a:pPr marL="744538" lvl="1" indent="-457200"/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600" dirty="0">
                    <a:sym typeface="Wingdings" pitchFamily="2" charset="2"/>
                  </a:rPr>
                  <a:t>	 do </a:t>
                </a:r>
                <a:r>
                  <a:rPr lang="en-US" sz="2600" b="1" dirty="0">
                    <a:sym typeface="Wingdings" pitchFamily="2" charset="2"/>
                  </a:rPr>
                  <a:t>not</a:t>
                </a:r>
                <a:r>
                  <a:rPr lang="en-US" sz="2600" dirty="0">
                    <a:sym typeface="Wingdings" pitchFamily="2" charset="2"/>
                  </a:rPr>
                  <a:t> adjust</a:t>
                </a:r>
                <a:r>
                  <a:rPr lang="en-US" sz="2600" dirty="0"/>
                  <a:t> for Z</a:t>
                </a:r>
              </a:p>
              <a:p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back-door path: any path from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600" dirty="0"/>
                  <a:t> to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600" dirty="0"/>
                  <a:t> starting with an arrow pointing into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de-confounding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600" dirty="0"/>
                  <a:t> means blocking all back-door paths</a:t>
                </a:r>
              </a:p>
              <a:p>
                <a:pPr marL="0" indent="0">
                  <a:buNone/>
                </a:pPr>
                <a:r>
                  <a:rPr lang="en-US" sz="2600" dirty="0"/>
                  <a:t>(which need to be identified before)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26E9312-D795-7C98-FFE1-19D90C108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655595" cy="4351338"/>
              </a:xfrm>
              <a:blipFill>
                <a:blip r:embed="rId2"/>
                <a:stretch>
                  <a:fillRect l="-952" t="-2035" r="-1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8DC6C7-D588-9440-F03D-533B584B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897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DE9D174-B138-9DFA-5648-9C61FAD22F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𝑑𝑜</m:t>
                    </m:r>
                  </m:oMath>
                </a14:m>
                <a:r>
                  <a:rPr lang="de-DE" dirty="0"/>
                  <a:t>-</a:t>
                </a:r>
                <a:r>
                  <a:rPr lang="de-DE" dirty="0" err="1"/>
                  <a:t>Calculus</a:t>
                </a:r>
                <a:endParaRPr lang="de-D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DE9D174-B138-9DFA-5648-9C61FAD22F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DFE32F3-F9D0-3818-8EC3-DF035AC13D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DE" dirty="0"/>
                  <a:t>effect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intervention</a:t>
                </a:r>
                <a:r>
                  <a:rPr lang="de-DE" dirty="0"/>
                  <a:t> </a:t>
                </a:r>
                <a:r>
                  <a:rPr lang="de-DE" dirty="0" err="1"/>
                  <a:t>represented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goal</a:t>
                </a:r>
                <a:r>
                  <a:rPr lang="de-DE" dirty="0"/>
                  <a:t>: </a:t>
                </a:r>
                <a:r>
                  <a:rPr lang="de-DE" dirty="0" err="1"/>
                  <a:t>calculate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terms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such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𝑑𝑜</m:t>
                    </m:r>
                  </m:oMath>
                </a14:m>
                <a:r>
                  <a:rPr lang="de-DE" dirty="0"/>
                  <a:t>-operator </a:t>
                </a:r>
                <a:r>
                  <a:rPr lang="de-DE" dirty="0" err="1"/>
                  <a:t>remaining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calculated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observational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endParaRPr lang="de-DE" i="1" dirty="0"/>
              </a:p>
              <a:p>
                <a:pPr marL="0" indent="0">
                  <a:buNone/>
                </a:pPr>
                <a:endParaRPr lang="de-DE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𝑑𝑜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means</a:t>
                </a:r>
                <a:r>
                  <a:rPr lang="de-DE" dirty="0"/>
                  <a:t> </a:t>
                </a:r>
                <a:r>
                  <a:rPr lang="de-DE" dirty="0" err="1"/>
                  <a:t>removing</a:t>
                </a:r>
                <a:r>
                  <a:rPr lang="de-DE" dirty="0"/>
                  <a:t> all </a:t>
                </a:r>
                <a:r>
                  <a:rPr lang="de-DE" dirty="0" err="1"/>
                  <a:t>arrows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causal</a:t>
                </a:r>
                <a:r>
                  <a:rPr lang="de-DE" dirty="0"/>
                  <a:t> </a:t>
                </a:r>
                <a:r>
                  <a:rPr lang="de-DE" dirty="0" err="1"/>
                  <a:t>diagram</a:t>
                </a:r>
                <a:r>
                  <a:rPr lang="de-DE" dirty="0"/>
                  <a:t> </a:t>
                </a:r>
                <a:r>
                  <a:rPr lang="de-DE" dirty="0" err="1"/>
                  <a:t>going</a:t>
                </a:r>
                <a:r>
                  <a:rPr lang="de-DE" dirty="0"/>
                  <a:t> </a:t>
                </a:r>
                <a:r>
                  <a:rPr lang="de-DE" dirty="0" err="1"/>
                  <a:t>into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definition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confounding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en-US" dirty="0"/>
                  <a:t>back-door adjustment: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DFE32F3-F9D0-3818-8EC3-DF035AC13D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035" b="-220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18C29B-8BE8-EA97-88EF-6F75B6F6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158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80C2C0-A6D0-B0CE-0EC0-806A2BF5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Frontdoor</a:t>
            </a:r>
            <a:r>
              <a:rPr lang="en-US" dirty="0"/>
              <a:t> Criterion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645096-957B-3378-2DCF-751D19A912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600" dirty="0"/>
                  <a:t>unobservable confounder </a:t>
                </a:r>
                <a:r>
                  <a:rPr lang="en-US" sz="2600" dirty="0">
                    <a:sym typeface="Wingdings" pitchFamily="2" charset="2"/>
                  </a:rPr>
                  <a:t> no back-door adjustment</a:t>
                </a:r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front-door adjustment by means of observable mediator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6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𝑑𝑜</m:t>
                          </m:r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nary>
                      <m:r>
                        <a:rPr lang="de-DE" sz="2600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de-DE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derived from simple axioms of do-calculus:</a:t>
                </a:r>
              </a:p>
              <a:p>
                <a:pPr marL="744538" lvl="1" indent="-457200"/>
                <a:r>
                  <a:rPr lang="en-US" dirty="0"/>
                  <a:t>observation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irrelevant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de-DE" dirty="0"/>
                  <a:t>: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744538" lvl="1" indent="-45720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blocking all back-door paths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744538" lvl="1" indent="-457200"/>
                <a:r>
                  <a:rPr lang="en-US" dirty="0"/>
                  <a:t>no causal paths from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de-DE" dirty="0"/>
                  <a:t>:	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645096-957B-3378-2DCF-751D19A91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5988" b="-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71C202-47CD-30AC-4E61-5C4E57D4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19</a:t>
            </a:fld>
            <a:endParaRPr lang="en-GB"/>
          </a:p>
        </p:txBody>
      </p:sp>
      <p:grpSp>
        <p:nvGrpSpPr>
          <p:cNvPr id="5" name="Group 22">
            <a:extLst>
              <a:ext uri="{FF2B5EF4-FFF2-40B4-BE49-F238E27FC236}">
                <a16:creationId xmlns:a16="http://schemas.microsoft.com/office/drawing/2014/main" id="{24E38BDA-0807-C816-0EC8-A24BE5151312}"/>
              </a:ext>
            </a:extLst>
          </p:cNvPr>
          <p:cNvGrpSpPr/>
          <p:nvPr/>
        </p:nvGrpSpPr>
        <p:grpSpPr>
          <a:xfrm>
            <a:off x="9439640" y="366428"/>
            <a:ext cx="2700000" cy="1644713"/>
            <a:chOff x="9147124" y="696702"/>
            <a:chExt cx="2700000" cy="164471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57D227D-3168-247E-FF37-ED7A0446E8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47124" y="2161415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1593366-0973-45A7-748D-BFC016C2D2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67124" y="2161415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72C2856-796C-0980-193B-D8CDDE33CE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07124" y="696702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10">
              <a:extLst>
                <a:ext uri="{FF2B5EF4-FFF2-40B4-BE49-F238E27FC236}">
                  <a16:creationId xmlns:a16="http://schemas.microsoft.com/office/drawing/2014/main" id="{318ECB1F-CC17-13E4-0B07-CEFD082AE24A}"/>
                </a:ext>
              </a:extLst>
            </p:cNvPr>
            <p:cNvCxnSpPr>
              <a:cxnSpLocks/>
              <a:stCxn id="9" idx="5"/>
            </p:cNvCxnSpPr>
            <p:nvPr/>
          </p:nvCxnSpPr>
          <p:spPr>
            <a:xfrm>
              <a:off x="10560764" y="850342"/>
              <a:ext cx="1132720" cy="1337433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11">
              <a:extLst>
                <a:ext uri="{FF2B5EF4-FFF2-40B4-BE49-F238E27FC236}">
                  <a16:creationId xmlns:a16="http://schemas.microsoft.com/office/drawing/2014/main" id="{0179F680-EEB7-C122-BB35-F9AFF93FEFB6}"/>
                </a:ext>
              </a:extLst>
            </p:cNvPr>
            <p:cNvCxnSpPr>
              <a:cxnSpLocks/>
              <a:endCxn id="8" idx="7"/>
            </p:cNvCxnSpPr>
            <p:nvPr/>
          </p:nvCxnSpPr>
          <p:spPr>
            <a:xfrm flipH="1">
              <a:off x="9300764" y="850342"/>
              <a:ext cx="1106360" cy="133743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63F434-485B-D1BA-C8C4-53BCE2D9D6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07124" y="2161415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6">
              <a:extLst>
                <a:ext uri="{FF2B5EF4-FFF2-40B4-BE49-F238E27FC236}">
                  <a16:creationId xmlns:a16="http://schemas.microsoft.com/office/drawing/2014/main" id="{B2D2AA4B-58BC-3248-1DA1-8D5CAF108977}"/>
                </a:ext>
              </a:extLst>
            </p:cNvPr>
            <p:cNvCxnSpPr>
              <a:cxnSpLocks/>
              <a:stCxn id="6" idx="6"/>
              <a:endCxn id="11" idx="2"/>
            </p:cNvCxnSpPr>
            <p:nvPr/>
          </p:nvCxnSpPr>
          <p:spPr>
            <a:xfrm>
              <a:off x="9327124" y="2251415"/>
              <a:ext cx="1080000" cy="0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7">
              <a:extLst>
                <a:ext uri="{FF2B5EF4-FFF2-40B4-BE49-F238E27FC236}">
                  <a16:creationId xmlns:a16="http://schemas.microsoft.com/office/drawing/2014/main" id="{EED3FF56-3905-71F5-C1BF-7F026C9E6C93}"/>
                </a:ext>
              </a:extLst>
            </p:cNvPr>
            <p:cNvCxnSpPr>
              <a:cxnSpLocks/>
              <a:stCxn id="11" idx="6"/>
              <a:endCxn id="7" idx="2"/>
            </p:cNvCxnSpPr>
            <p:nvPr/>
          </p:nvCxnSpPr>
          <p:spPr>
            <a:xfrm>
              <a:off x="10587124" y="2251415"/>
              <a:ext cx="1080000" cy="0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23">
                <a:extLst>
                  <a:ext uri="{FF2B5EF4-FFF2-40B4-BE49-F238E27FC236}">
                    <a16:creationId xmlns:a16="http://schemas.microsoft.com/office/drawing/2014/main" id="{55EF9AA1-E61B-B4BB-4EF6-6E8BD9532123}"/>
                  </a:ext>
                </a:extLst>
              </p:cNvPr>
              <p:cNvSpPr txBox="1"/>
              <p:nvPr/>
            </p:nvSpPr>
            <p:spPr>
              <a:xfrm>
                <a:off x="10529460" y="-109407"/>
                <a:ext cx="51738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14" name="TextBox 23">
                <a:extLst>
                  <a:ext uri="{FF2B5EF4-FFF2-40B4-BE49-F238E27FC236}">
                    <a16:creationId xmlns:a16="http://schemas.microsoft.com/office/drawing/2014/main" id="{55EF9AA1-E61B-B4BB-4EF6-6E8BD9532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460" y="-109407"/>
                <a:ext cx="517385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24">
                <a:extLst>
                  <a:ext uri="{FF2B5EF4-FFF2-40B4-BE49-F238E27FC236}">
                    <a16:creationId xmlns:a16="http://schemas.microsoft.com/office/drawing/2014/main" id="{C0AB29D0-7A73-6936-5E26-AA7571912D28}"/>
                  </a:ext>
                </a:extLst>
              </p:cNvPr>
              <p:cNvSpPr txBox="1"/>
              <p:nvPr/>
            </p:nvSpPr>
            <p:spPr>
              <a:xfrm>
                <a:off x="10484352" y="1930633"/>
                <a:ext cx="60760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15" name="TextBox 24">
                <a:extLst>
                  <a:ext uri="{FF2B5EF4-FFF2-40B4-BE49-F238E27FC236}">
                    <a16:creationId xmlns:a16="http://schemas.microsoft.com/office/drawing/2014/main" id="{C0AB29D0-7A73-6936-5E26-AA7571912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4352" y="1930633"/>
                <a:ext cx="607602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25">
                <a:extLst>
                  <a:ext uri="{FF2B5EF4-FFF2-40B4-BE49-F238E27FC236}">
                    <a16:creationId xmlns:a16="http://schemas.microsoft.com/office/drawing/2014/main" id="{5908332F-A044-0381-9C0F-AC1394635E72}"/>
                  </a:ext>
                </a:extLst>
              </p:cNvPr>
              <p:cNvSpPr txBox="1"/>
              <p:nvPr/>
            </p:nvSpPr>
            <p:spPr>
              <a:xfrm>
                <a:off x="9258412" y="1930473"/>
                <a:ext cx="52905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3000" b="0" dirty="0"/>
              </a:p>
            </p:txBody>
          </p:sp>
        </mc:Choice>
        <mc:Fallback xmlns="">
          <p:sp>
            <p:nvSpPr>
              <p:cNvPr id="16" name="TextBox 25">
                <a:extLst>
                  <a:ext uri="{FF2B5EF4-FFF2-40B4-BE49-F238E27FC236}">
                    <a16:creationId xmlns:a16="http://schemas.microsoft.com/office/drawing/2014/main" id="{5908332F-A044-0381-9C0F-AC1394635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412" y="1930473"/>
                <a:ext cx="52905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26">
                <a:extLst>
                  <a:ext uri="{FF2B5EF4-FFF2-40B4-BE49-F238E27FC236}">
                    <a16:creationId xmlns:a16="http://schemas.microsoft.com/office/drawing/2014/main" id="{33CCDAC6-7518-0C64-AB01-B9F6EC523503}"/>
                  </a:ext>
                </a:extLst>
              </p:cNvPr>
              <p:cNvSpPr txBox="1"/>
              <p:nvPr/>
            </p:nvSpPr>
            <p:spPr>
              <a:xfrm>
                <a:off x="11798013" y="1930473"/>
                <a:ext cx="5082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17" name="TextBox 26">
                <a:extLst>
                  <a:ext uri="{FF2B5EF4-FFF2-40B4-BE49-F238E27FC236}">
                    <a16:creationId xmlns:a16="http://schemas.microsoft.com/office/drawing/2014/main" id="{33CCDAC6-7518-0C64-AB01-B9F6EC523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8013" y="1930473"/>
                <a:ext cx="508216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27">
                <a:extLst>
                  <a:ext uri="{FF2B5EF4-FFF2-40B4-BE49-F238E27FC236}">
                    <a16:creationId xmlns:a16="http://schemas.microsoft.com/office/drawing/2014/main" id="{16CD8249-4C33-821F-07AF-EDFFB4CDAD51}"/>
                  </a:ext>
                </a:extLst>
              </p:cNvPr>
              <p:cNvSpPr txBox="1"/>
              <p:nvPr/>
            </p:nvSpPr>
            <p:spPr>
              <a:xfrm>
                <a:off x="2779047" y="3609774"/>
                <a:ext cx="469795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600" dirty="0"/>
                  <a:t>a</a:t>
                </a:r>
                <a:r>
                  <a:rPr lang="en-DE" sz="2600" dirty="0"/>
                  <a:t>djust for two variables: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DE" sz="2600" dirty="0"/>
                  <a:t> and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DE" sz="2600" dirty="0"/>
              </a:p>
            </p:txBody>
          </p:sp>
        </mc:Choice>
        <mc:Fallback xmlns="">
          <p:sp>
            <p:nvSpPr>
              <p:cNvPr id="18" name="TextBox 27">
                <a:extLst>
                  <a:ext uri="{FF2B5EF4-FFF2-40B4-BE49-F238E27FC236}">
                    <a16:creationId xmlns:a16="http://schemas.microsoft.com/office/drawing/2014/main" id="{16CD8249-4C33-821F-07AF-EDFFB4CDA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047" y="3609774"/>
                <a:ext cx="4697953" cy="492443"/>
              </a:xfrm>
              <a:prstGeom prst="rect">
                <a:avLst/>
              </a:prstGeom>
              <a:blipFill>
                <a:blip r:embed="rId7"/>
                <a:stretch>
                  <a:fillRect l="-2156" t="-12500" r="-2965" b="-27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29">
            <a:extLst>
              <a:ext uri="{FF2B5EF4-FFF2-40B4-BE49-F238E27FC236}">
                <a16:creationId xmlns:a16="http://schemas.microsoft.com/office/drawing/2014/main" id="{C05903DC-7A48-5C46-5C43-15894E724880}"/>
              </a:ext>
            </a:extLst>
          </p:cNvPr>
          <p:cNvCxnSpPr>
            <a:cxnSpLocks/>
          </p:cNvCxnSpPr>
          <p:nvPr/>
        </p:nvCxnSpPr>
        <p:spPr>
          <a:xfrm flipH="1" flipV="1">
            <a:off x="4848447" y="3157870"/>
            <a:ext cx="1488558" cy="563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31">
            <a:extLst>
              <a:ext uri="{FF2B5EF4-FFF2-40B4-BE49-F238E27FC236}">
                <a16:creationId xmlns:a16="http://schemas.microsoft.com/office/drawing/2014/main" id="{37A12D41-69FE-FF6A-BCEF-763F7FDFCF1E}"/>
              </a:ext>
            </a:extLst>
          </p:cNvPr>
          <p:cNvCxnSpPr>
            <a:cxnSpLocks/>
          </p:cNvCxnSpPr>
          <p:nvPr/>
        </p:nvCxnSpPr>
        <p:spPr>
          <a:xfrm flipV="1">
            <a:off x="7559749" y="3157870"/>
            <a:ext cx="2126511" cy="63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41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E63D87-04E7-C0E5-B23D-358D9AF2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Counterfactuals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531E361-BD6E-36BA-1D9B-E2A35AFE40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3433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so far: average causal effects over (sub-)populations by means of interventions (RCTs,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𝑑𝑜</m:t>
                    </m:r>
                  </m:oMath>
                </a14:m>
                <a:r>
                  <a:rPr lang="en-US" dirty="0"/>
                  <a:t>-calculus)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individual causal effects, </a:t>
                </a:r>
                <a:r>
                  <a:rPr lang="de-DE" dirty="0" err="1"/>
                  <a:t>acting</a:t>
                </a:r>
                <a:r>
                  <a:rPr lang="de-DE" dirty="0"/>
                  <a:t> on individual </a:t>
                </a:r>
                <a:r>
                  <a:rPr lang="de-DE" dirty="0" err="1"/>
                  <a:t>units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as counterfactuals:</a:t>
                </a:r>
              </a:p>
              <a:p>
                <a:pPr marL="0" indent="0">
                  <a:buNone/>
                </a:pPr>
                <a:r>
                  <a:rPr lang="en-US" i="1" dirty="0"/>
                  <a:t>What happened?	</a:t>
                </a:r>
                <a:r>
                  <a:rPr lang="en-US" dirty="0"/>
                  <a:t>and	</a:t>
                </a:r>
                <a:r>
                  <a:rPr lang="en-US" i="1" dirty="0"/>
                  <a:t>What could have happened?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only one realization per individual: </a:t>
                </a:r>
                <a:r>
                  <a:rPr lang="en-US" dirty="0">
                    <a:sym typeface="Wingdings" pitchFamily="2" charset="2"/>
                  </a:rPr>
                  <a:t>cannot simply measure difference between respective potential outcomes (all but one </a:t>
                </a:r>
                <a:r>
                  <a:rPr lang="de-DE" dirty="0" err="1"/>
                  <a:t>purely</a:t>
                </a:r>
                <a:r>
                  <a:rPr lang="de-DE" dirty="0"/>
                  <a:t> </a:t>
                </a:r>
                <a:r>
                  <a:rPr lang="de-DE" dirty="0" err="1"/>
                  <a:t>hypothetical</a:t>
                </a:r>
                <a:r>
                  <a:rPr lang="en-US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/>
                  <a:t>counterfactual </a:t>
                </a:r>
                <a:r>
                  <a:rPr lang="de-DE" dirty="0" err="1"/>
                  <a:t>notation</a:t>
                </a:r>
                <a:r>
                  <a:rPr lang="de-DE" dirty="0"/>
                  <a:t> (</a:t>
                </a:r>
                <a:r>
                  <a:rPr lang="de-DE" dirty="0" err="1"/>
                  <a:t>had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been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e-DE" dirty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531E361-BD6E-36BA-1D9B-E2A35AFE40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34330" cy="4351338"/>
              </a:xfrm>
              <a:blipFill>
                <a:blip r:embed="rId2"/>
                <a:stretch>
                  <a:fillRect l="-1074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767DAE-5A67-5D29-668C-E99F8ADE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122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553A3-C3A5-31C9-7A9F-51C880F58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Estimation of </a:t>
            </a:r>
            <a:r>
              <a:rPr lang="en-US" dirty="0"/>
              <a:t>Individual Causal Effects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3712FD-C600-1D70-1291-1C5530D1C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impossible to correctly estimate individual causal effects by means of statistical interpolation techniques (impute missing data of potential outcomes)</a:t>
            </a:r>
          </a:p>
          <a:p>
            <a:pPr marL="0" indent="0">
              <a:buNone/>
            </a:pPr>
            <a:r>
              <a:rPr lang="en-DE">
                <a:sym typeface="Wingdings" pitchFamily="2" charset="2"/>
              </a:rPr>
              <a:t> </a:t>
            </a:r>
            <a:r>
              <a:rPr lang="en-GB" dirty="0">
                <a:sym typeface="Wingdings" pitchFamily="2" charset="2"/>
              </a:rPr>
              <a:t>n</a:t>
            </a:r>
            <a:r>
              <a:rPr lang="en-DE"/>
              <a:t>eed for additional causal assumptions (a causal model)</a:t>
            </a:r>
          </a:p>
          <a:p>
            <a:pPr marL="0" indent="0">
              <a:buNone/>
            </a:pPr>
            <a:endParaRPr lang="en-DE"/>
          </a:p>
          <a:p>
            <a:pPr marL="0" indent="0">
              <a:buNone/>
            </a:pPr>
            <a:r>
              <a:rPr lang="en-GB" dirty="0"/>
              <a:t>t</a:t>
            </a:r>
            <a:r>
              <a:rPr lang="en-DE"/>
              <a:t>wo different approaches: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</a:t>
            </a:r>
            <a:r>
              <a:rPr lang="en-DE"/>
              <a:t>tructural causal models (Pearl): guided by causal graph and response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DE"/>
              <a:t>Rubin causal model (potential outcomes): guided by structural assumptions (e.g., the need for adjusting for all confounders)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08C05E-5DEC-16EF-829D-1C17BFFA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428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CEC74-5D57-96E3-4CCD-49CCF389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Causal</a:t>
            </a:r>
            <a:r>
              <a:rPr lang="de-DE" dirty="0"/>
              <a:t> Models (SCM)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C25FFD-38BF-B3A2-0358-C4645B75B3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a</a:t>
                </a:r>
                <a:r>
                  <a:rPr lang="en-DE" dirty="0"/>
                  <a:t>lso known as structural equation models (SEM)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GB" dirty="0"/>
                  <a:t>modeler needs to s</a:t>
                </a:r>
                <a:r>
                  <a:rPr lang="en-DE" dirty="0"/>
                  <a:t>pecify which (causal graph) </a:t>
                </a:r>
                <a:r>
                  <a:rPr lang="en-DE"/>
                  <a:t>and how (</a:t>
                </a:r>
                <a:r>
                  <a:rPr lang="en-DE" dirty="0"/>
                  <a:t>deterministically, e.g., linearly) variables interact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average</a:t>
                </a:r>
                <a:r>
                  <a:rPr lang="de-DE" dirty="0"/>
                  <a:t> and individual </a:t>
                </a:r>
                <a:r>
                  <a:rPr lang="de-DE" dirty="0" err="1"/>
                  <a:t>causal</a:t>
                </a:r>
                <a:r>
                  <a:rPr lang="de-DE" dirty="0"/>
                  <a:t> </a:t>
                </a:r>
                <a:r>
                  <a:rPr lang="de-DE" dirty="0" err="1"/>
                  <a:t>effects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inferred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endParaRPr lang="de-DE" dirty="0"/>
              </a:p>
              <a:p>
                <a:pPr marL="0" indent="0">
                  <a:buNone/>
                </a:pPr>
                <a:endParaRPr lang="de-DE" i="1" dirty="0"/>
              </a:p>
              <a:p>
                <a:pPr marL="0" indent="0">
                  <a:buNone/>
                </a:pPr>
                <a:r>
                  <a:rPr lang="de-DE" dirty="0"/>
                  <a:t>example: </a:t>
                </a:r>
                <a:r>
                  <a:rPr lang="de-DE" dirty="0" err="1"/>
                  <a:t>direct</a:t>
                </a:r>
                <a:r>
                  <a:rPr lang="de-DE" dirty="0"/>
                  <a:t> and </a:t>
                </a:r>
                <a:r>
                  <a:rPr lang="de-DE" dirty="0" err="1"/>
                  <a:t>indirect</a:t>
                </a:r>
                <a:r>
                  <a:rPr lang="de-DE" dirty="0"/>
                  <a:t> (via </a:t>
                </a:r>
                <a:r>
                  <a:rPr lang="de-DE" dirty="0" err="1"/>
                  <a:t>mediator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de-DE" dirty="0"/>
                  <a:t>) </a:t>
                </a:r>
                <a:r>
                  <a:rPr lang="de-DE" dirty="0" err="1"/>
                  <a:t>causal</a:t>
                </a:r>
                <a:r>
                  <a:rPr lang="de-DE" dirty="0"/>
                  <a:t> </a:t>
                </a:r>
                <a:r>
                  <a:rPr lang="de-DE" dirty="0" err="1"/>
                  <a:t>effects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dirty="0"/>
                  <a:t> on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105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sz="105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C25FFD-38BF-B3A2-0358-C4645B75B3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A5D369-E81F-E970-D203-A1FC4D8F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22</a:t>
            </a:fld>
            <a:endParaRPr lang="en-GB"/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E6EC00F2-401E-AC9C-DBAD-1DF793AA67C2}"/>
              </a:ext>
            </a:extLst>
          </p:cNvPr>
          <p:cNvGrpSpPr/>
          <p:nvPr/>
        </p:nvGrpSpPr>
        <p:grpSpPr>
          <a:xfrm>
            <a:off x="9652956" y="4480936"/>
            <a:ext cx="2539044" cy="2240539"/>
            <a:chOff x="8594740" y="3139930"/>
            <a:chExt cx="3041040" cy="268182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F49185B-7CAD-F0D2-CBE7-2540C614BB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9268" y="5177753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6CDD6DB-9382-CCCC-1898-63B97095DE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89268" y="5177753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F0DECBB-DC8F-BCE1-7E67-DC499DD7A2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29268" y="3713040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18">
              <a:extLst>
                <a:ext uri="{FF2B5EF4-FFF2-40B4-BE49-F238E27FC236}">
                  <a16:creationId xmlns:a16="http://schemas.microsoft.com/office/drawing/2014/main" id="{25AE47A7-E094-8882-7703-2FB28E1FA837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8949268" y="5267753"/>
              <a:ext cx="2340000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19">
              <a:extLst>
                <a:ext uri="{FF2B5EF4-FFF2-40B4-BE49-F238E27FC236}">
                  <a16:creationId xmlns:a16="http://schemas.microsoft.com/office/drawing/2014/main" id="{D0B44F2B-CE40-63FC-422A-2E69641DA318}"/>
                </a:ext>
              </a:extLst>
            </p:cNvPr>
            <p:cNvCxnSpPr>
              <a:cxnSpLocks/>
              <a:stCxn id="8" idx="5"/>
              <a:endCxn id="7" idx="1"/>
            </p:cNvCxnSpPr>
            <p:nvPr/>
          </p:nvCxnSpPr>
          <p:spPr>
            <a:xfrm>
              <a:off x="10182908" y="3866681"/>
              <a:ext cx="1132720" cy="1337433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20">
              <a:extLst>
                <a:ext uri="{FF2B5EF4-FFF2-40B4-BE49-F238E27FC236}">
                  <a16:creationId xmlns:a16="http://schemas.microsoft.com/office/drawing/2014/main" id="{7C9F2BDE-B2FE-E22E-CEBB-B756F137526A}"/>
                </a:ext>
              </a:extLst>
            </p:cNvPr>
            <p:cNvCxnSpPr>
              <a:cxnSpLocks/>
              <a:endCxn id="6" idx="7"/>
            </p:cNvCxnSpPr>
            <p:nvPr/>
          </p:nvCxnSpPr>
          <p:spPr>
            <a:xfrm flipH="1">
              <a:off x="8922906" y="3866681"/>
              <a:ext cx="1106360" cy="133743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type="triangle" w="lg" len="lg"/>
              <a:tailEnd type="non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21">
                  <a:extLst>
                    <a:ext uri="{FF2B5EF4-FFF2-40B4-BE49-F238E27FC236}">
                      <a16:creationId xmlns:a16="http://schemas.microsoft.com/office/drawing/2014/main" id="{561A1FC2-03FC-33B8-AAB9-33F460E651C6}"/>
                    </a:ext>
                  </a:extLst>
                </p:cNvPr>
                <p:cNvSpPr txBox="1"/>
                <p:nvPr/>
              </p:nvSpPr>
              <p:spPr>
                <a:xfrm>
                  <a:off x="9810913" y="3139930"/>
                  <a:ext cx="608696" cy="663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802F8B0-B037-E8D1-D733-5AFDF131F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913" y="3139930"/>
                  <a:ext cx="608696" cy="663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22">
                  <a:extLst>
                    <a:ext uri="{FF2B5EF4-FFF2-40B4-BE49-F238E27FC236}">
                      <a16:creationId xmlns:a16="http://schemas.microsoft.com/office/drawing/2014/main" id="{B47BAA3C-6DD7-2523-ACB8-1FE12A973940}"/>
                    </a:ext>
                  </a:extLst>
                </p:cNvPr>
                <p:cNvSpPr txBox="1"/>
                <p:nvPr/>
              </p:nvSpPr>
              <p:spPr>
                <a:xfrm>
                  <a:off x="8594740" y="5263744"/>
                  <a:ext cx="529055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30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CFB7CCD-08DE-9B0E-2F73-C75022287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4740" y="5263744"/>
                  <a:ext cx="529055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8333" r="-5556" b="-13158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23">
                  <a:extLst>
                    <a:ext uri="{FF2B5EF4-FFF2-40B4-BE49-F238E27FC236}">
                      <a16:creationId xmlns:a16="http://schemas.microsoft.com/office/drawing/2014/main" id="{4108419B-F261-6BC2-3C63-81BC548C6B5F}"/>
                    </a:ext>
                  </a:extLst>
                </p:cNvPr>
                <p:cNvSpPr txBox="1"/>
                <p:nvPr/>
              </p:nvSpPr>
              <p:spPr>
                <a:xfrm>
                  <a:off x="11122754" y="5267753"/>
                  <a:ext cx="513026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FBE430-862C-A88F-BAB1-EEA436628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2754" y="5267753"/>
                  <a:ext cx="513026" cy="553998"/>
                </a:xfrm>
                <a:prstGeom prst="rect">
                  <a:avLst/>
                </a:prstGeom>
                <a:blipFill>
                  <a:blip r:embed="rId5"/>
                  <a:stretch>
                    <a:fillRect l="-8571" r="-5714" b="-13514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24">
                <a:extLst>
                  <a:ext uri="{FF2B5EF4-FFF2-40B4-BE49-F238E27FC236}">
                    <a16:creationId xmlns:a16="http://schemas.microsoft.com/office/drawing/2014/main" id="{44954BC6-A6EA-DFE1-F8AA-B67A0593B2D7}"/>
                  </a:ext>
                </a:extLst>
              </p:cNvPr>
              <p:cNvSpPr txBox="1"/>
              <p:nvPr/>
            </p:nvSpPr>
            <p:spPr>
              <a:xfrm>
                <a:off x="5720845" y="5231286"/>
                <a:ext cx="3755304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DE" sz="2400" dirty="0"/>
                  <a:t>: effects from unobserved (exogenous) variables</a:t>
                </a:r>
              </a:p>
            </p:txBody>
          </p:sp>
        </mc:Choice>
        <mc:Fallback xmlns="">
          <p:sp>
            <p:nvSpPr>
              <p:cNvPr id="15" name="TextBox 24">
                <a:extLst>
                  <a:ext uri="{FF2B5EF4-FFF2-40B4-BE49-F238E27FC236}">
                    <a16:creationId xmlns:a16="http://schemas.microsoft.com/office/drawing/2014/main" id="{44954BC6-A6EA-DFE1-F8AA-B67A0593B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845" y="5231286"/>
                <a:ext cx="3755304" cy="830997"/>
              </a:xfrm>
              <a:prstGeom prst="rect">
                <a:avLst/>
              </a:prstGeom>
              <a:blipFill>
                <a:blip r:embed="rId6"/>
                <a:stretch>
                  <a:fillRect l="-2013" t="-4478" r="-4027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996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76BAE-70CD-F896-A3EC-FFE1E9D9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Counterfactual Queries in SCM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3BA5BAD-3795-D14D-995C-91DEAFF9D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receipt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counterfactual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queries</a:t>
                </a:r>
                <a:r>
                  <a:rPr lang="de-DE" sz="2400" dirty="0"/>
                  <a:t> on individual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de-DE" sz="2400" dirty="0"/>
                  <a:t>:</a:t>
                </a:r>
              </a:p>
              <a:p>
                <a:pPr marL="744538" lvl="1" indent="-457200">
                  <a:buFont typeface="+mj-lt"/>
                  <a:buAutoNum type="arabicPeriod"/>
                </a:pPr>
                <a:r>
                  <a:rPr lang="de-DE" dirty="0" err="1"/>
                  <a:t>abduction</a:t>
                </a:r>
                <a:r>
                  <a:rPr lang="de-DE" dirty="0"/>
                  <a:t>: </a:t>
                </a:r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estimate</a:t>
                </a:r>
                <a:r>
                  <a:rPr lang="de-DE" dirty="0"/>
                  <a:t> individual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potentially</a:t>
                </a:r>
                <a:r>
                  <a:rPr lang="de-DE" dirty="0"/>
                  <a:t> ML)</a:t>
                </a:r>
                <a:endParaRPr lang="de-DE" i="1" dirty="0"/>
              </a:p>
              <a:p>
                <a:pPr marL="744538" lvl="1" indent="-457200">
                  <a:buFont typeface="+mj-lt"/>
                  <a:buAutoNum type="arabicPeriod"/>
                </a:pPr>
                <a:r>
                  <a:rPr lang="de-DE" dirty="0" err="1"/>
                  <a:t>action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𝑑𝑜</m:t>
                    </m:r>
                  </m:oMath>
                </a14:m>
                <a:r>
                  <a:rPr lang="de-DE" i="1" dirty="0"/>
                  <a:t>-</a:t>
                </a:r>
                <a:r>
                  <a:rPr lang="de-DE" dirty="0"/>
                  <a:t>operation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change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according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counterfactual</a:t>
                </a:r>
                <a:r>
                  <a:rPr lang="de-DE" dirty="0"/>
                  <a:t> </a:t>
                </a:r>
                <a:r>
                  <a:rPr lang="de-DE" dirty="0" err="1"/>
                  <a:t>query</a:t>
                </a:r>
                <a:r>
                  <a:rPr lang="de-DE" dirty="0"/>
                  <a:t> (</a:t>
                </a:r>
                <a:r>
                  <a:rPr lang="de-DE" dirty="0" err="1"/>
                  <a:t>erasing</a:t>
                </a:r>
                <a:r>
                  <a:rPr lang="de-DE" dirty="0"/>
                  <a:t> </a:t>
                </a:r>
                <a:r>
                  <a:rPr lang="de-DE" dirty="0" err="1"/>
                  <a:t>arrows</a:t>
                </a:r>
                <a:r>
                  <a:rPr lang="de-DE" dirty="0"/>
                  <a:t>)</a:t>
                </a:r>
                <a:endParaRPr lang="de-DE" i="1" dirty="0"/>
              </a:p>
              <a:p>
                <a:pPr marL="744538" lvl="1" indent="-457200">
                  <a:buFont typeface="+mj-lt"/>
                  <a:buAutoNum type="arabicPeriod"/>
                </a:pPr>
                <a:r>
                  <a:rPr lang="de-DE" dirty="0" err="1"/>
                  <a:t>prediction</a:t>
                </a:r>
                <a:r>
                  <a:rPr lang="de-DE" dirty="0"/>
                  <a:t>: </a:t>
                </a:r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modified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and </a:t>
                </a:r>
                <a:r>
                  <a:rPr lang="de-DE" dirty="0" err="1"/>
                  <a:t>updated</a:t>
                </a:r>
                <a:r>
                  <a:rPr lang="de-DE" dirty="0"/>
                  <a:t> </a:t>
                </a:r>
                <a:r>
                  <a:rPr lang="de-DE" dirty="0" err="1"/>
                  <a:t>information</a:t>
                </a:r>
                <a:r>
                  <a:rPr lang="de-DE" dirty="0"/>
                  <a:t>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estimate</a:t>
                </a:r>
                <a:r>
                  <a:rPr lang="de-DE" dirty="0"/>
                  <a:t> individual </a:t>
                </a:r>
                <a:r>
                  <a:rPr lang="de-DE" dirty="0" err="1"/>
                  <a:t>causal</a:t>
                </a:r>
                <a:r>
                  <a:rPr lang="de-DE" dirty="0"/>
                  <a:t> </a:t>
                </a:r>
                <a:r>
                  <a:rPr lang="de-DE" dirty="0" err="1"/>
                  <a:t>effect</a:t>
                </a:r>
                <a:endParaRPr lang="de-DE" dirty="0"/>
              </a:p>
              <a:p>
                <a:pPr marL="0" indent="0">
                  <a:buNone/>
                </a:pPr>
                <a:endParaRPr lang="en-DE" sz="2400" dirty="0"/>
              </a:p>
              <a:p>
                <a:pPr marL="0" indent="0">
                  <a:buNone/>
                </a:pPr>
                <a:r>
                  <a:rPr lang="en-GB" sz="2400" dirty="0"/>
                  <a:t>c</a:t>
                </a:r>
                <a:r>
                  <a:rPr lang="en-DE" sz="2400" dirty="0"/>
                  <a:t>onnection to generative models:</a:t>
                </a:r>
              </a:p>
              <a:p>
                <a:pPr marL="0" indent="0">
                  <a:buNone/>
                </a:pPr>
                <a:r>
                  <a:rPr lang="en-GB" sz="2400" dirty="0"/>
                  <a:t>unobserved variables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2400" dirty="0"/>
                  <a:t> in SCMs c</a:t>
                </a:r>
                <a:r>
                  <a:rPr lang="en-DE" sz="2400" dirty="0"/>
                  <a:t>orrespond to latent noise variables in generative models</a:t>
                </a:r>
              </a:p>
              <a:p>
                <a:pPr marL="0" indent="0">
                  <a:buNone/>
                </a:pPr>
                <a:r>
                  <a:rPr lang="en-DE" sz="2400" dirty="0">
                    <a:sym typeface="Wingdings" pitchFamily="2" charset="2"/>
                  </a:rPr>
                  <a:t> </a:t>
                </a:r>
                <a:r>
                  <a:rPr lang="en-GB" sz="2400" dirty="0">
                    <a:sym typeface="Wingdings" pitchFamily="2" charset="2"/>
                  </a:rPr>
                  <a:t>b</a:t>
                </a:r>
                <a:r>
                  <a:rPr lang="en-DE" sz="2400" dirty="0">
                    <a:sym typeface="Wingdings" pitchFamily="2" charset="2"/>
                  </a:rPr>
                  <a:t>oth use </a:t>
                </a:r>
                <a:r>
                  <a:rPr lang="en-DE" sz="2400" dirty="0"/>
                  <a:t>reparametrization trick: randomness as exogenous model input (rather than intrinsic </a:t>
                </a:r>
                <a:r>
                  <a:rPr lang="en-DE" sz="2400"/>
                  <a:t>component)</a:t>
                </a:r>
                <a:endParaRPr lang="en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3BA5BAD-3795-D14D-995C-91DEAFF9D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b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730121-A5C6-C3D4-00EE-4962F673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896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3921E3-BF5D-7EB5-32F1-1CA16201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Potential Outcomes</a:t>
            </a:r>
            <a:r>
              <a:rPr lang="en-US" dirty="0"/>
              <a:t> with ML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96F094-EE3A-0E6D-8EDD-4C98184C6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 err="1"/>
              <a:t>deconfounding</a:t>
            </a:r>
            <a:endParaRPr lang="de-DE" dirty="0"/>
          </a:p>
          <a:p>
            <a:pPr marL="0" indent="0" algn="ctr">
              <a:buNone/>
            </a:pPr>
            <a:r>
              <a:rPr lang="de-DE" dirty="0" err="1"/>
              <a:t>by</a:t>
            </a:r>
            <a:r>
              <a:rPr lang="de-DE" dirty="0"/>
              <a:t> RCTs </a:t>
            </a:r>
            <a:r>
              <a:rPr lang="de-DE" dirty="0" err="1"/>
              <a:t>or</a:t>
            </a:r>
            <a:endParaRPr lang="de-DE" dirty="0"/>
          </a:p>
          <a:p>
            <a:pPr marL="0" indent="0" algn="ctr">
              <a:buNone/>
            </a:pPr>
            <a:r>
              <a:rPr lang="de-DE" dirty="0" err="1"/>
              <a:t>independence</a:t>
            </a:r>
            <a:r>
              <a:rPr lang="de-DE" dirty="0"/>
              <a:t> </a:t>
            </a:r>
            <a:r>
              <a:rPr lang="de-DE" dirty="0" err="1"/>
              <a:t>weights</a:t>
            </a:r>
            <a:r>
              <a:rPr lang="de-DE" dirty="0"/>
              <a:t> (inverse </a:t>
            </a:r>
            <a:r>
              <a:rPr lang="de-DE" dirty="0" err="1"/>
              <a:t>propensity</a:t>
            </a:r>
            <a:r>
              <a:rPr lang="de-DE" dirty="0"/>
              <a:t> </a:t>
            </a:r>
            <a:r>
              <a:rPr lang="de-DE" dirty="0" err="1"/>
              <a:t>scores</a:t>
            </a:r>
            <a:r>
              <a:rPr lang="de-DE" dirty="0"/>
              <a:t>)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marL="0" indent="0" algn="ctr">
              <a:buNone/>
            </a:pP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individual </a:t>
            </a:r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ML </a:t>
            </a:r>
            <a:r>
              <a:rPr lang="de-DE" dirty="0" err="1"/>
              <a:t>model</a:t>
            </a:r>
            <a:endParaRPr lang="de-DE" dirty="0"/>
          </a:p>
          <a:p>
            <a:pPr marL="0" indent="0" algn="ctr">
              <a:buNone/>
            </a:pPr>
            <a:r>
              <a:rPr lang="de-DE" dirty="0"/>
              <a:t>(</a:t>
            </a:r>
            <a:r>
              <a:rPr lang="en-DE"/>
              <a:t>generalization by function approximation</a:t>
            </a:r>
            <a:r>
              <a:rPr lang="de-DE" dirty="0"/>
              <a:t>)</a:t>
            </a:r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DDEF60-15EC-23E4-DABC-D7E56DD7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24</a:t>
            </a:fld>
            <a:endParaRPr lang="en-GB"/>
          </a:p>
        </p:txBody>
      </p:sp>
      <p:sp>
        <p:nvSpPr>
          <p:cNvPr id="5" name="Down Arrow 3">
            <a:extLst>
              <a:ext uri="{FF2B5EF4-FFF2-40B4-BE49-F238E27FC236}">
                <a16:creationId xmlns:a16="http://schemas.microsoft.com/office/drawing/2014/main" id="{603DD3D6-8CFE-6B9A-B7E5-969D29AB3E17}"/>
              </a:ext>
            </a:extLst>
          </p:cNvPr>
          <p:cNvSpPr/>
          <p:nvPr/>
        </p:nvSpPr>
        <p:spPr>
          <a:xfrm>
            <a:off x="5853684" y="3610944"/>
            <a:ext cx="484632" cy="978408"/>
          </a:xfrm>
          <a:prstGeom prst="downArrow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80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B743A9-4CB9-F2A5-4C09-682DF405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Learned Independence Weights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34935D8-D901-FD19-58D1-DFDBDCFA2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5938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s</a:t>
                </a:r>
                <a:r>
                  <a:rPr lang="de-DE" sz="2600" dirty="0" err="1"/>
                  <a:t>cenario</a:t>
                </a:r>
                <a:r>
                  <a:rPr lang="de-DE" sz="2600" dirty="0"/>
                  <a:t>: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binary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for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simplicity</a:t>
                </a:r>
                <a:r>
                  <a:rPr lang="de-DE" sz="2600" dirty="0"/>
                  <a:t>), </a:t>
                </a:r>
                <a:r>
                  <a:rPr lang="de-DE" sz="2600" dirty="0" err="1"/>
                  <a:t>several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confounders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aim</a:t>
                </a:r>
                <a:r>
                  <a:rPr lang="de-DE" sz="2600" dirty="0"/>
                  <a:t>: </a:t>
                </a:r>
                <a:r>
                  <a:rPr lang="de-DE" sz="2600" dirty="0" err="1"/>
                  <a:t>prediction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individual </a:t>
                </a:r>
                <a:r>
                  <a:rPr lang="de-DE" sz="2600" dirty="0" err="1"/>
                  <a:t>causal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effect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using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observational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data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only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801688" lvl="1" indent="-514350">
                  <a:buFont typeface="+mj-lt"/>
                  <a:buAutoNum type="romanLcPeriod"/>
                </a:pPr>
                <a:r>
                  <a:rPr lang="de-DE" sz="2200" dirty="0"/>
                  <a:t>ML </a:t>
                </a:r>
                <a:r>
                  <a:rPr lang="de-DE" sz="2200" dirty="0" err="1"/>
                  <a:t>model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predict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past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action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policy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de-DE" sz="2200" dirty="0"/>
                  <a:t> </a:t>
                </a:r>
                <a:r>
                  <a:rPr lang="de-DE" sz="2200" dirty="0">
                    <a:sym typeface="Wingdings" pitchFamily="2" charset="2"/>
                  </a:rPr>
                  <a:t>(</a:t>
                </a:r>
                <a:r>
                  <a:rPr lang="de-DE" sz="2200" dirty="0" err="1">
                    <a:sym typeface="Wingdings" pitchFamily="2" charset="2"/>
                  </a:rPr>
                  <a:t>beware</a:t>
                </a:r>
                <a:r>
                  <a:rPr lang="de-DE" sz="2200" dirty="0">
                    <a:sym typeface="Wingdings" pitchFamily="2" charset="2"/>
                  </a:rPr>
                  <a:t>: </a:t>
                </a:r>
                <a:r>
                  <a:rPr lang="de-DE" sz="2200" dirty="0" err="1">
                    <a:sym typeface="Wingdings" pitchFamily="2" charset="2"/>
                  </a:rPr>
                  <a:t>need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>
                    <a:sym typeface="Wingdings" pitchFamily="2" charset="2"/>
                  </a:rPr>
                  <a:t>to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>
                    <a:sym typeface="Wingdings" pitchFamily="2" charset="2"/>
                  </a:rPr>
                  <a:t>include</a:t>
                </a:r>
                <a:r>
                  <a:rPr lang="de-DE" sz="2200" dirty="0">
                    <a:sym typeface="Wingdings" pitchFamily="2" charset="2"/>
                  </a:rPr>
                  <a:t> all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sz="2200" dirty="0">
                    <a:sym typeface="Wingdings" pitchFamily="2" charset="2"/>
                  </a:rPr>
                  <a:t>)</a:t>
                </a:r>
                <a:endParaRPr lang="de-DE" sz="2200" dirty="0"/>
              </a:p>
              <a:p>
                <a:pPr marL="801688" lvl="1" indent="-514350">
                  <a:buFont typeface="+mj-lt"/>
                  <a:buAutoNum type="romanLcPeriod"/>
                </a:pPr>
                <a:r>
                  <a:rPr lang="de-DE" sz="2200" dirty="0"/>
                  <a:t>inverse </a:t>
                </a:r>
                <a:r>
                  <a:rPr lang="de-DE" sz="2200" dirty="0" err="1"/>
                  <a:t>propensity</a:t>
                </a:r>
                <a:r>
                  <a:rPr lang="de-DE" sz="2200" dirty="0"/>
                  <a:t> score </a:t>
                </a:r>
                <a:r>
                  <a:rPr lang="de-DE" sz="2200" dirty="0" err="1"/>
                  <a:t>weighting</a:t>
                </a:r>
                <a:r>
                  <a:rPr lang="de-DE" sz="2200" dirty="0"/>
                  <a:t> </a:t>
                </a:r>
                <a:r>
                  <a:rPr lang="de-DE" sz="2200" dirty="0" err="1"/>
                  <a:t>of</a:t>
                </a:r>
                <a:r>
                  <a:rPr lang="de-DE" sz="2200" dirty="0"/>
                  <a:t> </a:t>
                </a:r>
                <a:r>
                  <a:rPr lang="de-DE" sz="2200" dirty="0" err="1"/>
                  <a:t>each</a:t>
                </a:r>
                <a:r>
                  <a:rPr lang="de-DE" sz="2200" dirty="0"/>
                  <a:t> </a:t>
                </a:r>
                <a:r>
                  <a:rPr lang="de-DE" sz="2200" dirty="0" err="1"/>
                  <a:t>unit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to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adjust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for</a:t>
                </a:r>
                <a:r>
                  <a:rPr lang="de-DE" sz="2200" dirty="0"/>
                  <a:t> multiple </a:t>
                </a:r>
                <a:r>
                  <a:rPr lang="de-DE" sz="2200" dirty="0" err="1"/>
                  <a:t>confounders</a:t>
                </a:r>
                <a:r>
                  <a:rPr lang="de-DE" sz="2200" dirty="0"/>
                  <a:t>):</a:t>
                </a:r>
              </a:p>
              <a:p>
                <a:pPr marL="801688" lvl="1" indent="-514350">
                  <a:buFont typeface="+mj-lt"/>
                  <a:buAutoNum type="romanLcPeriod"/>
                </a:pPr>
                <a:endParaRPr lang="de-DE" sz="2200" dirty="0"/>
              </a:p>
              <a:p>
                <a:pPr marL="801688" lvl="1" indent="-514350">
                  <a:buFont typeface="+mj-lt"/>
                  <a:buAutoNum type="romanLcPeriod"/>
                </a:pPr>
                <a:endParaRPr lang="de-DE" sz="2200" dirty="0"/>
              </a:p>
              <a:p>
                <a:pPr marL="801688" lvl="1" indent="-514350">
                  <a:buFont typeface="+mj-lt"/>
                  <a:buAutoNum type="romanLcPeriod"/>
                </a:pPr>
                <a:endParaRPr lang="de-DE" sz="2200" dirty="0"/>
              </a:p>
              <a:p>
                <a:pPr marL="801688" lvl="1" indent="-514350">
                  <a:buFont typeface="+mj-lt"/>
                  <a:buAutoNum type="romanLcPeriod"/>
                </a:pPr>
                <a:r>
                  <a:rPr lang="de-DE" sz="2200" dirty="0" err="1"/>
                  <a:t>train</a:t>
                </a:r>
                <a:r>
                  <a:rPr lang="de-DE" sz="2200" dirty="0"/>
                  <a:t> ML </a:t>
                </a:r>
                <a:r>
                  <a:rPr lang="de-DE" sz="2200" dirty="0" err="1"/>
                  <a:t>model</a:t>
                </a:r>
                <a:r>
                  <a:rPr lang="de-DE" sz="2200" dirty="0"/>
                  <a:t> on </a:t>
                </a:r>
                <a:r>
                  <a:rPr lang="de-DE" sz="2200" dirty="0" err="1"/>
                  <a:t>deconfounded</a:t>
                </a:r>
                <a:r>
                  <a:rPr lang="de-DE" sz="2200" dirty="0"/>
                  <a:t> </a:t>
                </a:r>
                <a:r>
                  <a:rPr lang="de-DE" sz="2200" dirty="0" err="1"/>
                  <a:t>data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predict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de-DE" sz="2200" dirty="0"/>
                  <a:t> </a:t>
                </a:r>
                <a:r>
                  <a:rPr lang="de-DE" sz="2200" dirty="0" err="1"/>
                  <a:t>with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sz="2200" dirty="0"/>
                  <a:t> </a:t>
                </a:r>
                <a:r>
                  <a:rPr lang="de-DE" sz="2200" dirty="0" err="1"/>
                  <a:t>as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features</a:t>
                </a:r>
                <a:endParaRPr lang="de-DE" sz="2200" dirty="0"/>
              </a:p>
              <a:p>
                <a:pPr marL="801688" lvl="1" indent="-514350">
                  <a:buFont typeface="+mj-lt"/>
                  <a:buAutoNum type="romanLcPeriod"/>
                </a:pPr>
                <a:r>
                  <a:rPr lang="de-DE" sz="2200" dirty="0"/>
                  <a:t>individual </a:t>
                </a:r>
                <a:r>
                  <a:rPr lang="de-DE" sz="2200" dirty="0" err="1"/>
                  <a:t>causal</a:t>
                </a:r>
                <a:r>
                  <a:rPr lang="de-DE" sz="2200" dirty="0"/>
                  <a:t> </a:t>
                </a:r>
                <a:r>
                  <a:rPr lang="de-DE" sz="2200" dirty="0" err="1"/>
                  <a:t>effect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difference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between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predictions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for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setting</a:t>
                </a:r>
                <a:r>
                  <a:rPr lang="de-DE" sz="2200" dirty="0"/>
                  <a:t> feature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200" dirty="0"/>
                  <a:t>, </a:t>
                </a:r>
                <a:r>
                  <a:rPr lang="de-DE" sz="2200" dirty="0" err="1"/>
                  <a:t>respectively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what-if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scenario</a:t>
                </a:r>
                <a:r>
                  <a:rPr lang="de-DE" sz="2200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34935D8-D901-FD19-58D1-DFDBDCFA2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59380" cy="4351338"/>
              </a:xfrm>
              <a:blipFill>
                <a:blip r:embed="rId2"/>
                <a:stretch>
                  <a:fillRect l="-1033" t="-2035" b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F3AA05-E3D1-AE9C-CC25-5DD5316C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">
                <a:extLst>
                  <a:ext uri="{FF2B5EF4-FFF2-40B4-BE49-F238E27FC236}">
                    <a16:creationId xmlns:a16="http://schemas.microsoft.com/office/drawing/2014/main" id="{B6DDD14E-4EE1-0F10-4193-DE1BB1CDD393}"/>
                  </a:ext>
                </a:extLst>
              </p:cNvPr>
              <p:cNvSpPr txBox="1"/>
              <p:nvPr/>
            </p:nvSpPr>
            <p:spPr>
              <a:xfrm>
                <a:off x="4261523" y="4001294"/>
                <a:ext cx="3668953" cy="6519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𝑑𝑜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num>
                            <m:den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5" name="TextBox 3">
                <a:extLst>
                  <a:ext uri="{FF2B5EF4-FFF2-40B4-BE49-F238E27FC236}">
                    <a16:creationId xmlns:a16="http://schemas.microsoft.com/office/drawing/2014/main" id="{B6DDD14E-4EE1-0F10-4193-DE1BB1CDD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523" y="4001294"/>
                <a:ext cx="3668953" cy="651910"/>
              </a:xfrm>
              <a:prstGeom prst="rect">
                <a:avLst/>
              </a:prstGeom>
              <a:blipFill>
                <a:blip r:embed="rId3"/>
                <a:stretch>
                  <a:fillRect l="-1034" t="-162264" b="-2415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16">
            <a:extLst>
              <a:ext uri="{FF2B5EF4-FFF2-40B4-BE49-F238E27FC236}">
                <a16:creationId xmlns:a16="http://schemas.microsoft.com/office/drawing/2014/main" id="{53CF4444-0945-69BE-41C7-86FA564765F2}"/>
              </a:ext>
            </a:extLst>
          </p:cNvPr>
          <p:cNvGrpSpPr/>
          <p:nvPr/>
        </p:nvGrpSpPr>
        <p:grpSpPr>
          <a:xfrm>
            <a:off x="9647848" y="-46655"/>
            <a:ext cx="2539045" cy="2174039"/>
            <a:chOff x="8594740" y="3196297"/>
            <a:chExt cx="3041041" cy="26022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CA4B87E-0D55-806F-5985-3745D8D70C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9268" y="5177753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BAD303A-FC04-D9D7-0D32-6D467CB38B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89268" y="5177753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55CB431-9F44-C470-FB59-DEC80BBCFF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29268" y="3713040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20">
              <a:extLst>
                <a:ext uri="{FF2B5EF4-FFF2-40B4-BE49-F238E27FC236}">
                  <a16:creationId xmlns:a16="http://schemas.microsoft.com/office/drawing/2014/main" id="{2426CD53-3B68-FE04-24A9-22020275BA0C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8949268" y="5267753"/>
              <a:ext cx="2340000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21">
              <a:extLst>
                <a:ext uri="{FF2B5EF4-FFF2-40B4-BE49-F238E27FC236}">
                  <a16:creationId xmlns:a16="http://schemas.microsoft.com/office/drawing/2014/main" id="{529C822B-A1D1-FE77-8DD3-C33B4655DE25}"/>
                </a:ext>
              </a:extLst>
            </p:cNvPr>
            <p:cNvCxnSpPr>
              <a:cxnSpLocks/>
              <a:stCxn id="11" idx="5"/>
              <a:endCxn id="10" idx="1"/>
            </p:cNvCxnSpPr>
            <p:nvPr/>
          </p:nvCxnSpPr>
          <p:spPr>
            <a:xfrm>
              <a:off x="10182908" y="3866681"/>
              <a:ext cx="1132720" cy="1337433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round/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22">
              <a:extLst>
                <a:ext uri="{FF2B5EF4-FFF2-40B4-BE49-F238E27FC236}">
                  <a16:creationId xmlns:a16="http://schemas.microsoft.com/office/drawing/2014/main" id="{AA3CC7EF-889C-7005-2ED7-ACCB531B11D6}"/>
                </a:ext>
              </a:extLst>
            </p:cNvPr>
            <p:cNvCxnSpPr>
              <a:cxnSpLocks/>
              <a:endCxn id="9" idx="7"/>
            </p:cNvCxnSpPr>
            <p:nvPr/>
          </p:nvCxnSpPr>
          <p:spPr>
            <a:xfrm flipH="1">
              <a:off x="8922908" y="3866681"/>
              <a:ext cx="1106360" cy="133743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w="lg" len="lg"/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23">
                  <a:extLst>
                    <a:ext uri="{FF2B5EF4-FFF2-40B4-BE49-F238E27FC236}">
                      <a16:creationId xmlns:a16="http://schemas.microsoft.com/office/drawing/2014/main" id="{F645F937-6FCC-C34B-9A4B-17120ED0CA96}"/>
                    </a:ext>
                  </a:extLst>
                </p:cNvPr>
                <p:cNvSpPr txBox="1"/>
                <p:nvPr/>
              </p:nvSpPr>
              <p:spPr>
                <a:xfrm>
                  <a:off x="9865160" y="3196297"/>
                  <a:ext cx="517385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E6E11EF-B939-D226-70F8-DCBDE359F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5160" y="3196297"/>
                  <a:ext cx="517385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8571" r="-2857" b="-16216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24">
                  <a:extLst>
                    <a:ext uri="{FF2B5EF4-FFF2-40B4-BE49-F238E27FC236}">
                      <a16:creationId xmlns:a16="http://schemas.microsoft.com/office/drawing/2014/main" id="{5BB8B46A-3A33-47B3-DF7C-880439ABD3A4}"/>
                    </a:ext>
                  </a:extLst>
                </p:cNvPr>
                <p:cNvSpPr txBox="1"/>
                <p:nvPr/>
              </p:nvSpPr>
              <p:spPr>
                <a:xfrm>
                  <a:off x="8594740" y="5244522"/>
                  <a:ext cx="529055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30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0688DAB-6ED9-DA5F-690C-801A59F7B3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4740" y="5244522"/>
                  <a:ext cx="529055" cy="553998"/>
                </a:xfrm>
                <a:prstGeom prst="rect">
                  <a:avLst/>
                </a:prstGeom>
                <a:blipFill>
                  <a:blip r:embed="rId5"/>
                  <a:stretch>
                    <a:fillRect l="-8333" r="-5556" b="-13514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25">
                  <a:extLst>
                    <a:ext uri="{FF2B5EF4-FFF2-40B4-BE49-F238E27FC236}">
                      <a16:creationId xmlns:a16="http://schemas.microsoft.com/office/drawing/2014/main" id="{615009B8-9BE8-EAAB-021F-93C6543FC9F6}"/>
                    </a:ext>
                  </a:extLst>
                </p:cNvPr>
                <p:cNvSpPr txBox="1"/>
                <p:nvPr/>
              </p:nvSpPr>
              <p:spPr>
                <a:xfrm>
                  <a:off x="11122755" y="5244521"/>
                  <a:ext cx="513026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de-DE" sz="3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1DD8349-B1D4-1ACC-F858-3F159EDE86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2755" y="5244521"/>
                  <a:ext cx="513026" cy="553998"/>
                </a:xfrm>
                <a:prstGeom prst="rect">
                  <a:avLst/>
                </a:prstGeom>
                <a:blipFill>
                  <a:blip r:embed="rId6"/>
                  <a:stretch>
                    <a:fillRect l="-5714" r="-5714" b="-13514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46012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DA307-7922-E193-5A46-4A78B012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Causality and ML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20A778-4AAE-90B2-5E3C-34F7FB3D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causation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addition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ML: synonym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ML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causes</a:t>
            </a:r>
            <a:r>
              <a:rPr lang="de-DE" dirty="0"/>
              <a:t> and </a:t>
            </a:r>
            <a:r>
              <a:rPr lang="de-DE" dirty="0" err="1"/>
              <a:t>effects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(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) </a:t>
            </a:r>
            <a:r>
              <a:rPr lang="de-DE" dirty="0" err="1"/>
              <a:t>alone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assumptions</a:t>
            </a:r>
            <a:r>
              <a:rPr lang="de-DE" dirty="0"/>
              <a:t> (</a:t>
            </a:r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)</a:t>
            </a:r>
          </a:p>
          <a:p>
            <a:r>
              <a:rPr lang="de-DE" dirty="0" err="1"/>
              <a:t>examples</a:t>
            </a:r>
            <a:r>
              <a:rPr lang="de-DE" dirty="0"/>
              <a:t>: </a:t>
            </a:r>
            <a:r>
              <a:rPr lang="de-DE" dirty="0" err="1"/>
              <a:t>transportability</a:t>
            </a:r>
            <a:r>
              <a:rPr lang="de-DE" dirty="0"/>
              <a:t> and </a:t>
            </a:r>
            <a:r>
              <a:rPr lang="de-DE" dirty="0" err="1"/>
              <a:t>robustness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(</a:t>
            </a:r>
            <a:r>
              <a:rPr lang="de-DE" dirty="0" err="1"/>
              <a:t>generalization</a:t>
            </a:r>
            <a:r>
              <a:rPr lang="de-DE" dirty="0"/>
              <a:t>), </a:t>
            </a:r>
            <a:r>
              <a:rPr lang="de-DE" dirty="0" err="1"/>
              <a:t>handling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, </a:t>
            </a:r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explainability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(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>
                <a:hlinkClick r:id="rId2"/>
              </a:rPr>
              <a:t>Pearl</a:t>
            </a:r>
            <a:r>
              <a:rPr lang="de-DE" dirty="0"/>
              <a:t> and </a:t>
            </a:r>
            <a:r>
              <a:rPr lang="de-DE" dirty="0" err="1"/>
              <a:t>Schölkopf</a:t>
            </a:r>
            <a:r>
              <a:rPr lang="de-DE" dirty="0"/>
              <a:t> </a:t>
            </a:r>
            <a:r>
              <a:rPr lang="de-DE" dirty="0">
                <a:hlinkClick r:id="rId3"/>
              </a:rPr>
              <a:t>1</a:t>
            </a:r>
            <a:r>
              <a:rPr lang="de-DE" dirty="0"/>
              <a:t> </a:t>
            </a:r>
            <a:r>
              <a:rPr lang="de-DE" dirty="0">
                <a:hlinkClick r:id="rId4"/>
              </a:rPr>
              <a:t>2</a:t>
            </a:r>
            <a:r>
              <a:rPr lang="de-DE" dirty="0"/>
              <a:t> </a:t>
            </a:r>
            <a:r>
              <a:rPr lang="de-DE" dirty="0">
                <a:hlinkClick r:id="rId5"/>
              </a:rPr>
              <a:t>3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but also: ML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help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causal</a:t>
            </a:r>
            <a:r>
              <a:rPr lang="de-DE" dirty="0"/>
              <a:t> </a:t>
            </a:r>
            <a:r>
              <a:rPr lang="de-DE" dirty="0" err="1"/>
              <a:t>discovery</a:t>
            </a:r>
            <a:r>
              <a:rPr lang="de-DE" dirty="0"/>
              <a:t> and </a:t>
            </a:r>
            <a:r>
              <a:rPr lang="de-DE" dirty="0" err="1"/>
              <a:t>inference</a:t>
            </a:r>
            <a:endParaRPr lang="de-DE" dirty="0"/>
          </a:p>
          <a:p>
            <a:r>
              <a:rPr lang="de-DE" dirty="0" err="1"/>
              <a:t>counterfactuls</a:t>
            </a:r>
            <a:r>
              <a:rPr lang="de-DE" dirty="0"/>
              <a:t> (potential </a:t>
            </a:r>
            <a:r>
              <a:rPr lang="de-DE" dirty="0" err="1"/>
              <a:t>outcomes</a:t>
            </a:r>
            <a:r>
              <a:rPr lang="de-DE" dirty="0"/>
              <a:t>)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matching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individual </a:t>
            </a:r>
            <a:r>
              <a:rPr lang="de-DE" dirty="0" err="1"/>
              <a:t>cases</a:t>
            </a:r>
            <a:endParaRPr lang="de-DE" dirty="0"/>
          </a:p>
          <a:p>
            <a:r>
              <a:rPr lang="de-DE" dirty="0" err="1"/>
              <a:t>adjusting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confounders</a:t>
            </a:r>
            <a:r>
              <a:rPr lang="de-DE" dirty="0"/>
              <a:t> (e.g., </a:t>
            </a:r>
            <a:r>
              <a:rPr lang="de-DE" dirty="0" err="1"/>
              <a:t>propensity</a:t>
            </a:r>
            <a:r>
              <a:rPr lang="de-DE" dirty="0"/>
              <a:t> </a:t>
            </a:r>
            <a:r>
              <a:rPr lang="de-DE" dirty="0" err="1"/>
              <a:t>scores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88F42F-749A-61CD-D732-DF74F43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9241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1876</Words>
  <Application>Microsoft Macintosh PowerPoint</Application>
  <PresentationFormat>Breitbild</PresentationFormat>
  <Paragraphs>291</Paragraphs>
  <Slides>26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 Math</vt:lpstr>
      <vt:lpstr>Wingdings</vt:lpstr>
      <vt:lpstr>1_Office Theme</vt:lpstr>
      <vt:lpstr>Causality</vt:lpstr>
      <vt:lpstr>Causality</vt:lpstr>
      <vt:lpstr>Why Causality Matters</vt:lpstr>
      <vt:lpstr>Probabilistic and Causal Models</vt:lpstr>
      <vt:lpstr>Probabilistic Graphical Model</vt:lpstr>
      <vt:lpstr>Markov Property</vt:lpstr>
      <vt:lpstr>Conditional Independencies</vt:lpstr>
      <vt:lpstr>Toward Causal Diagrams</vt:lpstr>
      <vt:lpstr>The Ladder of Causation</vt:lpstr>
      <vt:lpstr>Simpson’s Paradox</vt:lpstr>
      <vt:lpstr>Confounding</vt:lpstr>
      <vt:lpstr>Example: Pricing in Retail</vt:lpstr>
      <vt:lpstr>Demand Shaping with Causal Inference</vt:lpstr>
      <vt:lpstr>Interventions vs Observations</vt:lpstr>
      <vt:lpstr>Solution for Average Causal Effects</vt:lpstr>
      <vt:lpstr>Colliders and Mediators</vt:lpstr>
      <vt:lpstr>Backdoor Criterion</vt:lpstr>
      <vt:lpstr>do-Calculus</vt:lpstr>
      <vt:lpstr>Frontdoor Criterion</vt:lpstr>
      <vt:lpstr>Counterfactuals</vt:lpstr>
      <vt:lpstr>Estimation of Individual Causal Effects</vt:lpstr>
      <vt:lpstr>Structural Causal Models (SCM)</vt:lpstr>
      <vt:lpstr>Counterfactual Queries in SCM</vt:lpstr>
      <vt:lpstr>Potential Outcomes with ML</vt:lpstr>
      <vt:lpstr>Learned Independence Weights</vt:lpstr>
      <vt:lpstr>Causality and 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Causality</dc:title>
  <dc:creator>Felix Wick</dc:creator>
  <cp:lastModifiedBy>Felix Wick</cp:lastModifiedBy>
  <cp:revision>157</cp:revision>
  <dcterms:created xsi:type="dcterms:W3CDTF">2022-07-19T12:07:36Z</dcterms:created>
  <dcterms:modified xsi:type="dcterms:W3CDTF">2026-06-12T07:54:39Z</dcterms:modified>
</cp:coreProperties>
</file>