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65" r:id="rId3"/>
    <p:sldId id="266" r:id="rId4"/>
    <p:sldId id="258" r:id="rId5"/>
    <p:sldId id="270" r:id="rId6"/>
    <p:sldId id="285" r:id="rId7"/>
    <p:sldId id="271" r:id="rId8"/>
    <p:sldId id="267" r:id="rId9"/>
    <p:sldId id="268" r:id="rId10"/>
    <p:sldId id="272" r:id="rId11"/>
    <p:sldId id="273" r:id="rId12"/>
    <p:sldId id="274" r:id="rId13"/>
    <p:sldId id="287" r:id="rId14"/>
    <p:sldId id="286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5028" autoAdjust="0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Exploratory</a:t>
            </a:r>
            <a:r>
              <a:rPr lang="de-DE" dirty="0"/>
              <a:t> Data Analysis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Clustering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Probabilistic</a:t>
            </a:r>
            <a:r>
              <a:rPr lang="de-DE" dirty="0"/>
              <a:t> Models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de-DE" dirty="0"/>
              <a:t>Feature Engineering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Model Evaluation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Deep Learning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Time Series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Clustering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6CBE6C5-FF71-FE69-AF96-EB26512A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scikit-learn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k-means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hierarchical</a:t>
            </a:r>
            <a:r>
              <a:rPr lang="de-DE" dirty="0"/>
              <a:t> </a:t>
            </a:r>
            <a:r>
              <a:rPr lang="de-DE" dirty="0" err="1"/>
              <a:t>clustering</a:t>
            </a:r>
            <a:endParaRPr lang="de-DE" dirty="0"/>
          </a:p>
          <a:p>
            <a:endParaRPr lang="de-DE" dirty="0"/>
          </a:p>
          <a:p>
            <a:r>
              <a:rPr lang="de-DE" dirty="0"/>
              <a:t>DBSCAN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14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171740E0-17BA-14E5-D6A3-D769CF9386D6}"/>
              </a:ext>
            </a:extLst>
          </p:cNvPr>
          <p:cNvSpPr txBox="1"/>
          <p:nvPr/>
        </p:nvSpPr>
        <p:spPr>
          <a:xfrm>
            <a:off x="9459441" y="4678460"/>
            <a:ext cx="2196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Customer </a:t>
            </a:r>
            <a:r>
              <a:rPr lang="de-DE" dirty="0" err="1"/>
              <a:t>or</a:t>
            </a:r>
            <a:r>
              <a:rPr lang="de-DE" dirty="0"/>
              <a:t> Market Segmentation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723A98-5383-DEFF-2162-FA018A5C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Unsupervised</a:t>
            </a:r>
            <a:r>
              <a:rPr lang="de-DE" dirty="0"/>
              <a:t> Learning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062167-9517-D148-36D2-E07544A0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460F03F-C6CE-A5A6-8A3A-CE53697E655E}"/>
              </a:ext>
            </a:extLst>
          </p:cNvPr>
          <p:cNvSpPr txBox="1"/>
          <p:nvPr/>
        </p:nvSpPr>
        <p:spPr>
          <a:xfrm>
            <a:off x="659104" y="4744225"/>
            <a:ext cx="17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Fraud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C47B1B0-97FC-F4FE-3604-C591119001D0}"/>
              </a:ext>
            </a:extLst>
          </p:cNvPr>
          <p:cNvSpPr txBox="1"/>
          <p:nvPr/>
        </p:nvSpPr>
        <p:spPr>
          <a:xfrm>
            <a:off x="4815071" y="5504257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Image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11D884F-C00E-15FC-41F3-F77DE91C60A4}"/>
              </a:ext>
            </a:extLst>
          </p:cNvPr>
          <p:cNvSpPr txBox="1"/>
          <p:nvPr/>
        </p:nvSpPr>
        <p:spPr>
          <a:xfrm>
            <a:off x="4815071" y="4962948"/>
            <a:ext cx="2561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Recommender</a:t>
            </a:r>
            <a:r>
              <a:rPr lang="de-DE" dirty="0"/>
              <a:t> Systems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94C0A01-562B-BA3C-7066-F067DC02F29B}"/>
              </a:ext>
            </a:extLst>
          </p:cNvPr>
          <p:cNvSpPr txBox="1"/>
          <p:nvPr/>
        </p:nvSpPr>
        <p:spPr>
          <a:xfrm>
            <a:off x="7574555" y="5147614"/>
            <a:ext cx="1687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Drug Discovery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DF3880F-9601-CE4D-FED6-F6CD3C3A64B3}"/>
              </a:ext>
            </a:extLst>
          </p:cNvPr>
          <p:cNvSpPr txBox="1"/>
          <p:nvPr/>
        </p:nvSpPr>
        <p:spPr>
          <a:xfrm>
            <a:off x="9459441" y="5438220"/>
            <a:ext cx="2561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Social</a:t>
            </a:r>
            <a:r>
              <a:rPr lang="de-DE" dirty="0"/>
              <a:t> Network Analysis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838F8EE-95E8-9EB9-ECC5-AC0724485D61}"/>
              </a:ext>
            </a:extLst>
          </p:cNvPr>
          <p:cNvSpPr txBox="1"/>
          <p:nvPr/>
        </p:nvSpPr>
        <p:spPr>
          <a:xfrm>
            <a:off x="7574555" y="5660645"/>
            <a:ext cx="166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Topic Modeling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9425F67-F9A7-351E-B88B-606B0E94A34A}"/>
              </a:ext>
            </a:extLst>
          </p:cNvPr>
          <p:cNvSpPr txBox="1"/>
          <p:nvPr/>
        </p:nvSpPr>
        <p:spPr>
          <a:xfrm>
            <a:off x="659104" y="5255179"/>
            <a:ext cx="147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Risk Analysis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1C3A217-130D-0A09-400E-2154C70A564F}"/>
              </a:ext>
            </a:extLst>
          </p:cNvPr>
          <p:cNvSpPr txBox="1"/>
          <p:nvPr/>
        </p:nvSpPr>
        <p:spPr>
          <a:xfrm>
            <a:off x="487018" y="2017860"/>
            <a:ext cx="272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Anomaly</a:t>
            </a:r>
            <a:r>
              <a:rPr lang="de-DE" sz="2400" dirty="0"/>
              <a:t> </a:t>
            </a:r>
            <a:r>
              <a:rPr lang="de-DE" sz="2400" dirty="0" err="1"/>
              <a:t>Detection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E32D26-D10D-430E-A1B9-75D2728EFBBF}"/>
              </a:ext>
            </a:extLst>
          </p:cNvPr>
          <p:cNvSpPr txBox="1"/>
          <p:nvPr/>
        </p:nvSpPr>
        <p:spPr>
          <a:xfrm>
            <a:off x="4382710" y="2017860"/>
            <a:ext cx="3426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Representation</a:t>
            </a:r>
            <a:r>
              <a:rPr lang="de-DE" sz="2400" dirty="0"/>
              <a:t> Learning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D0627B5-13AE-8372-EE15-304E94CF30BD}"/>
              </a:ext>
            </a:extLst>
          </p:cNvPr>
          <p:cNvSpPr txBox="1"/>
          <p:nvPr/>
        </p:nvSpPr>
        <p:spPr>
          <a:xfrm>
            <a:off x="8908191" y="2017860"/>
            <a:ext cx="2796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Structure</a:t>
            </a:r>
            <a:r>
              <a:rPr lang="de-DE" sz="2400" dirty="0"/>
              <a:t> Discovery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B29B286-4626-503B-9BB5-04AE1418E3A0}"/>
              </a:ext>
            </a:extLst>
          </p:cNvPr>
          <p:cNvSpPr txBox="1"/>
          <p:nvPr/>
        </p:nvSpPr>
        <p:spPr>
          <a:xfrm>
            <a:off x="2889466" y="6356350"/>
            <a:ext cx="705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Techniques</a:t>
            </a:r>
            <a:r>
              <a:rPr lang="de-DE" dirty="0"/>
              <a:t>: </a:t>
            </a:r>
            <a:r>
              <a:rPr lang="de-DE" dirty="0" err="1"/>
              <a:t>clustering</a:t>
            </a:r>
            <a:r>
              <a:rPr lang="de-DE" dirty="0"/>
              <a:t>, </a:t>
            </a:r>
            <a:r>
              <a:rPr lang="de-DE" dirty="0" err="1"/>
              <a:t>dimensionality</a:t>
            </a:r>
            <a:r>
              <a:rPr lang="de-DE" dirty="0"/>
              <a:t> </a:t>
            </a:r>
            <a:r>
              <a:rPr lang="de-DE" dirty="0" err="1"/>
              <a:t>reduction</a:t>
            </a:r>
            <a:r>
              <a:rPr lang="de-DE" dirty="0"/>
              <a:t>, </a:t>
            </a:r>
            <a:r>
              <a:rPr lang="de-DE" dirty="0" err="1"/>
              <a:t>association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, …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C232DC-47A4-B760-2789-E1C42E43C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53" y="3092374"/>
            <a:ext cx="219607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commender Systems in Machine Learning: Examples">
            <a:extLst>
              <a:ext uri="{FF2B5EF4-FFF2-40B4-BE49-F238E27FC236}">
                <a16:creationId xmlns:a16="http://schemas.microsoft.com/office/drawing/2014/main" id="{7E241801-E2EA-9D59-DD10-69D7E78E9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961" y="2719339"/>
            <a:ext cx="2196076" cy="207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nlocking Business Potential Through Effective Customer Segmentation |  Towards Data Science">
            <a:extLst>
              <a:ext uri="{FF2B5EF4-FFF2-40B4-BE49-F238E27FC236}">
                <a16:creationId xmlns:a16="http://schemas.microsoft.com/office/drawing/2014/main" id="{9172C856-1B39-286B-3D40-A1345B00C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760" y="2714758"/>
            <a:ext cx="2654300" cy="19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7B8E74B0-0778-3DC1-D9FE-F76D89DF951C}"/>
              </a:ext>
            </a:extLst>
          </p:cNvPr>
          <p:cNvSpPr txBox="1"/>
          <p:nvPr/>
        </p:nvSpPr>
        <p:spPr>
          <a:xfrm>
            <a:off x="2833427" y="5030786"/>
            <a:ext cx="178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Time Series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71645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B1BF6-3B68-363E-F2F5-5DC138A9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Clustering?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8826D5-35A0-6F5B-6D31-5EEBEA85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Automatic</a:t>
            </a:r>
            <a:r>
              <a:rPr lang="de-DE" dirty="0"/>
              <a:t> </a:t>
            </a:r>
            <a:r>
              <a:rPr lang="de-DE" dirty="0" err="1"/>
              <a:t>grouping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sets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7EBB15-2B75-32A3-5033-3371960D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10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7A599-398E-BE89-AE0D-1886787B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and </a:t>
            </a:r>
            <a:r>
              <a:rPr lang="de-DE" dirty="0" err="1"/>
              <a:t>Similarity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7B7C9-9D66-A25B-D11C-5254C08E0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D07B56-8274-82D7-2AE1-BF7A4442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88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161FD2-1411-8BB8-D755-1F422C19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scikit-learn</a:t>
            </a:r>
            <a:r>
              <a:rPr lang="de-DE" dirty="0"/>
              <a:t> Clustering API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72D469-9E39-C0DF-2321-08C1385A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  <p:pic>
        <p:nvPicPr>
          <p:cNvPr id="1026" name="Picture 2" descr="MiniBatch KMeans, Affinity Propagation, MeanShift, Spectral Clustering, Ward, Agglomerative Clustering, DBSCAN, HDBSCAN, OPTICS, BIRCH, Gaussian Mixture">
            <a:extLst>
              <a:ext uri="{FF2B5EF4-FFF2-40B4-BE49-F238E27FC236}">
                <a16:creationId xmlns:a16="http://schemas.microsoft.com/office/drawing/2014/main" id="{CCCCBEB2-AD32-344D-3161-053446F1D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330" y="1386578"/>
            <a:ext cx="8617340" cy="5334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80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E5EF26E-96B1-27BE-03F5-79AA27F5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k-Means</a:t>
            </a:r>
            <a:r>
              <a:rPr lang="de-DE" dirty="0"/>
              <a:t>: Intuition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F3BDB8-AB06-D6F6-923D-DBA0EE4E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p:pic>
        <p:nvPicPr>
          <p:cNvPr id="2050" name="Picture 2" descr="K-means clustering on the digits dataset (PCA-reduced data) Centroids are marked with white cross">
            <a:extLst>
              <a:ext uri="{FF2B5EF4-FFF2-40B4-BE49-F238E27FC236}">
                <a16:creationId xmlns:a16="http://schemas.microsoft.com/office/drawing/2014/main" id="{B44A8871-A62C-5BCB-319E-EB2705B9E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397" y="1690688"/>
            <a:ext cx="6897205" cy="517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89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49D85B-4E0C-2CDA-A2D9-4273DBF6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k-Means</a:t>
            </a:r>
            <a:r>
              <a:rPr lang="de-DE" dirty="0"/>
              <a:t> </a:t>
            </a:r>
            <a:r>
              <a:rPr lang="de-DE" dirty="0" err="1"/>
              <a:t>Algorithm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F30DBF-AD11-3C18-1D07-A54DAB51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78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56E6D-D8FC-FA7F-8EFC-F623F1F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Choosing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Clusters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5AE942C-3574-952F-F18E-4BD93B73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34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97CEE-DA9B-A98C-98BF-3E784E6E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k-Means</a:t>
            </a:r>
            <a:r>
              <a:rPr lang="de-DE" dirty="0"/>
              <a:t> </a:t>
            </a:r>
            <a:r>
              <a:rPr lang="de-DE" dirty="0" err="1"/>
              <a:t>Assumptions</a:t>
            </a:r>
            <a:r>
              <a:rPr lang="de-DE" dirty="0"/>
              <a:t> and </a:t>
            </a:r>
            <a:r>
              <a:rPr lang="de-DE" dirty="0" err="1"/>
              <a:t>Limitations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61F564A-5810-6633-6054-C0BC5BA3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08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5E519-E948-8501-ACAD-BDF00444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 Batch </a:t>
            </a:r>
            <a:r>
              <a:rPr lang="de-DE" dirty="0" err="1"/>
              <a:t>k-Means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A8C059-BF98-DA76-D11E-B28857691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02C868-452A-3E9E-3E72-BA889BC8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  <p:pic>
        <p:nvPicPr>
          <p:cNvPr id="1026" name="Picture 2" descr="KMeans, MiniBatchKMeans, Difference">
            <a:extLst>
              <a:ext uri="{FF2B5EF4-FFF2-40B4-BE49-F238E27FC236}">
                <a16:creationId xmlns:a16="http://schemas.microsoft.com/office/drawing/2014/main" id="{8E76ED71-B047-741E-33C3-F2BB69959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892" y="3941884"/>
            <a:ext cx="7776308" cy="291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32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85EF2-749A-FE44-0A02-FD2D9249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Gaussian</a:t>
            </a:r>
            <a:r>
              <a:rPr lang="de-DE" dirty="0"/>
              <a:t> </a:t>
            </a:r>
            <a:r>
              <a:rPr lang="de-DE" dirty="0" err="1"/>
              <a:t>Mixture</a:t>
            </a:r>
            <a:r>
              <a:rPr lang="de-DE" dirty="0"/>
              <a:t> Models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2F8357-AF4F-871F-2CBC-4B5FD73DA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k-Means</a:t>
            </a:r>
            <a:r>
              <a:rPr lang="de-DE" dirty="0"/>
              <a:t>: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Gaussian</a:t>
            </a:r>
            <a:r>
              <a:rPr lang="de-DE" dirty="0"/>
              <a:t> </a:t>
            </a:r>
            <a:r>
              <a:rPr lang="de-DE" dirty="0" err="1"/>
              <a:t>mixture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equal</a:t>
            </a:r>
            <a:r>
              <a:rPr lang="de-DE" dirty="0"/>
              <a:t> </a:t>
            </a:r>
            <a:r>
              <a:rPr lang="de-DE" dirty="0" err="1"/>
              <a:t>covariance</a:t>
            </a:r>
            <a:r>
              <a:rPr lang="de-DE" dirty="0"/>
              <a:t> per </a:t>
            </a:r>
            <a:r>
              <a:rPr lang="de-DE" dirty="0" err="1"/>
              <a:t>component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40836D-FBB2-F6AE-DB5B-B3E74321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920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2D266D-155F-F226-2B1D-358BA749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Hierarchical</a:t>
            </a:r>
            <a:r>
              <a:rPr lang="de-DE" dirty="0"/>
              <a:t> Clustering: Motivation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837E5E9-930A-77A7-EDB3-BE3C1267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90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B71406-467A-A03D-EBA2-95505D3C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Linkage</a:t>
            </a:r>
            <a:r>
              <a:rPr lang="de-DE" dirty="0"/>
              <a:t> </a:t>
            </a:r>
            <a:r>
              <a:rPr lang="de-DE" dirty="0" err="1"/>
              <a:t>Criteria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696987-D96D-454C-5E9D-CD69887E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265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42ABE-7200-78B0-CCD9-D683F179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Dendrograms</a:t>
            </a:r>
            <a:r>
              <a:rPr lang="de-DE" dirty="0"/>
              <a:t> and Interpretation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F1EAA3-D7F2-B045-B22D-C9405AEB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252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279D54-116A-6D58-B75A-2556899D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DBSCAN: Density-</a:t>
            </a:r>
            <a:r>
              <a:rPr lang="de-DE" dirty="0" err="1"/>
              <a:t>Based</a:t>
            </a:r>
            <a:r>
              <a:rPr lang="de-DE" dirty="0"/>
              <a:t> Clustering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6A32FD8-548B-71F2-BB0C-E2FA7DE0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453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7556B-98BB-9EF2-B9BD-688767AA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Core Points, Border Points, Noise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7EE93D-CF21-6985-77E6-E1703447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54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358E7-F39E-EF65-C4C0-6907CB00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Choosing</a:t>
            </a:r>
            <a:r>
              <a:rPr lang="de-DE" dirty="0"/>
              <a:t> </a:t>
            </a:r>
            <a:r>
              <a:rPr lang="el-GR" dirty="0"/>
              <a:t>ε </a:t>
            </a:r>
            <a:r>
              <a:rPr lang="de-DE" dirty="0"/>
              <a:t>and </a:t>
            </a:r>
            <a:r>
              <a:rPr lang="de-DE" dirty="0" err="1"/>
              <a:t>min_samples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67A71D-5771-002A-3ED3-D1F7EA87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311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A312D-A6FF-AB8E-359F-EE1BDB1D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Comparing</a:t>
            </a:r>
            <a:r>
              <a:rPr lang="de-DE" dirty="0"/>
              <a:t> Clustering Methods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FA0DEA-9C10-4341-0996-B658FBE3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299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AA823-E2CE-8C0D-90DB-02DFE957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Cluster Validation </a:t>
            </a:r>
            <a:r>
              <a:rPr lang="de-DE" dirty="0" err="1"/>
              <a:t>Metrics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AAE878-7307-C927-4B47-5A9C5B86A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clustering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unsupervised</a:t>
            </a:r>
            <a:r>
              <a:rPr lang="de-DE" dirty="0"/>
              <a:t>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single</a:t>
            </a:r>
            <a:r>
              <a:rPr lang="de-DE" dirty="0"/>
              <a:t> “</a:t>
            </a:r>
            <a:r>
              <a:rPr lang="de-DE" dirty="0" err="1"/>
              <a:t>correct</a:t>
            </a:r>
            <a:r>
              <a:rPr lang="de-DE" dirty="0"/>
              <a:t>” </a:t>
            </a:r>
            <a:r>
              <a:rPr lang="de-DE" dirty="0" err="1"/>
              <a:t>answer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well-</a:t>
            </a:r>
            <a:r>
              <a:rPr lang="de-DE" dirty="0" err="1"/>
              <a:t>separated</a:t>
            </a:r>
            <a:r>
              <a:rPr lang="de-DE" dirty="0"/>
              <a:t> and </a:t>
            </a:r>
            <a:r>
              <a:rPr lang="de-DE" dirty="0" err="1"/>
              <a:t>cohesive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</a:t>
            </a:r>
            <a:r>
              <a:rPr lang="de-DE" dirty="0" err="1"/>
              <a:t>are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Evaluation </a:t>
            </a:r>
            <a:r>
              <a:rPr lang="de-DE" dirty="0" err="1"/>
              <a:t>metrics</a:t>
            </a:r>
            <a:r>
              <a:rPr lang="de-DE" dirty="0"/>
              <a:t>:</a:t>
            </a:r>
          </a:p>
          <a:p>
            <a:r>
              <a:rPr lang="de-DE" dirty="0"/>
              <a:t>Silhouette score</a:t>
            </a:r>
          </a:p>
          <a:p>
            <a:r>
              <a:rPr lang="de-DE" dirty="0"/>
              <a:t>Davies-</a:t>
            </a:r>
            <a:r>
              <a:rPr lang="de-DE" dirty="0" err="1"/>
              <a:t>Bouldin</a:t>
            </a:r>
            <a:r>
              <a:rPr lang="de-DE" dirty="0"/>
              <a:t> </a:t>
            </a:r>
            <a:r>
              <a:rPr lang="de-DE" dirty="0" err="1"/>
              <a:t>index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63E3869-C5B7-1A95-0614-2B381BD8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217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72AF3-6DAA-E6C2-A919-228FF3EB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Visualizing</a:t>
            </a:r>
            <a:r>
              <a:rPr lang="de-DE" dirty="0"/>
              <a:t> Clusters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1251F56-854B-D4C6-04C7-5A3B3F8D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037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9CD1B-A5B6-7BCE-AB1E-4C80D77A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Considerations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E0FEB0-A1C8-1184-0009-46A75979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Macintosh PowerPoint</Application>
  <PresentationFormat>Breitbild</PresentationFormat>
  <Paragraphs>116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9" baseType="lpstr">
      <vt:lpstr>AccordAlternate</vt:lpstr>
      <vt:lpstr>Aptos</vt:lpstr>
      <vt:lpstr>Aptos Display</vt:lpstr>
      <vt:lpstr>Arial</vt:lpstr>
      <vt:lpstr>Office Theme</vt:lpstr>
      <vt:lpstr>Clustering</vt:lpstr>
      <vt:lpstr>Course Schedule</vt:lpstr>
      <vt:lpstr>Clustering</vt:lpstr>
      <vt:lpstr>PowerPoint-Präsentation</vt:lpstr>
      <vt:lpstr>Use Cases for Unsupervised Learning</vt:lpstr>
      <vt:lpstr>What Is Clustering?</vt:lpstr>
      <vt:lpstr>Distance Metrics and Similarity</vt:lpstr>
      <vt:lpstr>Overview of scikit-learn Clustering API</vt:lpstr>
      <vt:lpstr>k-Means: Intuition</vt:lpstr>
      <vt:lpstr>k-Means Algorithm</vt:lpstr>
      <vt:lpstr>Choosing the Number of Clusters</vt:lpstr>
      <vt:lpstr>k-Means Assumptions and Limitations</vt:lpstr>
      <vt:lpstr>Mini Batch k-Means</vt:lpstr>
      <vt:lpstr>Gaussian Mixture Models</vt:lpstr>
      <vt:lpstr>Hierarchical Clustering: Motivation</vt:lpstr>
      <vt:lpstr>Linkage Criteria</vt:lpstr>
      <vt:lpstr>Dendrograms and Interpretation</vt:lpstr>
      <vt:lpstr>DBSCAN: Density-Based Clustering</vt:lpstr>
      <vt:lpstr>Core Points, Border Points, Noise</vt:lpstr>
      <vt:lpstr>Choosing ε and min_samples</vt:lpstr>
      <vt:lpstr>Comparing Clustering Methods</vt:lpstr>
      <vt:lpstr>Cluster Validation Metrics</vt:lpstr>
      <vt:lpstr>Visualizing Clusters</vt:lpstr>
      <vt:lpstr>Practical Considerations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56</cp:revision>
  <dcterms:created xsi:type="dcterms:W3CDTF">2025-01-08T09:27:30Z</dcterms:created>
  <dcterms:modified xsi:type="dcterms:W3CDTF">2026-02-27T21:27:31Z</dcterms:modified>
</cp:coreProperties>
</file>