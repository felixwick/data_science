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6" r:id="rId2"/>
    <p:sldId id="265" r:id="rId3"/>
    <p:sldId id="266" r:id="rId4"/>
    <p:sldId id="258" r:id="rId5"/>
    <p:sldId id="270" r:id="rId6"/>
    <p:sldId id="285" r:id="rId7"/>
    <p:sldId id="271" r:id="rId8"/>
    <p:sldId id="289" r:id="rId9"/>
    <p:sldId id="267" r:id="rId10"/>
    <p:sldId id="268" r:id="rId11"/>
    <p:sldId id="272" r:id="rId12"/>
    <p:sldId id="290" r:id="rId13"/>
    <p:sldId id="292" r:id="rId14"/>
    <p:sldId id="274" r:id="rId15"/>
    <p:sldId id="288" r:id="rId16"/>
    <p:sldId id="273" r:id="rId17"/>
    <p:sldId id="283" r:id="rId18"/>
    <p:sldId id="282" r:id="rId19"/>
    <p:sldId id="291" r:id="rId20"/>
    <p:sldId id="287" r:id="rId21"/>
    <p:sldId id="286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392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08/03/2026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scikit-learn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171740E0-17BA-14E5-D6A3-D769CF9386D6}"/>
              </a:ext>
            </a:extLst>
          </p:cNvPr>
          <p:cNvSpPr txBox="1"/>
          <p:nvPr/>
        </p:nvSpPr>
        <p:spPr>
          <a:xfrm>
            <a:off x="9459441" y="4678460"/>
            <a:ext cx="2196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Customer </a:t>
            </a:r>
            <a:r>
              <a:rPr lang="de-DE" dirty="0" err="1"/>
              <a:t>or</a:t>
            </a:r>
            <a:r>
              <a:rPr lang="de-DE" dirty="0"/>
              <a:t> Market Segmentation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60F03F-C6CE-A5A6-8A3A-CE53697E655E}"/>
              </a:ext>
            </a:extLst>
          </p:cNvPr>
          <p:cNvSpPr txBox="1"/>
          <p:nvPr/>
        </p:nvSpPr>
        <p:spPr>
          <a:xfrm>
            <a:off x="659104" y="4744225"/>
            <a:ext cx="17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Fraud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7B1B0-97FC-F4FE-3604-C591119001D0}"/>
              </a:ext>
            </a:extLst>
          </p:cNvPr>
          <p:cNvSpPr txBox="1"/>
          <p:nvPr/>
        </p:nvSpPr>
        <p:spPr>
          <a:xfrm>
            <a:off x="4815071" y="5504257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</a:t>
            </a:r>
            <a:r>
              <a:rPr lang="de-DE" dirty="0" err="1"/>
              <a:t>Compression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D884F-C00E-15FC-41F3-F77DE91C60A4}"/>
              </a:ext>
            </a:extLst>
          </p:cNvPr>
          <p:cNvSpPr txBox="1"/>
          <p:nvPr/>
        </p:nvSpPr>
        <p:spPr>
          <a:xfrm>
            <a:off x="4815071" y="4962948"/>
            <a:ext cx="2561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Recommender</a:t>
            </a:r>
            <a:r>
              <a:rPr lang="de-DE" dirty="0"/>
              <a:t> Systems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4C0A01-562B-BA3C-7066-F067DC02F29B}"/>
              </a:ext>
            </a:extLst>
          </p:cNvPr>
          <p:cNvSpPr txBox="1"/>
          <p:nvPr/>
        </p:nvSpPr>
        <p:spPr>
          <a:xfrm>
            <a:off x="7574555" y="5147614"/>
            <a:ext cx="1687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Drug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DF3880F-9601-CE4D-FED6-F6CD3C3A64B3}"/>
              </a:ext>
            </a:extLst>
          </p:cNvPr>
          <p:cNvSpPr txBox="1"/>
          <p:nvPr/>
        </p:nvSpPr>
        <p:spPr>
          <a:xfrm>
            <a:off x="9459441" y="5438220"/>
            <a:ext cx="2561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Social</a:t>
            </a:r>
            <a:r>
              <a:rPr lang="de-DE" dirty="0"/>
              <a:t> Network Analysis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838F8EE-95E8-9EB9-ECC5-AC0724485D61}"/>
              </a:ext>
            </a:extLst>
          </p:cNvPr>
          <p:cNvSpPr txBox="1"/>
          <p:nvPr/>
        </p:nvSpPr>
        <p:spPr>
          <a:xfrm>
            <a:off x="7574555" y="5660645"/>
            <a:ext cx="1669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Topic Modeling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425F67-F9A7-351E-B88B-606B0E94A34A}"/>
              </a:ext>
            </a:extLst>
          </p:cNvPr>
          <p:cNvSpPr txBox="1"/>
          <p:nvPr/>
        </p:nvSpPr>
        <p:spPr>
          <a:xfrm>
            <a:off x="659104" y="5255179"/>
            <a:ext cx="1476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Risk Analysis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C3A217-130D-0A09-400E-2154C70A564F}"/>
              </a:ext>
            </a:extLst>
          </p:cNvPr>
          <p:cNvSpPr txBox="1"/>
          <p:nvPr/>
        </p:nvSpPr>
        <p:spPr>
          <a:xfrm>
            <a:off x="487018" y="2017860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Anomaly</a:t>
            </a:r>
            <a:r>
              <a:rPr lang="de-DE" sz="2400" dirty="0"/>
              <a:t> </a:t>
            </a:r>
            <a:r>
              <a:rPr lang="de-DE" sz="2400" dirty="0" err="1"/>
              <a:t>Detection</a:t>
            </a:r>
            <a:endParaRPr lang="de-DE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E32D26-D10D-430E-A1B9-75D2728EFBBF}"/>
              </a:ext>
            </a:extLst>
          </p:cNvPr>
          <p:cNvSpPr txBox="1"/>
          <p:nvPr/>
        </p:nvSpPr>
        <p:spPr>
          <a:xfrm>
            <a:off x="4382710" y="2017860"/>
            <a:ext cx="3426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Representation</a:t>
            </a:r>
            <a:r>
              <a:rPr lang="de-DE" sz="2400" dirty="0"/>
              <a:t> Learning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0627B5-13AE-8372-EE15-304E94CF30BD}"/>
              </a:ext>
            </a:extLst>
          </p:cNvPr>
          <p:cNvSpPr txBox="1"/>
          <p:nvPr/>
        </p:nvSpPr>
        <p:spPr>
          <a:xfrm>
            <a:off x="8908191" y="2017860"/>
            <a:ext cx="2796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Structure</a:t>
            </a:r>
            <a:r>
              <a:rPr lang="de-DE" sz="2400" dirty="0"/>
              <a:t> Discovery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B29B286-4626-503B-9BB5-04AE1418E3A0}"/>
              </a:ext>
            </a:extLst>
          </p:cNvPr>
          <p:cNvSpPr txBox="1"/>
          <p:nvPr/>
        </p:nvSpPr>
        <p:spPr>
          <a:xfrm>
            <a:off x="2889466" y="6356350"/>
            <a:ext cx="705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clustering</a:t>
            </a:r>
            <a:r>
              <a:rPr lang="de-DE" dirty="0"/>
              <a:t>,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,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232DC-47A4-B760-2789-E1C42E43C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53" y="3092374"/>
            <a:ext cx="2196077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commender Systems in Machine Learning: Examples">
            <a:extLst>
              <a:ext uri="{FF2B5EF4-FFF2-40B4-BE49-F238E27FC236}">
                <a16:creationId xmlns:a16="http://schemas.microsoft.com/office/drawing/2014/main" id="{7E241801-E2EA-9D59-DD10-69D7E78E9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961" y="2719339"/>
            <a:ext cx="2196076" cy="207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nlocking Business Potential Through Effective Customer Segmentation |  Towards Data Science">
            <a:extLst>
              <a:ext uri="{FF2B5EF4-FFF2-40B4-BE49-F238E27FC236}">
                <a16:creationId xmlns:a16="http://schemas.microsoft.com/office/drawing/2014/main" id="{9172C856-1B39-286B-3D40-A1345B00C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760" y="2714758"/>
            <a:ext cx="2654300" cy="19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B8E74B0-0778-3DC1-D9FE-F76D89DF951C}"/>
              </a:ext>
            </a:extLst>
          </p:cNvPr>
          <p:cNvSpPr txBox="1"/>
          <p:nvPr/>
        </p:nvSpPr>
        <p:spPr>
          <a:xfrm>
            <a:off x="2833427" y="5030786"/>
            <a:ext cx="1784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Time Series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1BF6-3B68-363E-F2F5-5DC138A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8826D5-35A0-6F5B-6D31-5EEBEA85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grouping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in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object's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customer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endParaRPr lang="de-DE" dirty="0"/>
          </a:p>
          <a:p>
            <a:r>
              <a:rPr lang="de-DE" dirty="0" err="1"/>
              <a:t>document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r>
              <a:rPr lang="de-DE" dirty="0"/>
              <a:t> (</a:t>
            </a:r>
            <a:r>
              <a:rPr lang="de-DE" dirty="0" err="1"/>
              <a:t>regions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, </a:t>
            </a:r>
            <a:r>
              <a:rPr lang="de-DE" dirty="0" err="1"/>
              <a:t>texture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intensity</a:t>
            </a:r>
            <a:r>
              <a:rPr lang="de-DE" dirty="0"/>
              <a:t>)</a:t>
            </a:r>
          </a:p>
          <a:p>
            <a:r>
              <a:rPr lang="de-DE" dirty="0"/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7EBB15-2B75-32A3-5033-3371960D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10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How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(in </a:t>
                </a:r>
                <a:r>
                  <a:rPr lang="de-DE" dirty="0" err="1"/>
                  <a:t>higher</a:t>
                </a:r>
                <a:r>
                  <a:rPr lang="de-DE" dirty="0"/>
                  <a:t>-dimensional </a:t>
                </a:r>
                <a:r>
                  <a:rPr lang="de-DE" dirty="0" err="1"/>
                  <a:t>space</a:t>
                </a:r>
                <a:r>
                  <a:rPr lang="de-DE" dirty="0"/>
                  <a:t>)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close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each</a:t>
                </a:r>
                <a:r>
                  <a:rPr lang="de-DE" dirty="0"/>
                  <a:t> feature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dimension</a:t>
                </a:r>
                <a:endParaRPr lang="de-DE" dirty="0"/>
              </a:p>
              <a:p>
                <a:r>
                  <a:rPr lang="de-DE" dirty="0" err="1"/>
                  <a:t>close</a:t>
                </a:r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across</a:t>
                </a:r>
                <a:r>
                  <a:rPr lang="de-DE" dirty="0"/>
                  <a:t> </a:t>
                </a:r>
                <a:r>
                  <a:rPr lang="de-DE" dirty="0" err="1"/>
                  <a:t>dimensions</a:t>
                </a:r>
                <a:endParaRPr lang="de-DE" dirty="0"/>
              </a:p>
              <a:p>
                <a:pPr lvl="1"/>
                <a:r>
                  <a:rPr lang="de-DE" dirty="0" err="1"/>
                  <a:t>Euclidean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  <m: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Manhattan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dirty="0"/>
              </a:p>
              <a:p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, </a:t>
                </a:r>
                <a:r>
                  <a:rPr lang="de-DE" dirty="0" err="1"/>
                  <a:t>sometimes</a:t>
                </a:r>
                <a:r>
                  <a:rPr lang="de-DE" dirty="0"/>
                  <a:t> also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:r>
                  <a:rPr lang="de-DE" dirty="0" err="1"/>
                  <a:t>higher</a:t>
                </a:r>
                <a:r>
                  <a:rPr lang="de-DE" dirty="0"/>
                  <a:t> = </a:t>
                </a:r>
                <a:r>
                  <a:rPr lang="de-DE" dirty="0" err="1"/>
                  <a:t>closer</a:t>
                </a:r>
                <a:endParaRPr lang="de-DE" dirty="0"/>
              </a:p>
              <a:p>
                <a:pPr lvl="1"/>
                <a:r>
                  <a:rPr lang="de-DE" dirty="0" err="1"/>
                  <a:t>cosine</a:t>
                </a:r>
                <a:r>
                  <a:rPr lang="de-DE" dirty="0"/>
                  <a:t>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Pearson </a:t>
                </a:r>
                <a:r>
                  <a:rPr lang="de-DE" dirty="0" err="1"/>
                  <a:t>correlation</a:t>
                </a:r>
                <a:r>
                  <a:rPr lang="de-DE" dirty="0"/>
                  <a:t>: linear </a:t>
                </a:r>
                <a:r>
                  <a:rPr lang="de-DE" dirty="0" err="1"/>
                  <a:t>similarity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2B2B9-9ED8-1237-271E-39149E2D1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distance </a:t>
                </a:r>
                <a:r>
                  <a:rPr lang="de-DE" dirty="0" err="1"/>
                  <a:t>measures</a:t>
                </a:r>
                <a:r>
                  <a:rPr lang="de-DE" dirty="0"/>
                  <a:t> 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scale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need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scaling</a:t>
                </a:r>
                <a:endParaRPr lang="de-DE" dirty="0"/>
              </a:p>
              <a:p>
                <a:r>
                  <a:rPr lang="de-DE" b="1" dirty="0" err="1"/>
                  <a:t>standardization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b="1" dirty="0" err="1"/>
                  <a:t>normalization</a:t>
                </a:r>
                <a:r>
                  <a:rPr lang="de-DE" dirty="0"/>
                  <a:t>: </a:t>
                </a:r>
                <a:r>
                  <a:rPr lang="de-DE" dirty="0" err="1"/>
                  <a:t>scale</a:t>
                </a:r>
                <a:r>
                  <a:rPr lang="de-DE" dirty="0"/>
                  <a:t> all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scaling</a:t>
                </a:r>
                <a:r>
                  <a:rPr lang="de-DE" dirty="0"/>
                  <a:t>,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larger </a:t>
                </a:r>
                <a:r>
                  <a:rPr lang="de-DE" dirty="0" err="1"/>
                  <a:t>numeric</a:t>
                </a:r>
                <a:r>
                  <a:rPr lang="de-DE" dirty="0"/>
                  <a:t> </a:t>
                </a:r>
                <a:r>
                  <a:rPr lang="de-DE" dirty="0" err="1"/>
                  <a:t>ranges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30CB5C-3BD6-9F60-160E-F61FA944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18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61FD2-1411-8BB8-D755-1F422C193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scikit-learn</a:t>
            </a:r>
            <a:r>
              <a:rPr lang="de-DE" dirty="0"/>
              <a:t> Clustering </a:t>
            </a:r>
            <a:r>
              <a:rPr lang="de-DE" dirty="0" err="1"/>
              <a:t>Algorithms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72D469-9E39-C0DF-2321-08C1385A8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1026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CCCCBEB2-AD32-344D-3161-053446F1D9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330" y="1523103"/>
            <a:ext cx="8617340" cy="5334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680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795" y="1319972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45C140-32EF-08E0-AEC7-D57455757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71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divide a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hyperparameter</a:t>
            </a:r>
            <a:r>
              <a:rPr lang="de-DE" dirty="0"/>
              <a:t> 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represented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A4877FB-7B11-447F-8D3C-FDF353D66B88}"/>
              </a:ext>
            </a:extLst>
          </p:cNvPr>
          <p:cNvSpPr txBox="1"/>
          <p:nvPr/>
        </p:nvSpPr>
        <p:spPr>
          <a:xfrm>
            <a:off x="6401341" y="6171684"/>
            <a:ext cx="2209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boundaries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A50DEF1-BEAD-FB26-5241-E76096B292E0}"/>
              </a:ext>
            </a:extLst>
          </p:cNvPr>
          <p:cNvCxnSpPr/>
          <p:nvPr/>
        </p:nvCxnSpPr>
        <p:spPr>
          <a:xfrm flipH="1" flipV="1">
            <a:off x="6917635" y="5466522"/>
            <a:ext cx="606287" cy="626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22A36B6-BDB3-0940-B6A3-50D4BB310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b="1" dirty="0" err="1"/>
              <a:t>k</a:t>
            </a:r>
            <a:r>
              <a:rPr lang="de-DE" dirty="0"/>
              <a:t> (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initialize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: (</a:t>
            </a:r>
            <a:r>
              <a:rPr lang="de-DE" dirty="0" err="1"/>
              <a:t>randomly</a:t>
            </a:r>
            <a:r>
              <a:rPr lang="de-DE" dirty="0"/>
              <a:t>) </a:t>
            </a:r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in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computed</a:t>
            </a:r>
            <a:r>
              <a:rPr lang="de-DE" dirty="0"/>
              <a:t> </a:t>
            </a:r>
            <a:r>
              <a:rPr lang="de-DE" b="1" dirty="0" err="1"/>
              <a:t>Euclidean</a:t>
            </a:r>
            <a:r>
              <a:rPr lang="de-DE" b="1" dirty="0"/>
              <a:t> </a:t>
            </a:r>
            <a:r>
              <a:rPr lang="de-DE" b="1" dirty="0" err="1"/>
              <a:t>distances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recalculate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(</a:t>
            </a:r>
            <a:r>
              <a:rPr lang="de-DE" b="1" dirty="0" err="1"/>
              <a:t>average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 (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assignments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changing</a:t>
            </a:r>
            <a:r>
              <a:rPr lang="de-DE" dirty="0"/>
              <a:t>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1FD9-7F33-36F5-BFF7-3BD6F330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k-Means </a:t>
                </a:r>
                <a:r>
                  <a:rPr lang="de-DE" sz="2400" dirty="0" err="1"/>
                  <a:t>minimizes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squared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their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cluster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center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optimization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probem</a:t>
                </a:r>
                <a:endParaRPr lang="de-DE" sz="24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3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922702-5E58-0568-C418-A1EAB8D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9020DA-8026-7CCB-58DA-1957117D8C78}"/>
              </a:ext>
            </a:extLst>
          </p:cNvPr>
          <p:cNvSpPr txBox="1"/>
          <p:nvPr/>
        </p:nvSpPr>
        <p:spPr>
          <a:xfrm>
            <a:off x="6016487" y="3828663"/>
            <a:ext cx="4113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distances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spherical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D9ABA17-E386-5CBD-E762-71B68A65B821}"/>
              </a:ext>
            </a:extLst>
          </p:cNvPr>
          <p:cNvCxnSpPr>
            <a:cxnSpLocks/>
          </p:cNvCxnSpPr>
          <p:nvPr/>
        </p:nvCxnSpPr>
        <p:spPr>
          <a:xfrm flipH="1" flipV="1">
            <a:off x="6659217" y="3319670"/>
            <a:ext cx="228600" cy="508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61831F7-0D8A-1BA2-0B83-252CE10C4F34}"/>
              </a:ext>
            </a:extLst>
          </p:cNvPr>
          <p:cNvSpPr txBox="1"/>
          <p:nvPr/>
        </p:nvSpPr>
        <p:spPr>
          <a:xfrm>
            <a:off x="4351123" y="5135121"/>
            <a:ext cx="6532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Manhattan </a:t>
            </a:r>
            <a:r>
              <a:rPr lang="de-DE" sz="2400" dirty="0" err="1"/>
              <a:t>distances</a:t>
            </a:r>
            <a:r>
              <a:rPr lang="de-DE" sz="2400" dirty="0"/>
              <a:t> (L1)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k</a:t>
            </a:r>
            <a:r>
              <a:rPr lang="de-DE" sz="2400" dirty="0">
                <a:sym typeface="Wingdings" pitchFamily="2" charset="2"/>
              </a:rPr>
              <a:t>-Medians (also </a:t>
            </a:r>
            <a:r>
              <a:rPr lang="de-DE" sz="2400" dirty="0" err="1"/>
              <a:t>recalculate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cluster</a:t>
            </a:r>
            <a:r>
              <a:rPr lang="de-DE" sz="2400" dirty="0"/>
              <a:t> </a:t>
            </a:r>
            <a:r>
              <a:rPr lang="de-DE" sz="2400" dirty="0" err="1"/>
              <a:t>centers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median </a:t>
            </a:r>
            <a:r>
              <a:rPr lang="de-DE" sz="2400" dirty="0" err="1"/>
              <a:t>instead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mean</a:t>
            </a:r>
            <a:r>
              <a:rPr lang="de-DE" sz="2400" dirty="0">
                <a:sym typeface="Wingdings" pitchFamily="2" charset="2"/>
              </a:rPr>
              <a:t>)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38207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C481BB-DFD4-77CC-115E-6A31A6CFC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L2 </a:t>
            </a:r>
            <a:r>
              <a:rPr lang="de-DE" dirty="0">
                <a:sym typeface="Wingdings" pitchFamily="2" charset="2"/>
              </a:rPr>
              <a:t> Mean, </a:t>
            </a:r>
            <a:r>
              <a:rPr lang="de-DE" dirty="0"/>
              <a:t> L1 </a:t>
            </a:r>
            <a:r>
              <a:rPr lang="de-DE" dirty="0">
                <a:sym typeface="Wingdings" pitchFamily="2" charset="2"/>
              </a:rPr>
              <a:t> Median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L2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:endParaRPr lang="de-DE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de-DE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𝑛𝑎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mean</a:t>
                </a:r>
                <a:endParaRPr lang="de-DE" sz="2400" dirty="0"/>
              </a:p>
            </p:txBody>
          </p:sp>
        </mc:Choice>
        <mc:Fallback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L1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sign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 median</a:t>
                </a:r>
                <a:endParaRPr lang="de-DE" sz="2400" dirty="0"/>
              </a:p>
            </p:txBody>
          </p:sp>
        </mc:Choice>
        <mc:Fallback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F66D73-FD92-F395-A736-DB16B54A0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767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must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k</a:t>
                </a:r>
                <a:r>
                  <a:rPr lang="de-DE" dirty="0"/>
                  <a:t> </a:t>
                </a:r>
                <a:r>
                  <a:rPr lang="de-DE" dirty="0" err="1"/>
                  <a:t>beforehand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initial </a:t>
                </a:r>
                <a:r>
                  <a:rPr lang="de-DE" dirty="0" err="1"/>
                  <a:t>centroid</a:t>
                </a:r>
                <a:r>
                  <a:rPr lang="de-DE" dirty="0"/>
                  <a:t> </a:t>
                </a:r>
                <a:r>
                  <a:rPr lang="de-DE" dirty="0" err="1"/>
                  <a:t>placement</a:t>
                </a:r>
                <a:endParaRPr lang="de-DE" dirty="0"/>
              </a:p>
              <a:p>
                <a:r>
                  <a:rPr lang="de-DE" dirty="0" err="1"/>
                  <a:t>assumes</a:t>
                </a:r>
                <a:r>
                  <a:rPr lang="de-DE" dirty="0"/>
                  <a:t> </a:t>
                </a:r>
                <a:r>
                  <a:rPr lang="de-DE" dirty="0" err="1"/>
                  <a:t>clusters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spherical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Advantages:</a:t>
                </a:r>
              </a:p>
              <a:p>
                <a:r>
                  <a:rPr lang="de-DE" dirty="0"/>
                  <a:t>simple and fast: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scales</a:t>
                </a:r>
                <a:r>
                  <a:rPr lang="de-DE" dirty="0"/>
                  <a:t> </a:t>
                </a:r>
                <a:r>
                  <a:rPr lang="de-DE" dirty="0" err="1"/>
                  <a:t>well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large </a:t>
                </a:r>
                <a:r>
                  <a:rPr lang="de-DE" dirty="0" err="1"/>
                  <a:t>datasets</a:t>
                </a: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78B86E-2536-62A6-22F6-FE295559335A}"/>
              </a:ext>
            </a:extLst>
          </p:cNvPr>
          <p:cNvSpPr txBox="1"/>
          <p:nvPr/>
        </p:nvSpPr>
        <p:spPr>
          <a:xfrm>
            <a:off x="5445561" y="4080805"/>
            <a:ext cx="1121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iterations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DF7AF4-6660-0D67-224C-96CA0E54AB03}"/>
              </a:ext>
            </a:extLst>
          </p:cNvPr>
          <p:cNvSpPr txBox="1"/>
          <p:nvPr/>
        </p:nvSpPr>
        <p:spPr>
          <a:xfrm>
            <a:off x="3945835" y="4080805"/>
            <a:ext cx="1304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A36754A-6012-D801-22B7-A249ADAEA4E9}"/>
              </a:ext>
            </a:extLst>
          </p:cNvPr>
          <p:cNvCxnSpPr>
            <a:stCxn id="6" idx="2"/>
          </p:cNvCxnSpPr>
          <p:nvPr/>
        </p:nvCxnSpPr>
        <p:spPr>
          <a:xfrm flipH="1">
            <a:off x="4263887" y="4450137"/>
            <a:ext cx="334210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CFCD8D1-E55A-87A0-735D-5CE8FAA215F8}"/>
              </a:ext>
            </a:extLst>
          </p:cNvPr>
          <p:cNvCxnSpPr>
            <a:stCxn id="5" idx="2"/>
          </p:cNvCxnSpPr>
          <p:nvPr/>
        </p:nvCxnSpPr>
        <p:spPr>
          <a:xfrm flipH="1">
            <a:off x="5160907" y="4450137"/>
            <a:ext cx="845641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B2E4CA-B735-2522-94A8-FABA7925C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</a:t>
            </a:r>
            <a:r>
              <a:rPr lang="de-DE" dirty="0" err="1"/>
              <a:t>Initialization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F51F910-C916-5E02-AF25-164F3AD86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2A536F-3618-D2CF-0544-827E525AA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5213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562A41-9B7D-DBB9-79D1-7AADFCB4A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Common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:</a:t>
            </a:r>
          </a:p>
          <a:p>
            <a:r>
              <a:rPr lang="de-DE" dirty="0"/>
              <a:t>Elbow Method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Gap </a:t>
            </a:r>
            <a:r>
              <a:rPr lang="de-DE" dirty="0" err="1"/>
              <a:t>Statistic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AAE878-7307-C927-4B47-5A9C5B86A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“</a:t>
            </a:r>
            <a:r>
              <a:rPr lang="de-DE" dirty="0" err="1"/>
              <a:t>correct</a:t>
            </a:r>
            <a:r>
              <a:rPr lang="de-DE" dirty="0"/>
              <a:t>”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and </a:t>
            </a:r>
            <a:r>
              <a:rPr lang="de-DE" dirty="0" err="1"/>
              <a:t>cohesive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Evaluation </a:t>
            </a:r>
            <a:r>
              <a:rPr lang="de-DE" dirty="0" err="1"/>
              <a:t>metrics</a:t>
            </a:r>
            <a:r>
              <a:rPr lang="de-DE" dirty="0"/>
              <a:t>: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Davies-</a:t>
            </a:r>
            <a:r>
              <a:rPr lang="de-DE" dirty="0" err="1"/>
              <a:t>Bouldin</a:t>
            </a:r>
            <a:r>
              <a:rPr lang="de-DE" dirty="0"/>
              <a:t> </a:t>
            </a:r>
            <a:r>
              <a:rPr lang="de-DE" dirty="0" err="1"/>
              <a:t>index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B459EB-FAE8-31DC-E38F-3046EC5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Clustering 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2427C8-4330-BC0E-F7FF-95DB2D986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r>
              <a:rPr lang="de-DE" dirty="0" err="1"/>
              <a:t>homogeneity</a:t>
            </a:r>
            <a:r>
              <a:rPr lang="de-DE" dirty="0"/>
              <a:t> score: A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result</a:t>
            </a:r>
            <a:r>
              <a:rPr lang="de-DE" dirty="0"/>
              <a:t> </a:t>
            </a:r>
            <a:r>
              <a:rPr lang="de-DE" dirty="0" err="1"/>
              <a:t>satisfies</a:t>
            </a:r>
            <a:r>
              <a:rPr lang="de-DE" dirty="0"/>
              <a:t> </a:t>
            </a:r>
            <a:r>
              <a:rPr lang="de-DE" dirty="0" err="1"/>
              <a:t>homogeneity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members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class</a:t>
            </a:r>
            <a:r>
              <a:rPr lang="de-DE" dirty="0"/>
              <a:t>.</a:t>
            </a:r>
          </a:p>
          <a:p>
            <a:r>
              <a:rPr lang="de-DE" dirty="0" err="1"/>
              <a:t>completeness</a:t>
            </a:r>
            <a:r>
              <a:rPr lang="de-DE" dirty="0"/>
              <a:t> score: A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result</a:t>
            </a:r>
            <a:r>
              <a:rPr lang="de-DE" dirty="0"/>
              <a:t> </a:t>
            </a:r>
            <a:r>
              <a:rPr lang="de-DE" dirty="0" err="1"/>
              <a:t>satisfies</a:t>
            </a:r>
            <a:r>
              <a:rPr lang="de-DE" dirty="0"/>
              <a:t> </a:t>
            </a:r>
            <a:r>
              <a:rPr lang="de-DE" dirty="0" err="1"/>
              <a:t>completeness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members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elements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cluster</a:t>
            </a:r>
            <a:r>
              <a:rPr lang="de-DE" dirty="0"/>
              <a:t>.</a:t>
            </a:r>
          </a:p>
          <a:p>
            <a:r>
              <a:rPr lang="de-DE" dirty="0"/>
              <a:t>V-</a:t>
            </a:r>
            <a:r>
              <a:rPr lang="de-DE" dirty="0" err="1"/>
              <a:t>measure</a:t>
            </a:r>
            <a:r>
              <a:rPr lang="de-DE" dirty="0"/>
              <a:t> score: </a:t>
            </a:r>
            <a:r>
              <a:rPr lang="de-DE" dirty="0" err="1"/>
              <a:t>harmonic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homogeneity</a:t>
            </a:r>
            <a:r>
              <a:rPr lang="de-DE" dirty="0"/>
              <a:t> and </a:t>
            </a:r>
            <a:r>
              <a:rPr lang="de-DE" dirty="0" err="1"/>
              <a:t>completeness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adjusted</a:t>
            </a:r>
            <a:r>
              <a:rPr lang="de-DE" dirty="0"/>
              <a:t>) Rand </a:t>
            </a:r>
            <a:r>
              <a:rPr lang="de-DE" dirty="0" err="1"/>
              <a:t>index</a:t>
            </a:r>
            <a:r>
              <a:rPr lang="de-DE" dirty="0"/>
              <a:t>: …</a:t>
            </a:r>
          </a:p>
          <a:p>
            <a:r>
              <a:rPr lang="de-DE" dirty="0"/>
              <a:t>(</a:t>
            </a:r>
            <a:r>
              <a:rPr lang="de-DE" dirty="0" err="1"/>
              <a:t>adjusted</a:t>
            </a:r>
            <a:r>
              <a:rPr lang="de-DE" dirty="0"/>
              <a:t>) mutual </a:t>
            </a:r>
            <a:r>
              <a:rPr lang="de-DE" dirty="0" err="1"/>
              <a:t>information</a:t>
            </a:r>
            <a:r>
              <a:rPr lang="de-DE" dirty="0"/>
              <a:t> score: 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A4EA1-06DA-F940-1383-630B8622B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005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45E519-E948-8501-ACAD-BDF00444D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Mini Batch </a:t>
            </a:r>
            <a:r>
              <a:rPr lang="de-DE" dirty="0" err="1"/>
              <a:t>k-Means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A8C059-BF98-DA76-D11E-B28857691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02C868-452A-3E9E-3E72-BA889BC86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1026" name="Picture 2" descr="KMeans, MiniBatchKMeans, Difference">
            <a:extLst>
              <a:ext uri="{FF2B5EF4-FFF2-40B4-BE49-F238E27FC236}">
                <a16:creationId xmlns:a16="http://schemas.microsoft.com/office/drawing/2014/main" id="{8E76ED71-B047-741E-33C3-F2BB699598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5892" y="3941884"/>
            <a:ext cx="7776308" cy="2916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73271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85EF2-749A-FE44-0A02-FD2D9249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2F8357-AF4F-871F-2CBC-4B5FD73DA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: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equal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per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40836D-FBB2-F6AE-DB5B-B3E743214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39203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r>
              <a:rPr lang="de-DE" dirty="0"/>
              <a:t> and Interpretation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/>
              <a:t>ε </a:t>
            </a:r>
            <a:r>
              <a:rPr lang="de-DE" dirty="0"/>
              <a:t>and </a:t>
            </a:r>
            <a:r>
              <a:rPr lang="de-DE" dirty="0" err="1"/>
              <a:t>min_samples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745</Words>
  <Application>Microsoft Macintosh PowerPoint</Application>
  <PresentationFormat>Breitbild</PresentationFormat>
  <Paragraphs>202</Paragraphs>
  <Slides>28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5" baseType="lpstr">
      <vt:lpstr>AccordAlternate</vt:lpstr>
      <vt:lpstr>Aptos</vt:lpstr>
      <vt:lpstr>Aptos Display</vt:lpstr>
      <vt:lpstr>Arial</vt:lpstr>
      <vt:lpstr>Cambria Math</vt:lpstr>
      <vt:lpstr>Wingdings</vt:lpstr>
      <vt:lpstr>Office Theme</vt:lpstr>
      <vt:lpstr>Clustering</vt:lpstr>
      <vt:lpstr>Course Schedule</vt:lpstr>
      <vt:lpstr>Clustering</vt:lpstr>
      <vt:lpstr>PowerPoint-Präsentation</vt:lpstr>
      <vt:lpstr>Use Cases for Unsupervised Learning</vt:lpstr>
      <vt:lpstr>What Is Clustering?</vt:lpstr>
      <vt:lpstr>Distance Metrics and Similarity</vt:lpstr>
      <vt:lpstr>Preprocessing for Clustering</vt:lpstr>
      <vt:lpstr>Overview of scikit-learn Clustering Algorithms</vt:lpstr>
      <vt:lpstr>k-Means: Intuition</vt:lpstr>
      <vt:lpstr>k-Means Algorithm</vt:lpstr>
      <vt:lpstr>Objective Function</vt:lpstr>
      <vt:lpstr>L2  Mean,  L1  Median</vt:lpstr>
      <vt:lpstr>k-Means Assumptions and Limitations</vt:lpstr>
      <vt:lpstr>Cluster Initialization</vt:lpstr>
      <vt:lpstr>Choosing the Number of Clusters</vt:lpstr>
      <vt:lpstr>Visualizing Clusters</vt:lpstr>
      <vt:lpstr>Cluster Validation Metrics</vt:lpstr>
      <vt:lpstr>Supervised Clustering Validation</vt:lpstr>
      <vt:lpstr>Mini Batch k-Means</vt:lpstr>
      <vt:lpstr>Gaussian Mixture Models</vt:lpstr>
      <vt:lpstr>Hierarchical Clustering: Motivation</vt:lpstr>
      <vt:lpstr>Linkage Criteria</vt:lpstr>
      <vt:lpstr>Dendrograms and Interpretation</vt:lpstr>
      <vt:lpstr>DBSCAN: Density-Based Clustering</vt:lpstr>
      <vt:lpstr>Core Points, Border Points, Noise</vt:lpstr>
      <vt:lpstr>Choosing ε and min_samples</vt:lpstr>
      <vt:lpstr>Comparing Clustering Methods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89</cp:revision>
  <dcterms:created xsi:type="dcterms:W3CDTF">2025-01-08T09:27:30Z</dcterms:created>
  <dcterms:modified xsi:type="dcterms:W3CDTF">2026-03-08T18:40:31Z</dcterms:modified>
</cp:coreProperties>
</file>