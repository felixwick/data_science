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1"/>
  </p:notesMasterIdLst>
  <p:sldIdLst>
    <p:sldId id="256" r:id="rId2"/>
    <p:sldId id="265" r:id="rId3"/>
    <p:sldId id="266" r:id="rId4"/>
    <p:sldId id="258" r:id="rId5"/>
    <p:sldId id="270" r:id="rId6"/>
    <p:sldId id="285" r:id="rId7"/>
    <p:sldId id="271" r:id="rId8"/>
    <p:sldId id="289" r:id="rId9"/>
    <p:sldId id="267" r:id="rId10"/>
    <p:sldId id="268" r:id="rId11"/>
    <p:sldId id="272" r:id="rId12"/>
    <p:sldId id="290" r:id="rId13"/>
    <p:sldId id="292" r:id="rId14"/>
    <p:sldId id="274" r:id="rId15"/>
    <p:sldId id="288" r:id="rId16"/>
    <p:sldId id="273" r:id="rId17"/>
    <p:sldId id="291" r:id="rId18"/>
    <p:sldId id="287" r:id="rId19"/>
    <p:sldId id="286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99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392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37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07/03/2026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07/03/2026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07/03/2026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07/03/2026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07/03/2026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07/03/2026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Clustering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scikit-learn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k-means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hierarchical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endParaRPr lang="de-DE" dirty="0"/>
          </a:p>
          <a:p>
            <a:r>
              <a:rPr lang="de-DE" dirty="0"/>
              <a:t>DBSCAN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068474-B64E-C6EC-6B3C-9C843D4BE0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4</a:t>
            </a:fld>
            <a:endParaRPr lang="en-GB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CA50E04-3D60-66D2-8638-F7F57EDDA6DA}"/>
              </a:ext>
            </a:extLst>
          </p:cNvPr>
          <p:cNvGrpSpPr/>
          <p:nvPr/>
        </p:nvGrpSpPr>
        <p:grpSpPr>
          <a:xfrm>
            <a:off x="71915" y="85725"/>
            <a:ext cx="12048169" cy="5927675"/>
            <a:chOff x="175321" y="218621"/>
            <a:chExt cx="12048169" cy="5927675"/>
          </a:xfrm>
        </p:grpSpPr>
        <p:pic>
          <p:nvPicPr>
            <p:cNvPr id="6" name="Picture 5" descr="Diagram&#10;&#10;Description automatically generated">
              <a:extLst>
                <a:ext uri="{FF2B5EF4-FFF2-40B4-BE49-F238E27FC236}">
                  <a16:creationId xmlns:a16="http://schemas.microsoft.com/office/drawing/2014/main" id="{C1A1B37E-59B0-ADDA-B17A-FAA0ECBDD4C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49909" t="53477" r="35242" b="29747"/>
            <a:stretch/>
          </p:blipFill>
          <p:spPr>
            <a:xfrm>
              <a:off x="4093771" y="3339970"/>
              <a:ext cx="1120291" cy="872729"/>
            </a:xfrm>
            <a:prstGeom prst="rect">
              <a:avLst/>
            </a:prstGeom>
          </p:spPr>
        </p:pic>
        <p:pic>
          <p:nvPicPr>
            <p:cNvPr id="7" name="Picture 2" descr="Building Autoencoders in Keras">
              <a:extLst>
                <a:ext uri="{FF2B5EF4-FFF2-40B4-BE49-F238E27FC236}">
                  <a16:creationId xmlns:a16="http://schemas.microsoft.com/office/drawing/2014/main" id="{D9E6DDD4-A04F-E58B-F433-3EDEF323E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33489" y="4389758"/>
              <a:ext cx="1410036" cy="4431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37D2F8F-5EDD-6B7E-7313-970BD358220C}"/>
                </a:ext>
              </a:extLst>
            </p:cNvPr>
            <p:cNvSpPr txBox="1"/>
            <p:nvPr/>
          </p:nvSpPr>
          <p:spPr>
            <a:xfrm>
              <a:off x="2456981" y="218621"/>
              <a:ext cx="431945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latin typeface="AccordAlternate" panose="02000000000000000000" pitchFamily="50" charset="0"/>
                </a:rPr>
                <a:t>MACHINE LEARNING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7BA05BF-16E7-77F0-11E9-87A50BCD66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26967" y="824266"/>
              <a:ext cx="763649" cy="981135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3805CF5-4013-AFDB-E7AD-55773D741F17}"/>
                </a:ext>
              </a:extLst>
            </p:cNvPr>
            <p:cNvSpPr txBox="1"/>
            <p:nvPr/>
          </p:nvSpPr>
          <p:spPr>
            <a:xfrm>
              <a:off x="175321" y="1823259"/>
              <a:ext cx="431945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SUPERVISED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40FB2E7-5829-7A0B-E39B-9367288B1712}"/>
                </a:ext>
              </a:extLst>
            </p:cNvPr>
            <p:cNvSpPr txBox="1"/>
            <p:nvPr/>
          </p:nvSpPr>
          <p:spPr>
            <a:xfrm>
              <a:off x="708719" y="1126039"/>
              <a:ext cx="2178777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i="1" dirty="0"/>
                <a:t>training target available (labeled or past data)</a:t>
              </a:r>
            </a:p>
          </p:txBody>
        </p:sp>
        <p:sp>
          <p:nvSpPr>
            <p:cNvPr id="12" name="Freeform: Shape 13">
              <a:extLst>
                <a:ext uri="{FF2B5EF4-FFF2-40B4-BE49-F238E27FC236}">
                  <a16:creationId xmlns:a16="http://schemas.microsoft.com/office/drawing/2014/main" id="{2778DC91-FE00-BC3E-E08B-55CE2285DF86}"/>
                </a:ext>
              </a:extLst>
            </p:cNvPr>
            <p:cNvSpPr/>
            <p:nvPr/>
          </p:nvSpPr>
          <p:spPr>
            <a:xfrm>
              <a:off x="1416083" y="2189803"/>
              <a:ext cx="535450" cy="666750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36DE158-2CB9-4E5E-CB86-3EE1CB683BFB}"/>
                </a:ext>
              </a:extLst>
            </p:cNvPr>
            <p:cNvSpPr txBox="1"/>
            <p:nvPr/>
          </p:nvSpPr>
          <p:spPr>
            <a:xfrm>
              <a:off x="218591" y="290447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CLASSIFICATION</a:t>
              </a:r>
            </a:p>
          </p:txBody>
        </p:sp>
        <p:sp>
          <p:nvSpPr>
            <p:cNvPr id="14" name="Freeform: Shape 17">
              <a:extLst>
                <a:ext uri="{FF2B5EF4-FFF2-40B4-BE49-F238E27FC236}">
                  <a16:creationId xmlns:a16="http://schemas.microsoft.com/office/drawing/2014/main" id="{2656966F-ABA6-3D2B-CA9F-2C680600270D}"/>
                </a:ext>
              </a:extLst>
            </p:cNvPr>
            <p:cNvSpPr/>
            <p:nvPr/>
          </p:nvSpPr>
          <p:spPr>
            <a:xfrm flipH="1">
              <a:off x="2585690" y="2230474"/>
              <a:ext cx="535450" cy="15194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341A73B-65A1-834D-E2F6-972096888130}"/>
                </a:ext>
              </a:extLst>
            </p:cNvPr>
            <p:cNvSpPr txBox="1"/>
            <p:nvPr/>
          </p:nvSpPr>
          <p:spPr>
            <a:xfrm>
              <a:off x="2039499" y="386213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70C0"/>
                  </a:solidFill>
                  <a:latin typeface="AccordAlternate" panose="02000000000000000000" pitchFamily="50" charset="0"/>
                </a:rPr>
                <a:t>REGRESSION</a:t>
              </a:r>
            </a:p>
          </p:txBody>
        </p:sp>
        <p:pic>
          <p:nvPicPr>
            <p:cNvPr id="16" name="Picture 15" descr="Diagram&#10;&#10;Description automatically generated">
              <a:extLst>
                <a:ext uri="{FF2B5EF4-FFF2-40B4-BE49-F238E27FC236}">
                  <a16:creationId xmlns:a16="http://schemas.microsoft.com/office/drawing/2014/main" id="{1AC57D1E-86B8-94B6-954C-A7F1ED7AAE1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51831" r="83312" b="27845"/>
            <a:stretch/>
          </p:blipFill>
          <p:spPr>
            <a:xfrm>
              <a:off x="578937" y="3230147"/>
              <a:ext cx="1259094" cy="1057275"/>
            </a:xfrm>
            <a:prstGeom prst="rect">
              <a:avLst/>
            </a:prstGeom>
          </p:spPr>
        </p:pic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D5FB5A8-B936-EEAC-5DB2-F776F2811DB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838232" y="852611"/>
              <a:ext cx="727413" cy="1085381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484E9DCE-D052-2EF3-C9DA-047B794C812C}"/>
                </a:ext>
              </a:extLst>
            </p:cNvPr>
            <p:cNvSpPr txBox="1"/>
            <p:nvPr/>
          </p:nvSpPr>
          <p:spPr>
            <a:xfrm>
              <a:off x="4718386" y="1898003"/>
              <a:ext cx="189475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UNSUPERVISED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86F7B23-911D-8AED-D2A4-B4E1D83C37D7}"/>
                </a:ext>
              </a:extLst>
            </p:cNvPr>
            <p:cNvSpPr txBox="1"/>
            <p:nvPr/>
          </p:nvSpPr>
          <p:spPr>
            <a:xfrm>
              <a:off x="5321765" y="1227328"/>
              <a:ext cx="1291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data not labeled in any way</a:t>
              </a:r>
            </a:p>
          </p:txBody>
        </p:sp>
        <p:sp>
          <p:nvSpPr>
            <p:cNvPr id="20" name="Freeform: Shape 27">
              <a:extLst>
                <a:ext uri="{FF2B5EF4-FFF2-40B4-BE49-F238E27FC236}">
                  <a16:creationId xmlns:a16="http://schemas.microsoft.com/office/drawing/2014/main" id="{5DD312DA-D75C-143A-2CC8-EA04CF03853E}"/>
                </a:ext>
              </a:extLst>
            </p:cNvPr>
            <p:cNvSpPr/>
            <p:nvPr/>
          </p:nvSpPr>
          <p:spPr>
            <a:xfrm>
              <a:off x="4919093" y="2312708"/>
              <a:ext cx="535450" cy="650613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D6A2B84-33E1-982F-840A-7515D558328F}"/>
                </a:ext>
              </a:extLst>
            </p:cNvPr>
            <p:cNvSpPr txBox="1"/>
            <p:nvPr/>
          </p:nvSpPr>
          <p:spPr>
            <a:xfrm>
              <a:off x="3573072" y="3016605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CLUSTERING</a:t>
              </a:r>
            </a:p>
          </p:txBody>
        </p:sp>
        <p:sp>
          <p:nvSpPr>
            <p:cNvPr id="22" name="Freeform: Shape 30">
              <a:extLst>
                <a:ext uri="{FF2B5EF4-FFF2-40B4-BE49-F238E27FC236}">
                  <a16:creationId xmlns:a16="http://schemas.microsoft.com/office/drawing/2014/main" id="{BBDAE37F-A813-3AE8-FD0D-56F014BCFAEC}"/>
                </a:ext>
              </a:extLst>
            </p:cNvPr>
            <p:cNvSpPr/>
            <p:nvPr/>
          </p:nvSpPr>
          <p:spPr>
            <a:xfrm rot="20668895" flipH="1">
              <a:off x="6093685" y="2204099"/>
              <a:ext cx="437918" cy="196429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484300 w 484300"/>
                <a:gd name="connsiteY0" fmla="*/ 0 h 1387358"/>
                <a:gd name="connsiteX1" fmla="*/ 17575 w 484300"/>
                <a:gd name="connsiteY1" fmla="*/ 466725 h 1387358"/>
                <a:gd name="connsiteX2" fmla="*/ 210979 w 484300"/>
                <a:gd name="connsiteY2" fmla="*/ 1387358 h 1387358"/>
                <a:gd name="connsiteX0" fmla="*/ 277301 w 277301"/>
                <a:gd name="connsiteY0" fmla="*/ 0 h 1387358"/>
                <a:gd name="connsiteX1" fmla="*/ 102889 w 277301"/>
                <a:gd name="connsiteY1" fmla="*/ 637638 h 1387358"/>
                <a:gd name="connsiteX2" fmla="*/ 3980 w 277301"/>
                <a:gd name="connsiteY2" fmla="*/ 1387358 h 1387358"/>
                <a:gd name="connsiteX0" fmla="*/ 274461 w 274461"/>
                <a:gd name="connsiteY0" fmla="*/ 0 h 1387358"/>
                <a:gd name="connsiteX1" fmla="*/ 100049 w 274461"/>
                <a:gd name="connsiteY1" fmla="*/ 637638 h 1387358"/>
                <a:gd name="connsiteX2" fmla="*/ 1140 w 27446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  <a:gd name="connsiteX0" fmla="*/ 274271 w 274271"/>
                <a:gd name="connsiteY0" fmla="*/ 0 h 1387358"/>
                <a:gd name="connsiteX1" fmla="*/ 129687 w 274271"/>
                <a:gd name="connsiteY1" fmla="*/ 642257 h 1387358"/>
                <a:gd name="connsiteX2" fmla="*/ 950 w 274271"/>
                <a:gd name="connsiteY2" fmla="*/ 1387358 h 1387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74271" h="1387358">
                  <a:moveTo>
                    <a:pt x="274271" y="0"/>
                  </a:moveTo>
                  <a:cubicBezTo>
                    <a:pt x="84564" y="177800"/>
                    <a:pt x="145413" y="526513"/>
                    <a:pt x="129687" y="642257"/>
                  </a:cubicBezTo>
                  <a:cubicBezTo>
                    <a:pt x="155721" y="808814"/>
                    <a:pt x="-14131" y="1342908"/>
                    <a:pt x="950" y="13873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ABBDFE6-03DC-E3D6-B263-C71FF990B7E6}"/>
                </a:ext>
              </a:extLst>
            </p:cNvPr>
            <p:cNvSpPr txBox="1"/>
            <p:nvPr/>
          </p:nvSpPr>
          <p:spPr>
            <a:xfrm>
              <a:off x="5881412" y="4057574"/>
              <a:ext cx="282135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DIMENSIONALITY REDUCTION</a:t>
              </a:r>
            </a:p>
          </p:txBody>
        </p:sp>
        <p:pic>
          <p:nvPicPr>
            <p:cNvPr id="24" name="Picture 23" descr="Diagram&#10;&#10;Description automatically generated">
              <a:extLst>
                <a:ext uri="{FF2B5EF4-FFF2-40B4-BE49-F238E27FC236}">
                  <a16:creationId xmlns:a16="http://schemas.microsoft.com/office/drawing/2014/main" id="{961DCB45-D699-7724-4A20-3DD518F6E43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60107" t="85514" r="25013" b="-26"/>
            <a:stretch/>
          </p:blipFill>
          <p:spPr>
            <a:xfrm>
              <a:off x="6029678" y="4391815"/>
              <a:ext cx="907593" cy="610367"/>
            </a:xfrm>
            <a:prstGeom prst="rect">
              <a:avLst/>
            </a:prstGeom>
          </p:spPr>
        </p:pic>
        <p:sp>
          <p:nvSpPr>
            <p:cNvPr id="25" name="Freeform: Shape 36">
              <a:extLst>
                <a:ext uri="{FF2B5EF4-FFF2-40B4-BE49-F238E27FC236}">
                  <a16:creationId xmlns:a16="http://schemas.microsoft.com/office/drawing/2014/main" id="{4CAE65A6-0263-B75A-37D3-871BCEF91887}"/>
                </a:ext>
              </a:extLst>
            </p:cNvPr>
            <p:cNvSpPr/>
            <p:nvPr/>
          </p:nvSpPr>
          <p:spPr>
            <a:xfrm flipH="1">
              <a:off x="6051333" y="2285243"/>
              <a:ext cx="1271385" cy="46166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3D24E2C-B288-8873-2608-F5E4F08869BA}"/>
                </a:ext>
              </a:extLst>
            </p:cNvPr>
            <p:cNvSpPr txBox="1"/>
            <p:nvPr/>
          </p:nvSpPr>
          <p:spPr>
            <a:xfrm>
              <a:off x="6426061" y="2800558"/>
              <a:ext cx="225083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ASSOCIATION</a:t>
              </a:r>
            </a:p>
          </p:txBody>
        </p:sp>
        <p:pic>
          <p:nvPicPr>
            <p:cNvPr id="27" name="Picture 26" descr="Diagram&#10;&#10;Description automatically generated">
              <a:extLst>
                <a:ext uri="{FF2B5EF4-FFF2-40B4-BE49-F238E27FC236}">
                  <a16:creationId xmlns:a16="http://schemas.microsoft.com/office/drawing/2014/main" id="{93AD1EB2-A1EF-D17E-62B8-2F3C8894EF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83332" t="61907" r="4206" b="25639"/>
            <a:stretch/>
          </p:blipFill>
          <p:spPr>
            <a:xfrm>
              <a:off x="7190512" y="3125401"/>
              <a:ext cx="940142" cy="647941"/>
            </a:xfrm>
            <a:prstGeom prst="rect">
              <a:avLst/>
            </a:prstGeom>
          </p:spPr>
        </p:pic>
        <p:sp>
          <p:nvSpPr>
            <p:cNvPr id="28" name="Freeform: Shape 42">
              <a:extLst>
                <a:ext uri="{FF2B5EF4-FFF2-40B4-BE49-F238E27FC236}">
                  <a16:creationId xmlns:a16="http://schemas.microsoft.com/office/drawing/2014/main" id="{A83BDB6A-E5B0-EB3E-5DD2-F3B3170C4926}"/>
                </a:ext>
              </a:extLst>
            </p:cNvPr>
            <p:cNvSpPr/>
            <p:nvPr/>
          </p:nvSpPr>
          <p:spPr>
            <a:xfrm flipH="1">
              <a:off x="6029678" y="800810"/>
              <a:ext cx="3296460" cy="896554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  <a:gd name="connsiteX0" fmla="*/ 537576 w 537576"/>
                <a:gd name="connsiteY0" fmla="*/ 0 h 593458"/>
                <a:gd name="connsiteX1" fmla="*/ 70851 w 537576"/>
                <a:gd name="connsiteY1" fmla="*/ 466725 h 593458"/>
                <a:gd name="connsiteX2" fmla="*/ 10594 w 537576"/>
                <a:gd name="connsiteY2" fmla="*/ 593458 h 59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7576" h="593458">
                  <a:moveTo>
                    <a:pt x="537576" y="0"/>
                  </a:moveTo>
                  <a:cubicBezTo>
                    <a:pt x="347869" y="177800"/>
                    <a:pt x="158163" y="355600"/>
                    <a:pt x="70851" y="466725"/>
                  </a:cubicBezTo>
                  <a:cubicBezTo>
                    <a:pt x="-16461" y="577850"/>
                    <a:pt x="-4487" y="549008"/>
                    <a:pt x="10594" y="593458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ADC13BA-CFFF-F2AB-21DA-4BF835835863}"/>
                </a:ext>
              </a:extLst>
            </p:cNvPr>
            <p:cNvSpPr txBox="1"/>
            <p:nvPr/>
          </p:nvSpPr>
          <p:spPr>
            <a:xfrm>
              <a:off x="8437375" y="1705111"/>
              <a:ext cx="329646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REINFORCEMENT LEARNING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8DBF41B-A02D-99FB-E578-AA090619F277}"/>
                </a:ext>
              </a:extLst>
            </p:cNvPr>
            <p:cNvSpPr txBox="1"/>
            <p:nvPr/>
          </p:nvSpPr>
          <p:spPr>
            <a:xfrm>
              <a:off x="8483719" y="878384"/>
              <a:ext cx="224400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i="1" dirty="0"/>
                <a:t>no supervision, but goal-based interaction with environment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EA3C98-2E91-E35E-A600-9903FE1EC405}"/>
                </a:ext>
              </a:extLst>
            </p:cNvPr>
            <p:cNvSpPr/>
            <p:nvPr/>
          </p:nvSpPr>
          <p:spPr>
            <a:xfrm>
              <a:off x="8676891" y="5556559"/>
              <a:ext cx="3252350" cy="584775"/>
            </a:xfrm>
            <a:prstGeom prst="rect">
              <a:avLst/>
            </a:prstGeom>
            <a:solidFill>
              <a:srgbClr val="FF000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GB" sz="1600" b="1" dirty="0"/>
                <a:t>learning by trial-and-error</a:t>
              </a:r>
            </a:p>
            <a:p>
              <a:pPr indent="-228600" algn="ctr"/>
              <a:r>
                <a:rPr lang="en-GB" sz="1600" b="1" dirty="0"/>
                <a:t>(sequential decision making)</a:t>
              </a: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BC8E22A-2FAB-C37C-FECC-32879863F722}"/>
                </a:ext>
              </a:extLst>
            </p:cNvPr>
            <p:cNvSpPr/>
            <p:nvPr/>
          </p:nvSpPr>
          <p:spPr>
            <a:xfrm>
              <a:off x="4617646" y="5561521"/>
              <a:ext cx="3171744" cy="584775"/>
            </a:xfrm>
            <a:prstGeom prst="rect">
              <a:avLst/>
            </a:prstGeom>
            <a:solidFill>
              <a:srgbClr val="92D05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observation</a:t>
              </a:r>
            </a:p>
            <a:p>
              <a:pPr indent="-228600" algn="ctr"/>
              <a:r>
                <a:rPr lang="en-US" sz="1600" b="1" dirty="0"/>
                <a:t>(pattern recognition)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5B146D8-ADDB-5E2C-F2D2-B6C2AFFF7293}"/>
                </a:ext>
              </a:extLst>
            </p:cNvPr>
            <p:cNvSpPr/>
            <p:nvPr/>
          </p:nvSpPr>
          <p:spPr>
            <a:xfrm>
              <a:off x="578937" y="5556559"/>
              <a:ext cx="3151208" cy="584775"/>
            </a:xfrm>
            <a:prstGeom prst="rect">
              <a:avLst/>
            </a:prstGeom>
            <a:solidFill>
              <a:srgbClr val="00B0F0"/>
            </a:solidFill>
          </p:spPr>
          <p:txBody>
            <a:bodyPr wrap="square">
              <a:spAutoFit/>
            </a:bodyPr>
            <a:lstStyle/>
            <a:p>
              <a:pPr indent="-228600" algn="ctr"/>
              <a:r>
                <a:rPr lang="en-US" sz="1600" b="1" dirty="0"/>
                <a:t>learning by teacher </a:t>
              </a:r>
            </a:p>
            <a:p>
              <a:pPr indent="-228600" algn="ctr"/>
              <a:r>
                <a:rPr lang="en-US" sz="1600" b="1" dirty="0"/>
                <a:t>(high-dimensional curve fitting)</a:t>
              </a:r>
            </a:p>
          </p:txBody>
        </p:sp>
        <p:sp>
          <p:nvSpPr>
            <p:cNvPr id="34" name="Freeform: Shape 44">
              <a:extLst>
                <a:ext uri="{FF2B5EF4-FFF2-40B4-BE49-F238E27FC236}">
                  <a16:creationId xmlns:a16="http://schemas.microsoft.com/office/drawing/2014/main" id="{31F79D89-FD19-5BCE-89CD-FBE1F5B82566}"/>
                </a:ext>
              </a:extLst>
            </p:cNvPr>
            <p:cNvSpPr/>
            <p:nvPr/>
          </p:nvSpPr>
          <p:spPr>
            <a:xfrm rot="16780113" flipV="1">
              <a:off x="9126569" y="2460533"/>
              <a:ext cx="748260" cy="45719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23F74E0-97B2-1B63-1A18-907E0E269C69}"/>
                </a:ext>
              </a:extLst>
            </p:cNvPr>
            <p:cNvSpPr txBox="1"/>
            <p:nvPr/>
          </p:nvSpPr>
          <p:spPr>
            <a:xfrm>
              <a:off x="8640864" y="2960609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STATE OR ACTION VALUES</a:t>
              </a:r>
            </a:p>
          </p:txBody>
        </p:sp>
        <p:sp>
          <p:nvSpPr>
            <p:cNvPr id="36" name="Freeform: Shape 55">
              <a:extLst>
                <a:ext uri="{FF2B5EF4-FFF2-40B4-BE49-F238E27FC236}">
                  <a16:creationId xmlns:a16="http://schemas.microsoft.com/office/drawing/2014/main" id="{0A770BE1-8426-B62A-37AD-B905AFA21D63}"/>
                </a:ext>
              </a:extLst>
            </p:cNvPr>
            <p:cNvSpPr/>
            <p:nvPr/>
          </p:nvSpPr>
          <p:spPr>
            <a:xfrm flipH="1">
              <a:off x="9985125" y="2105221"/>
              <a:ext cx="1490090" cy="1419215"/>
            </a:xfrm>
            <a:custGeom>
              <a:avLst/>
              <a:gdLst>
                <a:gd name="connsiteX0" fmla="*/ 535450 w 535450"/>
                <a:gd name="connsiteY0" fmla="*/ 0 h 666750"/>
                <a:gd name="connsiteX1" fmla="*/ 68725 w 535450"/>
                <a:gd name="connsiteY1" fmla="*/ 466725 h 666750"/>
                <a:gd name="connsiteX2" fmla="*/ 11575 w 535450"/>
                <a:gd name="connsiteY2" fmla="*/ 666750 h 666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35450" h="666750">
                  <a:moveTo>
                    <a:pt x="535450" y="0"/>
                  </a:moveTo>
                  <a:cubicBezTo>
                    <a:pt x="345743" y="177800"/>
                    <a:pt x="156037" y="355600"/>
                    <a:pt x="68725" y="466725"/>
                  </a:cubicBezTo>
                  <a:cubicBezTo>
                    <a:pt x="-18587" y="577850"/>
                    <a:pt x="-3506" y="622300"/>
                    <a:pt x="11575" y="666750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38B187C2-E5F5-3E8D-6CEE-E5A492F05D5D}"/>
                </a:ext>
              </a:extLst>
            </p:cNvPr>
            <p:cNvSpPr txBox="1"/>
            <p:nvPr/>
          </p:nvSpPr>
          <p:spPr>
            <a:xfrm>
              <a:off x="10328735" y="3625432"/>
              <a:ext cx="189475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C00000"/>
                  </a:solidFill>
                  <a:latin typeface="AccordAlternate" panose="02000000000000000000" pitchFamily="50" charset="0"/>
                </a:rPr>
                <a:t>LEARN POLICY DIRECTLY</a:t>
              </a:r>
            </a:p>
          </p:txBody>
        </p:sp>
        <p:pic>
          <p:nvPicPr>
            <p:cNvPr id="38" name="Picture 6" descr="Three Things to Know About Reinforcement Learning - KDnuggets">
              <a:extLst>
                <a:ext uri="{FF2B5EF4-FFF2-40B4-BE49-F238E27FC236}">
                  <a16:creationId xmlns:a16="http://schemas.microsoft.com/office/drawing/2014/main" id="{5A07FD57-AB36-D315-0803-61EC9D6005B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7181" y="4210234"/>
              <a:ext cx="2012950" cy="1016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9" name="Picture 2">
              <a:extLst>
                <a:ext uri="{FF2B5EF4-FFF2-40B4-BE49-F238E27FC236}">
                  <a16:creationId xmlns:a16="http://schemas.microsoft.com/office/drawing/2014/main" id="{577DC3E1-B1A6-589C-A746-70239E53BC5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47298"/>
            <a:stretch/>
          </p:blipFill>
          <p:spPr bwMode="auto">
            <a:xfrm>
              <a:off x="2535366" y="4179415"/>
              <a:ext cx="1259095" cy="6876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F9648B0-1D8D-FCC6-CD96-C7A66123BF25}"/>
                </a:ext>
              </a:extLst>
            </p:cNvPr>
            <p:cNvSpPr txBox="1"/>
            <p:nvPr/>
          </p:nvSpPr>
          <p:spPr>
            <a:xfrm>
              <a:off x="3983202" y="4674063"/>
              <a:ext cx="20959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>
                  <a:solidFill>
                    <a:srgbClr val="00B050"/>
                  </a:solidFill>
                  <a:latin typeface="AccordAlternate" panose="02000000000000000000" pitchFamily="50" charset="0"/>
                </a:rPr>
                <a:t>SELF-SUPERVISED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F3FC286-A669-F959-2B90-91B42040EE70}"/>
                </a:ext>
              </a:extLst>
            </p:cNvPr>
            <p:cNvCxnSpPr>
              <a:cxnSpLocks/>
              <a:stCxn id="40" idx="0"/>
              <a:endCxn id="18" idx="2"/>
            </p:cNvCxnSpPr>
            <p:nvPr/>
          </p:nvCxnSpPr>
          <p:spPr>
            <a:xfrm flipV="1">
              <a:off x="5031154" y="2298113"/>
              <a:ext cx="634610" cy="2375950"/>
            </a:xfrm>
            <a:prstGeom prst="line">
              <a:avLst/>
            </a:prstGeom>
            <a:ln w="38100" cmpd="sng">
              <a:solidFill>
                <a:schemeClr val="accent2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5141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feld 4">
            <a:extLst>
              <a:ext uri="{FF2B5EF4-FFF2-40B4-BE49-F238E27FC236}">
                <a16:creationId xmlns:a16="http://schemas.microsoft.com/office/drawing/2014/main" id="{171740E0-17BA-14E5-D6A3-D769CF9386D6}"/>
              </a:ext>
            </a:extLst>
          </p:cNvPr>
          <p:cNvSpPr txBox="1"/>
          <p:nvPr/>
        </p:nvSpPr>
        <p:spPr>
          <a:xfrm>
            <a:off x="9459441" y="4678460"/>
            <a:ext cx="219607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Customer </a:t>
            </a:r>
            <a:r>
              <a:rPr lang="de-DE" dirty="0" err="1"/>
              <a:t>or</a:t>
            </a:r>
            <a:r>
              <a:rPr lang="de-DE" dirty="0"/>
              <a:t> Market Segmentation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9723A98-5383-DEFF-2162-FA018A5C2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Use Cases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 Learning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062167-9517-D148-36D2-E07544A0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460F03F-C6CE-A5A6-8A3A-CE53697E655E}"/>
              </a:ext>
            </a:extLst>
          </p:cNvPr>
          <p:cNvSpPr txBox="1"/>
          <p:nvPr/>
        </p:nvSpPr>
        <p:spPr>
          <a:xfrm>
            <a:off x="659104" y="4744225"/>
            <a:ext cx="17840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Fraud </a:t>
            </a:r>
            <a:r>
              <a:rPr lang="de-DE" dirty="0" err="1"/>
              <a:t>Detection</a:t>
            </a:r>
            <a:endParaRPr lang="de-DE" dirty="0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C47B1B0-97FC-F4FE-3604-C591119001D0}"/>
              </a:ext>
            </a:extLst>
          </p:cNvPr>
          <p:cNvSpPr txBox="1"/>
          <p:nvPr/>
        </p:nvSpPr>
        <p:spPr>
          <a:xfrm>
            <a:off x="4815071" y="5504257"/>
            <a:ext cx="21852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Image </a:t>
            </a:r>
            <a:r>
              <a:rPr lang="de-DE" dirty="0" err="1"/>
              <a:t>Compression</a:t>
            </a:r>
            <a:endParaRPr lang="de-DE" dirty="0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11D884F-C00E-15FC-41F3-F77DE91C60A4}"/>
              </a:ext>
            </a:extLst>
          </p:cNvPr>
          <p:cNvSpPr txBox="1"/>
          <p:nvPr/>
        </p:nvSpPr>
        <p:spPr>
          <a:xfrm>
            <a:off x="4815071" y="4962948"/>
            <a:ext cx="2561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Recommender</a:t>
            </a:r>
            <a:r>
              <a:rPr lang="de-DE" dirty="0"/>
              <a:t> Systems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4C0A01-562B-BA3C-7066-F067DC02F29B}"/>
              </a:ext>
            </a:extLst>
          </p:cNvPr>
          <p:cNvSpPr txBox="1"/>
          <p:nvPr/>
        </p:nvSpPr>
        <p:spPr>
          <a:xfrm>
            <a:off x="7574555" y="5147614"/>
            <a:ext cx="1687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Drug Discovery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DF3880F-9601-CE4D-FED6-F6CD3C3A64B3}"/>
              </a:ext>
            </a:extLst>
          </p:cNvPr>
          <p:cNvSpPr txBox="1"/>
          <p:nvPr/>
        </p:nvSpPr>
        <p:spPr>
          <a:xfrm>
            <a:off x="9459441" y="5438220"/>
            <a:ext cx="2561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Social</a:t>
            </a:r>
            <a:r>
              <a:rPr lang="de-DE" dirty="0"/>
              <a:t> Network Analysis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838F8EE-95E8-9EB9-ECC5-AC0724485D61}"/>
              </a:ext>
            </a:extLst>
          </p:cNvPr>
          <p:cNvSpPr txBox="1"/>
          <p:nvPr/>
        </p:nvSpPr>
        <p:spPr>
          <a:xfrm>
            <a:off x="7574555" y="5660645"/>
            <a:ext cx="1669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Topic Modeling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D9425F67-F9A7-351E-B88B-606B0E94A34A}"/>
              </a:ext>
            </a:extLst>
          </p:cNvPr>
          <p:cNvSpPr txBox="1"/>
          <p:nvPr/>
        </p:nvSpPr>
        <p:spPr>
          <a:xfrm>
            <a:off x="659104" y="5255179"/>
            <a:ext cx="14769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Risk Analysis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11C3A217-130D-0A09-400E-2154C70A564F}"/>
              </a:ext>
            </a:extLst>
          </p:cNvPr>
          <p:cNvSpPr txBox="1"/>
          <p:nvPr/>
        </p:nvSpPr>
        <p:spPr>
          <a:xfrm>
            <a:off x="487018" y="2017860"/>
            <a:ext cx="272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Anomaly</a:t>
            </a:r>
            <a:r>
              <a:rPr lang="de-DE" sz="2400" dirty="0"/>
              <a:t> </a:t>
            </a:r>
            <a:r>
              <a:rPr lang="de-DE" sz="2400" dirty="0" err="1"/>
              <a:t>Detection</a:t>
            </a:r>
            <a:endParaRPr lang="de-DE" sz="2400" dirty="0"/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1E32D26-D10D-430E-A1B9-75D2728EFBBF}"/>
              </a:ext>
            </a:extLst>
          </p:cNvPr>
          <p:cNvSpPr txBox="1"/>
          <p:nvPr/>
        </p:nvSpPr>
        <p:spPr>
          <a:xfrm>
            <a:off x="4382710" y="2017860"/>
            <a:ext cx="34265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Representation</a:t>
            </a:r>
            <a:r>
              <a:rPr lang="de-DE" sz="2400" dirty="0"/>
              <a:t> Learning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3D0627B5-13AE-8372-EE15-304E94CF30BD}"/>
              </a:ext>
            </a:extLst>
          </p:cNvPr>
          <p:cNvSpPr txBox="1"/>
          <p:nvPr/>
        </p:nvSpPr>
        <p:spPr>
          <a:xfrm>
            <a:off x="8908191" y="2017860"/>
            <a:ext cx="2796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Structure</a:t>
            </a:r>
            <a:r>
              <a:rPr lang="de-DE" sz="2400" dirty="0"/>
              <a:t> Discovery</a:t>
            </a:r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7B29B286-4626-503B-9BB5-04AE1418E3A0}"/>
              </a:ext>
            </a:extLst>
          </p:cNvPr>
          <p:cNvSpPr txBox="1"/>
          <p:nvPr/>
        </p:nvSpPr>
        <p:spPr>
          <a:xfrm>
            <a:off x="2889466" y="6356350"/>
            <a:ext cx="7056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Techniques</a:t>
            </a:r>
            <a:r>
              <a:rPr lang="de-DE" dirty="0"/>
              <a:t>: </a:t>
            </a:r>
            <a:r>
              <a:rPr lang="de-DE" dirty="0" err="1"/>
              <a:t>clustering</a:t>
            </a:r>
            <a:r>
              <a:rPr lang="de-DE" dirty="0"/>
              <a:t>, </a:t>
            </a:r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r>
              <a:rPr lang="de-DE" dirty="0"/>
              <a:t>, </a:t>
            </a:r>
            <a:r>
              <a:rPr lang="de-DE" dirty="0" err="1"/>
              <a:t>association</a:t>
            </a:r>
            <a:r>
              <a:rPr lang="de-DE" dirty="0"/>
              <a:t> </a:t>
            </a:r>
            <a:r>
              <a:rPr lang="de-DE" dirty="0" err="1"/>
              <a:t>rules</a:t>
            </a:r>
            <a:r>
              <a:rPr lang="de-DE" dirty="0"/>
              <a:t>, …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C232DC-47A4-B760-2789-E1C42E43C5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153" y="3092374"/>
            <a:ext cx="2196077" cy="13255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Recommender Systems in Machine Learning: Examples">
            <a:extLst>
              <a:ext uri="{FF2B5EF4-FFF2-40B4-BE49-F238E27FC236}">
                <a16:creationId xmlns:a16="http://schemas.microsoft.com/office/drawing/2014/main" id="{7E241801-E2EA-9D59-DD10-69D7E78E94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961" y="2719339"/>
            <a:ext cx="2196076" cy="2071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Unlocking Business Potential Through Effective Customer Segmentation |  Towards Data Science">
            <a:extLst>
              <a:ext uri="{FF2B5EF4-FFF2-40B4-BE49-F238E27FC236}">
                <a16:creationId xmlns:a16="http://schemas.microsoft.com/office/drawing/2014/main" id="{9172C856-1B39-286B-3D40-A1345B00C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9760" y="2714758"/>
            <a:ext cx="2654300" cy="1963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feld 19">
            <a:extLst>
              <a:ext uri="{FF2B5EF4-FFF2-40B4-BE49-F238E27FC236}">
                <a16:creationId xmlns:a16="http://schemas.microsoft.com/office/drawing/2014/main" id="{7B8E74B0-0778-3DC1-D9FE-F76D89DF951C}"/>
              </a:ext>
            </a:extLst>
          </p:cNvPr>
          <p:cNvSpPr txBox="1"/>
          <p:nvPr/>
        </p:nvSpPr>
        <p:spPr>
          <a:xfrm>
            <a:off x="2833427" y="5030786"/>
            <a:ext cx="178401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Time Series Reconstruction</a:t>
            </a:r>
          </a:p>
        </p:txBody>
      </p:sp>
    </p:spTree>
    <p:extLst>
      <p:ext uri="{BB962C8B-B14F-4D97-AF65-F5344CB8AC3E}">
        <p14:creationId xmlns:p14="http://schemas.microsoft.com/office/powerpoint/2010/main" val="716457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1BF6-3B68-363E-F2F5-5DC138A92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Clustering?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A8826D5-35A0-6F5B-6D31-5EEBEA85C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grouping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objects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sets</a:t>
            </a:r>
            <a:endParaRPr lang="de-DE" dirty="0"/>
          </a:p>
          <a:p>
            <a:pPr marL="0" indent="0">
              <a:buNone/>
            </a:pPr>
            <a:r>
              <a:rPr lang="de-DE" dirty="0"/>
              <a:t>(</a:t>
            </a:r>
            <a:r>
              <a:rPr lang="de-DE" dirty="0" err="1"/>
              <a:t>without</a:t>
            </a:r>
            <a:r>
              <a:rPr lang="de-DE" dirty="0"/>
              <a:t> </a:t>
            </a:r>
            <a:r>
              <a:rPr lang="de-DE" dirty="0" err="1"/>
              <a:t>predefined</a:t>
            </a:r>
            <a:r>
              <a:rPr lang="de-DE" dirty="0"/>
              <a:t> </a:t>
            </a:r>
            <a:r>
              <a:rPr lang="de-DE" dirty="0" err="1"/>
              <a:t>labels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means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in </a:t>
            </a:r>
            <a:r>
              <a:rPr lang="de-DE" dirty="0" err="1"/>
              <a:t>terms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object's</a:t>
            </a:r>
            <a:r>
              <a:rPr lang="de-DE" dirty="0"/>
              <a:t> </a:t>
            </a:r>
            <a:r>
              <a:rPr lang="de-DE" dirty="0" err="1"/>
              <a:t>features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customer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endParaRPr lang="de-DE" dirty="0"/>
          </a:p>
          <a:p>
            <a:r>
              <a:rPr lang="de-DE" dirty="0" err="1"/>
              <a:t>document</a:t>
            </a:r>
            <a:r>
              <a:rPr lang="de-DE" dirty="0"/>
              <a:t> </a:t>
            </a:r>
            <a:r>
              <a:rPr lang="de-DE" dirty="0" err="1"/>
              <a:t>clustering</a:t>
            </a:r>
            <a:endParaRPr lang="de-DE" dirty="0"/>
          </a:p>
          <a:p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segmentation</a:t>
            </a:r>
            <a:r>
              <a:rPr lang="de-DE" dirty="0"/>
              <a:t> (</a:t>
            </a:r>
            <a:r>
              <a:rPr lang="de-DE" dirty="0" err="1"/>
              <a:t>regions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similar</a:t>
            </a:r>
            <a:r>
              <a:rPr lang="de-DE" dirty="0"/>
              <a:t> </a:t>
            </a:r>
            <a:r>
              <a:rPr lang="de-DE" dirty="0" err="1"/>
              <a:t>color</a:t>
            </a:r>
            <a:r>
              <a:rPr lang="de-DE" dirty="0"/>
              <a:t>, </a:t>
            </a:r>
            <a:r>
              <a:rPr lang="de-DE" dirty="0" err="1"/>
              <a:t>texture</a:t>
            </a:r>
            <a:r>
              <a:rPr lang="de-DE" dirty="0"/>
              <a:t>,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intensity</a:t>
            </a:r>
            <a:r>
              <a:rPr lang="de-DE" dirty="0"/>
              <a:t>)</a:t>
            </a:r>
          </a:p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A7EBB15-2B75-32A3-5033-3371960D7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73108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17A599-398E-BE89-AE0D-1886787BE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Distance</a:t>
            </a:r>
            <a:r>
              <a:rPr lang="de-DE" dirty="0"/>
              <a:t> </a:t>
            </a:r>
            <a:r>
              <a:rPr lang="de-DE" dirty="0" err="1"/>
              <a:t>Metrics</a:t>
            </a:r>
            <a:r>
              <a:rPr lang="de-DE" dirty="0"/>
              <a:t> and </a:t>
            </a:r>
            <a:r>
              <a:rPr lang="de-DE" dirty="0" err="1"/>
              <a:t>Similarity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How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measure</a:t>
                </a:r>
                <a:r>
                  <a:rPr lang="de-DE" dirty="0"/>
                  <a:t> </a:t>
                </a:r>
                <a:r>
                  <a:rPr lang="de-DE" dirty="0" err="1"/>
                  <a:t>if</a:t>
                </a:r>
                <a:r>
                  <a:rPr lang="de-DE" dirty="0"/>
                  <a:t> </a:t>
                </a:r>
                <a:r>
                  <a:rPr lang="de-DE" dirty="0" err="1"/>
                  <a:t>points</a:t>
                </a:r>
                <a:r>
                  <a:rPr lang="de-DE" dirty="0"/>
                  <a:t> (in </a:t>
                </a:r>
                <a:r>
                  <a:rPr lang="de-DE" dirty="0" err="1"/>
                  <a:t>higher</a:t>
                </a:r>
                <a:r>
                  <a:rPr lang="de-DE" dirty="0"/>
                  <a:t>-dimensional </a:t>
                </a:r>
                <a:r>
                  <a:rPr lang="de-DE" dirty="0" err="1"/>
                  <a:t>space</a:t>
                </a:r>
                <a:r>
                  <a:rPr lang="de-DE" dirty="0"/>
                  <a:t>)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close</a:t>
                </a:r>
                <a:r>
                  <a:rPr lang="de-DE" dirty="0"/>
                  <a:t>?</a:t>
                </a:r>
              </a:p>
              <a:p>
                <a:r>
                  <a:rPr lang="de-DE" dirty="0" err="1"/>
                  <a:t>each</a:t>
                </a:r>
                <a:r>
                  <a:rPr lang="de-DE" dirty="0"/>
                  <a:t> feature </a:t>
                </a:r>
                <a:r>
                  <a:rPr lang="de-DE" dirty="0" err="1"/>
                  <a:t>corresponds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one</a:t>
                </a:r>
                <a:r>
                  <a:rPr lang="de-DE" dirty="0"/>
                  <a:t> </a:t>
                </a:r>
                <a:r>
                  <a:rPr lang="de-DE" dirty="0" err="1"/>
                  <a:t>dimension</a:t>
                </a:r>
                <a:endParaRPr lang="de-DE" dirty="0"/>
              </a:p>
              <a:p>
                <a:r>
                  <a:rPr lang="de-DE" dirty="0" err="1"/>
                  <a:t>close</a:t>
                </a:r>
                <a:r>
                  <a:rPr lang="de-DE" dirty="0"/>
                  <a:t> </a:t>
                </a:r>
                <a:r>
                  <a:rPr lang="de-DE" dirty="0" err="1"/>
                  <a:t>means</a:t>
                </a:r>
                <a:r>
                  <a:rPr lang="de-DE" dirty="0"/>
                  <a:t> </a:t>
                </a:r>
                <a:r>
                  <a:rPr lang="de-DE" dirty="0" err="1"/>
                  <a:t>small</a:t>
                </a:r>
                <a:r>
                  <a:rPr lang="de-DE" dirty="0"/>
                  <a:t> </a:t>
                </a:r>
                <a:r>
                  <a:rPr lang="de-DE" dirty="0" err="1"/>
                  <a:t>differences</a:t>
                </a:r>
                <a:r>
                  <a:rPr lang="de-DE" dirty="0"/>
                  <a:t> </a:t>
                </a:r>
                <a:r>
                  <a:rPr lang="de-DE" dirty="0" err="1"/>
                  <a:t>across</a:t>
                </a:r>
                <a:r>
                  <a:rPr lang="de-DE" dirty="0"/>
                  <a:t> </a:t>
                </a:r>
                <a:r>
                  <a:rPr lang="de-DE" dirty="0" err="1"/>
                  <a:t>dimensions</a:t>
                </a:r>
                <a:endParaRPr lang="de-DE" dirty="0"/>
              </a:p>
              <a:p>
                <a:pPr lvl="1"/>
                <a:r>
                  <a:rPr lang="de-DE" dirty="0" err="1"/>
                  <a:t>Euclidean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sub>
                    </m:sSub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p>
                          <m:e>
                            <m:sSup>
                              <m:sSup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de-DE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Manhattan </a:t>
                </a:r>
                <a:r>
                  <a:rPr lang="de-DE" dirty="0" err="1"/>
                  <a:t>distance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de-DE" dirty="0"/>
              </a:p>
              <a:p>
                <a:r>
                  <a:rPr lang="de-DE" dirty="0" err="1"/>
                  <a:t>instead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distance</a:t>
                </a:r>
                <a:r>
                  <a:rPr lang="de-DE" dirty="0"/>
                  <a:t>, </a:t>
                </a:r>
                <a:r>
                  <a:rPr lang="de-DE" dirty="0" err="1"/>
                  <a:t>sometimes</a:t>
                </a:r>
                <a:r>
                  <a:rPr lang="de-DE" dirty="0"/>
                  <a:t> also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:r>
                  <a:rPr lang="de-DE" dirty="0" err="1"/>
                  <a:t>higher</a:t>
                </a:r>
                <a:r>
                  <a:rPr lang="de-DE" dirty="0"/>
                  <a:t> = </a:t>
                </a:r>
                <a:r>
                  <a:rPr lang="de-DE" dirty="0" err="1"/>
                  <a:t>closer</a:t>
                </a:r>
                <a:endParaRPr lang="de-DE" dirty="0"/>
              </a:p>
              <a:p>
                <a:pPr lvl="1"/>
                <a:r>
                  <a:rPr lang="de-DE" dirty="0" err="1"/>
                  <a:t>cosine</a:t>
                </a:r>
                <a:r>
                  <a:rPr lang="de-DE" dirty="0"/>
                  <a:t> </a:t>
                </a:r>
                <a:r>
                  <a:rPr lang="de-DE" dirty="0" err="1"/>
                  <a:t>similarity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de-DE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b="1" i="1">
                            <a:latin typeface="Cambria Math" panose="02040503050406030204" pitchFamily="18" charset="0"/>
                          </a:rPr>
                          <m:t>𝒚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  <m:d>
                          <m:dPr>
                            <m:begChr m:val="‖"/>
                            <m:endChr m:val="‖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d>
                      </m:den>
                    </m:f>
                  </m:oMath>
                </a14:m>
                <a:endParaRPr lang="de-DE" dirty="0"/>
              </a:p>
              <a:p>
                <a:pPr lvl="1"/>
                <a:r>
                  <a:rPr lang="de-DE" dirty="0"/>
                  <a:t>Pearson </a:t>
                </a:r>
                <a:r>
                  <a:rPr lang="de-DE" dirty="0" err="1"/>
                  <a:t>correlation</a:t>
                </a:r>
                <a:r>
                  <a:rPr lang="de-DE" dirty="0"/>
                  <a:t>: linear </a:t>
                </a:r>
                <a:r>
                  <a:rPr lang="de-DE" dirty="0" err="1"/>
                  <a:t>similarity</a:t>
                </a:r>
                <a:r>
                  <a:rPr lang="de-DE" dirty="0"/>
                  <a:t> </a:t>
                </a:r>
                <a:r>
                  <a:rPr lang="de-DE" dirty="0" err="1"/>
                  <a:t>between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F557B7C9-9D66-A25B-D11C-5254C08E0B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ED07B56-8274-82D7-2AE1-BF7A4442E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38880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2B2B9-9ED8-1237-271E-39149E2D12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Preprocessing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Clustering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distance </a:t>
                </a:r>
                <a:r>
                  <a:rPr lang="de-DE" dirty="0" err="1"/>
                  <a:t>measures</a:t>
                </a:r>
                <a:r>
                  <a:rPr lang="de-DE" dirty="0"/>
                  <a:t> 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scale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need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for</a:t>
                </a:r>
                <a:r>
                  <a:rPr lang="de-DE" dirty="0">
                    <a:sym typeface="Wingdings" pitchFamily="2" charset="2"/>
                  </a:rPr>
                  <a:t> </a:t>
                </a:r>
                <a:r>
                  <a:rPr lang="de-DE" dirty="0" err="1">
                    <a:sym typeface="Wingdings" pitchFamily="2" charset="2"/>
                  </a:rPr>
                  <a:t>scaling</a:t>
                </a:r>
                <a:endParaRPr lang="de-DE" dirty="0"/>
              </a:p>
              <a:p>
                <a:r>
                  <a:rPr lang="de-DE" b="1" dirty="0" err="1"/>
                  <a:t>standardization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den>
                    </m:f>
                  </m:oMath>
                </a14:m>
                <a:endParaRPr lang="de-DE" dirty="0"/>
              </a:p>
              <a:p>
                <a:r>
                  <a:rPr lang="de-DE" b="1" dirty="0" err="1"/>
                  <a:t>normalization</a:t>
                </a:r>
                <a:r>
                  <a:rPr lang="de-DE" dirty="0"/>
                  <a:t>: </a:t>
                </a:r>
                <a:r>
                  <a:rPr lang="de-DE" dirty="0" err="1"/>
                  <a:t>scale</a:t>
                </a:r>
                <a:r>
                  <a:rPr lang="de-DE" dirty="0"/>
                  <a:t> all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br>
                  <a:rPr lang="de-DE" dirty="0"/>
                </a:b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:r>
                  <a:rPr lang="de-DE" dirty="0" err="1"/>
                  <a:t>scaling</a:t>
                </a:r>
                <a:r>
                  <a:rPr lang="de-DE" dirty="0"/>
                  <a:t>, </a:t>
                </a:r>
                <a:r>
                  <a:rPr lang="de-DE" dirty="0" err="1"/>
                  <a:t>distance</a:t>
                </a:r>
                <a:r>
                  <a:rPr lang="de-DE" dirty="0"/>
                  <a:t> </a:t>
                </a:r>
                <a:r>
                  <a:rPr lang="de-DE" dirty="0" err="1"/>
                  <a:t>dominated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features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larger </a:t>
                </a:r>
                <a:r>
                  <a:rPr lang="de-DE" dirty="0" err="1"/>
                  <a:t>numeric</a:t>
                </a:r>
                <a:r>
                  <a:rPr lang="de-DE" dirty="0"/>
                  <a:t> </a:t>
                </a:r>
                <a:r>
                  <a:rPr lang="de-DE" dirty="0" err="1"/>
                  <a:t>ranges</a:t>
                </a: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853B87B-6769-3173-C4FC-34C0F88DA6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230CB5C-3BD6-9F60-160E-F61FA944E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818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161FD2-1411-8BB8-D755-1F422C193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scikit-learn</a:t>
            </a:r>
            <a:r>
              <a:rPr lang="de-DE" dirty="0"/>
              <a:t> Clustering </a:t>
            </a:r>
            <a:r>
              <a:rPr lang="de-DE" dirty="0" err="1"/>
              <a:t>Algorithms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872D469-9E39-C0DF-2321-08C1385A8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p:pic>
        <p:nvPicPr>
          <p:cNvPr id="1026" name="Picture 2" descr="MiniBatch KMeans, Affinity Propagation, MeanShift, Spectral Clustering, Ward, Agglomerative Clustering, DBSCAN, HDBSCAN, OPTICS, BIRCH, Gaussian Mixture">
            <a:extLst>
              <a:ext uri="{FF2B5EF4-FFF2-40B4-BE49-F238E27FC236}">
                <a16:creationId xmlns:a16="http://schemas.microsoft.com/office/drawing/2014/main" id="{CCCCBEB2-AD32-344D-3161-053446F1D9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7330" y="1523103"/>
            <a:ext cx="8617340" cy="53348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6809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-means clustering on the digits dataset (PCA-reduced data) Centroids are marked with white cross">
            <a:extLst>
              <a:ext uri="{FF2B5EF4-FFF2-40B4-BE49-F238E27FC236}">
                <a16:creationId xmlns:a16="http://schemas.microsoft.com/office/drawing/2014/main" id="{B44A8871-A62C-5BCB-319E-EB2705B9E0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4795" y="1319972"/>
            <a:ext cx="6897205" cy="517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E5EF26E-96B1-27BE-03F5-79AA27F58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: Intuition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145C140-32EF-08E0-AEC7-D57455757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1716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/>
              <a:t>divide a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clusters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</a:t>
            </a:r>
            <a:r>
              <a:rPr lang="de-DE" dirty="0" err="1"/>
              <a:t>hyperparameter</a:t>
            </a:r>
            <a:r>
              <a:rPr lang="de-DE" dirty="0"/>
              <a:t> (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set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algorithm</a:t>
            </a:r>
            <a:r>
              <a:rPr lang="de-DE" dirty="0"/>
              <a:t> </a:t>
            </a:r>
            <a:r>
              <a:rPr lang="de-DE" dirty="0" err="1"/>
              <a:t>runs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represented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its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mean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)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endParaRPr lang="de-DE" dirty="0"/>
          </a:p>
          <a:p>
            <a:pPr marL="0" indent="0">
              <a:buNone/>
            </a:pP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93F3BDB8-AB06-D6F6-923D-DBA0EE4E7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2A4877FB-7B11-447F-8D3C-FDF353D66B88}"/>
              </a:ext>
            </a:extLst>
          </p:cNvPr>
          <p:cNvSpPr txBox="1"/>
          <p:nvPr/>
        </p:nvSpPr>
        <p:spPr>
          <a:xfrm>
            <a:off x="6401341" y="6171684"/>
            <a:ext cx="2209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decision</a:t>
            </a:r>
            <a:r>
              <a:rPr lang="de-DE" dirty="0"/>
              <a:t> </a:t>
            </a:r>
            <a:r>
              <a:rPr lang="de-DE" dirty="0" err="1"/>
              <a:t>boundaries</a:t>
            </a:r>
            <a:endParaRPr lang="de-DE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9A50DEF1-BEAD-FB26-5241-E76096B292E0}"/>
              </a:ext>
            </a:extLst>
          </p:cNvPr>
          <p:cNvCxnSpPr/>
          <p:nvPr/>
        </p:nvCxnSpPr>
        <p:spPr>
          <a:xfrm flipH="1" flipV="1">
            <a:off x="6917635" y="5466522"/>
            <a:ext cx="606287" cy="6261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63890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49D85B-4E0C-2CDA-A2D9-4273DBF6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Algorithm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22A36B6-BDB3-0940-B6A3-50D4BB310E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b="1" dirty="0" err="1"/>
              <a:t>k</a:t>
            </a:r>
            <a:r>
              <a:rPr lang="de-DE" dirty="0"/>
              <a:t> (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initialize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: (</a:t>
            </a:r>
            <a:r>
              <a:rPr lang="de-DE" dirty="0" err="1"/>
              <a:t>randomly</a:t>
            </a:r>
            <a:r>
              <a:rPr lang="de-DE" dirty="0"/>
              <a:t>) </a:t>
            </a:r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k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in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space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assign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nearest</a:t>
            </a:r>
            <a:r>
              <a:rPr lang="de-DE" dirty="0"/>
              <a:t> </a:t>
            </a:r>
            <a:r>
              <a:rPr lang="de-DE" dirty="0" err="1"/>
              <a:t>centroid</a:t>
            </a:r>
            <a:r>
              <a:rPr lang="de-DE" dirty="0"/>
              <a:t> (</a:t>
            </a:r>
            <a:r>
              <a:rPr lang="de-DE" dirty="0" err="1"/>
              <a:t>according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computed</a:t>
            </a:r>
            <a:r>
              <a:rPr lang="de-DE" dirty="0"/>
              <a:t> </a:t>
            </a:r>
            <a:r>
              <a:rPr lang="de-DE" b="1" dirty="0" err="1"/>
              <a:t>Euclidean</a:t>
            </a:r>
            <a:r>
              <a:rPr lang="de-DE" b="1" dirty="0"/>
              <a:t> </a:t>
            </a:r>
            <a:r>
              <a:rPr lang="de-DE" b="1" dirty="0" err="1"/>
              <a:t>distances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recalculate</a:t>
            </a:r>
            <a:r>
              <a:rPr lang="de-DE" dirty="0"/>
              <a:t> 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(</a:t>
            </a:r>
            <a:r>
              <a:rPr lang="de-DE" b="1" dirty="0" err="1"/>
              <a:t>average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all </a:t>
            </a:r>
            <a:r>
              <a:rPr lang="de-DE" dirty="0" err="1"/>
              <a:t>points</a:t>
            </a:r>
            <a:r>
              <a:rPr lang="de-DE" dirty="0"/>
              <a:t> </a:t>
            </a:r>
            <a:r>
              <a:rPr lang="de-DE" dirty="0" err="1"/>
              <a:t>assigned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iterate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convergence</a:t>
            </a:r>
            <a:r>
              <a:rPr lang="de-DE" dirty="0"/>
              <a:t> (</a:t>
            </a:r>
            <a:r>
              <a:rPr lang="de-DE" dirty="0" err="1"/>
              <a:t>centroids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moving</a:t>
            </a:r>
            <a:r>
              <a:rPr lang="de-DE" dirty="0"/>
              <a:t> </a:t>
            </a:r>
            <a:r>
              <a:rPr lang="de-DE" dirty="0" err="1"/>
              <a:t>significantly</a:t>
            </a:r>
            <a:r>
              <a:rPr lang="de-DE" dirty="0"/>
              <a:t>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cluster</a:t>
            </a:r>
            <a:r>
              <a:rPr lang="de-DE" dirty="0"/>
              <a:t> </a:t>
            </a:r>
            <a:r>
              <a:rPr lang="de-DE" dirty="0" err="1"/>
              <a:t>assignments</a:t>
            </a:r>
            <a:r>
              <a:rPr lang="de-DE" dirty="0"/>
              <a:t> </a:t>
            </a:r>
            <a:r>
              <a:rPr lang="de-DE" dirty="0" err="1"/>
              <a:t>stop</a:t>
            </a:r>
            <a:r>
              <a:rPr lang="de-DE" dirty="0"/>
              <a:t> </a:t>
            </a:r>
            <a:r>
              <a:rPr lang="de-DE" dirty="0" err="1"/>
              <a:t>changing</a:t>
            </a:r>
            <a:r>
              <a:rPr lang="de-DE" dirty="0"/>
              <a:t>)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F30DBF-AD11-3C18-1D07-A54DAB5153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780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911FD9-7F33-36F5-BFF7-3BD6F330C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k-Means </a:t>
                </a:r>
                <a:r>
                  <a:rPr lang="de-DE" sz="2400" dirty="0" err="1"/>
                  <a:t>minimizes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sum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squared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distances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from</a:t>
                </a:r>
                <a:r>
                  <a:rPr lang="de-DE" sz="2400" dirty="0"/>
                  <a:t> </a:t>
                </a:r>
                <a:r>
                  <a:rPr lang="de-DE" sz="2400" dirty="0" err="1"/>
                  <a:t>points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their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cluster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center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mean</a:t>
                </a:r>
                <a:r>
                  <a:rPr lang="de-DE" sz="2400" dirty="0"/>
                  <a:t>):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nary>
                            <m:naryPr>
                              <m:chr m:val="∑"/>
                              <m:supHide m:val="on"/>
                              <m:ctrlPr>
                                <a:rPr lang="de-DE" sz="240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‖"/>
                                      <m:endChr m:val="‖"/>
                                      <m:ctrlP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de-DE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de-DE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  <m:sup>
                                  <m:r>
                                    <a:rPr lang="de-DE" sz="2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nary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 err="1">
                    <a:sym typeface="Wingdings" pitchFamily="2" charset="2"/>
                  </a:rPr>
                  <a:t>optimization</a:t>
                </a:r>
                <a:r>
                  <a:rPr lang="de-DE" sz="2400" dirty="0">
                    <a:sym typeface="Wingdings" pitchFamily="2" charset="2"/>
                  </a:rPr>
                  <a:t> </a:t>
                </a:r>
                <a:r>
                  <a:rPr lang="de-DE" sz="2400" dirty="0" err="1">
                    <a:sym typeface="Wingdings" pitchFamily="2" charset="2"/>
                  </a:rPr>
                  <a:t>probem</a:t>
                </a:r>
                <a:endParaRPr lang="de-DE" sz="2400" dirty="0">
                  <a:sym typeface="Wingdings" pitchFamily="2" charset="2"/>
                </a:endParaRP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17B770E-9FDC-AA16-DB2B-28638BF938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133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922702-5E58-0568-C418-A1EAB8D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09020DA-8026-7CCB-58DA-1957117D8C78}"/>
              </a:ext>
            </a:extLst>
          </p:cNvPr>
          <p:cNvSpPr txBox="1"/>
          <p:nvPr/>
        </p:nvSpPr>
        <p:spPr>
          <a:xfrm>
            <a:off x="6016487" y="3828663"/>
            <a:ext cx="41136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/>
              <a:t>Euclidean</a:t>
            </a:r>
            <a:r>
              <a:rPr lang="de-DE" sz="2400" dirty="0"/>
              <a:t> </a:t>
            </a:r>
            <a:r>
              <a:rPr lang="de-DE" sz="2400" dirty="0" err="1"/>
              <a:t>distances</a:t>
            </a:r>
            <a:endParaRPr lang="de-DE" sz="2400" dirty="0"/>
          </a:p>
          <a:p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/>
              <a:t>spherical</a:t>
            </a:r>
            <a:r>
              <a:rPr lang="de-DE" sz="2400" dirty="0"/>
              <a:t> </a:t>
            </a:r>
            <a:r>
              <a:rPr lang="de-DE" sz="2400" dirty="0" err="1"/>
              <a:t>clusters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D9ABA17-E386-5CBD-E762-71B68A65B821}"/>
              </a:ext>
            </a:extLst>
          </p:cNvPr>
          <p:cNvCxnSpPr>
            <a:cxnSpLocks/>
          </p:cNvCxnSpPr>
          <p:nvPr/>
        </p:nvCxnSpPr>
        <p:spPr>
          <a:xfrm flipH="1" flipV="1">
            <a:off x="6659217" y="3319670"/>
            <a:ext cx="228600" cy="5089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A61831F7-0D8A-1BA2-0B83-252CE10C4F34}"/>
              </a:ext>
            </a:extLst>
          </p:cNvPr>
          <p:cNvSpPr txBox="1"/>
          <p:nvPr/>
        </p:nvSpPr>
        <p:spPr>
          <a:xfrm>
            <a:off x="4351123" y="5135121"/>
            <a:ext cx="65322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/>
              <a:t>Manhattan </a:t>
            </a:r>
            <a:r>
              <a:rPr lang="de-DE" sz="2400" dirty="0" err="1"/>
              <a:t>distances</a:t>
            </a:r>
            <a:r>
              <a:rPr lang="de-DE" sz="2400" dirty="0"/>
              <a:t> (L1)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k</a:t>
            </a:r>
            <a:r>
              <a:rPr lang="de-DE" sz="2400" dirty="0">
                <a:sym typeface="Wingdings" pitchFamily="2" charset="2"/>
              </a:rPr>
              <a:t>-Medians (also </a:t>
            </a:r>
            <a:r>
              <a:rPr lang="de-DE" sz="2400" dirty="0" err="1"/>
              <a:t>recalculate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cluster</a:t>
            </a:r>
            <a:r>
              <a:rPr lang="de-DE" sz="2400" dirty="0"/>
              <a:t> </a:t>
            </a:r>
            <a:r>
              <a:rPr lang="de-DE" sz="2400" dirty="0" err="1"/>
              <a:t>centers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median </a:t>
            </a:r>
            <a:r>
              <a:rPr lang="de-DE" sz="2400" dirty="0" err="1"/>
              <a:t>instead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mean</a:t>
            </a:r>
            <a:r>
              <a:rPr lang="de-DE" sz="2400" dirty="0">
                <a:sym typeface="Wingdings" pitchFamily="2" charset="2"/>
              </a:rPr>
              <a:t>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7382075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C481BB-DFD4-77CC-115E-6A31A6CFC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… Mean L2 </a:t>
            </a:r>
            <a:r>
              <a:rPr lang="de-DE" dirty="0" err="1"/>
              <a:t>vs</a:t>
            </a:r>
            <a:r>
              <a:rPr lang="de-DE" dirty="0"/>
              <a:t> Median L1 …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85BD90E-4E62-2134-AC41-EB7A9018D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8F66D73-FD92-F395-A736-DB16B54A0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767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B97CEE-DA9B-A98C-98BF-3E784E6E5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k-Means</a:t>
            </a:r>
            <a:r>
              <a:rPr lang="de-DE" dirty="0"/>
              <a:t> </a:t>
            </a:r>
            <a:r>
              <a:rPr lang="de-DE" dirty="0" err="1"/>
              <a:t>Assumptions</a:t>
            </a:r>
            <a:r>
              <a:rPr lang="de-DE" dirty="0"/>
              <a:t> and </a:t>
            </a:r>
            <a:r>
              <a:rPr lang="de-DE" dirty="0" err="1"/>
              <a:t>Limitations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de-DE" dirty="0"/>
                  <a:t>must </a:t>
                </a:r>
                <a:r>
                  <a:rPr lang="de-DE" dirty="0" err="1"/>
                  <a:t>choose</a:t>
                </a:r>
                <a:r>
                  <a:rPr lang="de-DE" dirty="0"/>
                  <a:t> </a:t>
                </a:r>
                <a:r>
                  <a:rPr lang="de-DE" dirty="0" err="1"/>
                  <a:t>k</a:t>
                </a:r>
                <a:r>
                  <a:rPr lang="de-DE" dirty="0"/>
                  <a:t> </a:t>
                </a:r>
                <a:r>
                  <a:rPr lang="de-DE" dirty="0" err="1"/>
                  <a:t>beforehand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initial </a:t>
                </a:r>
                <a:r>
                  <a:rPr lang="de-DE" dirty="0" err="1"/>
                  <a:t>centroid</a:t>
                </a:r>
                <a:r>
                  <a:rPr lang="de-DE" dirty="0"/>
                  <a:t> </a:t>
                </a:r>
                <a:r>
                  <a:rPr lang="de-DE" dirty="0" err="1"/>
                  <a:t>placement</a:t>
                </a:r>
                <a:endParaRPr lang="de-DE" dirty="0"/>
              </a:p>
              <a:p>
                <a:r>
                  <a:rPr lang="de-DE" dirty="0" err="1"/>
                  <a:t>assumes</a:t>
                </a:r>
                <a:r>
                  <a:rPr lang="de-DE" dirty="0"/>
                  <a:t> </a:t>
                </a:r>
                <a:r>
                  <a:rPr lang="de-DE" dirty="0" err="1"/>
                  <a:t>clusters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spherical</a:t>
                </a:r>
                <a:endParaRPr lang="de-DE" dirty="0"/>
              </a:p>
              <a:p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outliers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Advantages:</a:t>
                </a:r>
              </a:p>
              <a:p>
                <a:r>
                  <a:rPr lang="de-DE" dirty="0"/>
                  <a:t>simple and fast: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𝑂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r>
                  <a:rPr lang="de-DE" dirty="0" err="1"/>
                  <a:t>scales</a:t>
                </a:r>
                <a:r>
                  <a:rPr lang="de-DE" dirty="0"/>
                  <a:t> </a:t>
                </a:r>
                <a:r>
                  <a:rPr lang="de-DE" dirty="0" err="1"/>
                  <a:t>well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large </a:t>
                </a:r>
                <a:r>
                  <a:rPr lang="de-DE" dirty="0" err="1"/>
                  <a:t>datasets</a:t>
                </a:r>
                <a:endParaRPr lang="de-DE" dirty="0"/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8EB38805-6A59-7BC3-1404-033473E3A3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61F564A-5810-6633-6054-C0BC5BA3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C78B86E-2536-62A6-22F6-FE295559335A}"/>
              </a:ext>
            </a:extLst>
          </p:cNvPr>
          <p:cNvSpPr txBox="1"/>
          <p:nvPr/>
        </p:nvSpPr>
        <p:spPr>
          <a:xfrm>
            <a:off x="5445561" y="4080805"/>
            <a:ext cx="11219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iterations</a:t>
            </a:r>
            <a:endParaRPr lang="de-DE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91DF7AF4-6660-0D67-224C-96CA0E54AB03}"/>
              </a:ext>
            </a:extLst>
          </p:cNvPr>
          <p:cNvSpPr txBox="1"/>
          <p:nvPr/>
        </p:nvSpPr>
        <p:spPr>
          <a:xfrm>
            <a:off x="3945835" y="4080805"/>
            <a:ext cx="1304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points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A36754A-6012-D801-22B7-A249ADAEA4E9}"/>
              </a:ext>
            </a:extLst>
          </p:cNvPr>
          <p:cNvCxnSpPr>
            <a:stCxn id="6" idx="2"/>
          </p:cNvCxnSpPr>
          <p:nvPr/>
        </p:nvCxnSpPr>
        <p:spPr>
          <a:xfrm flipH="1">
            <a:off x="4263887" y="4450137"/>
            <a:ext cx="334210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8CFCD8D1-E55A-87A0-735D-5CE8FAA215F8}"/>
              </a:ext>
            </a:extLst>
          </p:cNvPr>
          <p:cNvCxnSpPr>
            <a:stCxn id="5" idx="2"/>
          </p:cNvCxnSpPr>
          <p:nvPr/>
        </p:nvCxnSpPr>
        <p:spPr>
          <a:xfrm flipH="1">
            <a:off x="5160907" y="4450137"/>
            <a:ext cx="845641" cy="4896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0849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B2E4CA-B735-2522-94A8-FABA7925C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</a:t>
            </a:r>
            <a:r>
              <a:rPr lang="de-DE" dirty="0" err="1"/>
              <a:t>Initialization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F51F910-C916-5E02-AF25-164F3AD865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A2A536F-3618-D2CF-0544-827E525AAB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52134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756E6D-D8FC-FA7F-8EFC-F623F1FAA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Number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Clusters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1562A41-9B7D-DBB9-79D1-7AADFCB4A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Common </a:t>
            </a:r>
            <a:r>
              <a:rPr lang="de-DE" dirty="0" err="1"/>
              <a:t>methods</a:t>
            </a:r>
            <a:r>
              <a:rPr lang="de-DE" dirty="0"/>
              <a:t> </a:t>
            </a:r>
            <a:r>
              <a:rPr lang="de-DE" dirty="0" err="1"/>
              <a:t>include</a:t>
            </a:r>
            <a:r>
              <a:rPr lang="de-DE" dirty="0"/>
              <a:t>:</a:t>
            </a:r>
          </a:p>
          <a:p>
            <a:r>
              <a:rPr lang="de-DE" dirty="0"/>
              <a:t>Elbow Method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Gap </a:t>
            </a:r>
            <a:r>
              <a:rPr lang="de-DE" dirty="0" err="1"/>
              <a:t>Statistic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5AE942C-3574-952F-F18E-4BD93B73FB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23484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B459EB-FAE8-31DC-E38F-3046EC588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… Evaluation </a:t>
            </a:r>
            <a:r>
              <a:rPr lang="de-DE" dirty="0" err="1"/>
              <a:t>against</a:t>
            </a:r>
            <a:r>
              <a:rPr lang="de-DE" dirty="0"/>
              <a:t> True Labels …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2427C8-4330-BC0E-F7FF-95DB2D9863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01A4EA1-06DA-F940-1383-630B8622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0058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45E519-E948-8501-ACAD-BDF00444D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Mini Batch </a:t>
            </a:r>
            <a:r>
              <a:rPr lang="de-DE" dirty="0" err="1"/>
              <a:t>k-Means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AA8C059-BF98-DA76-D11E-B28857691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B02C868-452A-3E9E-3E72-BA889BC86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p:pic>
        <p:nvPicPr>
          <p:cNvPr id="1026" name="Picture 2" descr="KMeans, MiniBatchKMeans, Difference">
            <a:extLst>
              <a:ext uri="{FF2B5EF4-FFF2-40B4-BE49-F238E27FC236}">
                <a16:creationId xmlns:a16="http://schemas.microsoft.com/office/drawing/2014/main" id="{8E76ED71-B047-741E-33C3-F2BB699598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5892" y="3941884"/>
            <a:ext cx="7776308" cy="2916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27327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E85EF2-749A-FE44-0A02-FD2D924976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Models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A2F8357-AF4F-871F-2CBC-4B5FD73DAB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k-Means</a:t>
            </a:r>
            <a:r>
              <a:rPr lang="de-DE" dirty="0"/>
              <a:t>: </a:t>
            </a:r>
            <a:r>
              <a:rPr lang="de-DE" dirty="0" err="1"/>
              <a:t>special</a:t>
            </a:r>
            <a:r>
              <a:rPr lang="de-DE" dirty="0"/>
              <a:t> </a:t>
            </a:r>
            <a:r>
              <a:rPr lang="de-DE" dirty="0" err="1"/>
              <a:t>case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Gaussian</a:t>
            </a:r>
            <a:r>
              <a:rPr lang="de-DE" dirty="0"/>
              <a:t> </a:t>
            </a:r>
            <a:r>
              <a:rPr lang="de-DE" dirty="0" err="1"/>
              <a:t>mixture</a:t>
            </a:r>
            <a:r>
              <a:rPr lang="de-DE" dirty="0"/>
              <a:t> </a:t>
            </a:r>
            <a:r>
              <a:rPr lang="de-DE" dirty="0" err="1"/>
              <a:t>model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equal</a:t>
            </a:r>
            <a:r>
              <a:rPr lang="de-DE" dirty="0"/>
              <a:t> </a:t>
            </a:r>
            <a:r>
              <a:rPr lang="de-DE" dirty="0" err="1"/>
              <a:t>covariance</a:t>
            </a:r>
            <a:r>
              <a:rPr lang="de-DE" dirty="0"/>
              <a:t> per </a:t>
            </a:r>
            <a:r>
              <a:rPr lang="de-DE" dirty="0" err="1"/>
              <a:t>component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B40836D-FBB2-F6AE-DB5B-B3E743214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39203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2D266D-155F-F226-2B1D-358BA749E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Hierarchical</a:t>
            </a:r>
            <a:r>
              <a:rPr lang="de-DE" dirty="0"/>
              <a:t> Clustering: Motivation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837E5E9-930A-77A7-EDB3-BE3C12678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129062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B71406-467A-A03D-EBA2-95505D3C5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Linkage</a:t>
            </a:r>
            <a:r>
              <a:rPr lang="de-DE" dirty="0"/>
              <a:t> </a:t>
            </a:r>
            <a:r>
              <a:rPr lang="de-DE" dirty="0" err="1"/>
              <a:t>Criteria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696987-D96D-454C-5E9D-CD69887E2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265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142ABE-7200-78B0-CCD9-D683F1797E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Dendrograms</a:t>
            </a:r>
            <a:r>
              <a:rPr lang="de-DE" dirty="0"/>
              <a:t> and Interpretation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CF1EAA3-D7F2-B045-B22D-C9405AEBC7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42520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279D54-116A-6D58-B75A-2556899D6B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DBSCAN: Density-</a:t>
            </a:r>
            <a:r>
              <a:rPr lang="de-DE" dirty="0" err="1"/>
              <a:t>Based</a:t>
            </a:r>
            <a:r>
              <a:rPr lang="de-DE" dirty="0"/>
              <a:t> Clustering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6A32FD8-548B-71F2-BB0C-E2FA7DE0D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84536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7556B-98BB-9EF2-B9BD-688767AA83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Core Points, Border Points, Noise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157EE93D-CF21-6985-77E6-E17034472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3548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D358E7-F39E-EF65-C4C0-6907CB002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Choosing</a:t>
            </a:r>
            <a:r>
              <a:rPr lang="de-DE" dirty="0"/>
              <a:t> </a:t>
            </a:r>
            <a:r>
              <a:rPr lang="el-GR" dirty="0"/>
              <a:t>ε </a:t>
            </a:r>
            <a:r>
              <a:rPr lang="de-DE" dirty="0"/>
              <a:t>and </a:t>
            </a:r>
            <a:r>
              <a:rPr lang="de-DE" dirty="0" err="1"/>
              <a:t>min_samples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F67A71D-5771-002A-3ED3-D1F7EA87F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13119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A312D-A6FF-AB8E-359F-EE1BDB1D4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Comparing</a:t>
            </a:r>
            <a:r>
              <a:rPr lang="de-DE" dirty="0"/>
              <a:t> Clustering Methods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6EFA0DEA-9C10-4341-0996-B658FBE3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82994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AA823-E2CE-8C0D-90DB-02DFE9572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Validation </a:t>
            </a:r>
            <a:r>
              <a:rPr lang="de-DE" dirty="0" err="1"/>
              <a:t>Metrics</a:t>
            </a:r>
            <a:endParaRPr lang="de-DE" dirty="0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AAE878-7307-C927-4B47-5A9C5B86AC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Since</a:t>
            </a:r>
            <a:r>
              <a:rPr lang="de-DE" dirty="0"/>
              <a:t> </a:t>
            </a:r>
            <a:r>
              <a:rPr lang="de-DE" dirty="0" err="1"/>
              <a:t>clustering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unsupervised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single</a:t>
            </a:r>
            <a:r>
              <a:rPr lang="de-DE" dirty="0"/>
              <a:t> “</a:t>
            </a:r>
            <a:r>
              <a:rPr lang="de-DE" dirty="0" err="1"/>
              <a:t>correct</a:t>
            </a:r>
            <a:r>
              <a:rPr lang="de-DE" dirty="0"/>
              <a:t>” </a:t>
            </a:r>
            <a:r>
              <a:rPr lang="de-DE" dirty="0" err="1"/>
              <a:t>answer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Instead</a:t>
            </a:r>
            <a:r>
              <a:rPr lang="de-DE" dirty="0"/>
              <a:t> </a:t>
            </a:r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well-</a:t>
            </a:r>
            <a:r>
              <a:rPr lang="de-DE" dirty="0" err="1"/>
              <a:t>separated</a:t>
            </a:r>
            <a:r>
              <a:rPr lang="de-DE" dirty="0"/>
              <a:t> and </a:t>
            </a:r>
            <a:r>
              <a:rPr lang="de-DE" dirty="0" err="1"/>
              <a:t>cohesive</a:t>
            </a:r>
            <a:r>
              <a:rPr lang="de-DE" dirty="0"/>
              <a:t> </a:t>
            </a:r>
            <a:r>
              <a:rPr lang="de-DE" dirty="0" err="1"/>
              <a:t>clusters</a:t>
            </a:r>
            <a:r>
              <a:rPr lang="de-DE" dirty="0"/>
              <a:t> </a:t>
            </a:r>
            <a:r>
              <a:rPr lang="de-DE" dirty="0" err="1"/>
              <a:t>are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Evaluation </a:t>
            </a:r>
            <a:r>
              <a:rPr lang="de-DE" dirty="0" err="1"/>
              <a:t>metrics</a:t>
            </a:r>
            <a:r>
              <a:rPr lang="de-DE" dirty="0"/>
              <a:t>:</a:t>
            </a:r>
          </a:p>
          <a:p>
            <a:r>
              <a:rPr lang="de-DE" dirty="0"/>
              <a:t>Silhouette score</a:t>
            </a:r>
          </a:p>
          <a:p>
            <a:r>
              <a:rPr lang="de-DE" dirty="0"/>
              <a:t>Davies-</a:t>
            </a:r>
            <a:r>
              <a:rPr lang="de-DE" dirty="0" err="1"/>
              <a:t>Bouldin</a:t>
            </a:r>
            <a:r>
              <a:rPr lang="de-DE" dirty="0"/>
              <a:t> </a:t>
            </a:r>
            <a:r>
              <a:rPr lang="de-DE" dirty="0" err="1"/>
              <a:t>index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63E3869-C5B7-1A95-0614-2B381BD8C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742175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872AF3-6DAA-E6C2-A919-228FF3EB5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Visualizing</a:t>
            </a:r>
            <a:r>
              <a:rPr lang="de-DE" dirty="0"/>
              <a:t> Clusters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1251F56-854B-D4C6-04C7-5A3B3F8DB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00370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5D9CD1B-A5B6-7BCE-AB1E-4C80D77AE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Practical</a:t>
            </a:r>
            <a:r>
              <a:rPr lang="de-DE" dirty="0"/>
              <a:t> </a:t>
            </a:r>
            <a:r>
              <a:rPr lang="de-DE" dirty="0" err="1"/>
              <a:t>Considerations</a:t>
            </a:r>
            <a:endParaRPr lang="de-DE" dirty="0"/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AE0FEB0-A1C8-1184-0009-46A75979A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9287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630</Words>
  <Application>Microsoft Macintosh PowerPoint</Application>
  <PresentationFormat>Breitbild</PresentationFormat>
  <Paragraphs>182</Paragraphs>
  <Slides>29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29</vt:i4>
      </vt:variant>
    </vt:vector>
  </HeadingPairs>
  <TitlesOfParts>
    <vt:vector size="36" baseType="lpstr">
      <vt:lpstr>AccordAlternate</vt:lpstr>
      <vt:lpstr>Aptos</vt:lpstr>
      <vt:lpstr>Aptos Display</vt:lpstr>
      <vt:lpstr>Arial</vt:lpstr>
      <vt:lpstr>Cambria Math</vt:lpstr>
      <vt:lpstr>Wingdings</vt:lpstr>
      <vt:lpstr>Office Theme</vt:lpstr>
      <vt:lpstr>Clustering</vt:lpstr>
      <vt:lpstr>Course Schedule</vt:lpstr>
      <vt:lpstr>Clustering</vt:lpstr>
      <vt:lpstr>PowerPoint-Präsentation</vt:lpstr>
      <vt:lpstr>Use Cases for Unsupervised Learning</vt:lpstr>
      <vt:lpstr>What Is Clustering?</vt:lpstr>
      <vt:lpstr>Distance Metrics and Similarity</vt:lpstr>
      <vt:lpstr>Preprocessing for Clustering</vt:lpstr>
      <vt:lpstr>Overview of scikit-learn Clustering Algorithms</vt:lpstr>
      <vt:lpstr>k-Means: Intuition</vt:lpstr>
      <vt:lpstr>k-Means Algorithm</vt:lpstr>
      <vt:lpstr>Objective Function</vt:lpstr>
      <vt:lpstr>… Mean L2 vs Median L1 …</vt:lpstr>
      <vt:lpstr>k-Means Assumptions and Limitations</vt:lpstr>
      <vt:lpstr>Cluster Initialization</vt:lpstr>
      <vt:lpstr>Choosing the Number of Clusters</vt:lpstr>
      <vt:lpstr>… Evaluation against True Labels …</vt:lpstr>
      <vt:lpstr>Mini Batch k-Means</vt:lpstr>
      <vt:lpstr>Gaussian Mixture Models</vt:lpstr>
      <vt:lpstr>Hierarchical Clustering: Motivation</vt:lpstr>
      <vt:lpstr>Linkage Criteria</vt:lpstr>
      <vt:lpstr>Dendrograms and Interpretation</vt:lpstr>
      <vt:lpstr>DBSCAN: Density-Based Clustering</vt:lpstr>
      <vt:lpstr>Core Points, Border Points, Noise</vt:lpstr>
      <vt:lpstr>Choosing ε and min_samples</vt:lpstr>
      <vt:lpstr>Comparing Clustering Methods</vt:lpstr>
      <vt:lpstr>Cluster Validation Metrics</vt:lpstr>
      <vt:lpstr>Visualizing Clusters</vt:lpstr>
      <vt:lpstr>Practical Considerations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81</cp:revision>
  <dcterms:created xsi:type="dcterms:W3CDTF">2025-01-08T09:27:30Z</dcterms:created>
  <dcterms:modified xsi:type="dcterms:W3CDTF">2026-03-07T20:42:07Z</dcterms:modified>
</cp:coreProperties>
</file>