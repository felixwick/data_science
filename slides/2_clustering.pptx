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7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89" r:id="rId9"/>
    <p:sldId id="268" r:id="rId10"/>
    <p:sldId id="272" r:id="rId11"/>
    <p:sldId id="290" r:id="rId12"/>
    <p:sldId id="292" r:id="rId13"/>
    <p:sldId id="274" r:id="rId14"/>
    <p:sldId id="288" r:id="rId15"/>
    <p:sldId id="273" r:id="rId16"/>
    <p:sldId id="293" r:id="rId17"/>
    <p:sldId id="282" r:id="rId18"/>
    <p:sldId id="294" r:id="rId19"/>
    <p:sldId id="291" r:id="rId20"/>
    <p:sldId id="283" r:id="rId21"/>
    <p:sldId id="295" r:id="rId22"/>
    <p:sldId id="296" r:id="rId23"/>
    <p:sldId id="286" r:id="rId24"/>
    <p:sldId id="297" r:id="rId25"/>
    <p:sldId id="275" r:id="rId26"/>
    <p:sldId id="298" r:id="rId27"/>
    <p:sldId id="301" r:id="rId28"/>
    <p:sldId id="276" r:id="rId29"/>
    <p:sldId id="277" r:id="rId30"/>
    <p:sldId id="278" r:id="rId31"/>
    <p:sldId id="279" r:id="rId32"/>
    <p:sldId id="303" r:id="rId33"/>
    <p:sldId id="280" r:id="rId34"/>
    <p:sldId id="281" r:id="rId35"/>
    <p:sldId id="302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39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19/03/2026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19/03/2026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stable/auto_examples/cluster/plot_mini_batch_kmeans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ndij/mall-customer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covariances.html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cluster/plot_linkage_comparison.html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mixture/plot_gmm_covariances.html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ndij/mall-customer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in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object's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customer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endParaRPr lang="de-DE" dirty="0"/>
          </a:p>
          <a:p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r>
              <a:rPr lang="de-DE" dirty="0"/>
              <a:t> (</a:t>
            </a:r>
            <a:r>
              <a:rPr lang="de-DE" dirty="0" err="1"/>
              <a:t>regions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texture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intensity</a:t>
            </a:r>
            <a:r>
              <a:rPr lang="de-DE" dirty="0"/>
              <a:t>)</a:t>
            </a:r>
          </a:p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(in </a:t>
                </a:r>
                <a:r>
                  <a:rPr lang="de-DE" dirty="0" err="1"/>
                  <a:t>higher</a:t>
                </a:r>
                <a:r>
                  <a:rPr lang="de-DE" dirty="0"/>
                  <a:t>-dimensional </a:t>
                </a:r>
                <a:r>
                  <a:rPr lang="de-DE" dirty="0" err="1"/>
                  <a:t>space</a:t>
                </a:r>
                <a:r>
                  <a:rPr lang="de-DE" dirty="0"/>
                  <a:t>)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each</a:t>
                </a:r>
                <a:r>
                  <a:rPr lang="de-DE" dirty="0"/>
                  <a:t> feature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dimension</a:t>
                </a:r>
                <a:endParaRPr lang="de-DE" dirty="0"/>
              </a:p>
              <a:p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</a:t>
                </a:r>
                <a:r>
                  <a:rPr lang="de-DE" dirty="0" err="1"/>
                  <a:t>dimensions</a:t>
                </a:r>
                <a:endParaRPr lang="de-DE" dirty="0"/>
              </a:p>
              <a:p>
                <a:pPr lvl="1"/>
                <a:r>
                  <a:rPr lang="de-DE" dirty="0" err="1"/>
                  <a:t>Euclidean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Manhattan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, </a:t>
                </a:r>
                <a:r>
                  <a:rPr lang="de-DE" dirty="0" err="1"/>
                  <a:t>sometimes</a:t>
                </a:r>
                <a:r>
                  <a:rPr lang="de-DE" dirty="0"/>
                  <a:t> also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:r>
                  <a:rPr lang="de-DE" dirty="0" err="1"/>
                  <a:t>higher</a:t>
                </a:r>
                <a:r>
                  <a:rPr lang="de-DE" dirty="0"/>
                  <a:t> = </a:t>
                </a:r>
                <a:r>
                  <a:rPr lang="de-DE" dirty="0" err="1"/>
                  <a:t>closer</a:t>
                </a:r>
                <a:endParaRPr lang="de-DE" dirty="0"/>
              </a:p>
              <a:p>
                <a:pPr lvl="1"/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Pearson </a:t>
                </a:r>
                <a:r>
                  <a:rPr lang="de-DE" dirty="0" err="1"/>
                  <a:t>correlation</a:t>
                </a:r>
                <a:r>
                  <a:rPr lang="de-DE" dirty="0"/>
                  <a:t>: linear </a:t>
                </a:r>
                <a:r>
                  <a:rPr lang="de-DE" dirty="0" err="1"/>
                  <a:t>similarity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2B2B9-9ED8-1237-271E-39149E2D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distance </a:t>
                </a:r>
                <a:r>
                  <a:rPr lang="de-DE" dirty="0" err="1"/>
                  <a:t>measures</a:t>
                </a:r>
                <a:r>
                  <a:rPr lang="de-DE" dirty="0"/>
                  <a:t> 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need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scaling</a:t>
                </a:r>
                <a:endParaRPr lang="de-DE" dirty="0"/>
              </a:p>
              <a:p>
                <a:r>
                  <a:rPr lang="de-DE" b="1" dirty="0" err="1"/>
                  <a:t>standardization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b="1" dirty="0" err="1"/>
                  <a:t>normalization</a:t>
                </a:r>
                <a:r>
                  <a:rPr lang="de-DE" dirty="0"/>
                  <a:t>: </a:t>
                </a:r>
                <a:r>
                  <a:rPr lang="de-DE" dirty="0" err="1"/>
                  <a:t>scale</a:t>
                </a:r>
                <a:r>
                  <a:rPr lang="de-DE" dirty="0"/>
                  <a:t> all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scaling</a:t>
                </a:r>
                <a:r>
                  <a:rPr lang="de-DE" dirty="0"/>
                  <a:t>,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larger </a:t>
                </a:r>
                <a:r>
                  <a:rPr lang="de-DE" dirty="0" err="1"/>
                  <a:t>numeric</a:t>
                </a:r>
                <a:r>
                  <a:rPr lang="de-DE" dirty="0"/>
                  <a:t> </a:t>
                </a:r>
                <a:r>
                  <a:rPr lang="de-DE" dirty="0" err="1"/>
                  <a:t>ranges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30CB5C-3BD6-9F60-160E-F61FA944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18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795" y="1319972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45C140-32EF-08E0-AEC7-D5745575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71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divide a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hyperparameter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4877FB-7B11-447F-8D3C-FDF353D66B88}"/>
              </a:ext>
            </a:extLst>
          </p:cNvPr>
          <p:cNvSpPr txBox="1"/>
          <p:nvPr/>
        </p:nvSpPr>
        <p:spPr>
          <a:xfrm>
            <a:off x="5294795" y="6107389"/>
            <a:ext cx="5824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boundaries</a:t>
            </a:r>
            <a:r>
              <a:rPr lang="de-DE" dirty="0"/>
              <a:t> (</a:t>
            </a:r>
            <a:r>
              <a:rPr lang="de-DE" dirty="0" err="1"/>
              <a:t>straight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was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2-D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visualized</a:t>
            </a:r>
            <a:r>
              <a:rPr lang="de-DE" dirty="0"/>
              <a:t>)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A50DEF1-BEAD-FB26-5241-E76096B292E0}"/>
              </a:ext>
            </a:extLst>
          </p:cNvPr>
          <p:cNvCxnSpPr>
            <a:cxnSpLocks/>
          </p:cNvCxnSpPr>
          <p:nvPr/>
        </p:nvCxnSpPr>
        <p:spPr>
          <a:xfrm flipV="1">
            <a:off x="6659217" y="5625548"/>
            <a:ext cx="1013792" cy="551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22A36B6-BDB3-0940-B6A3-50D4BB310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b="1" dirty="0" err="1"/>
              <a:t>k</a:t>
            </a:r>
            <a:r>
              <a:rPr lang="de-DE" dirty="0"/>
              <a:t> (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initialize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: (</a:t>
            </a:r>
            <a:r>
              <a:rPr lang="de-DE" dirty="0" err="1"/>
              <a:t>randomly</a:t>
            </a:r>
            <a:r>
              <a:rPr lang="de-DE" dirty="0"/>
              <a:t>)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in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b="1" dirty="0" err="1"/>
              <a:t>Euclidean</a:t>
            </a:r>
            <a:r>
              <a:rPr lang="de-DE" b="1" dirty="0"/>
              <a:t> </a:t>
            </a:r>
            <a:r>
              <a:rPr lang="de-DE" b="1" dirty="0" err="1"/>
              <a:t>distances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recalculate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b="1" dirty="0" err="1"/>
              <a:t>average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 (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assignments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changing</a:t>
            </a:r>
            <a:r>
              <a:rPr lang="de-DE" dirty="0"/>
              <a:t>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1FD9-7F33-36F5-BFF7-3BD6F330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k-Means </a:t>
                </a:r>
                <a:r>
                  <a:rPr lang="de-DE" sz="2400" dirty="0" err="1"/>
                  <a:t>minimizes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squared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their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cluster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center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probem</a:t>
                </a:r>
                <a:endParaRPr lang="de-DE" sz="24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3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922702-5E58-0568-C418-A1EAB8D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9020DA-8026-7CCB-58DA-1957117D8C78}"/>
              </a:ext>
            </a:extLst>
          </p:cNvPr>
          <p:cNvSpPr txBox="1"/>
          <p:nvPr/>
        </p:nvSpPr>
        <p:spPr>
          <a:xfrm>
            <a:off x="6016487" y="3828663"/>
            <a:ext cx="411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distances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spherical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D9ABA17-E386-5CBD-E762-71B68A65B821}"/>
              </a:ext>
            </a:extLst>
          </p:cNvPr>
          <p:cNvCxnSpPr>
            <a:cxnSpLocks/>
          </p:cNvCxnSpPr>
          <p:nvPr/>
        </p:nvCxnSpPr>
        <p:spPr>
          <a:xfrm flipH="1" flipV="1">
            <a:off x="6659217" y="3319670"/>
            <a:ext cx="228600" cy="508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61831F7-0D8A-1BA2-0B83-252CE10C4F34}"/>
              </a:ext>
            </a:extLst>
          </p:cNvPr>
          <p:cNvSpPr txBox="1"/>
          <p:nvPr/>
        </p:nvSpPr>
        <p:spPr>
          <a:xfrm>
            <a:off x="4351123" y="5135121"/>
            <a:ext cx="6532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Manhattan </a:t>
            </a:r>
            <a:r>
              <a:rPr lang="de-DE" sz="2400" dirty="0" err="1"/>
              <a:t>distances</a:t>
            </a:r>
            <a:r>
              <a:rPr lang="de-DE" sz="2400" dirty="0"/>
              <a:t> (L1)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k</a:t>
            </a:r>
            <a:r>
              <a:rPr lang="de-DE" sz="2400" dirty="0">
                <a:sym typeface="Wingdings" pitchFamily="2" charset="2"/>
              </a:rPr>
              <a:t>-Medians (also </a:t>
            </a:r>
            <a:r>
              <a:rPr lang="de-DE" sz="2400" dirty="0" err="1"/>
              <a:t>recalculate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cluster</a:t>
            </a:r>
            <a:r>
              <a:rPr lang="de-DE" sz="2400" dirty="0"/>
              <a:t> </a:t>
            </a:r>
            <a:r>
              <a:rPr lang="de-DE" sz="2400" dirty="0" err="1"/>
              <a:t>centers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median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>
                <a:sym typeface="Wingdings" pitchFamily="2" charset="2"/>
              </a:rPr>
              <a:t>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8207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481BB-DFD4-77CC-115E-6A31A6CFC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L2 </a:t>
            </a:r>
            <a:r>
              <a:rPr lang="de-DE" dirty="0">
                <a:sym typeface="Wingdings" pitchFamily="2" charset="2"/>
              </a:rPr>
              <a:t> Mean, </a:t>
            </a:r>
            <a:r>
              <a:rPr lang="de-DE" dirty="0"/>
              <a:t> L1 </a:t>
            </a:r>
            <a:r>
              <a:rPr lang="de-DE" dirty="0">
                <a:sym typeface="Wingdings" pitchFamily="2" charset="2"/>
              </a:rPr>
              <a:t> Median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L2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:endParaRPr lang="de-DE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𝑛𝑎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mean</a:t>
                </a: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L1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sign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 median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F66D73-FD92-F395-A736-DB16B54A0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767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must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k</a:t>
                </a:r>
                <a:r>
                  <a:rPr lang="de-DE" dirty="0"/>
                  <a:t> </a:t>
                </a:r>
                <a:r>
                  <a:rPr lang="de-DE" dirty="0" err="1"/>
                  <a:t>beforehand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initial </a:t>
                </a:r>
                <a:r>
                  <a:rPr lang="de-DE" dirty="0" err="1"/>
                  <a:t>centroid</a:t>
                </a:r>
                <a:r>
                  <a:rPr lang="de-DE" dirty="0"/>
                  <a:t> </a:t>
                </a:r>
                <a:r>
                  <a:rPr lang="de-DE" dirty="0" err="1"/>
                  <a:t>placement</a:t>
                </a:r>
                <a:endParaRPr lang="de-DE" dirty="0"/>
              </a:p>
              <a:p>
                <a:r>
                  <a:rPr lang="de-DE" dirty="0" err="1"/>
                  <a:t>assumes</a:t>
                </a:r>
                <a:r>
                  <a:rPr lang="de-DE" dirty="0"/>
                  <a:t> </a:t>
                </a:r>
                <a:r>
                  <a:rPr lang="de-DE" dirty="0" err="1"/>
                  <a:t>clusters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spherical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Advantages:</a:t>
                </a:r>
              </a:p>
              <a:p>
                <a:r>
                  <a:rPr lang="de-DE" dirty="0"/>
                  <a:t>simple and fast: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well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large </a:t>
                </a:r>
                <a:r>
                  <a:rPr lang="de-DE" dirty="0" err="1"/>
                  <a:t>datasets</a:t>
                </a:r>
                <a:r>
                  <a:rPr lang="de-DE" dirty="0"/>
                  <a:t> (</a:t>
                </a:r>
                <a:r>
                  <a:rPr lang="de-DE" dirty="0" err="1">
                    <a:hlinkClick r:id="rId2"/>
                  </a:rPr>
                  <a:t>MiniBatchKMeans</a:t>
                </a:r>
                <a:r>
                  <a:rPr lang="de-DE" dirty="0"/>
                  <a:t> </a:t>
                </a:r>
                <a:r>
                  <a:rPr lang="de-DE" dirty="0" err="1"/>
                  <a:t>even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so)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78B86E-2536-62A6-22F6-FE295559335A}"/>
              </a:ext>
            </a:extLst>
          </p:cNvPr>
          <p:cNvSpPr txBox="1"/>
          <p:nvPr/>
        </p:nvSpPr>
        <p:spPr>
          <a:xfrm>
            <a:off x="5445561" y="4080805"/>
            <a:ext cx="112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iterations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DF7AF4-6660-0D67-224C-96CA0E54AB03}"/>
              </a:ext>
            </a:extLst>
          </p:cNvPr>
          <p:cNvSpPr txBox="1"/>
          <p:nvPr/>
        </p:nvSpPr>
        <p:spPr>
          <a:xfrm>
            <a:off x="3945835" y="4080805"/>
            <a:ext cx="1304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A36754A-6012-D801-22B7-A249ADAEA4E9}"/>
              </a:ext>
            </a:extLst>
          </p:cNvPr>
          <p:cNvCxnSpPr>
            <a:stCxn id="6" idx="2"/>
          </p:cNvCxnSpPr>
          <p:nvPr/>
        </p:nvCxnSpPr>
        <p:spPr>
          <a:xfrm flipH="1">
            <a:off x="4263887" y="4450137"/>
            <a:ext cx="334210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CFCD8D1-E55A-87A0-735D-5CE8FAA215F8}"/>
              </a:ext>
            </a:extLst>
          </p:cNvPr>
          <p:cNvCxnSpPr>
            <a:stCxn id="5" idx="2"/>
          </p:cNvCxnSpPr>
          <p:nvPr/>
        </p:nvCxnSpPr>
        <p:spPr>
          <a:xfrm flipH="1">
            <a:off x="5160907" y="4450137"/>
            <a:ext cx="845641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B2E4CA-B735-2522-94A8-FABA7925C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</a:t>
            </a:r>
            <a:r>
              <a:rPr lang="de-DE" dirty="0" err="1"/>
              <a:t>Initialization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51F910-C916-5E02-AF25-164F3AD8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starting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(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 non-</a:t>
            </a:r>
            <a:r>
              <a:rPr lang="de-DE" dirty="0" err="1"/>
              <a:t>convex</a:t>
            </a:r>
            <a:r>
              <a:rPr lang="de-DE" dirty="0"/>
              <a:t> </a:t>
            </a:r>
            <a:r>
              <a:rPr lang="de-DE" dirty="0" err="1"/>
              <a:t>objective</a:t>
            </a:r>
            <a:r>
              <a:rPr lang="de-DE" dirty="0"/>
              <a:t>: different initial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different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minima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Running </a:t>
            </a:r>
            <a:r>
              <a:rPr lang="de-DE" dirty="0" err="1"/>
              <a:t>k-means</a:t>
            </a:r>
            <a:r>
              <a:rPr lang="de-DE" dirty="0"/>
              <a:t> multiple </a:t>
            </a:r>
            <a:r>
              <a:rPr lang="de-DE" dirty="0" err="1"/>
              <a:t>times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different </a:t>
            </a:r>
            <a:r>
              <a:rPr lang="de-DE" dirty="0" err="1"/>
              <a:t>initializations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leads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/>
              <a:t>Poor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suboptimal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inconsistent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Practical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strategies</a:t>
            </a:r>
            <a:r>
              <a:rPr lang="de-DE" dirty="0">
                <a:sym typeface="Wingdings" pitchFamily="2" charset="2"/>
              </a:rPr>
              <a:t>:</a:t>
            </a:r>
            <a:endParaRPr lang="de-DE" dirty="0"/>
          </a:p>
          <a:p>
            <a:r>
              <a:rPr lang="de-DE" dirty="0"/>
              <a:t>Random </a:t>
            </a:r>
            <a:r>
              <a:rPr lang="de-DE" dirty="0" err="1"/>
              <a:t>restarts</a:t>
            </a:r>
            <a:r>
              <a:rPr lang="de-DE" dirty="0"/>
              <a:t>: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times</a:t>
            </a:r>
            <a:r>
              <a:rPr lang="de-DE" dirty="0"/>
              <a:t> and </a:t>
            </a:r>
            <a:r>
              <a:rPr lang="de-DE" dirty="0" err="1"/>
              <a:t>keep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r>
              <a:rPr lang="de-DE" dirty="0" err="1"/>
              <a:t>k-means</a:t>
            </a:r>
            <a:r>
              <a:rPr lang="de-DE" dirty="0"/>
              <a:t>++: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spread</a:t>
            </a:r>
            <a:r>
              <a:rPr lang="de-DE" dirty="0"/>
              <a:t> out initial </a:t>
            </a:r>
            <a:r>
              <a:rPr lang="de-DE" dirty="0" err="1"/>
              <a:t>centroids</a:t>
            </a:r>
            <a:r>
              <a:rPr lang="de-DE" dirty="0"/>
              <a:t> (also </a:t>
            </a:r>
            <a:r>
              <a:rPr lang="de-DE" dirty="0" err="1"/>
              <a:t>stochastic</a:t>
            </a:r>
            <a:r>
              <a:rPr lang="de-DE" dirty="0"/>
              <a:t>)</a:t>
            </a:r>
          </a:p>
          <a:p>
            <a:r>
              <a:rPr lang="de-DE" dirty="0"/>
              <a:t>PCA-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(</a:t>
            </a:r>
            <a:r>
              <a:rPr lang="de-DE" dirty="0" err="1"/>
              <a:t>deterministic</a:t>
            </a:r>
            <a:r>
              <a:rPr lang="de-DE" dirty="0"/>
              <a:t>: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2A536F-3618-D2CF-0544-827E525AA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0F8E02-7531-FD72-EA16-1FEB526B2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5779" y="0"/>
            <a:ext cx="2156221" cy="182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62A41-9B7D-DBB9-79D1-7AADFCB4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: </a:t>
            </a: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misleading</a:t>
            </a:r>
            <a:r>
              <a:rPr lang="de-DE" dirty="0"/>
              <a:t>,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groupings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underfitting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/ </a:t>
            </a:r>
            <a:r>
              <a:rPr lang="de-DE" dirty="0" err="1"/>
              <a:t>meaningless</a:t>
            </a:r>
            <a:r>
              <a:rPr lang="de-DE" dirty="0"/>
              <a:t> </a:t>
            </a:r>
            <a:r>
              <a:rPr lang="de-DE" dirty="0" err="1"/>
              <a:t>splits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Common </a:t>
            </a:r>
            <a:r>
              <a:rPr lang="de-DE" dirty="0" err="1"/>
              <a:t>workflow</a:t>
            </a:r>
            <a:r>
              <a:rPr lang="de-DE" dirty="0"/>
              <a:t>:</a:t>
            </a:r>
          </a:p>
          <a:p>
            <a:r>
              <a:rPr lang="de-DE" dirty="0"/>
              <a:t>Elbow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quick </a:t>
            </a:r>
            <a:r>
              <a:rPr lang="de-DE" dirty="0" err="1"/>
              <a:t>insight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metric</a:t>
            </a:r>
            <a:endParaRPr lang="de-DE" dirty="0"/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E71995-888F-33AD-8980-89DD72BBB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Elbow Plot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33066-2A06-1084-9274-4E3774F4A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44847" cy="4351338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Run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-cluster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squares</a:t>
            </a:r>
            <a:r>
              <a:rPr lang="de-DE" dirty="0"/>
              <a:t> (WCSS)</a:t>
            </a:r>
          </a:p>
          <a:p>
            <a:r>
              <a:rPr lang="de-DE" dirty="0"/>
              <a:t>Plot WCSS vs. </a:t>
            </a:r>
            <a:r>
              <a:rPr lang="de-DE" dirty="0" err="1"/>
              <a:t>k</a:t>
            </a:r>
            <a:endParaRPr lang="de-DE" dirty="0"/>
          </a:p>
          <a:p>
            <a:r>
              <a:rPr lang="de-DE" dirty="0"/>
              <a:t>Look </a:t>
            </a:r>
            <a:r>
              <a:rPr lang="de-DE" dirty="0" err="1"/>
              <a:t>for</a:t>
            </a:r>
            <a:r>
              <a:rPr lang="de-DE" dirty="0"/>
              <a:t> a “</a:t>
            </a:r>
            <a:r>
              <a:rPr lang="de-DE" dirty="0" err="1"/>
              <a:t>bend</a:t>
            </a:r>
            <a:r>
              <a:rPr lang="de-DE" dirty="0"/>
              <a:t>” (</a:t>
            </a:r>
            <a:r>
              <a:rPr lang="de-DE" dirty="0" err="1"/>
              <a:t>elbow</a:t>
            </a:r>
            <a:r>
              <a:rPr lang="de-DE" dirty="0"/>
              <a:t>)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improvement</a:t>
            </a:r>
            <a:r>
              <a:rPr lang="de-DE" dirty="0"/>
              <a:t> </a:t>
            </a:r>
            <a:r>
              <a:rPr lang="de-DE" dirty="0" err="1"/>
              <a:t>slows</a:t>
            </a:r>
            <a:r>
              <a:rPr lang="de-DE" dirty="0"/>
              <a:t> down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Idea: </a:t>
            </a: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, but after a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elbow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ambiguous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 visible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CDA20E-5253-C45E-C09D-183FF568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7715189-1203-533C-6770-2E3921D6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47" y="1825625"/>
            <a:ext cx="5172510" cy="412170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39F7A56C-157A-F7A8-DB88-C620B9C37FCD}"/>
              </a:ext>
            </a:extLst>
          </p:cNvPr>
          <p:cNvSpPr txBox="1"/>
          <p:nvPr/>
        </p:nvSpPr>
        <p:spPr>
          <a:xfrm>
            <a:off x="9569302" y="3105834"/>
            <a:ext cx="16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case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10C779-81C9-F430-7680-D17C2AEAB739}"/>
              </a:ext>
            </a:extLst>
          </p:cNvPr>
          <p:cNvCxnSpPr/>
          <p:nvPr/>
        </p:nvCxnSpPr>
        <p:spPr>
          <a:xfrm flipH="1">
            <a:off x="8746435" y="3429000"/>
            <a:ext cx="822867" cy="1530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768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(fast alternative)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5A60AB-F037-38B2-551A-BD097CB61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Silhouette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1800" dirty="0" err="1"/>
                  <a:t>Compares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a </a:t>
                </a:r>
                <a:r>
                  <a:rPr lang="de-DE" sz="1800" dirty="0" err="1"/>
                  <a:t>point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fits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its</a:t>
                </a:r>
                <a:r>
                  <a:rPr lang="de-DE" sz="1800" dirty="0"/>
                  <a:t> own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vs.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it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would</a:t>
                </a:r>
                <a:r>
                  <a:rPr lang="de-DE" sz="1800" dirty="0"/>
                  <a:t> fit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next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best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score = </a:t>
                </a:r>
                <a:r>
                  <a:rPr lang="de-DE" sz="1800" dirty="0" err="1"/>
                  <a:t>mean</a:t>
                </a:r>
                <a:r>
                  <a:rPr lang="de-DE" sz="1800" dirty="0"/>
                  <a:t> 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over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samples</a:t>
                </a: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a sample: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num>
                      <m:den>
                        <m:func>
                          <m:func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18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de-DE" sz="1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same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(intra-cluster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lowest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another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</a:t>
                </a:r>
                <a:r>
                  <a:rPr lang="de-DE" sz="1800" dirty="0" err="1"/>
                  <a:t>nearest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Score </a:t>
                </a:r>
                <a:r>
                  <a:rPr lang="de-DE" sz="1800" dirty="0" err="1"/>
                  <a:t>ranges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-1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</a:t>
                </a:r>
              </a:p>
              <a:p>
                <a:r>
                  <a:rPr lang="de-DE" sz="1800" dirty="0"/>
                  <a:t>Close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1: well-</a:t>
                </a:r>
                <a:r>
                  <a:rPr lang="de-DE" sz="1800" dirty="0" err="1"/>
                  <a:t>separated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 err="1"/>
                  <a:t>Around</a:t>
                </a:r>
                <a:r>
                  <a:rPr lang="de-DE" sz="1800" dirty="0"/>
                  <a:t> 0: </a:t>
                </a:r>
                <a:r>
                  <a:rPr lang="de-DE" sz="1800" dirty="0" err="1"/>
                  <a:t>overlapping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/>
                  <a:t>Negative: </a:t>
                </a:r>
                <a:r>
                  <a:rPr lang="de-DE" sz="1800" dirty="0" err="1"/>
                  <a:t>wrong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assignments</a:t>
                </a:r>
                <a:endParaRPr lang="de-DE" sz="18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F17BED-567A-F135-F979-7F17529C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884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B459EB-FAE8-31DC-E38F-3046EC5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Clustering 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427C8-4330-BC0E-F7FF-95DB2D986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External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ground-truth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 and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a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matches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“</a:t>
            </a:r>
            <a:r>
              <a:rPr lang="de-DE" dirty="0" err="1"/>
              <a:t>true</a:t>
            </a:r>
            <a:r>
              <a:rPr lang="de-DE" dirty="0"/>
              <a:t>” </a:t>
            </a:r>
            <a:r>
              <a:rPr lang="de-DE" dirty="0" err="1"/>
              <a:t>grouping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Evaluates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correctness</a:t>
            </a:r>
            <a:r>
              <a:rPr lang="de-DE" dirty="0">
                <a:sym typeface="Wingdings" pitchFamily="2" charset="2"/>
              </a:rPr>
              <a:t>, not just </a:t>
            </a:r>
            <a:r>
              <a:rPr lang="de-DE" dirty="0" err="1">
                <a:sym typeface="Wingdings" pitchFamily="2" charset="2"/>
              </a:rPr>
              <a:t>structure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Adjusted</a:t>
            </a:r>
            <a:r>
              <a:rPr lang="de-DE" dirty="0"/>
              <a:t> Rand </a:t>
            </a:r>
            <a:r>
              <a:rPr lang="de-DE" dirty="0" err="1"/>
              <a:t>index</a:t>
            </a:r>
            <a:r>
              <a:rPr lang="de-DE" dirty="0"/>
              <a:t>: </a:t>
            </a:r>
            <a:r>
              <a:rPr lang="de-DE" dirty="0" err="1"/>
              <a:t>counting</a:t>
            </a:r>
            <a:r>
              <a:rPr lang="de-DE" dirty="0"/>
              <a:t> </a:t>
            </a:r>
            <a:r>
              <a:rPr lang="de-DE" dirty="0" err="1"/>
              <a:t>pairs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or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clusterings</a:t>
            </a:r>
            <a:r>
              <a:rPr lang="de-DE" dirty="0"/>
              <a:t>,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chance</a:t>
            </a:r>
            <a:r>
              <a:rPr lang="de-DE" dirty="0"/>
              <a:t> (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):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ARI = (RI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 / (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max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(RI)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r>
              <a:rPr lang="de-DE" dirty="0" err="1"/>
              <a:t>Adjusted</a:t>
            </a:r>
            <a:r>
              <a:rPr lang="de-DE" dirty="0"/>
              <a:t> mutual </a:t>
            </a:r>
            <a:r>
              <a:rPr lang="de-DE" dirty="0" err="1"/>
              <a:t>information</a:t>
            </a:r>
            <a:endParaRPr lang="de-DE" dirty="0"/>
          </a:p>
          <a:p>
            <a:r>
              <a:rPr lang="de-DE" dirty="0" err="1"/>
              <a:t>Homogeneity</a:t>
            </a:r>
            <a:r>
              <a:rPr lang="de-DE" dirty="0"/>
              <a:t>, </a:t>
            </a:r>
            <a:r>
              <a:rPr lang="de-DE" dirty="0" err="1"/>
              <a:t>completeness</a:t>
            </a:r>
            <a:r>
              <a:rPr lang="de-DE" dirty="0"/>
              <a:t>, and V-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scores</a:t>
            </a:r>
            <a:endParaRPr lang="de-DE" dirty="0"/>
          </a:p>
          <a:p>
            <a:pPr lvl="1"/>
            <a:r>
              <a:rPr lang="de-DE" dirty="0" err="1"/>
              <a:t>homogeneity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class</a:t>
            </a:r>
            <a:endParaRPr lang="de-DE" dirty="0"/>
          </a:p>
          <a:p>
            <a:pPr lvl="1"/>
            <a:r>
              <a:rPr lang="de-DE" dirty="0" err="1"/>
              <a:t>completeness</a:t>
            </a:r>
            <a:r>
              <a:rPr lang="de-DE" dirty="0"/>
              <a:t>: all </a:t>
            </a:r>
            <a:r>
              <a:rPr lang="de-DE" dirty="0" err="1"/>
              <a:t>members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cluster</a:t>
            </a:r>
            <a:endParaRPr lang="de-DE" dirty="0"/>
          </a:p>
          <a:p>
            <a:pPr lvl="1"/>
            <a:r>
              <a:rPr lang="de-DE" dirty="0"/>
              <a:t>V-</a:t>
            </a:r>
            <a:r>
              <a:rPr lang="de-DE" dirty="0" err="1"/>
              <a:t>measure</a:t>
            </a:r>
            <a:r>
              <a:rPr lang="de-DE" dirty="0"/>
              <a:t>: </a:t>
            </a:r>
            <a:r>
              <a:rPr lang="de-DE" dirty="0" err="1"/>
              <a:t>harmonic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homogeneity</a:t>
            </a:r>
            <a:r>
              <a:rPr lang="de-DE" dirty="0"/>
              <a:t> and </a:t>
            </a:r>
            <a:r>
              <a:rPr lang="de-DE" dirty="0" err="1"/>
              <a:t>completeness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A4EA1-06DA-F940-1383-630B8622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05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6E7ED1-7488-E0CC-5C80-6134391A1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Even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,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sanity</a:t>
            </a:r>
            <a:r>
              <a:rPr lang="de-DE" dirty="0"/>
              <a:t>-check:</a:t>
            </a:r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PCA </a:t>
            </a:r>
            <a:r>
              <a:rPr lang="de-DE" dirty="0" err="1"/>
              <a:t>or</a:t>
            </a:r>
            <a:r>
              <a:rPr lang="de-DE" dirty="0"/>
              <a:t> t-SNE </a:t>
            </a:r>
            <a:r>
              <a:rPr lang="de-DE" dirty="0" err="1"/>
              <a:t>for</a:t>
            </a:r>
            <a:r>
              <a:rPr lang="de-DE" dirty="0"/>
              <a:t> high </a:t>
            </a:r>
            <a:r>
              <a:rPr lang="de-DE" dirty="0" err="1"/>
              <a:t>dimensions</a:t>
            </a:r>
            <a:r>
              <a:rPr lang="de-DE" dirty="0"/>
              <a:t>)</a:t>
            </a:r>
          </a:p>
          <a:p>
            <a:r>
              <a:rPr lang="de-DE" dirty="0"/>
              <a:t>Ask: Do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sense in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861363D-71A9-BB23-8E03-572F96EE9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3" y="3188400"/>
            <a:ext cx="4334091" cy="335051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24B4F01-6342-71F0-9C42-11BC44FC5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10" y="3234437"/>
            <a:ext cx="4193179" cy="330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68D1B-A2EE-F2CE-AD52-EB2C87A5B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4FCB9-BA82-739D-B7F6-7D6511A25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Customer Segmentation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on </a:t>
            </a:r>
            <a:r>
              <a:rPr lang="de-DE" dirty="0">
                <a:hlinkClick r:id="rId2"/>
              </a:rPr>
              <a:t>Mall Customers dataset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AF4DC5F-D48A-1033-7650-05C30D58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47867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4A32B6-34C5-0593-9264-11762B336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FDA34E2-491D-0922-FDC4-FF707320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365"/>
            <a:ext cx="7772400" cy="61172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88F2B15-1EFD-A0F9-B86A-EEC2FA156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624" y="1720510"/>
            <a:ext cx="4483376" cy="3416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8573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6905"/>
            <a:ext cx="7172739" cy="26668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assigns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Euclidean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effectively</a:t>
            </a:r>
            <a:r>
              <a:rPr lang="de-DE" dirty="0"/>
              <a:t> </a:t>
            </a:r>
            <a:r>
              <a:rPr lang="de-DE" dirty="0" err="1"/>
              <a:t>spherical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straight</a:t>
            </a:r>
            <a:r>
              <a:rPr lang="de-DE" dirty="0"/>
              <a:t>-line </a:t>
            </a:r>
            <a:r>
              <a:rPr lang="de-DE" dirty="0" err="1"/>
              <a:t>boundaries</a:t>
            </a:r>
            <a:r>
              <a:rPr lang="de-DE" dirty="0"/>
              <a:t> in 2D)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 (GMM),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modeled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multivariate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(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elliptical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1026" name="Picture 2" descr="spherical, diag, tied, full">
            <a:extLst>
              <a:ext uri="{FF2B5EF4-FFF2-40B4-BE49-F238E27FC236}">
                <a16:creationId xmlns:a16="http://schemas.microsoft.com/office/drawing/2014/main" id="{3C32AA3D-D421-BA34-023C-009765C6B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939" y="0"/>
            <a:ext cx="4181061" cy="4181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0DB1C56-2B4E-7A89-9076-B2C295DE1860}"/>
              </a:ext>
            </a:extLst>
          </p:cNvPr>
          <p:cNvSpPr txBox="1"/>
          <p:nvPr/>
        </p:nvSpPr>
        <p:spPr>
          <a:xfrm>
            <a:off x="838200" y="4413151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k-Means</a:t>
            </a:r>
            <a:r>
              <a:rPr lang="de-DE" sz="2400" dirty="0"/>
              <a:t>: Group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around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nearest</a:t>
            </a:r>
            <a:r>
              <a:rPr lang="de-DE" sz="2400" dirty="0"/>
              <a:t> </a:t>
            </a:r>
            <a:r>
              <a:rPr lang="de-DE" sz="2400" dirty="0" err="1"/>
              <a:t>center</a:t>
            </a:r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/>
              <a:t>GMM: </a:t>
            </a:r>
            <a:r>
              <a:rPr lang="de-DE" sz="2400" dirty="0" err="1"/>
              <a:t>Assume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was </a:t>
            </a:r>
            <a:r>
              <a:rPr lang="de-DE" sz="2400" dirty="0" err="1"/>
              <a:t>generated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several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distributions</a:t>
            </a:r>
            <a:r>
              <a:rPr lang="de-DE" sz="2400" dirty="0"/>
              <a:t> and </a:t>
            </a:r>
            <a:r>
              <a:rPr lang="de-DE" sz="2400" dirty="0" err="1"/>
              <a:t>estimate</a:t>
            </a:r>
            <a:r>
              <a:rPr lang="de-DE" sz="2400" dirty="0"/>
              <a:t> </a:t>
            </a:r>
            <a:r>
              <a:rPr lang="de-DE" sz="2400" dirty="0" err="1"/>
              <a:t>them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k-Means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interpreted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special</a:t>
            </a:r>
            <a:r>
              <a:rPr lang="de-DE" sz="2400" dirty="0"/>
              <a:t> </a:t>
            </a:r>
            <a:r>
              <a:rPr lang="de-DE" sz="2400" dirty="0" err="1"/>
              <a:t>case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mixture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same </a:t>
            </a:r>
            <a:r>
              <a:rPr lang="de-DE" sz="2400" dirty="0" err="1"/>
              <a:t>variance</a:t>
            </a:r>
            <a:r>
              <a:rPr lang="de-DE" sz="2400" dirty="0"/>
              <a:t> in all </a:t>
            </a:r>
            <a:r>
              <a:rPr lang="de-DE" sz="2400" dirty="0" err="1"/>
              <a:t>directions</a:t>
            </a:r>
            <a:r>
              <a:rPr lang="de-DE" sz="2400" dirty="0"/>
              <a:t> and </a:t>
            </a:r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covariance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6CDE3F-08E5-532F-4B3B-5300331A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GMM </a:t>
            </a:r>
            <a:r>
              <a:rPr lang="de-DE" dirty="0" err="1"/>
              <a:t>Covariance</a:t>
            </a:r>
            <a:r>
              <a:rPr lang="de-DE" dirty="0"/>
              <a:t> Matrices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5D104B-F4AC-DC24-01F6-E760C0123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de-DE" dirty="0" err="1"/>
              <a:t>full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general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tied</a:t>
            </a:r>
            <a:r>
              <a:rPr lang="de-DE" dirty="0"/>
              <a:t>: all </a:t>
            </a:r>
            <a:r>
              <a:rPr lang="de-DE" dirty="0" err="1"/>
              <a:t>components</a:t>
            </a:r>
            <a:r>
              <a:rPr lang="de-DE" dirty="0"/>
              <a:t> </a:t>
            </a:r>
            <a:r>
              <a:rPr lang="de-DE" dirty="0" err="1"/>
              <a:t>share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general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diag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diagonal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spherical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variance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61C2E3-B328-C29E-17C5-846C62E45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1026" name="Picture 2" descr="spherical, diag, tied, full">
            <a:extLst>
              <a:ext uri="{FF2B5EF4-FFF2-40B4-BE49-F238E27FC236}">
                <a16:creationId xmlns:a16="http://schemas.microsoft.com/office/drawing/2014/main" id="{F801D49C-FEAF-C2A2-73EF-DBC1490E9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113" y="1253663"/>
            <a:ext cx="5102687" cy="5102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8F63E4B-DB35-4BD8-2083-ADEE9975DBE9}"/>
              </a:ext>
            </a:extLst>
          </p:cNvPr>
          <p:cNvSpPr txBox="1"/>
          <p:nvPr/>
        </p:nvSpPr>
        <p:spPr>
          <a:xfrm>
            <a:off x="7736072" y="884331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3"/>
              </a:rPr>
              <a:t>scikit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learn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example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6748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D43E1A-B4C6-C600-C100-9CC8DC641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Builds</a:t>
            </a:r>
            <a:r>
              <a:rPr lang="de-DE" dirty="0"/>
              <a:t> a </a:t>
            </a:r>
            <a:r>
              <a:rPr lang="de-DE" dirty="0" err="1"/>
              <a:t>tree</a:t>
            </a:r>
            <a:r>
              <a:rPr lang="de-DE" dirty="0"/>
              <a:t> (</a:t>
            </a:r>
            <a:r>
              <a:rPr lang="de-DE" dirty="0" err="1"/>
              <a:t>dendrogram</a:t>
            </a:r>
            <a:r>
              <a:rPr lang="de-DE" dirty="0"/>
              <a:t>)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structures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pre-specify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visualize</a:t>
            </a:r>
            <a:r>
              <a:rPr lang="de-DE" dirty="0"/>
              <a:t> and </a:t>
            </a:r>
            <a:r>
              <a:rPr lang="de-DE" dirty="0" err="1"/>
              <a:t>interpret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computationally</a:t>
            </a:r>
            <a:r>
              <a:rPr lang="de-DE" dirty="0"/>
              <a:t> expensive and sensitive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and </a:t>
            </a:r>
            <a:r>
              <a:rPr lang="de-DE" dirty="0" err="1"/>
              <a:t>outliers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A795E3-8759-6E8B-1DBA-45DFA164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Key Idea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6B8F8F-3C4E-99B0-8059-286F2BFD6A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85793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merge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split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based</a:t>
            </a:r>
            <a:r>
              <a:rPr lang="de-DE" dirty="0"/>
              <a:t> on a </a:t>
            </a:r>
            <a:r>
              <a:rPr lang="de-DE" dirty="0" err="1"/>
              <a:t>distance</a:t>
            </a:r>
            <a:r>
              <a:rPr lang="de-DE" dirty="0"/>
              <a:t> (</a:t>
            </a:r>
            <a:r>
              <a:rPr lang="de-DE" dirty="0" err="1"/>
              <a:t>similarity</a:t>
            </a:r>
            <a:r>
              <a:rPr lang="de-DE" dirty="0"/>
              <a:t>) </a:t>
            </a:r>
            <a:r>
              <a:rPr lang="de-DE" dirty="0" err="1"/>
              <a:t>measure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AD117E-071A-5DEF-876A-40396D489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18ACD6D-54C0-88CF-3882-B5E4C688401F}"/>
              </a:ext>
            </a:extLst>
          </p:cNvPr>
          <p:cNvSpPr txBox="1"/>
          <p:nvPr/>
        </p:nvSpPr>
        <p:spPr>
          <a:xfrm>
            <a:off x="838200" y="2818503"/>
            <a:ext cx="4707835" cy="3877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b="1" dirty="0" err="1"/>
              <a:t>Agglomerative</a:t>
            </a:r>
            <a:r>
              <a:rPr lang="de-DE" sz="2400" dirty="0"/>
              <a:t> (</a:t>
            </a:r>
            <a:r>
              <a:rPr lang="de-DE" sz="2400" dirty="0" err="1"/>
              <a:t>bottom-up</a:t>
            </a:r>
            <a:r>
              <a:rPr lang="de-DE" sz="2400" dirty="0"/>
              <a:t>)</a:t>
            </a:r>
          </a:p>
          <a:p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Start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its</a:t>
            </a:r>
            <a:r>
              <a:rPr lang="de-DE" sz="2200" dirty="0"/>
              <a:t> own </a:t>
            </a:r>
            <a:r>
              <a:rPr lang="de-DE" sz="2200" dirty="0" err="1"/>
              <a:t>cluster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Repeat: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Find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closest</a:t>
            </a:r>
            <a:r>
              <a:rPr lang="de-DE" sz="2200" dirty="0"/>
              <a:t> pair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endParaRPr lang="de-DE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Merge</a:t>
            </a:r>
            <a:r>
              <a:rPr lang="de-DE" sz="2200" dirty="0"/>
              <a:t> </a:t>
            </a:r>
            <a:r>
              <a:rPr lang="de-DE" sz="2200" dirty="0" err="1"/>
              <a:t>them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Continue</a:t>
            </a:r>
            <a:r>
              <a:rPr lang="de-DE" sz="2200" dirty="0"/>
              <a:t> </a:t>
            </a:r>
            <a:r>
              <a:rPr lang="de-DE" sz="2200" dirty="0" err="1"/>
              <a:t>until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cluster</a:t>
            </a:r>
            <a:r>
              <a:rPr lang="de-DE" sz="2200" dirty="0"/>
              <a:t> </a:t>
            </a:r>
            <a:r>
              <a:rPr lang="de-DE" sz="2200" dirty="0" err="1"/>
              <a:t>remains</a:t>
            </a:r>
            <a:endParaRPr lang="de-DE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desired</a:t>
            </a:r>
            <a:r>
              <a:rPr lang="de-DE" sz="2200" dirty="0"/>
              <a:t> </a:t>
            </a:r>
            <a:r>
              <a:rPr lang="de-DE" sz="2200" dirty="0" err="1"/>
              <a:t>number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reached</a:t>
            </a:r>
            <a:endParaRPr lang="de-DE" sz="22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9556136-CB1E-0103-27DC-DA49B42A857C}"/>
              </a:ext>
            </a:extLst>
          </p:cNvPr>
          <p:cNvSpPr txBox="1"/>
          <p:nvPr/>
        </p:nvSpPr>
        <p:spPr>
          <a:xfrm>
            <a:off x="6645964" y="2824232"/>
            <a:ext cx="4707835" cy="25237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b="1" dirty="0" err="1"/>
              <a:t>Divisive</a:t>
            </a:r>
            <a:r>
              <a:rPr lang="de-DE" sz="2400" dirty="0"/>
              <a:t> (top-down)</a:t>
            </a:r>
          </a:p>
          <a:p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/>
              <a:t>Start </a:t>
            </a:r>
            <a:r>
              <a:rPr lang="de-DE" sz="2200" dirty="0" err="1"/>
              <a:t>with</a:t>
            </a:r>
            <a:r>
              <a:rPr lang="de-DE" sz="2200" dirty="0"/>
              <a:t> all </a:t>
            </a:r>
            <a:r>
              <a:rPr lang="de-DE" sz="2200" dirty="0" err="1"/>
              <a:t>data</a:t>
            </a:r>
            <a:r>
              <a:rPr lang="de-DE" sz="2200" dirty="0"/>
              <a:t> in </a:t>
            </a: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cluster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Recursively</a:t>
            </a:r>
            <a:r>
              <a:rPr lang="de-DE" sz="2200" dirty="0"/>
              <a:t> </a:t>
            </a:r>
            <a:r>
              <a:rPr lang="de-DE" sz="2200" dirty="0" err="1"/>
              <a:t>split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Less</a:t>
            </a:r>
            <a:r>
              <a:rPr lang="de-DE" sz="2200" dirty="0"/>
              <a:t> </a:t>
            </a:r>
            <a:r>
              <a:rPr lang="de-DE" sz="2200" dirty="0" err="1"/>
              <a:t>commonly</a:t>
            </a:r>
            <a:r>
              <a:rPr lang="de-DE" sz="2200" dirty="0"/>
              <a:t> </a:t>
            </a:r>
            <a:r>
              <a:rPr lang="de-DE" sz="2200" dirty="0" err="1"/>
              <a:t>used</a:t>
            </a:r>
            <a:r>
              <a:rPr lang="de-DE" sz="2200" dirty="0"/>
              <a:t> (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computationally</a:t>
            </a:r>
            <a:r>
              <a:rPr lang="de-DE" sz="2200" dirty="0"/>
              <a:t> expensive)</a:t>
            </a:r>
          </a:p>
        </p:txBody>
      </p:sp>
    </p:spTree>
    <p:extLst>
      <p:ext uri="{BB962C8B-B14F-4D97-AF65-F5344CB8AC3E}">
        <p14:creationId xmlns:p14="http://schemas.microsoft.com/office/powerpoint/2010/main" val="2948405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7E9558-60FF-C775-2BB6-0984854D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Measures</a:t>
            </a:r>
            <a:r>
              <a:rPr lang="de-DE" dirty="0"/>
              <a:t> and </a:t>
            </a:r>
            <a:r>
              <a:rPr lang="de-DE" dirty="0" err="1"/>
              <a:t>Linkage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A418D-158A-0B53-CC56-8FC2C9052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As </a:t>
            </a:r>
            <a:r>
              <a:rPr lang="de-DE" sz="2400" dirty="0" err="1"/>
              <a:t>before</a:t>
            </a:r>
            <a:r>
              <a:rPr lang="de-DE" sz="2400" dirty="0"/>
              <a:t>, </a:t>
            </a:r>
            <a:r>
              <a:rPr lang="de-DE" sz="2400" dirty="0" err="1"/>
              <a:t>need</a:t>
            </a:r>
            <a:r>
              <a:rPr lang="de-DE" sz="2400" dirty="0"/>
              <a:t> a </a:t>
            </a:r>
            <a:r>
              <a:rPr lang="de-DE" sz="2400" dirty="0" err="1"/>
              <a:t>way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measure</a:t>
            </a:r>
            <a:r>
              <a:rPr lang="de-DE" sz="2400" dirty="0"/>
              <a:t> </a:t>
            </a:r>
            <a:r>
              <a:rPr lang="de-DE" sz="2400" dirty="0" err="1"/>
              <a:t>similarity</a:t>
            </a:r>
            <a:r>
              <a:rPr lang="de-DE" sz="2400" dirty="0"/>
              <a:t>/</a:t>
            </a:r>
            <a:r>
              <a:rPr lang="de-DE" sz="2400" dirty="0" err="1"/>
              <a:t>distance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</a:t>
            </a:r>
            <a:endParaRPr lang="de-DE" sz="2400" dirty="0"/>
          </a:p>
          <a:p>
            <a:r>
              <a:rPr lang="de-DE" sz="2400" dirty="0"/>
              <a:t>Manhattan </a:t>
            </a:r>
            <a:r>
              <a:rPr lang="de-DE" sz="2400" dirty="0" err="1"/>
              <a:t>distance</a:t>
            </a:r>
            <a:endParaRPr lang="de-DE" sz="2400" dirty="0"/>
          </a:p>
          <a:p>
            <a:r>
              <a:rPr lang="de-DE" sz="2400" dirty="0" err="1"/>
              <a:t>Cosine</a:t>
            </a:r>
            <a:r>
              <a:rPr lang="de-DE" sz="2400" dirty="0"/>
              <a:t> </a:t>
            </a:r>
            <a:r>
              <a:rPr lang="de-DE" sz="2400" dirty="0" err="1"/>
              <a:t>similarity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Choice </a:t>
            </a:r>
            <a:r>
              <a:rPr lang="de-DE" sz="2400" dirty="0" err="1"/>
              <a:t>affects</a:t>
            </a:r>
            <a:r>
              <a:rPr lang="de-DE" sz="2400" dirty="0"/>
              <a:t> </a:t>
            </a:r>
            <a:r>
              <a:rPr lang="de-DE" sz="2400" dirty="0" err="1"/>
              <a:t>clustering</a:t>
            </a:r>
            <a:r>
              <a:rPr lang="de-DE" sz="2400" dirty="0"/>
              <a:t> </a:t>
            </a:r>
            <a:r>
              <a:rPr lang="de-DE" sz="2400" dirty="0" err="1"/>
              <a:t>results</a:t>
            </a:r>
            <a:r>
              <a:rPr lang="de-DE" sz="2400" dirty="0"/>
              <a:t> </a:t>
            </a:r>
            <a:r>
              <a:rPr lang="de-DE" sz="2400" dirty="0" err="1"/>
              <a:t>significantly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Cluster-</a:t>
            </a:r>
            <a:r>
              <a:rPr lang="de-DE" sz="2400" dirty="0" err="1"/>
              <a:t>to</a:t>
            </a:r>
            <a:r>
              <a:rPr lang="de-DE" sz="2400" dirty="0"/>
              <a:t>-cluster </a:t>
            </a:r>
            <a:r>
              <a:rPr lang="de-DE" sz="2400" dirty="0" err="1"/>
              <a:t>distance</a:t>
            </a:r>
            <a:r>
              <a:rPr lang="de-DE" sz="2400" dirty="0"/>
              <a:t> (</a:t>
            </a:r>
            <a:r>
              <a:rPr lang="de-DE" sz="2400" dirty="0" err="1"/>
              <a:t>linkage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/>
              <a:t>In </a:t>
            </a:r>
            <a:r>
              <a:rPr lang="de-DE" sz="2400" dirty="0" err="1"/>
              <a:t>hierarchical</a:t>
            </a:r>
            <a:r>
              <a:rPr lang="de-DE" sz="2400" dirty="0"/>
              <a:t> </a:t>
            </a:r>
            <a:r>
              <a:rPr lang="de-DE" sz="2400" dirty="0" err="1"/>
              <a:t>clustering</a:t>
            </a:r>
            <a:r>
              <a:rPr lang="de-DE" sz="2400" dirty="0"/>
              <a:t>,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not </a:t>
            </a:r>
            <a:r>
              <a:rPr lang="de-DE" sz="2400" dirty="0" err="1"/>
              <a:t>summarized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a </a:t>
            </a:r>
            <a:r>
              <a:rPr lang="de-DE" sz="2400" dirty="0" err="1"/>
              <a:t>single</a:t>
            </a:r>
            <a:r>
              <a:rPr lang="de-DE" sz="2400" dirty="0"/>
              <a:t> </a:t>
            </a:r>
            <a:r>
              <a:rPr lang="de-DE" sz="2400" dirty="0" err="1"/>
              <a:t>representative</a:t>
            </a:r>
            <a:r>
              <a:rPr lang="de-DE" sz="2400" dirty="0"/>
              <a:t> </a:t>
            </a:r>
            <a:r>
              <a:rPr lang="de-DE" sz="2400" dirty="0" err="1"/>
              <a:t>point</a:t>
            </a:r>
            <a:r>
              <a:rPr lang="de-DE" sz="2400" dirty="0"/>
              <a:t> (e.g., a </a:t>
            </a:r>
            <a:r>
              <a:rPr lang="de-DE" sz="2400" dirty="0" err="1"/>
              <a:t>centroid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N</a:t>
            </a:r>
            <a:r>
              <a:rPr lang="de-DE" sz="2400" dirty="0"/>
              <a:t>eed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define</a:t>
            </a:r>
            <a:r>
              <a:rPr lang="de-DE" sz="2400" dirty="0"/>
              <a:t> </a:t>
            </a:r>
            <a:r>
              <a:rPr lang="de-DE" sz="2400" dirty="0" err="1"/>
              <a:t>distance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r>
              <a:rPr lang="de-DE" sz="2400" dirty="0"/>
              <a:t> (</a:t>
            </a:r>
            <a:r>
              <a:rPr lang="de-DE" sz="2400" dirty="0" err="1"/>
              <a:t>sets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): </a:t>
            </a:r>
            <a:r>
              <a:rPr lang="de-DE" sz="2400" dirty="0" err="1"/>
              <a:t>linkage</a:t>
            </a:r>
            <a:r>
              <a:rPr lang="de-DE" sz="2400" dirty="0"/>
              <a:t> </a:t>
            </a:r>
            <a:r>
              <a:rPr lang="de-DE" sz="2400" dirty="0" err="1"/>
              <a:t>criteria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E3578-2FA2-9F5A-8186-D9B607723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3396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8F11AAD-8546-9E9B-7B9C-27433A01B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82208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possibilities</a:t>
            </a:r>
            <a:r>
              <a:rPr lang="de-DE" dirty="0"/>
              <a:t> (</a:t>
            </a: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):</a:t>
            </a:r>
          </a:p>
          <a:p>
            <a:r>
              <a:rPr lang="de-DE" dirty="0"/>
              <a:t>Single </a:t>
            </a:r>
            <a:r>
              <a:rPr lang="de-DE" dirty="0" err="1"/>
              <a:t>Linkage</a:t>
            </a:r>
            <a:r>
              <a:rPr lang="de-DE" dirty="0"/>
              <a:t>: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closest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can</a:t>
            </a:r>
            <a:r>
              <a:rPr lang="de-DE" dirty="0"/>
              <a:t> form “</a:t>
            </a:r>
            <a:r>
              <a:rPr lang="de-DE" dirty="0" err="1"/>
              <a:t>chains</a:t>
            </a:r>
            <a:r>
              <a:rPr lang="de-DE" dirty="0"/>
              <a:t>” (</a:t>
            </a:r>
            <a:r>
              <a:rPr lang="de-DE" dirty="0" err="1"/>
              <a:t>elongated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Linkage</a:t>
            </a:r>
            <a:r>
              <a:rPr lang="de-DE" dirty="0"/>
              <a:t>: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farthest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compact</a:t>
            </a:r>
            <a:r>
              <a:rPr lang="de-DE" dirty="0"/>
              <a:t> (</a:t>
            </a:r>
            <a:r>
              <a:rPr lang="de-DE" dirty="0" err="1"/>
              <a:t>spherical</a:t>
            </a:r>
            <a:r>
              <a:rPr lang="de-DE" dirty="0"/>
              <a:t>) </a:t>
            </a:r>
            <a:r>
              <a:rPr lang="de-DE" dirty="0" err="1"/>
              <a:t>clusters</a:t>
            </a:r>
            <a:endParaRPr lang="de-DE" dirty="0"/>
          </a:p>
          <a:p>
            <a:r>
              <a:rPr lang="de-DE" dirty="0"/>
              <a:t>Average </a:t>
            </a:r>
            <a:r>
              <a:rPr lang="de-DE" dirty="0" err="1"/>
              <a:t>Linkage</a:t>
            </a:r>
            <a:r>
              <a:rPr lang="de-DE" dirty="0"/>
              <a:t>: Average </a:t>
            </a:r>
            <a:r>
              <a:rPr lang="de-DE" dirty="0" err="1"/>
              <a:t>pairwise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balanced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  <a:p>
            <a:r>
              <a:rPr lang="de-DE" dirty="0"/>
              <a:t>Ward’s Method: </a:t>
            </a:r>
            <a:r>
              <a:rPr lang="de-DE" dirty="0" err="1"/>
              <a:t>Minimizes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pic>
        <p:nvPicPr>
          <p:cNvPr id="3074" name="Picture 2" descr="Single Linkage, Average Linkage, Complete Linkage, Ward Linkage">
            <a:extLst>
              <a:ext uri="{FF2B5EF4-FFF2-40B4-BE49-F238E27FC236}">
                <a16:creationId xmlns:a16="http://schemas.microsoft.com/office/drawing/2014/main" id="{AC9426B0-19E7-4E1F-CB25-F92815AA0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408" y="681037"/>
            <a:ext cx="5171592" cy="547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hlinkClick r:id="rId3"/>
            <a:extLst>
              <a:ext uri="{FF2B5EF4-FFF2-40B4-BE49-F238E27FC236}">
                <a16:creationId xmlns:a16="http://schemas.microsoft.com/office/drawing/2014/main" id="{3CE2F3E2-F90D-63A0-D012-4A2CE4959D62}"/>
              </a:ext>
            </a:extLst>
          </p:cNvPr>
          <p:cNvSpPr txBox="1"/>
          <p:nvPr/>
        </p:nvSpPr>
        <p:spPr>
          <a:xfrm>
            <a:off x="8483140" y="288899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4"/>
              </a:rPr>
              <a:t>scikit</a:t>
            </a:r>
            <a:r>
              <a:rPr lang="de-DE" dirty="0">
                <a:hlinkClick r:id="rId4"/>
              </a:rPr>
              <a:t> </a:t>
            </a:r>
            <a:r>
              <a:rPr lang="de-DE" dirty="0" err="1">
                <a:hlinkClick r:id="rId4"/>
              </a:rPr>
              <a:t>learn</a:t>
            </a:r>
            <a:r>
              <a:rPr lang="de-DE" dirty="0">
                <a:hlinkClick r:id="rId4"/>
              </a:rPr>
              <a:t> </a:t>
            </a:r>
            <a:r>
              <a:rPr lang="de-DE" dirty="0" err="1">
                <a:hlinkClick r:id="rId4"/>
              </a:rPr>
              <a:t>example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4BC5C9-627A-19B4-BFA5-8B558B4CB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178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:</a:t>
            </a:r>
          </a:p>
          <a:p>
            <a:r>
              <a:rPr lang="de-DE" dirty="0" err="1"/>
              <a:t>Leaves</a:t>
            </a:r>
            <a:r>
              <a:rPr lang="de-DE" dirty="0"/>
              <a:t> = individual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r>
              <a:rPr lang="de-DE" dirty="0"/>
              <a:t>Internal </a:t>
            </a:r>
            <a:r>
              <a:rPr lang="de-DE" dirty="0" err="1"/>
              <a:t>nodes</a:t>
            </a:r>
            <a:r>
              <a:rPr lang="de-DE" dirty="0"/>
              <a:t> =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merges</a:t>
            </a:r>
            <a:endParaRPr lang="de-DE" dirty="0"/>
          </a:p>
          <a:p>
            <a:r>
              <a:rPr lang="de-DE" dirty="0"/>
              <a:t>Height = </a:t>
            </a:r>
            <a:r>
              <a:rPr lang="de-DE" dirty="0" err="1"/>
              <a:t>distance</a:t>
            </a:r>
            <a:r>
              <a:rPr lang="de-DE" dirty="0"/>
              <a:t> at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Interpretation:</a:t>
            </a:r>
          </a:p>
          <a:p>
            <a:r>
              <a:rPr lang="de-DE" dirty="0"/>
              <a:t>Cut </a:t>
            </a:r>
            <a:r>
              <a:rPr lang="de-DE" dirty="0" err="1"/>
              <a:t>tree</a:t>
            </a:r>
            <a:r>
              <a:rPr lang="de-DE" dirty="0"/>
              <a:t> at a </a:t>
            </a:r>
            <a:r>
              <a:rPr lang="de-DE" dirty="0" err="1"/>
              <a:t>chosen</a:t>
            </a:r>
            <a:r>
              <a:rPr lang="de-DE" dirty="0"/>
              <a:t> </a:t>
            </a:r>
            <a:r>
              <a:rPr lang="de-DE" dirty="0" err="1"/>
              <a:t>height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enables</a:t>
            </a:r>
            <a:r>
              <a:rPr lang="de-DE" dirty="0"/>
              <a:t> flexible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selection</a:t>
            </a:r>
            <a:r>
              <a:rPr lang="de-DE" dirty="0"/>
              <a:t>)</a:t>
            </a:r>
          </a:p>
          <a:p>
            <a:r>
              <a:rPr lang="de-DE" dirty="0"/>
              <a:t>Large </a:t>
            </a:r>
            <a:r>
              <a:rPr lang="de-DE" dirty="0" err="1"/>
              <a:t>vertical</a:t>
            </a:r>
            <a:r>
              <a:rPr lang="de-DE" dirty="0"/>
              <a:t> </a:t>
            </a:r>
            <a:r>
              <a:rPr lang="de-DE" dirty="0" err="1"/>
              <a:t>gaps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separation</a:t>
            </a:r>
            <a:endParaRPr lang="de-DE" dirty="0"/>
          </a:p>
          <a:p>
            <a:r>
              <a:rPr lang="de-DE" dirty="0"/>
              <a:t>Lower </a:t>
            </a:r>
            <a:r>
              <a:rPr lang="de-DE" dirty="0" err="1"/>
              <a:t>merges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pic>
        <p:nvPicPr>
          <p:cNvPr id="5" name="Picture 2" descr="Hierarchical Clustering Dendrogram">
            <a:extLst>
              <a:ext uri="{FF2B5EF4-FFF2-40B4-BE49-F238E27FC236}">
                <a16:creationId xmlns:a16="http://schemas.microsoft.com/office/drawing/2014/main" id="{9871BF83-A0D9-CB57-9965-66CDE0D32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217" y="1690688"/>
            <a:ext cx="580178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D30C41E-1B4C-8B40-FD0F-6A8D76270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DBSCAN: Density-</a:t>
            </a:r>
            <a:r>
              <a:rPr lang="de-DE" sz="2600" dirty="0" err="1"/>
              <a:t>Based</a:t>
            </a:r>
            <a:r>
              <a:rPr lang="de-DE" sz="2600" dirty="0"/>
              <a:t> </a:t>
            </a:r>
            <a:r>
              <a:rPr lang="de-DE" sz="2600" dirty="0" err="1"/>
              <a:t>Spatial</a:t>
            </a:r>
            <a:r>
              <a:rPr lang="de-DE" sz="2600" dirty="0"/>
              <a:t> Clustering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Applications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Noise</a:t>
            </a:r>
          </a:p>
          <a:p>
            <a:pPr marL="0" indent="0">
              <a:buNone/>
            </a:pPr>
            <a:endParaRPr lang="de-DE" sz="2600" dirty="0"/>
          </a:p>
          <a:p>
            <a:r>
              <a:rPr lang="de-DE" sz="2400" dirty="0"/>
              <a:t>Groups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based</a:t>
            </a:r>
            <a:r>
              <a:rPr lang="de-DE" sz="2400" dirty="0"/>
              <a:t> on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regions</a:t>
            </a:r>
            <a:endParaRPr lang="de-DE" sz="2400" dirty="0"/>
          </a:p>
          <a:p>
            <a:r>
              <a:rPr lang="de-DE" sz="2400" dirty="0"/>
              <a:t>Can </a:t>
            </a:r>
            <a:r>
              <a:rPr lang="de-DE" sz="2400" dirty="0" err="1"/>
              <a:t>detect</a:t>
            </a:r>
            <a:r>
              <a:rPr lang="de-DE" sz="2400" dirty="0"/>
              <a:t> </a:t>
            </a:r>
            <a:r>
              <a:rPr lang="de-DE" sz="2400" dirty="0" err="1"/>
              <a:t>arbitrary-shaped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  <a:p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identifies</a:t>
            </a:r>
            <a:r>
              <a:rPr lang="de-DE" sz="2400" dirty="0"/>
              <a:t> </a:t>
            </a:r>
            <a:r>
              <a:rPr lang="de-DE" sz="2400" dirty="0" err="1"/>
              <a:t>noise</a:t>
            </a:r>
            <a:r>
              <a:rPr lang="de-DE" sz="2400" dirty="0"/>
              <a:t> (</a:t>
            </a:r>
            <a:r>
              <a:rPr lang="de-DE" sz="2400" dirty="0" err="1"/>
              <a:t>outliers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need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specify</a:t>
            </a:r>
            <a:r>
              <a:rPr lang="de-DE" sz="2400" dirty="0"/>
              <a:t> </a:t>
            </a:r>
            <a:r>
              <a:rPr lang="de-DE" sz="2400" dirty="0" err="1"/>
              <a:t>number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beforehand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Key </a:t>
            </a: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formed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,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parameters</a:t>
            </a:r>
            <a:r>
              <a:rPr lang="de-DE" sz="2400" dirty="0"/>
              <a:t>:</a:t>
            </a:r>
          </a:p>
          <a:p>
            <a:r>
              <a:rPr lang="el-GR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de-DE" sz="2400" dirty="0"/>
              <a:t>: </a:t>
            </a:r>
            <a:r>
              <a:rPr lang="de-DE" sz="2400" dirty="0" err="1"/>
              <a:t>neighborhood</a:t>
            </a:r>
            <a:r>
              <a:rPr lang="de-DE" sz="2400" dirty="0"/>
              <a:t> </a:t>
            </a:r>
            <a:r>
              <a:rPr lang="de-DE" sz="2400" dirty="0" err="1"/>
              <a:t>radius</a:t>
            </a:r>
            <a:endParaRPr lang="de-DE" sz="2400" dirty="0"/>
          </a:p>
          <a:p>
            <a:r>
              <a:rPr lang="de-DE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sz="2400" dirty="0"/>
              <a:t>: </a:t>
            </a:r>
            <a:r>
              <a:rPr lang="de-DE" sz="2400" dirty="0" err="1"/>
              <a:t>minimum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form a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D2316E-28EC-6582-BF64-207C98454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Define</a:t>
            </a:r>
            <a:r>
              <a:rPr lang="de-DE" dirty="0"/>
              <a:t> different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Core Points: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≥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dense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center</a:t>
            </a:r>
            <a:endParaRPr lang="el-GR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Border Points: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, but not </a:t>
            </a:r>
            <a:r>
              <a:rPr lang="de-DE" dirty="0" err="1"/>
              <a:t>dense</a:t>
            </a:r>
            <a:r>
              <a:rPr lang="de-DE" dirty="0"/>
              <a:t> </a:t>
            </a:r>
            <a:r>
              <a:rPr lang="de-DE" dirty="0" err="1"/>
              <a:t>enough</a:t>
            </a:r>
            <a:r>
              <a:rPr lang="de-DE" dirty="0"/>
              <a:t> </a:t>
            </a:r>
            <a:r>
              <a:rPr lang="de-DE" dirty="0" err="1"/>
              <a:t>themselves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edge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cluster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Noise Points: not </a:t>
            </a:r>
            <a:r>
              <a:rPr lang="de-DE" dirty="0" err="1"/>
              <a:t>reachable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isolated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points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85E08B-65CA-DA0F-8B2B-32C7BF198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293539-B5EA-4406-02DD-1F9D36FDC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Pick an </a:t>
            </a:r>
            <a:r>
              <a:rPr lang="de-DE" dirty="0" err="1"/>
              <a:t>unvisited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Check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el-GR" dirty="0"/>
              <a:t>ε-</a:t>
            </a:r>
            <a:r>
              <a:rPr lang="de-DE" dirty="0" err="1"/>
              <a:t>neighborhood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</a:t>
            </a:r>
            <a:r>
              <a:rPr lang="de-DE" dirty="0" err="1"/>
              <a:t>create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, </a:t>
            </a:r>
            <a:r>
              <a:rPr lang="de-DE" dirty="0" err="1"/>
              <a:t>expand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dirty="0" err="1"/>
              <a:t>density-reachable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If</a:t>
            </a:r>
            <a:r>
              <a:rPr lang="de-DE" dirty="0"/>
              <a:t> not: </a:t>
            </a:r>
            <a:r>
              <a:rPr lang="de-DE" dirty="0" err="1"/>
              <a:t>mark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(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</a:t>
            </a:r>
            <a:r>
              <a:rPr lang="de-DE" dirty="0" err="1"/>
              <a:t>become</a:t>
            </a:r>
            <a:r>
              <a:rPr lang="de-DE" dirty="0"/>
              <a:t> </a:t>
            </a:r>
            <a:r>
              <a:rPr lang="de-DE" dirty="0" err="1"/>
              <a:t>border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Repeat </a:t>
            </a:r>
            <a:r>
              <a:rPr lang="de-DE" dirty="0" err="1"/>
              <a:t>until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processed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Cluster </a:t>
            </a:r>
            <a:r>
              <a:rPr lang="de-DE" dirty="0" err="1"/>
              <a:t>formation</a:t>
            </a:r>
            <a:r>
              <a:rPr lang="de-DE" dirty="0"/>
              <a:t> </a:t>
            </a:r>
            <a:r>
              <a:rPr lang="de-DE" dirty="0" err="1"/>
              <a:t>concept</a:t>
            </a:r>
            <a:r>
              <a:rPr lang="de-DE" dirty="0"/>
              <a:t>:</a:t>
            </a:r>
          </a:p>
          <a:p>
            <a:r>
              <a:rPr lang="de-DE" dirty="0"/>
              <a:t>Points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density-connected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reached</a:t>
            </a:r>
            <a:r>
              <a:rPr lang="de-DE" dirty="0"/>
              <a:t> via a </a:t>
            </a:r>
            <a:r>
              <a:rPr lang="de-DE" dirty="0" err="1"/>
              <a:t>chain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r>
              <a:rPr lang="de-DE" dirty="0"/>
              <a:t>Clusters </a:t>
            </a:r>
            <a:r>
              <a:rPr lang="de-DE" dirty="0" err="1"/>
              <a:t>grow</a:t>
            </a:r>
            <a:r>
              <a:rPr lang="de-DE" dirty="0"/>
              <a:t> </a:t>
            </a:r>
            <a:r>
              <a:rPr lang="de-DE" dirty="0" err="1"/>
              <a:t>outward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A6B421-D07D-5E41-B951-5DE4AE10D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9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endParaRPr lang="de-DE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4AF28DA-AC95-17F4-756E-FF4AE1F22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(</a:t>
            </a:r>
            <a:r>
              <a:rPr lang="de-DE" dirty="0" err="1"/>
              <a:t>neighborhood</a:t>
            </a:r>
            <a:r>
              <a:rPr lang="de-DE" dirty="0"/>
              <a:t> </a:t>
            </a:r>
            <a:r>
              <a:rPr lang="de-DE" dirty="0" err="1"/>
              <a:t>radius</a:t>
            </a:r>
            <a:r>
              <a:rPr lang="de-DE" dirty="0"/>
              <a:t>)</a:t>
            </a:r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r>
              <a:rPr lang="de-DE" dirty="0" err="1"/>
              <a:t>Heuristic</a:t>
            </a:r>
            <a:r>
              <a:rPr lang="de-DE" dirty="0"/>
              <a:t>: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k-distance</a:t>
            </a:r>
            <a:r>
              <a:rPr lang="de-DE" dirty="0"/>
              <a:t> </a:t>
            </a:r>
            <a:r>
              <a:rPr lang="de-DE" dirty="0" err="1"/>
              <a:t>graph</a:t>
            </a:r>
            <a:r>
              <a:rPr lang="de-DE" dirty="0"/>
              <a:t>, </a:t>
            </a:r>
            <a:r>
              <a:rPr lang="de-DE" dirty="0" err="1"/>
              <a:t>look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elbow</a:t>
            </a:r>
            <a:r>
              <a:rPr lang="de-DE" dirty="0"/>
              <a:t>”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(</a:t>
            </a:r>
            <a:r>
              <a:rPr lang="de-DE" dirty="0" err="1"/>
              <a:t>minimum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)</a:t>
            </a:r>
          </a:p>
          <a:p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4</a:t>
            </a:r>
            <a:r>
              <a:rPr lang="de-DE" dirty="0"/>
              <a:t> (</a:t>
            </a:r>
            <a:r>
              <a:rPr lang="de-DE" dirty="0" err="1"/>
              <a:t>low</a:t>
            </a:r>
            <a:r>
              <a:rPr lang="de-DE" dirty="0"/>
              <a:t>-dimensional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  <a:p>
            <a:r>
              <a:rPr lang="de-DE" dirty="0"/>
              <a:t>Higher </a:t>
            </a:r>
            <a:r>
              <a:rPr lang="de-DE" dirty="0" err="1"/>
              <a:t>for</a:t>
            </a:r>
            <a:r>
              <a:rPr lang="de-DE" dirty="0"/>
              <a:t> high-dimensional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dirty="0"/>
              <a:t>Guideline: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 ≥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dimensionality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 + 1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tuning</a:t>
            </a:r>
            <a:r>
              <a:rPr lang="de-DE" dirty="0">
                <a:sym typeface="Wingdings" pitchFamily="2" charset="2"/>
              </a:rPr>
              <a:t> and </a:t>
            </a:r>
            <a:r>
              <a:rPr lang="de-DE" dirty="0" err="1">
                <a:sym typeface="Wingdings" pitchFamily="2" charset="2"/>
              </a:rPr>
              <a:t>d</a:t>
            </a:r>
            <a:r>
              <a:rPr lang="de-DE" dirty="0" err="1"/>
              <a:t>ata</a:t>
            </a:r>
            <a:r>
              <a:rPr lang="de-DE" dirty="0"/>
              <a:t> </a:t>
            </a:r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matters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03B17D7-2EA9-DC24-B9E5-1139CCEB9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6841" y="1492595"/>
            <a:ext cx="4115159" cy="486375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algorithms</a:t>
            </a:r>
            <a:r>
              <a:rPr lang="de-DE" dirty="0"/>
              <a:t> </a:t>
            </a:r>
            <a:r>
              <a:rPr lang="de-DE" dirty="0" err="1"/>
              <a:t>suit</a:t>
            </a:r>
            <a:r>
              <a:rPr lang="de-DE" dirty="0"/>
              <a:t> different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</a:t>
            </a:r>
            <a:r>
              <a:rPr lang="de-DE" dirty="0" err="1"/>
              <a:t>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guidance</a:t>
            </a:r>
            <a:r>
              <a:rPr lang="de-DE" dirty="0"/>
              <a:t>:</a:t>
            </a:r>
          </a:p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compact</a:t>
            </a:r>
            <a:r>
              <a:rPr lang="de-DE" dirty="0"/>
              <a:t> and </a:t>
            </a:r>
            <a:r>
              <a:rPr lang="de-DE" dirty="0" err="1"/>
              <a:t>known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and </a:t>
            </a:r>
            <a:r>
              <a:rPr lang="de-DE" dirty="0" err="1"/>
              <a:t>interpretability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r>
              <a:rPr lang="de-DE" dirty="0"/>
              <a:t>DBSCAN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shapes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?</a:t>
            </a:r>
          </a:p>
          <a:p>
            <a:r>
              <a:rPr lang="de-DE" dirty="0" err="1"/>
              <a:t>k-Means</a:t>
            </a:r>
            <a:r>
              <a:rPr lang="de-DE" dirty="0"/>
              <a:t>: initial </a:t>
            </a:r>
            <a:r>
              <a:rPr lang="de-DE" dirty="0" err="1"/>
              <a:t>centroids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: </a:t>
            </a:r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DBSCAN: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endParaRPr lang="de-DE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4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5A730511-A7F9-E57C-2E0C-B6C244278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92595"/>
            <a:ext cx="8076841" cy="5000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C5E9-3765-EE2A-7DFF-13E5F7EA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8DE861-6867-FA20-1E8C-02A7DCD9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76E0A6B-1BDF-FD30-67E7-B5624AD47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Compare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on </a:t>
            </a:r>
            <a:r>
              <a:rPr lang="de-DE" dirty="0">
                <a:hlinkClick r:id="rId2"/>
              </a:rPr>
              <a:t>Mall Customers dataset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795438C-73C3-6A2D-0846-70202255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1203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1903</Words>
  <Application>Microsoft Macintosh PowerPoint</Application>
  <PresentationFormat>Breitbild</PresentationFormat>
  <Paragraphs>368</Paragraphs>
  <Slides>35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35</vt:i4>
      </vt:variant>
    </vt:vector>
  </HeadingPairs>
  <TitlesOfParts>
    <vt:vector size="42" baseType="lpstr">
      <vt:lpstr>AccordAlternate</vt:lpstr>
      <vt:lpstr>Aptos</vt:lpstr>
      <vt:lpstr>Aptos Display</vt:lpstr>
      <vt:lpstr>Arial</vt:lpstr>
      <vt:lpstr>Cambria Math</vt:lpstr>
      <vt:lpstr>Wingdings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Preprocessing for Clustering</vt:lpstr>
      <vt:lpstr>k-Means: Intuition</vt:lpstr>
      <vt:lpstr>k-Means Algorithm</vt:lpstr>
      <vt:lpstr>Objective Function</vt:lpstr>
      <vt:lpstr>L2  Mean,  L1  Median</vt:lpstr>
      <vt:lpstr>k-Means Assumptions and Limitations</vt:lpstr>
      <vt:lpstr>Cluster Initialization</vt:lpstr>
      <vt:lpstr>Choosing the Number of Clusters</vt:lpstr>
      <vt:lpstr>Elbow Plot</vt:lpstr>
      <vt:lpstr>Cluster Validation Metrics</vt:lpstr>
      <vt:lpstr>Silhouette Score</vt:lpstr>
      <vt:lpstr>Supervised Clustering Validation</vt:lpstr>
      <vt:lpstr>Visualizing Clusters</vt:lpstr>
      <vt:lpstr>Practice Project</vt:lpstr>
      <vt:lpstr>PowerPoint-Präsentation</vt:lpstr>
      <vt:lpstr>Gaussian Mixture Models</vt:lpstr>
      <vt:lpstr>GMM Covariance Matrices</vt:lpstr>
      <vt:lpstr>Hierarchical Clustering: Motivation</vt:lpstr>
      <vt:lpstr>Hierarchical Clustering: Key Idea</vt:lpstr>
      <vt:lpstr>Distance Measures and Linkage</vt:lpstr>
      <vt:lpstr>Linkage Criteria</vt:lpstr>
      <vt:lpstr>Dendrograms</vt:lpstr>
      <vt:lpstr>DBSCAN: Density-Based Clustering</vt:lpstr>
      <vt:lpstr>Core Points, Border Points, Noise</vt:lpstr>
      <vt:lpstr>DBSCAN Algorithm</vt:lpstr>
      <vt:lpstr>Choosing ε and min_samples</vt:lpstr>
      <vt:lpstr>Comparing Clustering Methods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147</cp:revision>
  <dcterms:created xsi:type="dcterms:W3CDTF">2025-01-08T09:27:30Z</dcterms:created>
  <dcterms:modified xsi:type="dcterms:W3CDTF">2026-03-19T09:49:53Z</dcterms:modified>
</cp:coreProperties>
</file>