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8"/>
  </p:notesMasterIdLst>
  <p:sldIdLst>
    <p:sldId id="256" r:id="rId2"/>
    <p:sldId id="265" r:id="rId3"/>
    <p:sldId id="266" r:id="rId4"/>
    <p:sldId id="258" r:id="rId5"/>
    <p:sldId id="270" r:id="rId6"/>
    <p:sldId id="285" r:id="rId7"/>
    <p:sldId id="271" r:id="rId8"/>
    <p:sldId id="289" r:id="rId9"/>
    <p:sldId id="268" r:id="rId10"/>
    <p:sldId id="272" r:id="rId11"/>
    <p:sldId id="290" r:id="rId12"/>
    <p:sldId id="292" r:id="rId13"/>
    <p:sldId id="274" r:id="rId14"/>
    <p:sldId id="288" r:id="rId15"/>
    <p:sldId id="273" r:id="rId16"/>
    <p:sldId id="293" r:id="rId17"/>
    <p:sldId id="282" r:id="rId18"/>
    <p:sldId id="294" r:id="rId19"/>
    <p:sldId id="291" r:id="rId20"/>
    <p:sldId id="283" r:id="rId21"/>
    <p:sldId id="295" r:id="rId22"/>
    <p:sldId id="296" r:id="rId23"/>
    <p:sldId id="286" r:id="rId24"/>
    <p:sldId id="297" r:id="rId25"/>
    <p:sldId id="275" r:id="rId26"/>
    <p:sldId id="298" r:id="rId27"/>
    <p:sldId id="301" r:id="rId28"/>
    <p:sldId id="276" r:id="rId29"/>
    <p:sldId id="277" r:id="rId30"/>
    <p:sldId id="278" r:id="rId31"/>
    <p:sldId id="279" r:id="rId32"/>
    <p:sldId id="303" r:id="rId33"/>
    <p:sldId id="280" r:id="rId34"/>
    <p:sldId id="304" r:id="rId35"/>
    <p:sldId id="281" r:id="rId36"/>
    <p:sldId id="302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1"/>
    <p:restoredTop sz="95028" autoAdjust="0"/>
  </p:normalViewPr>
  <p:slideViewPr>
    <p:cSldViewPr snapToGrid="0">
      <p:cViewPr varScale="1">
        <p:scale>
          <a:sx n="115" d="100"/>
          <a:sy n="115" d="100"/>
        </p:scale>
        <p:origin x="408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31/03/2026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31/03/2026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31/03/2026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31/03/2026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31/03/2026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31/03/2026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scikit-learn.org/stable/auto_examples/cluster/plot_mini_batch_kmeans.html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kandij/mall-customers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mixture/plot_gmm_covariances.html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cluster/plot_linkage_comparison.html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auto_examples/mixture/plot_gmm_covariances.html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kandij/mall-customer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Clustering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scikit-learn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k-means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endParaRPr lang="de-DE" dirty="0"/>
          </a:p>
          <a:p>
            <a:r>
              <a:rPr lang="de-DE" dirty="0"/>
              <a:t>DBSCAN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171740E0-17BA-14E5-D6A3-D769CF9386D6}"/>
              </a:ext>
            </a:extLst>
          </p:cNvPr>
          <p:cNvSpPr txBox="1"/>
          <p:nvPr/>
        </p:nvSpPr>
        <p:spPr>
          <a:xfrm>
            <a:off x="9459441" y="4678460"/>
            <a:ext cx="2196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Customer </a:t>
            </a:r>
            <a:r>
              <a:rPr lang="de-DE" dirty="0" err="1"/>
              <a:t>or</a:t>
            </a:r>
            <a:r>
              <a:rPr lang="de-DE" dirty="0"/>
              <a:t> Market Segmentation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723A98-5383-DEFF-2162-FA018A5C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Learning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062167-9517-D148-36D2-E07544A0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460F03F-C6CE-A5A6-8A3A-CE53697E655E}"/>
              </a:ext>
            </a:extLst>
          </p:cNvPr>
          <p:cNvSpPr txBox="1"/>
          <p:nvPr/>
        </p:nvSpPr>
        <p:spPr>
          <a:xfrm>
            <a:off x="659104" y="4744225"/>
            <a:ext cx="1784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Fraud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C47B1B0-97FC-F4FE-3604-C591119001D0}"/>
              </a:ext>
            </a:extLst>
          </p:cNvPr>
          <p:cNvSpPr txBox="1"/>
          <p:nvPr/>
        </p:nvSpPr>
        <p:spPr>
          <a:xfrm>
            <a:off x="4815071" y="5504257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</a:t>
            </a:r>
            <a:r>
              <a:rPr lang="de-DE" dirty="0" err="1"/>
              <a:t>Compression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11D884F-C00E-15FC-41F3-F77DE91C60A4}"/>
              </a:ext>
            </a:extLst>
          </p:cNvPr>
          <p:cNvSpPr txBox="1"/>
          <p:nvPr/>
        </p:nvSpPr>
        <p:spPr>
          <a:xfrm>
            <a:off x="4815071" y="4962948"/>
            <a:ext cx="2561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Recommender</a:t>
            </a:r>
            <a:r>
              <a:rPr lang="de-DE" dirty="0"/>
              <a:t> Systems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94C0A01-562B-BA3C-7066-F067DC02F29B}"/>
              </a:ext>
            </a:extLst>
          </p:cNvPr>
          <p:cNvSpPr txBox="1"/>
          <p:nvPr/>
        </p:nvSpPr>
        <p:spPr>
          <a:xfrm>
            <a:off x="7574555" y="5147614"/>
            <a:ext cx="1687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Drug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DF3880F-9601-CE4D-FED6-F6CD3C3A64B3}"/>
              </a:ext>
            </a:extLst>
          </p:cNvPr>
          <p:cNvSpPr txBox="1"/>
          <p:nvPr/>
        </p:nvSpPr>
        <p:spPr>
          <a:xfrm>
            <a:off x="9459441" y="5438220"/>
            <a:ext cx="2561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Social</a:t>
            </a:r>
            <a:r>
              <a:rPr lang="de-DE" dirty="0"/>
              <a:t> Network Analysis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838F8EE-95E8-9EB9-ECC5-AC0724485D61}"/>
              </a:ext>
            </a:extLst>
          </p:cNvPr>
          <p:cNvSpPr txBox="1"/>
          <p:nvPr/>
        </p:nvSpPr>
        <p:spPr>
          <a:xfrm>
            <a:off x="7574555" y="5660645"/>
            <a:ext cx="1669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Topic Modeling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425F67-F9A7-351E-B88B-606B0E94A34A}"/>
              </a:ext>
            </a:extLst>
          </p:cNvPr>
          <p:cNvSpPr txBox="1"/>
          <p:nvPr/>
        </p:nvSpPr>
        <p:spPr>
          <a:xfrm>
            <a:off x="659104" y="5255179"/>
            <a:ext cx="1476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Risk Analysis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1C3A217-130D-0A09-400E-2154C70A564F}"/>
              </a:ext>
            </a:extLst>
          </p:cNvPr>
          <p:cNvSpPr txBox="1"/>
          <p:nvPr/>
        </p:nvSpPr>
        <p:spPr>
          <a:xfrm>
            <a:off x="487018" y="2017860"/>
            <a:ext cx="2722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Anomaly</a:t>
            </a:r>
            <a:r>
              <a:rPr lang="de-DE" sz="2400" dirty="0"/>
              <a:t> </a:t>
            </a:r>
            <a:r>
              <a:rPr lang="de-DE" sz="2400" dirty="0" err="1"/>
              <a:t>Detection</a:t>
            </a:r>
            <a:endParaRPr lang="de-DE" sz="24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E32D26-D10D-430E-A1B9-75D2728EFBBF}"/>
              </a:ext>
            </a:extLst>
          </p:cNvPr>
          <p:cNvSpPr txBox="1"/>
          <p:nvPr/>
        </p:nvSpPr>
        <p:spPr>
          <a:xfrm>
            <a:off x="4382710" y="2017860"/>
            <a:ext cx="3426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Representation</a:t>
            </a:r>
            <a:r>
              <a:rPr lang="de-DE" sz="2400" dirty="0"/>
              <a:t> Learning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D0627B5-13AE-8372-EE15-304E94CF30BD}"/>
              </a:ext>
            </a:extLst>
          </p:cNvPr>
          <p:cNvSpPr txBox="1"/>
          <p:nvPr/>
        </p:nvSpPr>
        <p:spPr>
          <a:xfrm>
            <a:off x="8908191" y="2017860"/>
            <a:ext cx="2796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Structure</a:t>
            </a:r>
            <a:r>
              <a:rPr lang="de-DE" sz="2400" dirty="0"/>
              <a:t> Discovery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B29B286-4626-503B-9BB5-04AE1418E3A0}"/>
              </a:ext>
            </a:extLst>
          </p:cNvPr>
          <p:cNvSpPr txBox="1"/>
          <p:nvPr/>
        </p:nvSpPr>
        <p:spPr>
          <a:xfrm>
            <a:off x="2889466" y="6356350"/>
            <a:ext cx="705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Techniques</a:t>
            </a:r>
            <a:r>
              <a:rPr lang="de-DE" dirty="0"/>
              <a:t>: </a:t>
            </a:r>
            <a:r>
              <a:rPr lang="de-DE" dirty="0" err="1"/>
              <a:t>clustering</a:t>
            </a:r>
            <a:r>
              <a:rPr lang="de-DE" dirty="0"/>
              <a:t>, </a:t>
            </a:r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r>
              <a:rPr lang="de-DE" dirty="0"/>
              <a:t>,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, …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232DC-47A4-B760-2789-E1C42E43C5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153" y="3092374"/>
            <a:ext cx="2196077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ecommender Systems in Machine Learning: Examples">
            <a:extLst>
              <a:ext uri="{FF2B5EF4-FFF2-40B4-BE49-F238E27FC236}">
                <a16:creationId xmlns:a16="http://schemas.microsoft.com/office/drawing/2014/main" id="{7E241801-E2EA-9D59-DD10-69D7E78E9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961" y="2719339"/>
            <a:ext cx="2196076" cy="207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Unlocking Business Potential Through Effective Customer Segmentation |  Towards Data Science">
            <a:extLst>
              <a:ext uri="{FF2B5EF4-FFF2-40B4-BE49-F238E27FC236}">
                <a16:creationId xmlns:a16="http://schemas.microsoft.com/office/drawing/2014/main" id="{9172C856-1B39-286B-3D40-A1345B00C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9760" y="2714758"/>
            <a:ext cx="2654300" cy="19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7B8E74B0-0778-3DC1-D9FE-F76D89DF951C}"/>
              </a:ext>
            </a:extLst>
          </p:cNvPr>
          <p:cNvSpPr txBox="1"/>
          <p:nvPr/>
        </p:nvSpPr>
        <p:spPr>
          <a:xfrm>
            <a:off x="2833427" y="5030786"/>
            <a:ext cx="1784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Time Series Reconstruction</a:t>
            </a:r>
          </a:p>
        </p:txBody>
      </p:sp>
    </p:spTree>
    <p:extLst>
      <p:ext uri="{BB962C8B-B14F-4D97-AF65-F5344CB8AC3E}">
        <p14:creationId xmlns:p14="http://schemas.microsoft.com/office/powerpoint/2010/main" val="716457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3B1BF6-3B68-363E-F2F5-5DC138A92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Clustering?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A8826D5-35A0-6F5B-6D31-5EEBEA85C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grouping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sets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predefined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in </a:t>
            </a:r>
            <a:r>
              <a:rPr lang="de-DE" dirty="0" err="1"/>
              <a:t>terms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object's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customer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endParaRPr lang="de-DE" dirty="0"/>
          </a:p>
          <a:p>
            <a:r>
              <a:rPr lang="de-DE" dirty="0" err="1"/>
              <a:t>document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r>
              <a:rPr lang="de-DE" dirty="0"/>
              <a:t> (</a:t>
            </a:r>
            <a:r>
              <a:rPr lang="de-DE" dirty="0" err="1"/>
              <a:t>regions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, </a:t>
            </a:r>
            <a:r>
              <a:rPr lang="de-DE" dirty="0" err="1"/>
              <a:t>texture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intensity</a:t>
            </a:r>
            <a:r>
              <a:rPr lang="de-DE" dirty="0"/>
              <a:t>)</a:t>
            </a:r>
          </a:p>
          <a:p>
            <a:r>
              <a:rPr lang="de-DE" dirty="0"/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7EBB15-2B75-32A3-5033-3371960D7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10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7A599-398E-BE89-AE0D-1886787BE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and </a:t>
            </a:r>
            <a:r>
              <a:rPr lang="de-DE" dirty="0" err="1"/>
              <a:t>Similarity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How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 (in </a:t>
                </a:r>
                <a:r>
                  <a:rPr lang="de-DE" dirty="0" err="1"/>
                  <a:t>higher</a:t>
                </a:r>
                <a:r>
                  <a:rPr lang="de-DE" dirty="0"/>
                  <a:t>-dimensional </a:t>
                </a:r>
                <a:r>
                  <a:rPr lang="de-DE" dirty="0" err="1"/>
                  <a:t>space</a:t>
                </a:r>
                <a:r>
                  <a:rPr lang="de-DE" dirty="0"/>
                  <a:t>)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close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each</a:t>
                </a:r>
                <a:r>
                  <a:rPr lang="de-DE" dirty="0"/>
                  <a:t> feature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dimension</a:t>
                </a:r>
                <a:endParaRPr lang="de-DE" dirty="0"/>
              </a:p>
              <a:p>
                <a:r>
                  <a:rPr lang="de-DE" dirty="0" err="1"/>
                  <a:t>close</a:t>
                </a:r>
                <a:r>
                  <a:rPr lang="de-DE" dirty="0"/>
                  <a:t> </a:t>
                </a:r>
                <a:r>
                  <a:rPr lang="de-DE" dirty="0" err="1"/>
                  <a:t>means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differences</a:t>
                </a:r>
                <a:r>
                  <a:rPr lang="de-DE" dirty="0"/>
                  <a:t> </a:t>
                </a:r>
                <a:r>
                  <a:rPr lang="de-DE" dirty="0" err="1"/>
                  <a:t>across</a:t>
                </a:r>
                <a:r>
                  <a:rPr lang="de-DE" dirty="0"/>
                  <a:t> </a:t>
                </a:r>
                <a:r>
                  <a:rPr lang="de-DE" dirty="0" err="1"/>
                  <a:t>dimensions</a:t>
                </a:r>
                <a:endParaRPr lang="de-DE" dirty="0"/>
              </a:p>
              <a:p>
                <a:pPr lvl="1"/>
                <a:r>
                  <a:rPr lang="de-DE" dirty="0" err="1"/>
                  <a:t>Euclidean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  <m:e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Manhattan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de-DE" dirty="0"/>
              </a:p>
              <a:p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, </a:t>
                </a:r>
                <a:r>
                  <a:rPr lang="de-DE" dirty="0" err="1"/>
                  <a:t>sometimes</a:t>
                </a:r>
                <a:r>
                  <a:rPr lang="de-DE" dirty="0"/>
                  <a:t> also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:r>
                  <a:rPr lang="de-DE" dirty="0" err="1"/>
                  <a:t>higher</a:t>
                </a:r>
                <a:r>
                  <a:rPr lang="de-DE" dirty="0"/>
                  <a:t> = </a:t>
                </a:r>
                <a:r>
                  <a:rPr lang="de-DE" dirty="0" err="1"/>
                  <a:t>closer</a:t>
                </a:r>
                <a:endParaRPr lang="de-DE" dirty="0"/>
              </a:p>
              <a:p>
                <a:pPr lvl="1"/>
                <a:r>
                  <a:rPr lang="de-DE" dirty="0" err="1"/>
                  <a:t>cosine</a:t>
                </a:r>
                <a:r>
                  <a:rPr lang="de-DE" dirty="0"/>
                  <a:t>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Pearson </a:t>
                </a:r>
                <a:r>
                  <a:rPr lang="de-DE" dirty="0" err="1"/>
                  <a:t>correlation</a:t>
                </a:r>
                <a:r>
                  <a:rPr lang="de-DE" dirty="0"/>
                  <a:t>: linear </a:t>
                </a:r>
                <a:r>
                  <a:rPr lang="de-DE" dirty="0" err="1"/>
                  <a:t>similarity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D07B56-8274-82D7-2AE1-BF7A4442E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888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F2B2B9-9ED8-1237-271E-39149E2D1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Preprocessing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distance </a:t>
                </a:r>
                <a:r>
                  <a:rPr lang="de-DE" dirty="0" err="1"/>
                  <a:t>measures</a:t>
                </a:r>
                <a:r>
                  <a:rPr lang="de-DE" dirty="0"/>
                  <a:t> 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scale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need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scaling</a:t>
                </a:r>
                <a:endParaRPr lang="de-DE" dirty="0"/>
              </a:p>
              <a:p>
                <a:r>
                  <a:rPr lang="de-DE" b="1" dirty="0" err="1"/>
                  <a:t>standardization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b="1" dirty="0" err="1"/>
                  <a:t>normalization</a:t>
                </a:r>
                <a:r>
                  <a:rPr lang="de-DE" dirty="0"/>
                  <a:t>: </a:t>
                </a:r>
                <a:r>
                  <a:rPr lang="de-DE" dirty="0" err="1"/>
                  <a:t>scale</a:t>
                </a:r>
                <a:r>
                  <a:rPr lang="de-DE" dirty="0"/>
                  <a:t> all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:r>
                  <a:rPr lang="de-DE" dirty="0" err="1"/>
                  <a:t>scaling</a:t>
                </a:r>
                <a:r>
                  <a:rPr lang="de-DE" dirty="0"/>
                  <a:t>,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larger </a:t>
                </a:r>
                <a:r>
                  <a:rPr lang="de-DE" dirty="0" err="1"/>
                  <a:t>numeric</a:t>
                </a:r>
                <a:r>
                  <a:rPr lang="de-DE" dirty="0"/>
                  <a:t> </a:t>
                </a:r>
                <a:r>
                  <a:rPr lang="de-DE" dirty="0" err="1"/>
                  <a:t>ranges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30CB5C-3BD6-9F60-160E-F61FA944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8188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B44A8871-A62C-5BCB-319E-EB2705B9E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795" y="1319972"/>
            <a:ext cx="6897205" cy="517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3E5EF26E-96B1-27BE-03F5-79AA27F58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: Intuition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45C140-32EF-08E0-AEC7-D57455757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71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divide a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hyperparameter</a:t>
            </a:r>
            <a:r>
              <a:rPr lang="de-DE" dirty="0"/>
              <a:t> (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runs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represented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93F3BDB8-AB06-D6F6-923D-DBA0EE4E7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A4877FB-7B11-447F-8D3C-FDF353D66B88}"/>
              </a:ext>
            </a:extLst>
          </p:cNvPr>
          <p:cNvSpPr txBox="1"/>
          <p:nvPr/>
        </p:nvSpPr>
        <p:spPr>
          <a:xfrm>
            <a:off x="5294795" y="6107389"/>
            <a:ext cx="58243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boundaries</a:t>
            </a:r>
            <a:r>
              <a:rPr lang="de-DE" dirty="0"/>
              <a:t> (</a:t>
            </a:r>
            <a:r>
              <a:rPr lang="de-DE" dirty="0" err="1"/>
              <a:t>straight</a:t>
            </a:r>
            <a:r>
              <a:rPr lang="de-DE" dirty="0"/>
              <a:t> </a:t>
            </a:r>
            <a:r>
              <a:rPr lang="de-DE" dirty="0" err="1"/>
              <a:t>lines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k-Means</a:t>
            </a:r>
            <a:r>
              <a:rPr lang="de-DE" dirty="0"/>
              <a:t> was </a:t>
            </a:r>
            <a:r>
              <a:rPr lang="de-DE" dirty="0" err="1"/>
              <a:t>trained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2-D 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visualized</a:t>
            </a:r>
            <a:r>
              <a:rPr lang="de-DE" dirty="0"/>
              <a:t>)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9A50DEF1-BEAD-FB26-5241-E76096B292E0}"/>
              </a:ext>
            </a:extLst>
          </p:cNvPr>
          <p:cNvCxnSpPr>
            <a:cxnSpLocks/>
          </p:cNvCxnSpPr>
          <p:nvPr/>
        </p:nvCxnSpPr>
        <p:spPr>
          <a:xfrm flipV="1">
            <a:off x="6659217" y="5625548"/>
            <a:ext cx="1013792" cy="551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389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9D85B-4E0C-2CDA-A2D9-4273DBF6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Algorithm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22A36B6-BDB3-0940-B6A3-50D4BB310E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/>
              <a:t>Fit: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b="1" dirty="0" err="1"/>
              <a:t>k</a:t>
            </a:r>
            <a:r>
              <a:rPr lang="de-DE" dirty="0"/>
              <a:t> (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initialize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: (</a:t>
            </a:r>
            <a:r>
              <a:rPr lang="de-DE" dirty="0" err="1"/>
              <a:t>randomly</a:t>
            </a:r>
            <a:r>
              <a:rPr lang="de-DE" dirty="0"/>
              <a:t>) </a:t>
            </a:r>
            <a:r>
              <a:rPr lang="de-DE" dirty="0" err="1"/>
              <a:t>place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in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space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according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computed</a:t>
            </a:r>
            <a:r>
              <a:rPr lang="de-DE" dirty="0"/>
              <a:t> </a:t>
            </a:r>
            <a:r>
              <a:rPr lang="de-DE" b="1" dirty="0" err="1"/>
              <a:t>Euclidean</a:t>
            </a:r>
            <a:r>
              <a:rPr lang="de-DE" b="1" dirty="0"/>
              <a:t> </a:t>
            </a:r>
            <a:r>
              <a:rPr lang="de-DE" b="1" dirty="0" err="1"/>
              <a:t>distances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recalculate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(</a:t>
            </a:r>
            <a:r>
              <a:rPr lang="de-DE" b="1" dirty="0" err="1"/>
              <a:t>average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iterate</a:t>
            </a:r>
            <a:r>
              <a:rPr lang="de-DE" dirty="0"/>
              <a:t> </a:t>
            </a:r>
            <a:r>
              <a:rPr lang="de-DE" dirty="0" err="1"/>
              <a:t>until</a:t>
            </a:r>
            <a:r>
              <a:rPr lang="de-DE" dirty="0"/>
              <a:t> </a:t>
            </a:r>
            <a:r>
              <a:rPr lang="de-DE" dirty="0" err="1"/>
              <a:t>convergence</a:t>
            </a:r>
            <a:r>
              <a:rPr lang="de-DE" dirty="0"/>
              <a:t> (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assignments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changing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Predict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: </a:t>
            </a: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b="1" dirty="0" err="1"/>
              <a:t>nearest</a:t>
            </a:r>
            <a:r>
              <a:rPr lang="de-DE" b="1" dirty="0"/>
              <a:t> </a:t>
            </a:r>
            <a:r>
              <a:rPr lang="de-DE" b="1" dirty="0" err="1"/>
              <a:t>centroid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F30DBF-AD11-3C18-1D07-A54DAB515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780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911FD9-7F33-36F5-BFF7-3BD6F330C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k-Means </a:t>
                </a:r>
                <a:r>
                  <a:rPr lang="de-DE" sz="2400" dirty="0" err="1"/>
                  <a:t>minimizes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squared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distances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their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cluster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center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mean</a:t>
                </a:r>
                <a:r>
                  <a:rPr lang="de-DE" sz="2400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optimization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probem</a:t>
                </a:r>
                <a:endParaRPr lang="de-DE" sz="2400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33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922702-5E58-0568-C418-A1EAB8DBB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09020DA-8026-7CCB-58DA-1957117D8C78}"/>
              </a:ext>
            </a:extLst>
          </p:cNvPr>
          <p:cNvSpPr txBox="1"/>
          <p:nvPr/>
        </p:nvSpPr>
        <p:spPr>
          <a:xfrm>
            <a:off x="6016487" y="3828663"/>
            <a:ext cx="41136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Euclidean</a:t>
            </a:r>
            <a:r>
              <a:rPr lang="de-DE" sz="2400" dirty="0"/>
              <a:t> </a:t>
            </a:r>
            <a:r>
              <a:rPr lang="de-DE" sz="2400" dirty="0" err="1"/>
              <a:t>distances</a:t>
            </a:r>
            <a:endParaRPr lang="de-DE" sz="2400" dirty="0"/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spherical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D9ABA17-E386-5CBD-E762-71B68A65B821}"/>
              </a:ext>
            </a:extLst>
          </p:cNvPr>
          <p:cNvCxnSpPr>
            <a:cxnSpLocks/>
          </p:cNvCxnSpPr>
          <p:nvPr/>
        </p:nvCxnSpPr>
        <p:spPr>
          <a:xfrm flipH="1" flipV="1">
            <a:off x="6659217" y="3319670"/>
            <a:ext cx="228600" cy="508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61831F7-0D8A-1BA2-0B83-252CE10C4F34}"/>
              </a:ext>
            </a:extLst>
          </p:cNvPr>
          <p:cNvSpPr txBox="1"/>
          <p:nvPr/>
        </p:nvSpPr>
        <p:spPr>
          <a:xfrm>
            <a:off x="4351123" y="5135121"/>
            <a:ext cx="65322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Manhattan </a:t>
            </a:r>
            <a:r>
              <a:rPr lang="de-DE" sz="2400" dirty="0" err="1"/>
              <a:t>distances</a:t>
            </a:r>
            <a:r>
              <a:rPr lang="de-DE" sz="2400" dirty="0"/>
              <a:t> (L1)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k</a:t>
            </a:r>
            <a:r>
              <a:rPr lang="de-DE" sz="2400" dirty="0">
                <a:sym typeface="Wingdings" pitchFamily="2" charset="2"/>
              </a:rPr>
              <a:t>-Medians (also </a:t>
            </a:r>
            <a:r>
              <a:rPr lang="de-DE" sz="2400" dirty="0" err="1"/>
              <a:t>recalculate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cluster</a:t>
            </a:r>
            <a:r>
              <a:rPr lang="de-DE" sz="2400" dirty="0"/>
              <a:t> </a:t>
            </a:r>
            <a:r>
              <a:rPr lang="de-DE" sz="2400" dirty="0" err="1"/>
              <a:t>centers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median </a:t>
            </a:r>
            <a:r>
              <a:rPr lang="de-DE" sz="2400" dirty="0" err="1"/>
              <a:t>instead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mean</a:t>
            </a:r>
            <a:r>
              <a:rPr lang="de-DE" sz="2400" dirty="0">
                <a:sym typeface="Wingdings" pitchFamily="2" charset="2"/>
              </a:rPr>
              <a:t>)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38207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C481BB-DFD4-77CC-115E-6A31A6CFC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L2 </a:t>
            </a:r>
            <a:r>
              <a:rPr lang="de-DE" dirty="0">
                <a:sym typeface="Wingdings" pitchFamily="2" charset="2"/>
              </a:rPr>
              <a:t> Mean, </a:t>
            </a:r>
            <a:r>
              <a:rPr lang="de-DE" dirty="0"/>
              <a:t> L1 </a:t>
            </a:r>
            <a:r>
              <a:rPr lang="de-DE" dirty="0">
                <a:sym typeface="Wingdings" pitchFamily="2" charset="2"/>
              </a:rPr>
              <a:t> Median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B2D2E5C-783C-A264-2A40-ADE2D331F73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3300" dirty="0"/>
                  <a:t>L2 </a:t>
                </a:r>
                <a:r>
                  <a:rPr lang="de-DE" sz="3300" dirty="0" err="1"/>
                  <a:t>objective</a:t>
                </a:r>
                <a:r>
                  <a:rPr lang="de-DE" sz="3300" dirty="0"/>
                  <a:t>:</a:t>
                </a:r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b="0" dirty="0"/>
              </a:p>
              <a:p>
                <a:pPr marL="0" indent="0">
                  <a:buNone/>
                </a:pPr>
                <a:endParaRPr lang="de-DE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de-DE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𝑛𝑎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mean</a:t>
                </a:r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B2D2E5C-783C-A264-2A40-ADE2D331F7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2958" t="-10174" b="-25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734C84D0-8A69-5879-390D-1E0ACF82D0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3300" dirty="0"/>
                  <a:t>L1 </a:t>
                </a:r>
                <a:r>
                  <a:rPr lang="de-DE" sz="3300" dirty="0" err="1"/>
                  <a:t>objective</a:t>
                </a:r>
                <a:r>
                  <a:rPr lang="de-DE" sz="33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𝑑𝑎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sign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#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sym typeface="Wingdings" pitchFamily="2" charset="2"/>
                      </a:rPr>
                      <m:t>#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 median</a:t>
                </a:r>
                <a:endParaRPr lang="de-DE" sz="24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734C84D0-8A69-5879-390D-1E0ACF82D0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2958" t="-10174" b="-25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F66D73-FD92-F395-A736-DB16B54A0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767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B97CEE-DA9B-A98C-98BF-3E784E6E5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 and </a:t>
            </a:r>
            <a:r>
              <a:rPr lang="de-DE" dirty="0" err="1"/>
              <a:t>Limitations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dirty="0"/>
                  <a:t>must </a:t>
                </a:r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k</a:t>
                </a:r>
                <a:r>
                  <a:rPr lang="de-DE" dirty="0"/>
                  <a:t> </a:t>
                </a:r>
                <a:r>
                  <a:rPr lang="de-DE" dirty="0" err="1"/>
                  <a:t>beforehand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initial </a:t>
                </a:r>
                <a:r>
                  <a:rPr lang="de-DE" dirty="0" err="1"/>
                  <a:t>centroid</a:t>
                </a:r>
                <a:r>
                  <a:rPr lang="de-DE" dirty="0"/>
                  <a:t> </a:t>
                </a:r>
                <a:r>
                  <a:rPr lang="de-DE" dirty="0" err="1"/>
                  <a:t>placement</a:t>
                </a:r>
                <a:endParaRPr lang="de-DE" dirty="0"/>
              </a:p>
              <a:p>
                <a:r>
                  <a:rPr lang="de-DE" dirty="0" err="1"/>
                  <a:t>assumes</a:t>
                </a:r>
                <a:r>
                  <a:rPr lang="de-DE" dirty="0"/>
                  <a:t> </a:t>
                </a:r>
                <a:r>
                  <a:rPr lang="de-DE" dirty="0" err="1"/>
                  <a:t>clusters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spherical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outliers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Advantages:</a:t>
                </a:r>
              </a:p>
              <a:p>
                <a:r>
                  <a:rPr lang="de-DE" dirty="0"/>
                  <a:t>simple and fast: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scales</a:t>
                </a:r>
                <a:r>
                  <a:rPr lang="de-DE" dirty="0"/>
                  <a:t> </a:t>
                </a:r>
                <a:r>
                  <a:rPr lang="de-DE" dirty="0" err="1"/>
                  <a:t>well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large </a:t>
                </a:r>
                <a:r>
                  <a:rPr lang="de-DE" dirty="0" err="1"/>
                  <a:t>datasets</a:t>
                </a:r>
                <a:r>
                  <a:rPr lang="de-DE" dirty="0"/>
                  <a:t> (</a:t>
                </a:r>
                <a:r>
                  <a:rPr lang="de-DE" dirty="0" err="1">
                    <a:hlinkClick r:id="rId2"/>
                  </a:rPr>
                  <a:t>MiniBatchKMeans</a:t>
                </a:r>
                <a:r>
                  <a:rPr lang="de-DE" dirty="0"/>
                  <a:t> </a:t>
                </a:r>
                <a:r>
                  <a:rPr lang="de-DE" dirty="0" err="1"/>
                  <a:t>even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so)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1F564A-5810-6633-6054-C0BC5BA3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C78B86E-2536-62A6-22F6-FE295559335A}"/>
              </a:ext>
            </a:extLst>
          </p:cNvPr>
          <p:cNvSpPr txBox="1"/>
          <p:nvPr/>
        </p:nvSpPr>
        <p:spPr>
          <a:xfrm>
            <a:off x="5445561" y="4080805"/>
            <a:ext cx="1121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iterations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1DF7AF4-6660-0D67-224C-96CA0E54AB03}"/>
              </a:ext>
            </a:extLst>
          </p:cNvPr>
          <p:cNvSpPr txBox="1"/>
          <p:nvPr/>
        </p:nvSpPr>
        <p:spPr>
          <a:xfrm>
            <a:off x="3945835" y="4080805"/>
            <a:ext cx="1304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A36754A-6012-D801-22B7-A249ADAEA4E9}"/>
              </a:ext>
            </a:extLst>
          </p:cNvPr>
          <p:cNvCxnSpPr>
            <a:stCxn id="6" idx="2"/>
          </p:cNvCxnSpPr>
          <p:nvPr/>
        </p:nvCxnSpPr>
        <p:spPr>
          <a:xfrm flipH="1">
            <a:off x="4263887" y="4450137"/>
            <a:ext cx="334210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CFCD8D1-E55A-87A0-735D-5CE8FAA215F8}"/>
              </a:ext>
            </a:extLst>
          </p:cNvPr>
          <p:cNvCxnSpPr>
            <a:stCxn id="5" idx="2"/>
          </p:cNvCxnSpPr>
          <p:nvPr/>
        </p:nvCxnSpPr>
        <p:spPr>
          <a:xfrm flipH="1">
            <a:off x="5160907" y="4450137"/>
            <a:ext cx="845641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0849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B2E4CA-B735-2522-94A8-FABA7925C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</a:t>
            </a:r>
            <a:r>
              <a:rPr lang="de-DE" dirty="0" err="1"/>
              <a:t>Initialization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F51F910-C916-5E02-AF25-164F3AD86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depends</a:t>
            </a:r>
            <a:r>
              <a:rPr lang="de-DE" dirty="0"/>
              <a:t> on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starting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(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a non-</a:t>
            </a:r>
            <a:r>
              <a:rPr lang="de-DE" dirty="0" err="1"/>
              <a:t>convex</a:t>
            </a:r>
            <a:r>
              <a:rPr lang="de-DE" dirty="0"/>
              <a:t> </a:t>
            </a:r>
            <a:r>
              <a:rPr lang="de-DE" dirty="0" err="1"/>
              <a:t>objective</a:t>
            </a:r>
            <a:r>
              <a:rPr lang="de-DE" dirty="0"/>
              <a:t>: different initial 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different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minima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Running </a:t>
            </a:r>
            <a:r>
              <a:rPr lang="de-DE" dirty="0" err="1"/>
              <a:t>k-means</a:t>
            </a:r>
            <a:r>
              <a:rPr lang="de-DE" dirty="0"/>
              <a:t> multiple </a:t>
            </a:r>
            <a:r>
              <a:rPr lang="de-DE" dirty="0" err="1"/>
              <a:t>times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different </a:t>
            </a:r>
            <a:r>
              <a:rPr lang="de-DE" dirty="0" err="1"/>
              <a:t>initializations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produce</a:t>
            </a:r>
            <a:r>
              <a:rPr lang="de-DE" dirty="0"/>
              <a:t> different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initialization</a:t>
            </a:r>
            <a:r>
              <a:rPr lang="de-DE" dirty="0"/>
              <a:t> </a:t>
            </a:r>
            <a:r>
              <a:rPr lang="de-DE" dirty="0" err="1"/>
              <a:t>leads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,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convergence</a:t>
            </a:r>
            <a:r>
              <a:rPr lang="de-DE" dirty="0"/>
              <a:t>, and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r>
              <a:rPr lang="de-DE" dirty="0"/>
              <a:t>Poor </a:t>
            </a:r>
            <a:r>
              <a:rPr lang="de-DE" dirty="0" err="1"/>
              <a:t>initialization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suboptimal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inconsistent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>
                <a:sym typeface="Wingdings" pitchFamily="2" charset="2"/>
              </a:rPr>
              <a:t>Practical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strategies</a:t>
            </a:r>
            <a:r>
              <a:rPr lang="de-DE" dirty="0">
                <a:sym typeface="Wingdings" pitchFamily="2" charset="2"/>
              </a:rPr>
              <a:t>:</a:t>
            </a:r>
            <a:endParaRPr lang="de-DE" dirty="0"/>
          </a:p>
          <a:p>
            <a:r>
              <a:rPr lang="de-DE" dirty="0"/>
              <a:t>Random </a:t>
            </a:r>
            <a:r>
              <a:rPr lang="de-DE" dirty="0" err="1"/>
              <a:t>restarts</a:t>
            </a:r>
            <a:r>
              <a:rPr lang="de-DE" dirty="0"/>
              <a:t>: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times</a:t>
            </a:r>
            <a:r>
              <a:rPr lang="de-DE" dirty="0"/>
              <a:t> and </a:t>
            </a:r>
            <a:r>
              <a:rPr lang="de-DE" dirty="0" err="1"/>
              <a:t>keep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solution</a:t>
            </a:r>
            <a:endParaRPr lang="de-DE" dirty="0"/>
          </a:p>
          <a:p>
            <a:r>
              <a:rPr lang="de-DE" dirty="0" err="1"/>
              <a:t>k-means</a:t>
            </a:r>
            <a:r>
              <a:rPr lang="de-DE" dirty="0"/>
              <a:t>++: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spread</a:t>
            </a:r>
            <a:r>
              <a:rPr lang="de-DE" dirty="0"/>
              <a:t> out initial </a:t>
            </a:r>
            <a:r>
              <a:rPr lang="de-DE" dirty="0" err="1"/>
              <a:t>centroids</a:t>
            </a:r>
            <a:r>
              <a:rPr lang="de-DE" dirty="0"/>
              <a:t> (also </a:t>
            </a:r>
            <a:r>
              <a:rPr lang="de-DE" dirty="0" err="1"/>
              <a:t>stochastic</a:t>
            </a:r>
            <a:r>
              <a:rPr lang="de-DE" dirty="0"/>
              <a:t>)</a:t>
            </a:r>
          </a:p>
          <a:p>
            <a:r>
              <a:rPr lang="de-DE" dirty="0"/>
              <a:t>PCA-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initialization</a:t>
            </a:r>
            <a:r>
              <a:rPr lang="de-DE" dirty="0"/>
              <a:t> (</a:t>
            </a:r>
            <a:r>
              <a:rPr lang="de-DE" dirty="0" err="1"/>
              <a:t>deterministic</a:t>
            </a:r>
            <a:r>
              <a:rPr lang="de-DE" dirty="0"/>
              <a:t>: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A2A536F-3618-D2CF-0544-827E525AA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0F8E02-7531-FD72-EA16-1FEB526B2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5779" y="0"/>
            <a:ext cx="2156221" cy="182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13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756E6D-D8FC-FA7F-8EFC-F623F1FAA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Clusters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1562A41-9B7D-DBB9-79D1-7AADFCB4A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 err="1"/>
              <a:t>Crucial</a:t>
            </a:r>
            <a:r>
              <a:rPr lang="de-DE" dirty="0"/>
              <a:t>: </a:t>
            </a:r>
            <a:r>
              <a:rPr lang="de-DE" dirty="0" err="1"/>
              <a:t>determines</a:t>
            </a:r>
            <a:r>
              <a:rPr lang="de-DE" dirty="0"/>
              <a:t> </a:t>
            </a:r>
            <a:r>
              <a:rPr lang="de-DE" dirty="0" err="1"/>
              <a:t>whether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captures</a:t>
            </a:r>
            <a:r>
              <a:rPr lang="de-DE" dirty="0"/>
              <a:t> </a:t>
            </a:r>
            <a:r>
              <a:rPr lang="de-DE" dirty="0" err="1"/>
              <a:t>meaningful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produces</a:t>
            </a:r>
            <a:r>
              <a:rPr lang="de-DE" dirty="0"/>
              <a:t> </a:t>
            </a:r>
            <a:r>
              <a:rPr lang="de-DE" dirty="0" err="1"/>
              <a:t>misleading</a:t>
            </a:r>
            <a:r>
              <a:rPr lang="de-DE" dirty="0"/>
              <a:t>, </a:t>
            </a:r>
            <a:r>
              <a:rPr lang="de-DE" dirty="0" err="1"/>
              <a:t>arbitrary</a:t>
            </a:r>
            <a:r>
              <a:rPr lang="de-DE" dirty="0"/>
              <a:t> </a:t>
            </a:r>
            <a:r>
              <a:rPr lang="de-DE" dirty="0" err="1"/>
              <a:t>groupings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underfitting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large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overfitting</a:t>
            </a:r>
            <a:r>
              <a:rPr lang="de-DE" dirty="0"/>
              <a:t> / </a:t>
            </a:r>
            <a:r>
              <a:rPr lang="de-DE" dirty="0" err="1"/>
              <a:t>meaningless</a:t>
            </a:r>
            <a:r>
              <a:rPr lang="de-DE" dirty="0"/>
              <a:t> </a:t>
            </a:r>
            <a:r>
              <a:rPr lang="de-DE" dirty="0" err="1"/>
              <a:t>splits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Common </a:t>
            </a:r>
            <a:r>
              <a:rPr lang="de-DE" dirty="0" err="1"/>
              <a:t>workflow</a:t>
            </a:r>
            <a:r>
              <a:rPr lang="de-DE" dirty="0"/>
              <a:t>:</a:t>
            </a:r>
          </a:p>
          <a:p>
            <a:r>
              <a:rPr lang="de-DE" dirty="0"/>
              <a:t>Elbow </a:t>
            </a:r>
            <a:r>
              <a:rPr lang="de-DE" dirty="0" err="1"/>
              <a:t>plot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quick </a:t>
            </a:r>
            <a:r>
              <a:rPr lang="de-DE" dirty="0" err="1"/>
              <a:t>insight</a:t>
            </a:r>
            <a:endParaRPr lang="de-DE" dirty="0"/>
          </a:p>
          <a:p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: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and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metric</a:t>
            </a:r>
            <a:endParaRPr lang="de-DE" dirty="0"/>
          </a:p>
          <a:p>
            <a:r>
              <a:rPr lang="de-DE" dirty="0" err="1"/>
              <a:t>Visualize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5AE942C-3574-952F-F18E-4BD93B73F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3484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E71995-888F-33AD-8980-89DD72BBB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Elbow Plot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33066-2A06-1084-9274-4E3774F4A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44847" cy="4351338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Run </a:t>
            </a: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different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and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-cluster 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squares</a:t>
            </a:r>
            <a:r>
              <a:rPr lang="de-DE" dirty="0"/>
              <a:t> (WCSS)</a:t>
            </a:r>
          </a:p>
          <a:p>
            <a:r>
              <a:rPr lang="de-DE" dirty="0"/>
              <a:t>Plot WCSS vs. </a:t>
            </a:r>
            <a:r>
              <a:rPr lang="de-DE" dirty="0" err="1"/>
              <a:t>k</a:t>
            </a:r>
            <a:endParaRPr lang="de-DE" dirty="0"/>
          </a:p>
          <a:p>
            <a:r>
              <a:rPr lang="de-DE" dirty="0"/>
              <a:t>Look </a:t>
            </a:r>
            <a:r>
              <a:rPr lang="de-DE" dirty="0" err="1"/>
              <a:t>for</a:t>
            </a:r>
            <a:r>
              <a:rPr lang="de-DE" dirty="0"/>
              <a:t> a “</a:t>
            </a:r>
            <a:r>
              <a:rPr lang="de-DE" dirty="0" err="1"/>
              <a:t>bend</a:t>
            </a:r>
            <a:r>
              <a:rPr lang="de-DE" dirty="0"/>
              <a:t>” (</a:t>
            </a:r>
            <a:r>
              <a:rPr lang="de-DE" dirty="0" err="1"/>
              <a:t>elbow</a:t>
            </a:r>
            <a:r>
              <a:rPr lang="de-DE" dirty="0"/>
              <a:t>)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improvement</a:t>
            </a:r>
            <a:r>
              <a:rPr lang="de-DE" dirty="0"/>
              <a:t> </a:t>
            </a:r>
            <a:r>
              <a:rPr lang="de-DE" dirty="0" err="1"/>
              <a:t>slows</a:t>
            </a:r>
            <a:r>
              <a:rPr lang="de-DE" dirty="0"/>
              <a:t> down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Idea: </a:t>
            </a:r>
            <a:r>
              <a:rPr lang="de-DE" dirty="0" err="1"/>
              <a:t>Adding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, but after a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gain</a:t>
            </a:r>
            <a:r>
              <a:rPr lang="de-DE" dirty="0"/>
              <a:t> </a:t>
            </a:r>
            <a:r>
              <a:rPr lang="de-DE" dirty="0" err="1"/>
              <a:t>becomes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But </a:t>
            </a:r>
            <a:r>
              <a:rPr lang="de-DE" dirty="0" err="1"/>
              <a:t>elbow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ambiguous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not visible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CDA20E-5253-C45E-C09D-183FF5686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7715189-1203-533C-6770-2E3921D6D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047" y="1825625"/>
            <a:ext cx="5172510" cy="4121702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39F7A56C-157A-F7A8-DB88-C620B9C37FCD}"/>
              </a:ext>
            </a:extLst>
          </p:cNvPr>
          <p:cNvSpPr txBox="1"/>
          <p:nvPr/>
        </p:nvSpPr>
        <p:spPr>
          <a:xfrm>
            <a:off x="9569302" y="3105834"/>
            <a:ext cx="1600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3 </a:t>
            </a:r>
            <a:r>
              <a:rPr lang="de-DE" dirty="0" err="1"/>
              <a:t>true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case</a:t>
            </a:r>
            <a:endParaRPr lang="de-DE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510C779-81C9-F430-7680-D17C2AEAB739}"/>
              </a:ext>
            </a:extLst>
          </p:cNvPr>
          <p:cNvCxnSpPr/>
          <p:nvPr/>
        </p:nvCxnSpPr>
        <p:spPr>
          <a:xfrm flipH="1">
            <a:off x="8746435" y="3429000"/>
            <a:ext cx="822867" cy="1530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1768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AA823-E2CE-8C0D-90DB-02DFE957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Validation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AAAE878-7307-C927-4B47-5A9C5B86A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Since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: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“</a:t>
            </a:r>
            <a:r>
              <a:rPr lang="de-DE" dirty="0" err="1"/>
              <a:t>correct</a:t>
            </a:r>
            <a:r>
              <a:rPr lang="de-DE" dirty="0"/>
              <a:t>” </a:t>
            </a:r>
            <a:r>
              <a:rPr lang="de-DE" dirty="0" err="1"/>
              <a:t>answer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well-</a:t>
            </a:r>
            <a:r>
              <a:rPr lang="de-DE" dirty="0" err="1"/>
              <a:t>separated</a:t>
            </a:r>
            <a:r>
              <a:rPr lang="de-DE" dirty="0"/>
              <a:t> and </a:t>
            </a:r>
            <a:r>
              <a:rPr lang="de-DE" dirty="0" err="1"/>
              <a:t>cohesive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Evaluation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include</a:t>
            </a:r>
            <a:r>
              <a:rPr lang="de-DE" dirty="0"/>
              <a:t>:</a:t>
            </a:r>
          </a:p>
          <a:p>
            <a:r>
              <a:rPr lang="de-DE" dirty="0"/>
              <a:t>Silhouette score</a:t>
            </a:r>
          </a:p>
          <a:p>
            <a:r>
              <a:rPr lang="de-DE" dirty="0"/>
              <a:t>Davies-</a:t>
            </a:r>
            <a:r>
              <a:rPr lang="de-DE" dirty="0" err="1"/>
              <a:t>Bouldin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(fast alternative)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63E3869-C5B7-1A95-0614-2B381BD8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42175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5A60AB-F037-38B2-551A-BD097CB61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Silhouette 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B3396B-0F4D-E379-6688-1825F47C2F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1800" dirty="0" err="1"/>
                  <a:t>Compares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well</a:t>
                </a:r>
                <a:r>
                  <a:rPr lang="de-DE" sz="1800" dirty="0"/>
                  <a:t> a </a:t>
                </a:r>
                <a:r>
                  <a:rPr lang="de-DE" sz="1800" dirty="0" err="1"/>
                  <a:t>point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fits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its</a:t>
                </a:r>
                <a:r>
                  <a:rPr lang="de-DE" sz="1800" dirty="0"/>
                  <a:t> own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vs. </a:t>
                </a:r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well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it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would</a:t>
                </a:r>
                <a:r>
                  <a:rPr lang="de-DE" sz="1800" dirty="0"/>
                  <a:t> fit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next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best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endParaRPr lang="de-DE" sz="1800" dirty="0"/>
              </a:p>
              <a:p>
                <a:pPr marL="0" indent="0">
                  <a:buNone/>
                </a:pP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Silhouette score = </a:t>
                </a:r>
                <a:r>
                  <a:rPr lang="de-DE" sz="1800" dirty="0" err="1"/>
                  <a:t>mean</a:t>
                </a:r>
                <a:r>
                  <a:rPr lang="de-DE" sz="1800" dirty="0"/>
                  <a:t> Silhouette </a:t>
                </a:r>
                <a:r>
                  <a:rPr lang="de-DE" sz="1800" dirty="0" err="1"/>
                  <a:t>coefficient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over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samples</a:t>
                </a: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Silhouette </a:t>
                </a:r>
                <a:r>
                  <a:rPr lang="de-DE" sz="1800" dirty="0" err="1"/>
                  <a:t>coefficient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for</a:t>
                </a:r>
                <a:r>
                  <a:rPr lang="de-DE" sz="1800" dirty="0"/>
                  <a:t> a sample: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sz="1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de-DE" sz="1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num>
                      <m:den>
                        <m:func>
                          <m:funcPr>
                            <m:ctrlPr>
                              <a:rPr lang="de-DE" sz="180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 sz="1800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sz="18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</m:func>
                      </m:den>
                    </m:f>
                  </m:oMath>
                </a14:m>
                <a:endParaRPr lang="de-DE" sz="18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de-DE" sz="1800" dirty="0"/>
                  <a:t>: </a:t>
                </a:r>
                <a:r>
                  <a:rPr lang="de-DE" sz="1800" dirty="0" err="1"/>
                  <a:t>average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sample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points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same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(intra-cluster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sz="1800" dirty="0"/>
                  <a:t>: </a:t>
                </a:r>
                <a:r>
                  <a:rPr lang="de-DE" sz="1800" dirty="0" err="1"/>
                  <a:t>lowest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average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sample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points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another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(</a:t>
                </a:r>
                <a:r>
                  <a:rPr lang="de-DE" sz="1800" dirty="0" err="1"/>
                  <a:t>nearest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)</a:t>
                </a:r>
              </a:p>
              <a:p>
                <a:pPr marL="0" indent="0">
                  <a:buNone/>
                </a:pP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Score </a:t>
                </a:r>
                <a:r>
                  <a:rPr lang="de-DE" sz="1800" dirty="0" err="1"/>
                  <a:t>ranges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-1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1</a:t>
                </a:r>
              </a:p>
              <a:p>
                <a:r>
                  <a:rPr lang="de-DE" sz="1800" dirty="0"/>
                  <a:t>Close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1: well-</a:t>
                </a:r>
                <a:r>
                  <a:rPr lang="de-DE" sz="1800" dirty="0" err="1"/>
                  <a:t>separated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clusters</a:t>
                </a:r>
                <a:endParaRPr lang="de-DE" sz="1800" dirty="0"/>
              </a:p>
              <a:p>
                <a:r>
                  <a:rPr lang="de-DE" sz="1800" dirty="0" err="1"/>
                  <a:t>Around</a:t>
                </a:r>
                <a:r>
                  <a:rPr lang="de-DE" sz="1800" dirty="0"/>
                  <a:t> 0: </a:t>
                </a:r>
                <a:r>
                  <a:rPr lang="de-DE" sz="1800" dirty="0" err="1"/>
                  <a:t>overlapping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clusters</a:t>
                </a:r>
                <a:endParaRPr lang="de-DE" sz="1800" dirty="0"/>
              </a:p>
              <a:p>
                <a:r>
                  <a:rPr lang="de-DE" sz="1800" dirty="0"/>
                  <a:t>Negative: </a:t>
                </a:r>
                <a:r>
                  <a:rPr lang="de-DE" sz="1800" dirty="0" err="1"/>
                  <a:t>wrong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assignments</a:t>
                </a:r>
                <a:endParaRPr lang="de-DE" sz="18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B3396B-0F4D-E379-6688-1825F47C2F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F17BED-567A-F135-F979-7F17529C4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6884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B459EB-FAE8-31DC-E38F-3046EC588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Supervised</a:t>
            </a:r>
            <a:r>
              <a:rPr lang="de-DE" dirty="0"/>
              <a:t> Clustering Validation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2427C8-4330-BC0E-F7FF-95DB2D9863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de-DE" dirty="0"/>
              <a:t>External </a:t>
            </a:r>
            <a:r>
              <a:rPr lang="de-DE" dirty="0" err="1"/>
              <a:t>validation</a:t>
            </a:r>
            <a:r>
              <a:rPr lang="de-DE" dirty="0"/>
              <a:t>: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already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ground-truth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 and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evaluate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a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matches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“</a:t>
            </a:r>
            <a:r>
              <a:rPr lang="de-DE" dirty="0" err="1"/>
              <a:t>true</a:t>
            </a:r>
            <a:r>
              <a:rPr lang="de-DE" dirty="0"/>
              <a:t>” </a:t>
            </a:r>
            <a:r>
              <a:rPr lang="de-DE" dirty="0" err="1"/>
              <a:t>grouping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Evaluates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correctness</a:t>
            </a:r>
            <a:r>
              <a:rPr lang="de-DE" dirty="0">
                <a:sym typeface="Wingdings" pitchFamily="2" charset="2"/>
              </a:rPr>
              <a:t>, not just </a:t>
            </a:r>
            <a:r>
              <a:rPr lang="de-DE" dirty="0" err="1">
                <a:sym typeface="Wingdings" pitchFamily="2" charset="2"/>
              </a:rPr>
              <a:t>structure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Adjusted</a:t>
            </a:r>
            <a:r>
              <a:rPr lang="de-DE" dirty="0"/>
              <a:t> Rand </a:t>
            </a:r>
            <a:r>
              <a:rPr lang="de-DE" dirty="0" err="1"/>
              <a:t>index</a:t>
            </a:r>
            <a:r>
              <a:rPr lang="de-DE" dirty="0"/>
              <a:t>: </a:t>
            </a:r>
            <a:r>
              <a:rPr lang="de-DE" dirty="0" err="1"/>
              <a:t>counting</a:t>
            </a:r>
            <a:r>
              <a:rPr lang="de-DE" dirty="0"/>
              <a:t> </a:t>
            </a:r>
            <a:r>
              <a:rPr lang="de-DE" dirty="0" err="1"/>
              <a:t>pairs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or</a:t>
            </a:r>
            <a:r>
              <a:rPr lang="de-DE" dirty="0"/>
              <a:t> different </a:t>
            </a:r>
            <a:r>
              <a:rPr lang="de-DE" dirty="0" err="1"/>
              <a:t>clusters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and </a:t>
            </a:r>
            <a:r>
              <a:rPr lang="de-DE" dirty="0" err="1"/>
              <a:t>true</a:t>
            </a:r>
            <a:r>
              <a:rPr lang="de-DE" dirty="0"/>
              <a:t> </a:t>
            </a:r>
            <a:r>
              <a:rPr lang="de-DE" dirty="0" err="1"/>
              <a:t>clusterings</a:t>
            </a:r>
            <a:r>
              <a:rPr lang="de-DE" dirty="0"/>
              <a:t>, </a:t>
            </a:r>
            <a:r>
              <a:rPr lang="de-DE" dirty="0" err="1"/>
              <a:t>adjusted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chance</a:t>
            </a:r>
            <a:r>
              <a:rPr lang="de-DE" dirty="0"/>
              <a:t> (</a:t>
            </a:r>
            <a:r>
              <a:rPr lang="de-DE" dirty="0" err="1"/>
              <a:t>random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): 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ARI = (RI -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Expected_RI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) / (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max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(RI) -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Expected_RI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r>
              <a:rPr lang="de-DE" dirty="0" err="1"/>
              <a:t>Adjusted</a:t>
            </a:r>
            <a:r>
              <a:rPr lang="de-DE" dirty="0"/>
              <a:t> mutual </a:t>
            </a:r>
            <a:r>
              <a:rPr lang="de-DE" dirty="0" err="1"/>
              <a:t>information</a:t>
            </a:r>
            <a:endParaRPr lang="de-DE" dirty="0"/>
          </a:p>
          <a:p>
            <a:r>
              <a:rPr lang="de-DE" dirty="0" err="1"/>
              <a:t>Homogeneity</a:t>
            </a:r>
            <a:r>
              <a:rPr lang="de-DE" dirty="0"/>
              <a:t>, </a:t>
            </a:r>
            <a:r>
              <a:rPr lang="de-DE" dirty="0" err="1"/>
              <a:t>completeness</a:t>
            </a:r>
            <a:r>
              <a:rPr lang="de-DE" dirty="0"/>
              <a:t>, and V-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scores</a:t>
            </a:r>
            <a:endParaRPr lang="de-DE" dirty="0"/>
          </a:p>
          <a:p>
            <a:pPr lvl="1"/>
            <a:r>
              <a:rPr lang="de-DE" dirty="0" err="1"/>
              <a:t>homogeneity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contains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class</a:t>
            </a:r>
            <a:endParaRPr lang="de-DE" dirty="0"/>
          </a:p>
          <a:p>
            <a:pPr lvl="1"/>
            <a:r>
              <a:rPr lang="de-DE" dirty="0" err="1"/>
              <a:t>completeness</a:t>
            </a:r>
            <a:r>
              <a:rPr lang="de-DE" dirty="0"/>
              <a:t>: all </a:t>
            </a:r>
            <a:r>
              <a:rPr lang="de-DE" dirty="0" err="1"/>
              <a:t>members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class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cluster</a:t>
            </a:r>
            <a:endParaRPr lang="de-DE" dirty="0"/>
          </a:p>
          <a:p>
            <a:pPr lvl="1"/>
            <a:r>
              <a:rPr lang="de-DE" dirty="0"/>
              <a:t>V-</a:t>
            </a:r>
            <a:r>
              <a:rPr lang="de-DE" dirty="0" err="1"/>
              <a:t>measure</a:t>
            </a:r>
            <a:r>
              <a:rPr lang="de-DE" dirty="0"/>
              <a:t>: </a:t>
            </a:r>
            <a:r>
              <a:rPr lang="de-DE" dirty="0" err="1"/>
              <a:t>harmonic</a:t>
            </a:r>
            <a:r>
              <a:rPr lang="de-DE" dirty="0"/>
              <a:t> 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homogeneity</a:t>
            </a:r>
            <a:r>
              <a:rPr lang="de-DE" dirty="0"/>
              <a:t> and </a:t>
            </a:r>
            <a:r>
              <a:rPr lang="de-DE" dirty="0" err="1"/>
              <a:t>completeness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1A4EA1-06DA-F940-1383-630B8622B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0058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72AF3-6DAA-E6C2-A919-228FF3EB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Visualizing</a:t>
            </a:r>
            <a:r>
              <a:rPr lang="de-DE" dirty="0"/>
              <a:t> Clusters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16E7ED1-7488-E0CC-5C80-6134391A1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Even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,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sanity</a:t>
            </a:r>
            <a:r>
              <a:rPr lang="de-DE" dirty="0"/>
              <a:t>-check:</a:t>
            </a:r>
          </a:p>
          <a:p>
            <a:r>
              <a:rPr lang="de-DE" dirty="0" err="1"/>
              <a:t>Visualize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(</a:t>
            </a:r>
            <a:r>
              <a:rPr lang="de-DE" dirty="0" err="1"/>
              <a:t>using</a:t>
            </a:r>
            <a:r>
              <a:rPr lang="de-DE" dirty="0"/>
              <a:t> PCA </a:t>
            </a:r>
            <a:r>
              <a:rPr lang="de-DE" dirty="0" err="1"/>
              <a:t>or</a:t>
            </a:r>
            <a:r>
              <a:rPr lang="de-DE" dirty="0"/>
              <a:t> t-SNE </a:t>
            </a:r>
            <a:r>
              <a:rPr lang="de-DE" dirty="0" err="1"/>
              <a:t>for</a:t>
            </a:r>
            <a:r>
              <a:rPr lang="de-DE" dirty="0"/>
              <a:t> high </a:t>
            </a:r>
            <a:r>
              <a:rPr lang="de-DE" dirty="0" err="1"/>
              <a:t>dimensions</a:t>
            </a:r>
            <a:r>
              <a:rPr lang="de-DE" dirty="0"/>
              <a:t>)</a:t>
            </a:r>
          </a:p>
          <a:p>
            <a:r>
              <a:rPr lang="de-DE" dirty="0"/>
              <a:t>Ask: Do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sense in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domain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251F56-854B-D4C6-04C7-5A3B3F8D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861363D-71A9-BB23-8E03-572F96EE9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363" y="3188400"/>
            <a:ext cx="4334091" cy="335051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624B4F01-6342-71F0-9C42-11BC44FC5B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010" y="3234437"/>
            <a:ext cx="4193179" cy="330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0370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A68D1B-A2EE-F2CE-AD52-EB2C87A5B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84FCB9-BA82-739D-B7F6-7D6511A25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Customer Segmentation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k-Means</a:t>
            </a:r>
            <a:r>
              <a:rPr lang="de-DE" dirty="0"/>
              <a:t> on </a:t>
            </a:r>
            <a:r>
              <a:rPr lang="de-DE" dirty="0">
                <a:hlinkClick r:id="rId2"/>
              </a:rPr>
              <a:t>Mall Customers dataset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AF4DC5F-D48A-1033-7650-05C30D58C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47867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4A32B6-34C5-0593-9264-11762B336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FDA34E2-491D-0922-FDC4-FF707320F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0365"/>
            <a:ext cx="7772400" cy="611726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88F2B15-1EFD-A0F9-B86A-EEC2FA1566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624" y="1720510"/>
            <a:ext cx="4483376" cy="3416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8573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E85EF2-749A-FE44-0A02-FD2D9249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Models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2F8357-AF4F-871F-2CBC-4B5FD73DA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6905"/>
            <a:ext cx="7172739" cy="266686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assigns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Euclidean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centroid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effectively</a:t>
            </a:r>
            <a:r>
              <a:rPr lang="de-DE" dirty="0"/>
              <a:t> </a:t>
            </a:r>
            <a:r>
              <a:rPr lang="de-DE" dirty="0" err="1"/>
              <a:t>spherical</a:t>
            </a:r>
            <a:r>
              <a:rPr lang="de-DE" dirty="0"/>
              <a:t> (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straight</a:t>
            </a:r>
            <a:r>
              <a:rPr lang="de-DE" dirty="0"/>
              <a:t>-line </a:t>
            </a:r>
            <a:r>
              <a:rPr lang="de-DE" dirty="0" err="1"/>
              <a:t>boundaries</a:t>
            </a:r>
            <a:r>
              <a:rPr lang="de-DE" dirty="0"/>
              <a:t> in 2D)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Models (GMM),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modeled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multivariate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distribution</a:t>
            </a:r>
            <a:r>
              <a:rPr lang="de-DE" dirty="0"/>
              <a:t> (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r>
              <a:rPr lang="de-DE" dirty="0"/>
              <a:t>)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elliptical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B40836D-FBB2-F6AE-DB5B-B3E743214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1026" name="Picture 2" descr="spherical, diag, tied, full">
            <a:extLst>
              <a:ext uri="{FF2B5EF4-FFF2-40B4-BE49-F238E27FC236}">
                <a16:creationId xmlns:a16="http://schemas.microsoft.com/office/drawing/2014/main" id="{3C32AA3D-D421-BA34-023C-009765C6B9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0939" y="0"/>
            <a:ext cx="4181061" cy="4181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0DB1C56-2B4E-7A89-9076-B2C295DE1860}"/>
              </a:ext>
            </a:extLst>
          </p:cNvPr>
          <p:cNvSpPr txBox="1"/>
          <p:nvPr/>
        </p:nvSpPr>
        <p:spPr>
          <a:xfrm>
            <a:off x="838200" y="4413151"/>
            <a:ext cx="10515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 err="1"/>
              <a:t>k-Means</a:t>
            </a:r>
            <a:r>
              <a:rPr lang="de-DE" sz="2400" dirty="0"/>
              <a:t>: Group </a:t>
            </a:r>
            <a:r>
              <a:rPr lang="de-DE" sz="2400" dirty="0" err="1"/>
              <a:t>points</a:t>
            </a:r>
            <a:r>
              <a:rPr lang="de-DE" sz="2400" dirty="0"/>
              <a:t> </a:t>
            </a:r>
            <a:r>
              <a:rPr lang="de-DE" sz="2400" dirty="0" err="1"/>
              <a:t>around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nearest</a:t>
            </a:r>
            <a:r>
              <a:rPr lang="de-DE" sz="2400" dirty="0"/>
              <a:t> </a:t>
            </a:r>
            <a:r>
              <a:rPr lang="de-DE" sz="2400" dirty="0" err="1"/>
              <a:t>center</a:t>
            </a:r>
            <a:endParaRPr lang="de-DE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/>
              <a:t>GMM: </a:t>
            </a:r>
            <a:r>
              <a:rPr lang="de-DE" sz="2400" dirty="0" err="1"/>
              <a:t>Assume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r>
              <a:rPr lang="de-DE" sz="2400" dirty="0"/>
              <a:t> was </a:t>
            </a:r>
            <a:r>
              <a:rPr lang="de-DE" sz="2400" dirty="0" err="1"/>
              <a:t>generated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several</a:t>
            </a:r>
            <a:r>
              <a:rPr lang="de-DE" sz="2400" dirty="0"/>
              <a:t> </a:t>
            </a:r>
            <a:r>
              <a:rPr lang="de-DE" sz="2400" dirty="0" err="1"/>
              <a:t>Gaussian</a:t>
            </a:r>
            <a:r>
              <a:rPr lang="de-DE" sz="2400" dirty="0"/>
              <a:t> </a:t>
            </a:r>
            <a:r>
              <a:rPr lang="de-DE" sz="2400" dirty="0" err="1"/>
              <a:t>distributions</a:t>
            </a:r>
            <a:r>
              <a:rPr lang="de-DE" sz="2400" dirty="0"/>
              <a:t> and </a:t>
            </a:r>
            <a:r>
              <a:rPr lang="de-DE" sz="2400" dirty="0" err="1"/>
              <a:t>estimate</a:t>
            </a:r>
            <a:r>
              <a:rPr lang="de-DE" sz="2400" dirty="0"/>
              <a:t> </a:t>
            </a:r>
            <a:r>
              <a:rPr lang="de-DE" sz="2400" dirty="0" err="1"/>
              <a:t>them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k-Means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interpreted</a:t>
            </a:r>
            <a:r>
              <a:rPr lang="de-DE" sz="2400" dirty="0"/>
              <a:t>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special</a:t>
            </a:r>
            <a:r>
              <a:rPr lang="de-DE" sz="2400" dirty="0"/>
              <a:t> </a:t>
            </a:r>
            <a:r>
              <a:rPr lang="de-DE" sz="2400" dirty="0" err="1"/>
              <a:t>case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Gaussian</a:t>
            </a:r>
            <a:r>
              <a:rPr lang="de-DE" sz="2400" dirty="0"/>
              <a:t> </a:t>
            </a:r>
            <a:r>
              <a:rPr lang="de-DE" sz="2400" dirty="0" err="1"/>
              <a:t>mixture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same </a:t>
            </a:r>
            <a:r>
              <a:rPr lang="de-DE" sz="2400" dirty="0" err="1"/>
              <a:t>variance</a:t>
            </a:r>
            <a:r>
              <a:rPr lang="de-DE" sz="2400" dirty="0"/>
              <a:t> in all </a:t>
            </a:r>
            <a:r>
              <a:rPr lang="de-DE" sz="2400" dirty="0" err="1"/>
              <a:t>directions</a:t>
            </a:r>
            <a:r>
              <a:rPr lang="de-DE" sz="2400" dirty="0"/>
              <a:t> and </a:t>
            </a:r>
            <a:r>
              <a:rPr lang="de-DE" sz="2400" dirty="0" err="1"/>
              <a:t>no</a:t>
            </a:r>
            <a:r>
              <a:rPr lang="de-DE" sz="2400" dirty="0"/>
              <a:t> </a:t>
            </a:r>
            <a:r>
              <a:rPr lang="de-DE" sz="2400" dirty="0" err="1"/>
              <a:t>covariance</a:t>
            </a:r>
            <a:r>
              <a:rPr lang="de-DE" sz="2400" dirty="0"/>
              <a:t> </a:t>
            </a:r>
            <a:r>
              <a:rPr lang="de-DE" sz="2400" dirty="0" err="1"/>
              <a:t>between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5639203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6CDE3F-08E5-532F-4B3B-5300331A2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GMM </a:t>
            </a:r>
            <a:r>
              <a:rPr lang="de-DE" dirty="0" err="1"/>
              <a:t>Covariance</a:t>
            </a:r>
            <a:r>
              <a:rPr lang="de-DE" dirty="0"/>
              <a:t> Matrices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5D104B-F4AC-DC24-01F6-E760C0123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de-DE" dirty="0" err="1"/>
              <a:t>full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own </a:t>
            </a:r>
            <a:r>
              <a:rPr lang="de-DE" dirty="0" err="1"/>
              <a:t>general</a:t>
            </a:r>
            <a:r>
              <a:rPr lang="de-DE" dirty="0"/>
              <a:t> 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endParaRPr lang="de-DE" dirty="0"/>
          </a:p>
          <a:p>
            <a:r>
              <a:rPr lang="de-DE" dirty="0" err="1"/>
              <a:t>tied</a:t>
            </a:r>
            <a:r>
              <a:rPr lang="de-DE" dirty="0"/>
              <a:t>: all </a:t>
            </a:r>
            <a:r>
              <a:rPr lang="de-DE" dirty="0" err="1"/>
              <a:t>components</a:t>
            </a:r>
            <a:r>
              <a:rPr lang="de-DE" dirty="0"/>
              <a:t> </a:t>
            </a:r>
            <a:r>
              <a:rPr lang="de-DE" dirty="0" err="1"/>
              <a:t>share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general</a:t>
            </a:r>
            <a:r>
              <a:rPr lang="de-DE" dirty="0"/>
              <a:t> 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endParaRPr lang="de-DE" dirty="0"/>
          </a:p>
          <a:p>
            <a:r>
              <a:rPr lang="de-DE" dirty="0" err="1"/>
              <a:t>diag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own diagonal 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endParaRPr lang="de-DE" dirty="0"/>
          </a:p>
          <a:p>
            <a:r>
              <a:rPr lang="de-DE" dirty="0" err="1"/>
              <a:t>spherical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own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variance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861C2E3-B328-C29E-17C5-846C62E45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pic>
        <p:nvPicPr>
          <p:cNvPr id="1026" name="Picture 2" descr="spherical, diag, tied, full">
            <a:extLst>
              <a:ext uri="{FF2B5EF4-FFF2-40B4-BE49-F238E27FC236}">
                <a16:creationId xmlns:a16="http://schemas.microsoft.com/office/drawing/2014/main" id="{F801D49C-FEAF-C2A2-73EF-DBC1490E9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113" y="1253663"/>
            <a:ext cx="5102687" cy="5102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18F63E4B-DB35-4BD8-2083-ADEE9975DBE9}"/>
              </a:ext>
            </a:extLst>
          </p:cNvPr>
          <p:cNvSpPr txBox="1"/>
          <p:nvPr/>
        </p:nvSpPr>
        <p:spPr>
          <a:xfrm>
            <a:off x="7736072" y="884331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hlinkClick r:id="rId3"/>
              </a:rPr>
              <a:t>scikit</a:t>
            </a:r>
            <a:r>
              <a:rPr lang="de-DE" dirty="0">
                <a:hlinkClick r:id="rId3"/>
              </a:rPr>
              <a:t> </a:t>
            </a:r>
            <a:r>
              <a:rPr lang="de-DE" dirty="0" err="1">
                <a:hlinkClick r:id="rId3"/>
              </a:rPr>
              <a:t>learn</a:t>
            </a:r>
            <a:r>
              <a:rPr lang="de-DE" dirty="0">
                <a:hlinkClick r:id="rId3"/>
              </a:rPr>
              <a:t> </a:t>
            </a:r>
            <a:r>
              <a:rPr lang="de-DE" dirty="0" err="1">
                <a:hlinkClick r:id="rId3"/>
              </a:rPr>
              <a:t>example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6748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2D266D-155F-F226-2B1D-358BA749E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Hierarchical</a:t>
            </a:r>
            <a:r>
              <a:rPr lang="de-DE" dirty="0"/>
              <a:t> Clustering: Motivation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D43E1A-B4C6-C600-C100-9CC8DC641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Builds</a:t>
            </a:r>
            <a:r>
              <a:rPr lang="de-DE" dirty="0"/>
              <a:t> a </a:t>
            </a:r>
            <a:r>
              <a:rPr lang="de-DE" dirty="0" err="1"/>
              <a:t>tree</a:t>
            </a:r>
            <a:r>
              <a:rPr lang="de-DE" dirty="0"/>
              <a:t> (</a:t>
            </a:r>
            <a:r>
              <a:rPr lang="de-DE" dirty="0" err="1"/>
              <a:t>dendrogram</a:t>
            </a:r>
            <a:r>
              <a:rPr lang="de-DE" dirty="0"/>
              <a:t>)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understanding</a:t>
            </a:r>
            <a:r>
              <a:rPr lang="de-DE" dirty="0"/>
              <a:t> </a:t>
            </a:r>
            <a:r>
              <a:rPr lang="de-DE" dirty="0" err="1"/>
              <a:t>nested</a:t>
            </a:r>
            <a:r>
              <a:rPr lang="de-DE" dirty="0"/>
              <a:t> </a:t>
            </a:r>
            <a:r>
              <a:rPr lang="de-DE" dirty="0" err="1"/>
              <a:t>structures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Advantages:</a:t>
            </a:r>
          </a:p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pre-specify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r>
              <a:rPr lang="de-DE" dirty="0" err="1"/>
              <a:t>Captures</a:t>
            </a:r>
            <a:r>
              <a:rPr lang="de-DE" dirty="0"/>
              <a:t> </a:t>
            </a:r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visualize</a:t>
            </a:r>
            <a:r>
              <a:rPr lang="de-DE" dirty="0"/>
              <a:t> and </a:t>
            </a:r>
            <a:r>
              <a:rPr lang="de-DE" dirty="0" err="1"/>
              <a:t>interpret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But </a:t>
            </a:r>
            <a:r>
              <a:rPr lang="de-DE" dirty="0" err="1"/>
              <a:t>computationally</a:t>
            </a:r>
            <a:r>
              <a:rPr lang="de-DE" dirty="0"/>
              <a:t> expensive and sensitive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noise</a:t>
            </a:r>
            <a:r>
              <a:rPr lang="de-DE" dirty="0"/>
              <a:t> and </a:t>
            </a:r>
            <a:r>
              <a:rPr lang="de-DE" dirty="0" err="1"/>
              <a:t>outliers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837E5E9-930A-77A7-EDB3-BE3C12678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906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A795E3-8759-6E8B-1DBA-45DFA164A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Hierarchical</a:t>
            </a:r>
            <a:r>
              <a:rPr lang="de-DE" dirty="0"/>
              <a:t> Clustering: Key Idea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6B8F8F-3C4E-99B0-8059-286F2BFD6A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857939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de-DE" dirty="0" err="1"/>
              <a:t>Iteratively</a:t>
            </a:r>
            <a:r>
              <a:rPr lang="de-DE" dirty="0"/>
              <a:t> </a:t>
            </a:r>
            <a:r>
              <a:rPr lang="de-DE" dirty="0" err="1"/>
              <a:t>merge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split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, </a:t>
            </a:r>
            <a:r>
              <a:rPr lang="de-DE" dirty="0" err="1"/>
              <a:t>based</a:t>
            </a:r>
            <a:r>
              <a:rPr lang="de-DE" dirty="0"/>
              <a:t> on a </a:t>
            </a:r>
            <a:r>
              <a:rPr lang="de-DE" dirty="0" err="1"/>
              <a:t>distance</a:t>
            </a:r>
            <a:r>
              <a:rPr lang="de-DE" dirty="0"/>
              <a:t> (</a:t>
            </a:r>
            <a:r>
              <a:rPr lang="de-DE" dirty="0" err="1"/>
              <a:t>similarity</a:t>
            </a:r>
            <a:r>
              <a:rPr lang="de-DE" dirty="0"/>
              <a:t>) </a:t>
            </a:r>
            <a:r>
              <a:rPr lang="de-DE" dirty="0" err="1"/>
              <a:t>measure</a:t>
            </a:r>
            <a:endParaRPr lang="de-DE" dirty="0"/>
          </a:p>
          <a:p>
            <a:pPr marL="0" indent="0" algn="ctr">
              <a:buNone/>
            </a:pP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DAD117E-071A-5DEF-876A-40396D489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18ACD6D-54C0-88CF-3882-B5E4C688401F}"/>
              </a:ext>
            </a:extLst>
          </p:cNvPr>
          <p:cNvSpPr txBox="1"/>
          <p:nvPr/>
        </p:nvSpPr>
        <p:spPr>
          <a:xfrm>
            <a:off x="838200" y="2818503"/>
            <a:ext cx="4707835" cy="3877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b="1" dirty="0" err="1"/>
              <a:t>Agglomerative</a:t>
            </a:r>
            <a:r>
              <a:rPr lang="de-DE" sz="2400" dirty="0"/>
              <a:t> (</a:t>
            </a:r>
            <a:r>
              <a:rPr lang="de-DE" sz="2400" dirty="0" err="1"/>
              <a:t>bottom-up</a:t>
            </a:r>
            <a:r>
              <a:rPr lang="de-DE" sz="2400" dirty="0"/>
              <a:t>)</a:t>
            </a:r>
          </a:p>
          <a:p>
            <a:endParaRPr lang="de-DE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Start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 </a:t>
            </a:r>
            <a:r>
              <a:rPr lang="de-DE" sz="2200" dirty="0" err="1"/>
              <a:t>as</a:t>
            </a:r>
            <a:r>
              <a:rPr lang="de-DE" sz="2200" dirty="0"/>
              <a:t> </a:t>
            </a:r>
            <a:r>
              <a:rPr lang="de-DE" sz="2200" dirty="0" err="1"/>
              <a:t>its</a:t>
            </a:r>
            <a:r>
              <a:rPr lang="de-DE" sz="2200" dirty="0"/>
              <a:t> own </a:t>
            </a:r>
            <a:r>
              <a:rPr lang="de-DE" sz="2200" dirty="0" err="1"/>
              <a:t>cluster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Repeat: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Find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closest</a:t>
            </a:r>
            <a:r>
              <a:rPr lang="de-DE" sz="2200" dirty="0"/>
              <a:t> pair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clusters</a:t>
            </a:r>
            <a:endParaRPr lang="de-DE" sz="2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Merge</a:t>
            </a:r>
            <a:r>
              <a:rPr lang="de-DE" sz="2200" dirty="0"/>
              <a:t> </a:t>
            </a:r>
            <a:r>
              <a:rPr lang="de-DE" sz="2200" dirty="0" err="1"/>
              <a:t>them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Continue</a:t>
            </a:r>
            <a:r>
              <a:rPr lang="de-DE" sz="2200" dirty="0"/>
              <a:t> </a:t>
            </a:r>
            <a:r>
              <a:rPr lang="de-DE" sz="2200" dirty="0" err="1"/>
              <a:t>until</a:t>
            </a:r>
            <a:r>
              <a:rPr lang="de-DE" sz="22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One</a:t>
            </a:r>
            <a:r>
              <a:rPr lang="de-DE" sz="2200" dirty="0"/>
              <a:t> </a:t>
            </a:r>
            <a:r>
              <a:rPr lang="de-DE" sz="2200" dirty="0" err="1"/>
              <a:t>cluster</a:t>
            </a:r>
            <a:r>
              <a:rPr lang="de-DE" sz="2200" dirty="0"/>
              <a:t> </a:t>
            </a:r>
            <a:r>
              <a:rPr lang="de-DE" sz="2200" dirty="0" err="1"/>
              <a:t>remains</a:t>
            </a:r>
            <a:endParaRPr lang="de-DE" sz="2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desired</a:t>
            </a:r>
            <a:r>
              <a:rPr lang="de-DE" sz="2200" dirty="0"/>
              <a:t> </a:t>
            </a:r>
            <a:r>
              <a:rPr lang="de-DE" sz="2200" dirty="0" err="1"/>
              <a:t>number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clusters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reached</a:t>
            </a:r>
            <a:endParaRPr lang="de-DE" sz="22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9556136-CB1E-0103-27DC-DA49B42A857C}"/>
              </a:ext>
            </a:extLst>
          </p:cNvPr>
          <p:cNvSpPr txBox="1"/>
          <p:nvPr/>
        </p:nvSpPr>
        <p:spPr>
          <a:xfrm>
            <a:off x="6645964" y="2824232"/>
            <a:ext cx="4707835" cy="25237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b="1" dirty="0" err="1"/>
              <a:t>Divisive</a:t>
            </a:r>
            <a:r>
              <a:rPr lang="de-DE" sz="2400" dirty="0"/>
              <a:t> (top-down)</a:t>
            </a:r>
          </a:p>
          <a:p>
            <a:endParaRPr lang="de-DE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/>
              <a:t>Start </a:t>
            </a:r>
            <a:r>
              <a:rPr lang="de-DE" sz="2200" dirty="0" err="1"/>
              <a:t>with</a:t>
            </a:r>
            <a:r>
              <a:rPr lang="de-DE" sz="2200" dirty="0"/>
              <a:t> all </a:t>
            </a:r>
            <a:r>
              <a:rPr lang="de-DE" sz="2200" dirty="0" err="1"/>
              <a:t>data</a:t>
            </a:r>
            <a:r>
              <a:rPr lang="de-DE" sz="2200" dirty="0"/>
              <a:t> in </a:t>
            </a:r>
            <a:r>
              <a:rPr lang="de-DE" sz="2200" dirty="0" err="1"/>
              <a:t>one</a:t>
            </a:r>
            <a:r>
              <a:rPr lang="de-DE" sz="2200" dirty="0"/>
              <a:t> </a:t>
            </a:r>
            <a:r>
              <a:rPr lang="de-DE" sz="2200" dirty="0" err="1"/>
              <a:t>cluster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Recursively</a:t>
            </a:r>
            <a:r>
              <a:rPr lang="de-DE" sz="2200" dirty="0"/>
              <a:t> </a:t>
            </a:r>
            <a:r>
              <a:rPr lang="de-DE" sz="2200" dirty="0" err="1"/>
              <a:t>split</a:t>
            </a:r>
            <a:r>
              <a:rPr lang="de-DE" sz="2200" dirty="0"/>
              <a:t> </a:t>
            </a:r>
            <a:r>
              <a:rPr lang="de-DE" sz="2200" dirty="0" err="1"/>
              <a:t>clusters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 err="1"/>
              <a:t>Less</a:t>
            </a:r>
            <a:r>
              <a:rPr lang="de-DE" sz="2200" dirty="0"/>
              <a:t> </a:t>
            </a:r>
            <a:r>
              <a:rPr lang="de-DE" sz="2200" dirty="0" err="1"/>
              <a:t>commonly</a:t>
            </a:r>
            <a:r>
              <a:rPr lang="de-DE" sz="2200" dirty="0"/>
              <a:t> </a:t>
            </a:r>
            <a:r>
              <a:rPr lang="de-DE" sz="2200" dirty="0" err="1"/>
              <a:t>used</a:t>
            </a:r>
            <a:r>
              <a:rPr lang="de-DE" sz="2200" dirty="0"/>
              <a:t> (</a:t>
            </a: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computationally</a:t>
            </a:r>
            <a:r>
              <a:rPr lang="de-DE" sz="2200" dirty="0"/>
              <a:t> expensive)</a:t>
            </a:r>
          </a:p>
        </p:txBody>
      </p:sp>
    </p:spTree>
    <p:extLst>
      <p:ext uri="{BB962C8B-B14F-4D97-AF65-F5344CB8AC3E}">
        <p14:creationId xmlns:p14="http://schemas.microsoft.com/office/powerpoint/2010/main" val="29484052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7E9558-60FF-C775-2BB6-0984854DF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Measures</a:t>
            </a:r>
            <a:r>
              <a:rPr lang="de-DE" dirty="0"/>
              <a:t> and </a:t>
            </a:r>
            <a:r>
              <a:rPr lang="de-DE" dirty="0" err="1"/>
              <a:t>Linkage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A418D-158A-0B53-CC56-8FC2C9052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As </a:t>
            </a:r>
            <a:r>
              <a:rPr lang="de-DE" sz="2400" dirty="0" err="1"/>
              <a:t>before</a:t>
            </a:r>
            <a:r>
              <a:rPr lang="de-DE" sz="2400" dirty="0"/>
              <a:t>, </a:t>
            </a:r>
            <a:r>
              <a:rPr lang="de-DE" sz="2400" dirty="0" err="1"/>
              <a:t>need</a:t>
            </a:r>
            <a:r>
              <a:rPr lang="de-DE" sz="2400" dirty="0"/>
              <a:t> a </a:t>
            </a:r>
            <a:r>
              <a:rPr lang="de-DE" sz="2400" dirty="0" err="1"/>
              <a:t>way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measure</a:t>
            </a:r>
            <a:r>
              <a:rPr lang="de-DE" sz="2400" dirty="0"/>
              <a:t> </a:t>
            </a:r>
            <a:r>
              <a:rPr lang="de-DE" sz="2400" dirty="0" err="1"/>
              <a:t>similarity</a:t>
            </a:r>
            <a:r>
              <a:rPr lang="de-DE" sz="2400" dirty="0"/>
              <a:t>/</a:t>
            </a:r>
            <a:r>
              <a:rPr lang="de-DE" sz="2400" dirty="0" err="1"/>
              <a:t>distance</a:t>
            </a:r>
            <a:r>
              <a:rPr lang="de-DE" sz="2400" dirty="0"/>
              <a:t> </a:t>
            </a:r>
            <a:r>
              <a:rPr lang="de-DE" sz="2400" dirty="0" err="1"/>
              <a:t>between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Euclidean</a:t>
            </a:r>
            <a:r>
              <a:rPr lang="de-DE" sz="2400" dirty="0"/>
              <a:t> </a:t>
            </a:r>
            <a:r>
              <a:rPr lang="de-DE" sz="2400" dirty="0" err="1"/>
              <a:t>distance</a:t>
            </a:r>
            <a:endParaRPr lang="de-DE" sz="2400" dirty="0"/>
          </a:p>
          <a:p>
            <a:r>
              <a:rPr lang="de-DE" sz="2400" dirty="0"/>
              <a:t>Manhattan </a:t>
            </a:r>
            <a:r>
              <a:rPr lang="de-DE" sz="2400" dirty="0" err="1"/>
              <a:t>distance</a:t>
            </a:r>
            <a:endParaRPr lang="de-DE" sz="2400" dirty="0"/>
          </a:p>
          <a:p>
            <a:r>
              <a:rPr lang="de-DE" sz="2400" dirty="0" err="1"/>
              <a:t>Cosine</a:t>
            </a:r>
            <a:r>
              <a:rPr lang="de-DE" sz="2400" dirty="0"/>
              <a:t> </a:t>
            </a:r>
            <a:r>
              <a:rPr lang="de-DE" sz="2400" dirty="0" err="1"/>
              <a:t>similarity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/>
              <a:t>Choice </a:t>
            </a:r>
            <a:r>
              <a:rPr lang="de-DE" sz="2400" dirty="0" err="1"/>
              <a:t>affects</a:t>
            </a:r>
            <a:r>
              <a:rPr lang="de-DE" sz="2400" dirty="0"/>
              <a:t> </a:t>
            </a:r>
            <a:r>
              <a:rPr lang="de-DE" sz="2400" dirty="0" err="1"/>
              <a:t>clustering</a:t>
            </a:r>
            <a:r>
              <a:rPr lang="de-DE" sz="2400" dirty="0"/>
              <a:t> </a:t>
            </a:r>
            <a:r>
              <a:rPr lang="de-DE" sz="2400" dirty="0" err="1"/>
              <a:t>results</a:t>
            </a:r>
            <a:r>
              <a:rPr lang="de-DE" sz="2400" dirty="0"/>
              <a:t> </a:t>
            </a:r>
            <a:r>
              <a:rPr lang="de-DE" sz="2400" dirty="0" err="1"/>
              <a:t>significantly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Cluster-</a:t>
            </a:r>
            <a:r>
              <a:rPr lang="de-DE" sz="2400" dirty="0" err="1"/>
              <a:t>to</a:t>
            </a:r>
            <a:r>
              <a:rPr lang="de-DE" sz="2400" dirty="0"/>
              <a:t>-cluster </a:t>
            </a:r>
            <a:r>
              <a:rPr lang="de-DE" sz="2400" dirty="0" err="1"/>
              <a:t>distance</a:t>
            </a:r>
            <a:r>
              <a:rPr lang="de-DE" sz="2400" dirty="0"/>
              <a:t> (</a:t>
            </a:r>
            <a:r>
              <a:rPr lang="de-DE" sz="2400" dirty="0" err="1"/>
              <a:t>linkage</a:t>
            </a:r>
            <a:r>
              <a:rPr lang="de-DE" sz="2400" dirty="0"/>
              <a:t>):</a:t>
            </a:r>
          </a:p>
          <a:p>
            <a:pPr marL="0" indent="0">
              <a:buNone/>
            </a:pPr>
            <a:r>
              <a:rPr lang="de-DE" sz="2400" dirty="0"/>
              <a:t>In </a:t>
            </a:r>
            <a:r>
              <a:rPr lang="de-DE" sz="2400" dirty="0" err="1"/>
              <a:t>hierarchical</a:t>
            </a:r>
            <a:r>
              <a:rPr lang="de-DE" sz="2400" dirty="0"/>
              <a:t> </a:t>
            </a:r>
            <a:r>
              <a:rPr lang="de-DE" sz="2400" dirty="0" err="1"/>
              <a:t>clustering</a:t>
            </a:r>
            <a:r>
              <a:rPr lang="de-DE" sz="2400" dirty="0"/>
              <a:t>, </a:t>
            </a:r>
            <a:r>
              <a:rPr lang="de-DE" sz="2400" dirty="0" err="1"/>
              <a:t>clusters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not </a:t>
            </a:r>
            <a:r>
              <a:rPr lang="de-DE" sz="2400" dirty="0" err="1"/>
              <a:t>summarized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a </a:t>
            </a:r>
            <a:r>
              <a:rPr lang="de-DE" sz="2400" dirty="0" err="1"/>
              <a:t>single</a:t>
            </a:r>
            <a:r>
              <a:rPr lang="de-DE" sz="2400" dirty="0"/>
              <a:t> </a:t>
            </a:r>
            <a:r>
              <a:rPr lang="de-DE" sz="2400" dirty="0" err="1"/>
              <a:t>representative</a:t>
            </a:r>
            <a:r>
              <a:rPr lang="de-DE" sz="2400" dirty="0"/>
              <a:t> </a:t>
            </a:r>
            <a:r>
              <a:rPr lang="de-DE" sz="2400" dirty="0" err="1"/>
              <a:t>point</a:t>
            </a:r>
            <a:r>
              <a:rPr lang="de-DE" sz="2400" dirty="0"/>
              <a:t> (e.g., a </a:t>
            </a:r>
            <a:r>
              <a:rPr lang="de-DE" sz="2400" dirty="0" err="1"/>
              <a:t>centroid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N</a:t>
            </a:r>
            <a:r>
              <a:rPr lang="de-DE" sz="2400" dirty="0"/>
              <a:t>eed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define</a:t>
            </a:r>
            <a:r>
              <a:rPr lang="de-DE" sz="2400" dirty="0"/>
              <a:t> </a:t>
            </a:r>
            <a:r>
              <a:rPr lang="de-DE" sz="2400" dirty="0" err="1"/>
              <a:t>distance</a:t>
            </a:r>
            <a:r>
              <a:rPr lang="de-DE" sz="2400" dirty="0"/>
              <a:t> </a:t>
            </a:r>
            <a:r>
              <a:rPr lang="de-DE" sz="2400" dirty="0" err="1"/>
              <a:t>between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r>
              <a:rPr lang="de-DE" sz="2400" dirty="0"/>
              <a:t> (</a:t>
            </a:r>
            <a:r>
              <a:rPr lang="de-DE" sz="2400" dirty="0" err="1"/>
              <a:t>sets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): </a:t>
            </a:r>
            <a:r>
              <a:rPr lang="de-DE" sz="2400" dirty="0" err="1"/>
              <a:t>linkage</a:t>
            </a:r>
            <a:r>
              <a:rPr lang="de-DE" sz="2400" dirty="0"/>
              <a:t> </a:t>
            </a:r>
            <a:r>
              <a:rPr lang="de-DE" sz="2400" dirty="0" err="1"/>
              <a:t>criteria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3E3578-2FA2-9F5A-8186-D9B607723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3396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B71406-467A-A03D-EBA2-95505D3C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Linkage</a:t>
            </a:r>
            <a:r>
              <a:rPr lang="de-DE" dirty="0"/>
              <a:t> </a:t>
            </a:r>
            <a:r>
              <a:rPr lang="de-DE" dirty="0" err="1"/>
              <a:t>Criteria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8F11AAD-8546-9E9B-7B9C-27433A01B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82208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possibilities</a:t>
            </a:r>
            <a:r>
              <a:rPr lang="de-DE" dirty="0"/>
              <a:t> (</a:t>
            </a:r>
            <a:r>
              <a:rPr lang="de-DE" dirty="0" err="1"/>
              <a:t>choice</a:t>
            </a:r>
            <a:r>
              <a:rPr lang="de-DE" dirty="0"/>
              <a:t> </a:t>
            </a:r>
            <a:r>
              <a:rPr lang="de-DE" dirty="0" err="1"/>
              <a:t>strongly</a:t>
            </a:r>
            <a:r>
              <a:rPr lang="de-DE" dirty="0"/>
              <a:t> </a:t>
            </a:r>
            <a:r>
              <a:rPr lang="de-DE" dirty="0" err="1"/>
              <a:t>affects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):</a:t>
            </a:r>
          </a:p>
          <a:p>
            <a:r>
              <a:rPr lang="de-DE" dirty="0"/>
              <a:t>Single </a:t>
            </a:r>
            <a:r>
              <a:rPr lang="de-DE" dirty="0" err="1"/>
              <a:t>Linkage</a:t>
            </a:r>
            <a:r>
              <a:rPr lang="de-DE" dirty="0"/>
              <a:t>: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closest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can</a:t>
            </a:r>
            <a:r>
              <a:rPr lang="de-DE" dirty="0"/>
              <a:t> form “</a:t>
            </a:r>
            <a:r>
              <a:rPr lang="de-DE" dirty="0" err="1"/>
              <a:t>chains</a:t>
            </a:r>
            <a:r>
              <a:rPr lang="de-DE" dirty="0"/>
              <a:t>” (</a:t>
            </a:r>
            <a:r>
              <a:rPr lang="de-DE" dirty="0" err="1"/>
              <a:t>elongated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)</a:t>
            </a:r>
          </a:p>
          <a:p>
            <a:r>
              <a:rPr lang="de-DE" dirty="0" err="1"/>
              <a:t>Complete</a:t>
            </a:r>
            <a:r>
              <a:rPr lang="de-DE" dirty="0"/>
              <a:t> </a:t>
            </a:r>
            <a:r>
              <a:rPr lang="de-DE" dirty="0" err="1"/>
              <a:t>Linkage</a:t>
            </a:r>
            <a:r>
              <a:rPr lang="de-DE" dirty="0"/>
              <a:t>: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farthest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produces</a:t>
            </a:r>
            <a:r>
              <a:rPr lang="de-DE" dirty="0"/>
              <a:t> </a:t>
            </a:r>
            <a:r>
              <a:rPr lang="de-DE" dirty="0" err="1"/>
              <a:t>compact</a:t>
            </a:r>
            <a:r>
              <a:rPr lang="de-DE" dirty="0"/>
              <a:t> (</a:t>
            </a:r>
            <a:r>
              <a:rPr lang="de-DE" dirty="0" err="1"/>
              <a:t>spherical</a:t>
            </a:r>
            <a:r>
              <a:rPr lang="de-DE" dirty="0"/>
              <a:t>) </a:t>
            </a:r>
            <a:r>
              <a:rPr lang="de-DE" dirty="0" err="1"/>
              <a:t>clusters</a:t>
            </a:r>
            <a:endParaRPr lang="de-DE" dirty="0"/>
          </a:p>
          <a:p>
            <a:r>
              <a:rPr lang="de-DE" dirty="0"/>
              <a:t>Average </a:t>
            </a:r>
            <a:r>
              <a:rPr lang="de-DE" dirty="0" err="1"/>
              <a:t>Linkage</a:t>
            </a:r>
            <a:r>
              <a:rPr lang="de-DE" dirty="0"/>
              <a:t>: Average </a:t>
            </a:r>
            <a:r>
              <a:rPr lang="de-DE" dirty="0" err="1"/>
              <a:t>pairwise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balanced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  <a:p>
            <a:r>
              <a:rPr lang="de-DE" dirty="0"/>
              <a:t>Ward’s Method: </a:t>
            </a:r>
            <a:r>
              <a:rPr lang="de-DE" dirty="0" err="1"/>
              <a:t>Minimizes</a:t>
            </a:r>
            <a:r>
              <a:rPr lang="de-DE" dirty="0"/>
              <a:t> </a:t>
            </a:r>
            <a:r>
              <a:rPr lang="de-DE" dirty="0" err="1"/>
              <a:t>variance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produces</a:t>
            </a:r>
            <a:r>
              <a:rPr lang="de-DE" dirty="0"/>
              <a:t> well-</a:t>
            </a:r>
            <a:r>
              <a:rPr lang="de-DE" dirty="0" err="1"/>
              <a:t>separated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696987-D96D-454C-5E9D-CD69887E2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p:pic>
        <p:nvPicPr>
          <p:cNvPr id="3074" name="Picture 2" descr="Single Linkage, Average Linkage, Complete Linkage, Ward Linkage">
            <a:extLst>
              <a:ext uri="{FF2B5EF4-FFF2-40B4-BE49-F238E27FC236}">
                <a16:creationId xmlns:a16="http://schemas.microsoft.com/office/drawing/2014/main" id="{AC9426B0-19E7-4E1F-CB25-F92815AA06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408" y="681037"/>
            <a:ext cx="5171592" cy="5473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hlinkClick r:id="rId3"/>
            <a:extLst>
              <a:ext uri="{FF2B5EF4-FFF2-40B4-BE49-F238E27FC236}">
                <a16:creationId xmlns:a16="http://schemas.microsoft.com/office/drawing/2014/main" id="{3CE2F3E2-F90D-63A0-D012-4A2CE4959D62}"/>
              </a:ext>
            </a:extLst>
          </p:cNvPr>
          <p:cNvSpPr txBox="1"/>
          <p:nvPr/>
        </p:nvSpPr>
        <p:spPr>
          <a:xfrm>
            <a:off x="8483140" y="288899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hlinkClick r:id="rId4"/>
              </a:rPr>
              <a:t>scikit</a:t>
            </a:r>
            <a:r>
              <a:rPr lang="de-DE" dirty="0">
                <a:hlinkClick r:id="rId4"/>
              </a:rPr>
              <a:t> </a:t>
            </a:r>
            <a:r>
              <a:rPr lang="de-DE" dirty="0" err="1">
                <a:hlinkClick r:id="rId4"/>
              </a:rPr>
              <a:t>learn</a:t>
            </a:r>
            <a:r>
              <a:rPr lang="de-DE" dirty="0">
                <a:hlinkClick r:id="rId4"/>
              </a:rPr>
              <a:t> </a:t>
            </a:r>
            <a:r>
              <a:rPr lang="de-DE" dirty="0" err="1">
                <a:hlinkClick r:id="rId4"/>
              </a:rPr>
              <a:t>example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652654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142ABE-7200-78B0-CCD9-D683F1797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Dendrograms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C4BC5C9-627A-19B4-BFA5-8B558B4CB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7759"/>
            <a:ext cx="580178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Tree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:</a:t>
            </a:r>
          </a:p>
          <a:p>
            <a:r>
              <a:rPr lang="de-DE" dirty="0" err="1"/>
              <a:t>Leaves</a:t>
            </a:r>
            <a:r>
              <a:rPr lang="de-DE" dirty="0"/>
              <a:t> = individual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  <a:p>
            <a:r>
              <a:rPr lang="de-DE" dirty="0"/>
              <a:t>Internal </a:t>
            </a:r>
            <a:r>
              <a:rPr lang="de-DE" dirty="0" err="1"/>
              <a:t>nodes</a:t>
            </a:r>
            <a:r>
              <a:rPr lang="de-DE" dirty="0"/>
              <a:t> =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merges</a:t>
            </a:r>
            <a:endParaRPr lang="de-DE" dirty="0"/>
          </a:p>
          <a:p>
            <a:r>
              <a:rPr lang="de-DE" dirty="0"/>
              <a:t>Height = </a:t>
            </a:r>
            <a:r>
              <a:rPr lang="de-DE" dirty="0" err="1"/>
              <a:t>distance</a:t>
            </a:r>
            <a:r>
              <a:rPr lang="de-DE" dirty="0"/>
              <a:t> at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merge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Interpretation:</a:t>
            </a:r>
          </a:p>
          <a:p>
            <a:r>
              <a:rPr lang="de-DE" dirty="0"/>
              <a:t>Cut </a:t>
            </a:r>
            <a:r>
              <a:rPr lang="de-DE" dirty="0" err="1"/>
              <a:t>tree</a:t>
            </a:r>
            <a:r>
              <a:rPr lang="de-DE" dirty="0"/>
              <a:t> at a </a:t>
            </a:r>
            <a:r>
              <a:rPr lang="de-DE" dirty="0" err="1"/>
              <a:t>chosen</a:t>
            </a:r>
            <a:r>
              <a:rPr lang="de-DE" dirty="0"/>
              <a:t> </a:t>
            </a:r>
            <a:r>
              <a:rPr lang="de-DE" dirty="0" err="1"/>
              <a:t>height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clusters</a:t>
            </a:r>
            <a:r>
              <a:rPr lang="de-DE" dirty="0"/>
              <a:t> (</a:t>
            </a:r>
            <a:r>
              <a:rPr lang="de-DE" dirty="0" err="1"/>
              <a:t>enables</a:t>
            </a:r>
            <a:r>
              <a:rPr lang="de-DE" dirty="0"/>
              <a:t> flexible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selection</a:t>
            </a:r>
            <a:r>
              <a:rPr lang="de-DE" dirty="0"/>
              <a:t>)</a:t>
            </a:r>
          </a:p>
          <a:p>
            <a:r>
              <a:rPr lang="de-DE" dirty="0"/>
              <a:t>Large </a:t>
            </a:r>
            <a:r>
              <a:rPr lang="de-DE" dirty="0" err="1"/>
              <a:t>vertical</a:t>
            </a:r>
            <a:r>
              <a:rPr lang="de-DE" dirty="0"/>
              <a:t> </a:t>
            </a:r>
            <a:r>
              <a:rPr lang="de-DE" dirty="0" err="1"/>
              <a:t>gaps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natural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separation</a:t>
            </a:r>
            <a:endParaRPr lang="de-DE" dirty="0"/>
          </a:p>
          <a:p>
            <a:r>
              <a:rPr lang="de-DE" dirty="0"/>
              <a:t>Lower </a:t>
            </a:r>
            <a:r>
              <a:rPr lang="de-DE" dirty="0" err="1"/>
              <a:t>merges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F1EAA3-D7F2-B045-B22D-C9405AEBC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p:pic>
        <p:nvPicPr>
          <p:cNvPr id="5" name="Picture 2" descr="Hierarchical Clustering Dendrogram">
            <a:extLst>
              <a:ext uri="{FF2B5EF4-FFF2-40B4-BE49-F238E27FC236}">
                <a16:creationId xmlns:a16="http://schemas.microsoft.com/office/drawing/2014/main" id="{9871BF83-A0D9-CB57-9965-66CDE0D32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217" y="1342822"/>
            <a:ext cx="580178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AF073BF-A815-CFE5-9DA2-61E930072E0D}"/>
              </a:ext>
            </a:extLst>
          </p:cNvPr>
          <p:cNvSpPr txBox="1"/>
          <p:nvPr/>
        </p:nvSpPr>
        <p:spPr>
          <a:xfrm>
            <a:off x="838200" y="5975797"/>
            <a:ext cx="970721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Assign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new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points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by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distance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to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cluster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representatives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(e.g.,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centroids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):</a:t>
            </a:r>
            <a:r>
              <a:rPr lang="de-DE" sz="2400" dirty="0">
                <a:solidFill>
                  <a:srgbClr val="0E0E0E"/>
                </a:solidFill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practical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heuristic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, not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inherent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to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hierarchical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clustering</a:t>
            </a:r>
            <a:endParaRPr lang="de-DE" sz="2400" dirty="0">
              <a:solidFill>
                <a:srgbClr val="0E0E0E"/>
              </a:solidFill>
              <a:effectLst/>
              <a:latin typeface=".AppleSystemUIFont"/>
            </a:endParaRPr>
          </a:p>
        </p:txBody>
      </p:sp>
    </p:spTree>
    <p:extLst>
      <p:ext uri="{BB962C8B-B14F-4D97-AF65-F5344CB8AC3E}">
        <p14:creationId xmlns:p14="http://schemas.microsoft.com/office/powerpoint/2010/main" val="1704252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279D54-116A-6D58-B75A-2556899D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DBSCAN: Density-</a:t>
            </a:r>
            <a:r>
              <a:rPr lang="de-DE" dirty="0" err="1"/>
              <a:t>Based</a:t>
            </a:r>
            <a:r>
              <a:rPr lang="de-DE" dirty="0"/>
              <a:t> Clustering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D30C41E-1B4C-8B40-FD0F-6A8D762700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DBSCAN: Density-</a:t>
            </a:r>
            <a:r>
              <a:rPr lang="de-DE" sz="2600" dirty="0" err="1"/>
              <a:t>Based</a:t>
            </a:r>
            <a:r>
              <a:rPr lang="de-DE" sz="2600" dirty="0"/>
              <a:t> </a:t>
            </a:r>
            <a:r>
              <a:rPr lang="de-DE" sz="2600" dirty="0" err="1"/>
              <a:t>Spatial</a:t>
            </a:r>
            <a:r>
              <a:rPr lang="de-DE" sz="2600" dirty="0"/>
              <a:t> Clustering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Applications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Noise</a:t>
            </a:r>
          </a:p>
          <a:p>
            <a:pPr marL="0" indent="0">
              <a:buNone/>
            </a:pPr>
            <a:endParaRPr lang="de-DE" sz="2600" dirty="0"/>
          </a:p>
          <a:p>
            <a:r>
              <a:rPr lang="de-DE" sz="2400" dirty="0"/>
              <a:t>Groups </a:t>
            </a:r>
            <a:r>
              <a:rPr lang="de-DE" sz="2400" dirty="0" err="1"/>
              <a:t>points</a:t>
            </a:r>
            <a:r>
              <a:rPr lang="de-DE" sz="2400" dirty="0"/>
              <a:t> </a:t>
            </a:r>
            <a:r>
              <a:rPr lang="de-DE" sz="2400" dirty="0" err="1"/>
              <a:t>based</a:t>
            </a:r>
            <a:r>
              <a:rPr lang="de-DE" sz="2400" dirty="0"/>
              <a:t> on </a:t>
            </a:r>
            <a:r>
              <a:rPr lang="de-DE" sz="2400" dirty="0" err="1"/>
              <a:t>dense</a:t>
            </a:r>
            <a:r>
              <a:rPr lang="de-DE" sz="2400" dirty="0"/>
              <a:t> </a:t>
            </a:r>
            <a:r>
              <a:rPr lang="de-DE" sz="2400" dirty="0" err="1"/>
              <a:t>regions</a:t>
            </a:r>
            <a:endParaRPr lang="de-DE" sz="2400" dirty="0"/>
          </a:p>
          <a:p>
            <a:r>
              <a:rPr lang="de-DE" sz="2400" dirty="0"/>
              <a:t>Can </a:t>
            </a:r>
            <a:r>
              <a:rPr lang="de-DE" sz="2400" dirty="0" err="1"/>
              <a:t>detect</a:t>
            </a:r>
            <a:r>
              <a:rPr lang="de-DE" sz="2400" dirty="0"/>
              <a:t> </a:t>
            </a:r>
            <a:r>
              <a:rPr lang="de-DE" sz="2400" dirty="0" err="1"/>
              <a:t>arbitrary-shaped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endParaRPr lang="de-DE" sz="2400" dirty="0"/>
          </a:p>
          <a:p>
            <a:r>
              <a:rPr lang="de-DE" sz="2400" dirty="0" err="1"/>
              <a:t>Explicitly</a:t>
            </a:r>
            <a:r>
              <a:rPr lang="de-DE" sz="2400" dirty="0"/>
              <a:t> </a:t>
            </a:r>
            <a:r>
              <a:rPr lang="de-DE" sz="2400" dirty="0" err="1"/>
              <a:t>identifies</a:t>
            </a:r>
            <a:r>
              <a:rPr lang="de-DE" sz="2400" dirty="0"/>
              <a:t> </a:t>
            </a:r>
            <a:r>
              <a:rPr lang="de-DE" sz="2400" dirty="0" err="1"/>
              <a:t>noise</a:t>
            </a:r>
            <a:r>
              <a:rPr lang="de-DE" sz="2400" dirty="0"/>
              <a:t> (</a:t>
            </a:r>
            <a:r>
              <a:rPr lang="de-DE" sz="2400" dirty="0" err="1"/>
              <a:t>outliers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No</a:t>
            </a:r>
            <a:r>
              <a:rPr lang="de-DE" sz="2400" dirty="0"/>
              <a:t> </a:t>
            </a:r>
            <a:r>
              <a:rPr lang="de-DE" sz="2400" dirty="0" err="1"/>
              <a:t>need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specify</a:t>
            </a:r>
            <a:r>
              <a:rPr lang="de-DE" sz="2400" dirty="0"/>
              <a:t> </a:t>
            </a:r>
            <a:r>
              <a:rPr lang="de-DE" sz="2400" dirty="0" err="1"/>
              <a:t>number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r>
              <a:rPr lang="de-DE" sz="2400" dirty="0"/>
              <a:t> </a:t>
            </a:r>
            <a:r>
              <a:rPr lang="de-DE" sz="2400" dirty="0" err="1"/>
              <a:t>beforehand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Key </a:t>
            </a:r>
            <a:r>
              <a:rPr lang="de-DE" sz="2400" dirty="0" err="1"/>
              <a:t>idea</a:t>
            </a:r>
            <a:r>
              <a:rPr lang="de-DE" sz="2400" dirty="0"/>
              <a:t>: </a:t>
            </a:r>
            <a:r>
              <a:rPr lang="de-DE" sz="2400" dirty="0" err="1"/>
              <a:t>clusters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formed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dense</a:t>
            </a:r>
            <a:r>
              <a:rPr lang="de-DE" sz="2400" dirty="0"/>
              <a:t> </a:t>
            </a:r>
            <a:r>
              <a:rPr lang="de-DE" sz="2400" dirty="0" err="1"/>
              <a:t>regions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, 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two</a:t>
            </a:r>
            <a:r>
              <a:rPr lang="de-DE" sz="2400" dirty="0"/>
              <a:t> </a:t>
            </a:r>
            <a:r>
              <a:rPr lang="de-DE" sz="2400" dirty="0" err="1"/>
              <a:t>parameters</a:t>
            </a:r>
            <a:r>
              <a:rPr lang="de-DE" sz="2400" dirty="0"/>
              <a:t>:</a:t>
            </a:r>
          </a:p>
          <a:p>
            <a:r>
              <a:rPr lang="el-GR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de-DE" sz="2400" dirty="0"/>
              <a:t>: </a:t>
            </a:r>
            <a:r>
              <a:rPr lang="de-DE" sz="2400" dirty="0" err="1"/>
              <a:t>neighborhood</a:t>
            </a:r>
            <a:r>
              <a:rPr lang="de-DE" sz="2400" dirty="0"/>
              <a:t> </a:t>
            </a:r>
            <a:r>
              <a:rPr lang="de-DE" sz="2400" dirty="0" err="1"/>
              <a:t>radius</a:t>
            </a:r>
            <a:endParaRPr lang="de-DE" sz="2400" dirty="0"/>
          </a:p>
          <a:p>
            <a:r>
              <a:rPr lang="de-DE" sz="24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sz="2400" dirty="0"/>
              <a:t>: </a:t>
            </a:r>
            <a:r>
              <a:rPr lang="de-DE" sz="2400" dirty="0" err="1"/>
              <a:t>minimum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form a </a:t>
            </a:r>
            <a:r>
              <a:rPr lang="de-DE" sz="2400" dirty="0" err="1"/>
              <a:t>dense</a:t>
            </a:r>
            <a:r>
              <a:rPr lang="de-DE" sz="2400" dirty="0"/>
              <a:t> </a:t>
            </a:r>
            <a:r>
              <a:rPr lang="de-DE" sz="2400" dirty="0" err="1"/>
              <a:t>region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A32FD8-548B-71F2-BB0C-E2FA7DE0D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4536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7556B-98BB-9EF2-B9BD-688767AA8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Core Points, Border Points, Noise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D2316E-28EC-6582-BF64-207C98454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Define</a:t>
            </a:r>
            <a:r>
              <a:rPr lang="de-DE" dirty="0"/>
              <a:t> different </a:t>
            </a:r>
            <a:r>
              <a:rPr lang="de-DE" dirty="0" err="1"/>
              <a:t>types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Core Point: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≥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dense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center</a:t>
            </a:r>
            <a:endParaRPr lang="el-GR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Border Point: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, but not a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itself</a:t>
            </a:r>
            <a:r>
              <a:rPr lang="de-DE" dirty="0"/>
              <a:t> (not </a:t>
            </a:r>
            <a:r>
              <a:rPr lang="de-DE" dirty="0" err="1"/>
              <a:t>dense</a:t>
            </a:r>
            <a:r>
              <a:rPr lang="de-DE" dirty="0"/>
              <a:t> </a:t>
            </a:r>
            <a:r>
              <a:rPr lang="de-DE" dirty="0" err="1"/>
              <a:t>enough</a:t>
            </a:r>
            <a:r>
              <a:rPr lang="de-DE" dirty="0"/>
              <a:t>)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edge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cluster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Noise Point: not </a:t>
            </a:r>
            <a:r>
              <a:rPr lang="de-DE" dirty="0" err="1"/>
              <a:t>reachable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isolated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point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57EE93D-CF21-6985-77E6-E17034472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35485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85E08B-65CA-DA0F-8B2B-32C7BF198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DBSCAN </a:t>
            </a:r>
            <a:r>
              <a:rPr lang="de-DE" dirty="0" err="1"/>
              <a:t>Algorithm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293539-B5EA-4406-02DD-1F9D36FDC6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Pick an </a:t>
                </a:r>
                <a:r>
                  <a:rPr lang="de-DE" dirty="0" err="1"/>
                  <a:t>unvisited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de-DE" dirty="0"/>
                  <a:t> and </a:t>
                </a:r>
                <a:r>
                  <a:rPr lang="de-DE" dirty="0" err="1"/>
                  <a:t>mark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visited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Retrieve</a:t>
                </a:r>
                <a:r>
                  <a:rPr lang="de-DE" dirty="0"/>
                  <a:t>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el-G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ε</a:t>
                </a:r>
                <a:r>
                  <a:rPr lang="el-GR" dirty="0"/>
                  <a:t>-</a:t>
                </a:r>
                <a:r>
                  <a:rPr lang="de-DE" dirty="0" err="1"/>
                  <a:t>neighborhood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l-GR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ε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 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a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:</a:t>
                </a:r>
              </a:p>
              <a:p>
                <a:pPr lvl="1"/>
                <a:r>
                  <a:rPr lang="de-DE" dirty="0"/>
                  <a:t>Create a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cluster</a:t>
                </a:r>
                <a:r>
                  <a:rPr lang="de-DE" dirty="0"/>
                  <a:t> and </a:t>
                </a:r>
                <a:r>
                  <a:rPr lang="de-DE" dirty="0" err="1"/>
                  <a:t>add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de-DE" dirty="0"/>
                  <a:t> and all </a:t>
                </a:r>
                <a:r>
                  <a:rPr lang="de-DE" dirty="0" err="1"/>
                  <a:t>points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l-GR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ε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(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not </a:t>
                </a:r>
                <a:r>
                  <a:rPr lang="de-DE" dirty="0" err="1"/>
                  <a:t>yet</a:t>
                </a:r>
                <a:r>
                  <a:rPr lang="de-DE" dirty="0"/>
                  <a:t> </a:t>
                </a:r>
                <a:r>
                  <a:rPr lang="de-DE" dirty="0" err="1"/>
                  <a:t>assigned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cluster</a:t>
                </a:r>
                <a:r>
                  <a:rPr lang="de-DE" dirty="0"/>
                  <a:t>)</a:t>
                </a:r>
              </a:p>
              <a:p>
                <a:pPr lvl="1"/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Q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l-GR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ε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:</a:t>
                </a:r>
              </a:p>
              <a:p>
                <a:pPr lvl="2"/>
                <a:r>
                  <a:rPr lang="de-DE" dirty="0"/>
                  <a:t>Mark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visited</a:t>
                </a:r>
                <a:r>
                  <a:rPr lang="de-DE" dirty="0"/>
                  <a:t> (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unvisited</a:t>
                </a:r>
                <a:r>
                  <a:rPr lang="de-DE" dirty="0"/>
                  <a:t>) and </a:t>
                </a:r>
                <a:r>
                  <a:rPr lang="de-DE" dirty="0" err="1"/>
                  <a:t>retrieve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l-GR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ε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lvl="2"/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Q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a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: </a:t>
                </a:r>
                <a:r>
                  <a:rPr lang="de-DE" dirty="0" err="1"/>
                  <a:t>iteratively</a:t>
                </a:r>
                <a:r>
                  <a:rPr lang="de-DE" dirty="0"/>
                  <a:t> </a:t>
                </a:r>
                <a:r>
                  <a:rPr lang="de-DE" dirty="0" err="1"/>
                  <a:t>expand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cluster</a:t>
                </a:r>
                <a:r>
                  <a:rPr lang="de-DE" dirty="0"/>
                  <a:t> (</a:t>
                </a:r>
                <a:r>
                  <a:rPr lang="de-DE" dirty="0" err="1"/>
                  <a:t>density-reachable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Else: </a:t>
                </a:r>
                <a:r>
                  <a:rPr lang="de-DE" dirty="0" err="1"/>
                  <a:t>mark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 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noise</a:t>
                </a:r>
                <a:r>
                  <a:rPr lang="de-DE" dirty="0"/>
                  <a:t> (</a:t>
                </a:r>
                <a:r>
                  <a:rPr lang="de-DE" dirty="0" err="1"/>
                  <a:t>temporary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later</a:t>
                </a:r>
                <a:r>
                  <a:rPr lang="de-DE" dirty="0"/>
                  <a:t> </a:t>
                </a:r>
                <a:r>
                  <a:rPr lang="de-DE" dirty="0" err="1"/>
                  <a:t>become</a:t>
                </a:r>
                <a:r>
                  <a:rPr lang="de-DE" dirty="0"/>
                  <a:t> a </a:t>
                </a:r>
                <a:r>
                  <a:rPr lang="de-DE" dirty="0" err="1"/>
                  <a:t>border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Repeat </a:t>
                </a:r>
                <a:r>
                  <a:rPr lang="de-DE" dirty="0" err="1"/>
                  <a:t>until</a:t>
                </a:r>
                <a:r>
                  <a:rPr lang="de-DE" dirty="0"/>
                  <a:t> all </a:t>
                </a:r>
                <a:r>
                  <a:rPr lang="de-DE" dirty="0" err="1"/>
                  <a:t>points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processed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Cluster </a:t>
                </a:r>
                <a:r>
                  <a:rPr lang="de-DE" dirty="0" err="1"/>
                  <a:t>formation</a:t>
                </a:r>
                <a:r>
                  <a:rPr lang="de-DE" dirty="0"/>
                  <a:t> </a:t>
                </a:r>
                <a:r>
                  <a:rPr lang="de-DE" dirty="0" err="1"/>
                  <a:t>concept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Points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density-connected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they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reached</a:t>
                </a:r>
                <a:r>
                  <a:rPr lang="de-DE" dirty="0"/>
                  <a:t> via a </a:t>
                </a:r>
                <a:r>
                  <a:rPr lang="de-DE" dirty="0" err="1"/>
                  <a:t>chain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endParaRPr lang="de-DE" dirty="0"/>
              </a:p>
              <a:p>
                <a:r>
                  <a:rPr lang="de-DE" dirty="0"/>
                  <a:t>Clusters </a:t>
                </a:r>
                <a:r>
                  <a:rPr lang="de-DE" dirty="0" err="1"/>
                  <a:t>grow</a:t>
                </a:r>
                <a:r>
                  <a:rPr lang="de-DE" dirty="0"/>
                  <a:t> </a:t>
                </a:r>
                <a:r>
                  <a:rPr lang="de-DE" dirty="0" err="1"/>
                  <a:t>outward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293539-B5EA-4406-02DD-1F9D36FDC6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A6B421-D07D-5E41-B951-5DE4AE10D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9899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D358E7-F39E-EF65-C4C0-6907CB00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/>
              <a:t>and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endParaRPr lang="de-DE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4AF28DA-AC95-17F4-756E-FF4AE1F22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(</a:t>
            </a:r>
            <a:r>
              <a:rPr lang="de-DE" dirty="0" err="1"/>
              <a:t>neighborhood</a:t>
            </a:r>
            <a:r>
              <a:rPr lang="de-DE" dirty="0"/>
              <a:t> </a:t>
            </a:r>
            <a:r>
              <a:rPr lang="de-DE" dirty="0" err="1"/>
              <a:t>radius</a:t>
            </a:r>
            <a:r>
              <a:rPr lang="de-DE" dirty="0"/>
              <a:t>)</a:t>
            </a:r>
          </a:p>
          <a:p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labeled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noise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large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merge</a:t>
            </a:r>
            <a:endParaRPr lang="de-DE" dirty="0"/>
          </a:p>
          <a:p>
            <a:r>
              <a:rPr lang="de-DE" dirty="0" err="1"/>
              <a:t>Heuristic</a:t>
            </a:r>
            <a:r>
              <a:rPr lang="de-DE" dirty="0"/>
              <a:t>: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k-distance</a:t>
            </a:r>
            <a:r>
              <a:rPr lang="de-DE" dirty="0"/>
              <a:t> </a:t>
            </a:r>
            <a:r>
              <a:rPr lang="de-DE" dirty="0" err="1"/>
              <a:t>graph</a:t>
            </a:r>
            <a:r>
              <a:rPr lang="de-DE" dirty="0"/>
              <a:t>, </a:t>
            </a:r>
            <a:r>
              <a:rPr lang="de-DE" dirty="0" err="1"/>
              <a:t>look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“</a:t>
            </a:r>
            <a:r>
              <a:rPr lang="de-DE" dirty="0" err="1"/>
              <a:t>elbow</a:t>
            </a:r>
            <a:r>
              <a:rPr lang="de-DE" dirty="0"/>
              <a:t>” </a:t>
            </a:r>
            <a:r>
              <a:rPr lang="de-DE" dirty="0" err="1"/>
              <a:t>point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Typical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/>
              <a:t> (</a:t>
            </a:r>
            <a:r>
              <a:rPr lang="de-DE" dirty="0" err="1"/>
              <a:t>minimum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density</a:t>
            </a:r>
            <a:r>
              <a:rPr lang="de-DE" dirty="0"/>
              <a:t>)</a:t>
            </a:r>
          </a:p>
          <a:p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4</a:t>
            </a:r>
            <a:r>
              <a:rPr lang="de-DE" dirty="0"/>
              <a:t> (</a:t>
            </a:r>
            <a:r>
              <a:rPr lang="de-DE" dirty="0" err="1"/>
              <a:t>low</a:t>
            </a:r>
            <a:r>
              <a:rPr lang="de-DE" dirty="0"/>
              <a:t>-dimensional </a:t>
            </a:r>
            <a:r>
              <a:rPr lang="de-DE" dirty="0" err="1"/>
              <a:t>data</a:t>
            </a:r>
            <a:r>
              <a:rPr lang="de-DE" dirty="0"/>
              <a:t>)</a:t>
            </a:r>
          </a:p>
          <a:p>
            <a:r>
              <a:rPr lang="de-DE" dirty="0"/>
              <a:t>Higher </a:t>
            </a:r>
            <a:r>
              <a:rPr lang="de-DE" dirty="0" err="1"/>
              <a:t>for</a:t>
            </a:r>
            <a:r>
              <a:rPr lang="de-DE" dirty="0"/>
              <a:t> high-dimensional </a:t>
            </a:r>
            <a:r>
              <a:rPr lang="de-DE" dirty="0" err="1"/>
              <a:t>data</a:t>
            </a:r>
            <a:endParaRPr lang="de-DE" dirty="0"/>
          </a:p>
          <a:p>
            <a:r>
              <a:rPr lang="de-DE" dirty="0"/>
              <a:t>Guideline: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 ≥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dimensionality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 + 1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/>
              <a:t>and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/>
              <a:t> </a:t>
            </a:r>
            <a:r>
              <a:rPr lang="de-DE" dirty="0" err="1"/>
              <a:t>strongly</a:t>
            </a:r>
            <a:r>
              <a:rPr lang="de-DE" dirty="0"/>
              <a:t>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tuning</a:t>
            </a:r>
            <a:r>
              <a:rPr lang="de-DE" dirty="0">
                <a:sym typeface="Wingdings" pitchFamily="2" charset="2"/>
              </a:rPr>
              <a:t> and </a:t>
            </a:r>
            <a:r>
              <a:rPr lang="de-DE" dirty="0" err="1">
                <a:sym typeface="Wingdings" pitchFamily="2" charset="2"/>
              </a:rPr>
              <a:t>d</a:t>
            </a:r>
            <a:r>
              <a:rPr lang="de-DE" dirty="0" err="1"/>
              <a:t>ata</a:t>
            </a:r>
            <a:r>
              <a:rPr lang="de-DE" dirty="0"/>
              <a:t> </a:t>
            </a:r>
            <a:r>
              <a:rPr lang="de-DE" dirty="0" err="1"/>
              <a:t>scaling</a:t>
            </a:r>
            <a:r>
              <a:rPr lang="de-DE" dirty="0"/>
              <a:t> </a:t>
            </a:r>
            <a:r>
              <a:rPr lang="de-DE" dirty="0" err="1"/>
              <a:t>matters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F67A71D-5771-002A-3ED3-D1F7EA87F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3119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51C77-ED0D-F705-8D1C-ADFA8F6C9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Assign</a:t>
            </a:r>
            <a:r>
              <a:rPr lang="de-DE" dirty="0"/>
              <a:t> New Points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126657-2593-4771-3A67-51F3B2F3A6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: Check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-</a:t>
            </a:r>
            <a:r>
              <a:rPr lang="de-DE" dirty="0" err="1"/>
              <a:t>neighborhood</a:t>
            </a:r>
            <a:endParaRPr lang="de-DE" dirty="0"/>
          </a:p>
          <a:p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: </a:t>
            </a: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cluster</a:t>
            </a:r>
            <a:endParaRPr lang="de-DE" dirty="0"/>
          </a:p>
          <a:p>
            <a:r>
              <a:rPr lang="de-DE" dirty="0" err="1"/>
              <a:t>If</a:t>
            </a:r>
            <a:r>
              <a:rPr lang="de-DE" dirty="0"/>
              <a:t> not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: Label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noise</a:t>
            </a:r>
            <a:endParaRPr lang="de-DE" dirty="0"/>
          </a:p>
          <a:p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different </a:t>
            </a:r>
            <a:r>
              <a:rPr lang="de-DE" dirty="0" err="1"/>
              <a:t>clusters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Option 1: </a:t>
            </a: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first</a:t>
            </a:r>
            <a:r>
              <a:rPr lang="de-DE" dirty="0"/>
              <a:t> </a:t>
            </a:r>
            <a:r>
              <a:rPr lang="de-DE" dirty="0" err="1"/>
              <a:t>found</a:t>
            </a:r>
            <a:r>
              <a:rPr lang="de-DE" dirty="0"/>
              <a:t> (like DBSCAN </a:t>
            </a:r>
            <a:r>
              <a:rPr lang="de-DE" dirty="0" err="1"/>
              <a:t>would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Option 2: </a:t>
            </a: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closest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dirty="0" err="1"/>
              <a:t>Adding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structure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True DBSCAN </a:t>
            </a:r>
            <a:r>
              <a:rPr lang="de-DE" dirty="0" err="1"/>
              <a:t>would</a:t>
            </a:r>
            <a:r>
              <a:rPr lang="de-DE" dirty="0"/>
              <a:t> </a:t>
            </a:r>
            <a:r>
              <a:rPr lang="de-DE" dirty="0" err="1"/>
              <a:t>require</a:t>
            </a:r>
            <a:r>
              <a:rPr lang="de-DE" dirty="0"/>
              <a:t> </a:t>
            </a:r>
            <a:r>
              <a:rPr lang="de-DE" dirty="0" err="1"/>
              <a:t>re-running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161C99-D9A5-D8DB-0687-150C7C9C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2466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A312D-A6FF-AB8E-359F-EE1BDB1D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Comparing</a:t>
            </a:r>
            <a:r>
              <a:rPr lang="de-DE" dirty="0"/>
              <a:t> Clustering Methods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03B17D7-2EA9-DC24-B9E5-1139CCEB95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6841" y="1492595"/>
            <a:ext cx="4115159" cy="486375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algorithms</a:t>
            </a:r>
            <a:r>
              <a:rPr lang="de-DE" dirty="0"/>
              <a:t> </a:t>
            </a:r>
            <a:r>
              <a:rPr lang="de-DE" dirty="0" err="1"/>
              <a:t>suit</a:t>
            </a:r>
            <a:r>
              <a:rPr lang="de-DE" dirty="0"/>
              <a:t> different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n</a:t>
            </a:r>
            <a:r>
              <a:rPr lang="de-DE" dirty="0" err="1"/>
              <a:t>o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guidance</a:t>
            </a:r>
            <a:r>
              <a:rPr lang="de-DE" dirty="0"/>
              <a:t>:</a:t>
            </a:r>
          </a:p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compact</a:t>
            </a:r>
            <a:r>
              <a:rPr lang="de-DE" dirty="0"/>
              <a:t> and </a:t>
            </a:r>
            <a:r>
              <a:rPr lang="de-DE" dirty="0" err="1"/>
              <a:t>known</a:t>
            </a:r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and </a:t>
            </a:r>
            <a:r>
              <a:rPr lang="de-DE" dirty="0" err="1"/>
              <a:t>interpretability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needed</a:t>
            </a:r>
            <a:endParaRPr lang="de-DE" dirty="0"/>
          </a:p>
          <a:p>
            <a:r>
              <a:rPr lang="de-DE" dirty="0"/>
              <a:t>DBSCAN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noise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shapes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affects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?</a:t>
            </a:r>
          </a:p>
          <a:p>
            <a:r>
              <a:rPr lang="de-DE" dirty="0" err="1"/>
              <a:t>k-Means</a:t>
            </a:r>
            <a:r>
              <a:rPr lang="de-DE" dirty="0"/>
              <a:t>: initial </a:t>
            </a:r>
            <a:r>
              <a:rPr lang="de-DE" dirty="0" err="1"/>
              <a:t>centroids</a:t>
            </a:r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: </a:t>
            </a:r>
            <a:r>
              <a:rPr lang="de-DE" dirty="0" err="1"/>
              <a:t>linkage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  <a:p>
            <a:r>
              <a:rPr lang="de-DE" dirty="0"/>
              <a:t>DBSCAN: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/>
              <a:t>and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endParaRPr lang="de-DE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FA0DEA-9C10-4341-0996-B658FBE3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  <p:pic>
        <p:nvPicPr>
          <p:cNvPr id="4" name="Picture 2" descr="MiniBatch KMeans, Affinity Propagation, MeanShift, Spectral Clustering, Ward, Agglomerative Clustering, DBSCAN, HDBSCAN, OPTICS, BIRCH, Gaussian Mixture">
            <a:extLst>
              <a:ext uri="{FF2B5EF4-FFF2-40B4-BE49-F238E27FC236}">
                <a16:creationId xmlns:a16="http://schemas.microsoft.com/office/drawing/2014/main" id="{5A730511-A7F9-E57C-2E0C-B6C244278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92595"/>
            <a:ext cx="8076841" cy="5000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82994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0C5E9-3765-EE2A-7DFF-13E5F7EA4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8DE861-6867-FA20-1E8C-02A7DCD9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76E0A6B-1BDF-FD30-67E7-B5624AD47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Compare</a:t>
            </a:r>
            <a:r>
              <a:rPr lang="de-DE" dirty="0"/>
              <a:t> different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methods</a:t>
            </a:r>
            <a:r>
              <a:rPr lang="de-DE" dirty="0"/>
              <a:t> on </a:t>
            </a:r>
            <a:r>
              <a:rPr lang="de-DE" dirty="0">
                <a:hlinkClick r:id="rId2"/>
              </a:rPr>
              <a:t>Mall Customers dataset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795438C-73C3-6A2D-0846-70202255C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1203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2106</Words>
  <Application>Microsoft Macintosh PowerPoint</Application>
  <PresentationFormat>Breitbild</PresentationFormat>
  <Paragraphs>388</Paragraphs>
  <Slides>36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36</vt:i4>
      </vt:variant>
    </vt:vector>
  </HeadingPairs>
  <TitlesOfParts>
    <vt:vector size="44" baseType="lpstr">
      <vt:lpstr>.AppleSystemUIFont</vt:lpstr>
      <vt:lpstr>AccordAlternate</vt:lpstr>
      <vt:lpstr>Aptos</vt:lpstr>
      <vt:lpstr>Aptos Display</vt:lpstr>
      <vt:lpstr>Arial</vt:lpstr>
      <vt:lpstr>Cambria Math</vt:lpstr>
      <vt:lpstr>Wingdings</vt:lpstr>
      <vt:lpstr>Office Theme</vt:lpstr>
      <vt:lpstr>Clustering</vt:lpstr>
      <vt:lpstr>Course Schedule</vt:lpstr>
      <vt:lpstr>Clustering</vt:lpstr>
      <vt:lpstr>PowerPoint-Präsentation</vt:lpstr>
      <vt:lpstr>Use Cases for Unsupervised Learning</vt:lpstr>
      <vt:lpstr>What Is Clustering?</vt:lpstr>
      <vt:lpstr>Distance Metrics and Similarity</vt:lpstr>
      <vt:lpstr>Preprocessing for Clustering</vt:lpstr>
      <vt:lpstr>k-Means: Intuition</vt:lpstr>
      <vt:lpstr>k-Means Algorithm</vt:lpstr>
      <vt:lpstr>Objective Function</vt:lpstr>
      <vt:lpstr>L2  Mean,  L1  Median</vt:lpstr>
      <vt:lpstr>k-Means Assumptions and Limitations</vt:lpstr>
      <vt:lpstr>Cluster Initialization</vt:lpstr>
      <vt:lpstr>Choosing the Number of Clusters</vt:lpstr>
      <vt:lpstr>Elbow Plot</vt:lpstr>
      <vt:lpstr>Cluster Validation Metrics</vt:lpstr>
      <vt:lpstr>Silhouette Score</vt:lpstr>
      <vt:lpstr>Supervised Clustering Validation</vt:lpstr>
      <vt:lpstr>Visualizing Clusters</vt:lpstr>
      <vt:lpstr>Practice Project</vt:lpstr>
      <vt:lpstr>PowerPoint-Präsentation</vt:lpstr>
      <vt:lpstr>Gaussian Mixture Models</vt:lpstr>
      <vt:lpstr>GMM Covariance Matrices</vt:lpstr>
      <vt:lpstr>Hierarchical Clustering: Motivation</vt:lpstr>
      <vt:lpstr>Hierarchical Clustering: Key Idea</vt:lpstr>
      <vt:lpstr>Distance Measures and Linkage</vt:lpstr>
      <vt:lpstr>Linkage Criteria</vt:lpstr>
      <vt:lpstr>Dendrograms</vt:lpstr>
      <vt:lpstr>DBSCAN: Density-Based Clustering</vt:lpstr>
      <vt:lpstr>Core Points, Border Points, Noise</vt:lpstr>
      <vt:lpstr>DBSCAN Algorithm</vt:lpstr>
      <vt:lpstr>Choosing ε and min_samples</vt:lpstr>
      <vt:lpstr>How to Assign New Points</vt:lpstr>
      <vt:lpstr>Comparing Clustering Methods</vt:lpstr>
      <vt:lpstr>Practice Project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171</cp:revision>
  <dcterms:created xsi:type="dcterms:W3CDTF">2025-01-08T09:27:30Z</dcterms:created>
  <dcterms:modified xsi:type="dcterms:W3CDTF">2026-03-31T20:42:20Z</dcterms:modified>
</cp:coreProperties>
</file>