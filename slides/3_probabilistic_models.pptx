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670" r:id="rId18"/>
    <p:sldId id="669" r:id="rId19"/>
    <p:sldId id="280" r:id="rId20"/>
    <p:sldId id="668" r:id="rId21"/>
    <p:sldId id="281" r:id="rId22"/>
    <p:sldId id="284" r:id="rId23"/>
    <p:sldId id="28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Probabilistic</a:t>
            </a:r>
            <a:r>
              <a:rPr lang="de-DE" dirty="0"/>
              <a:t>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Probabilistic</a:t>
            </a:r>
            <a:r>
              <a:rPr lang="de-DE" dirty="0"/>
              <a:t> Models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probability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r>
              <a:rPr lang="de-DE" dirty="0"/>
              <a:t>, </a:t>
            </a:r>
            <a:r>
              <a:rPr lang="de-DE" dirty="0" err="1"/>
              <a:t>parametric</a:t>
            </a:r>
            <a:r>
              <a:rPr lang="de-DE" dirty="0"/>
              <a:t> PDF</a:t>
            </a:r>
          </a:p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,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families</a:t>
            </a:r>
            <a:endParaRPr lang="de-DE" dirty="0"/>
          </a:p>
          <a:p>
            <a:r>
              <a:rPr lang="de-DE" dirty="0" err="1"/>
              <a:t>overdispersion</a:t>
            </a:r>
            <a:endParaRPr lang="de-DE" dirty="0"/>
          </a:p>
          <a:p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statistics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8FCFC-E5A2-5177-8B73-3E027A1BC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Probabilistic</a:t>
            </a:r>
            <a:r>
              <a:rPr lang="de-DE" dirty="0"/>
              <a:t> Modeling?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C6E6B8-F18A-66E8-6B94-D22E9A839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5537E7-06B6-568E-C811-D7BF0D2A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8730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5931DF-36C5-8909-20A8-CDDAFEF4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Random Variables and </a:t>
            </a:r>
            <a:r>
              <a:rPr lang="de-DE" dirty="0" err="1"/>
              <a:t>Probability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2E3D6E-F70D-831A-8C4C-1C2E2BE71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2586AD-0472-9C5F-5232-DC298B615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7414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9198B-A1FB-8CD3-1E84-E4810B5F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Probability</a:t>
            </a:r>
            <a:r>
              <a:rPr lang="de-DE" dirty="0"/>
              <a:t> Density </a:t>
            </a:r>
            <a:r>
              <a:rPr lang="de-DE" dirty="0" err="1"/>
              <a:t>Functions</a:t>
            </a:r>
            <a:r>
              <a:rPr lang="de-DE" dirty="0"/>
              <a:t> (PDFs)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648690-50B2-EFE6-9BB9-4A6CCE820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B66A1CE-F000-6BDE-027D-A9C73DFB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385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0645D5-B41F-FE57-1620-325C80A81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Parametric </a:t>
            </a:r>
            <a:r>
              <a:rPr lang="de-DE" dirty="0" err="1"/>
              <a:t>vs</a:t>
            </a:r>
            <a:r>
              <a:rPr lang="de-DE" dirty="0"/>
              <a:t> Non-Parametric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35B070-DAB0-1137-78C8-F9E784E5D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287A60E-7286-5E93-E6AD-01743073B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217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51BB16-CF70-F494-EEA6-D3079D4F7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Probability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87339-4BEF-6E44-6388-1F4975A02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6B4805-AFA8-9671-8E8C-7D6407A1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402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CE01D6-70EB-5476-740B-D3AEA0282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Distribution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11CCC3-7319-0D84-51D5-BB7AED867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A6DFB0-E354-38D3-7DF0-3A130D7BA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067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DA355B-D91D-B695-6221-F7C88CE90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Gaussian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F69823-5A72-6E2C-67E4-6FA02D3E2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6BB672-E5F1-5723-4939-A45622880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381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71227B-E2E8-2D21-9BCD-D16D0867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Exponential</a:t>
            </a:r>
            <a:r>
              <a:rPr lang="de-DE" dirty="0"/>
              <a:t> Family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74C57D-52FC-F5FD-383A-522D029A1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8F385-D970-9D76-F9D5-72055236C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6050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DB446D-FE24-E8B0-5D73-D89D137D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Likelihood</a:t>
            </a:r>
            <a:r>
              <a:rPr lang="de-DE" dirty="0"/>
              <a:t> and Generative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CD7E4A-AD27-7E92-DD0B-93B22ADEA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B7FAE9-C8D1-0ED1-D7A2-9B4CBB7D2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211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1FC6DC-356A-FF6C-F77D-718C1F530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Count Data and </a:t>
            </a:r>
            <a:r>
              <a:rPr lang="de-DE" dirty="0" err="1"/>
              <a:t>Overdispersion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3A6AFA-CA1E-EADD-65DD-858BE659D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98E02A-336C-5183-9E35-4E1506F8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096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7E60C3-DA36-09C1-65CD-9DDE071FE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Poisson </a:t>
            </a:r>
            <a:r>
              <a:rPr lang="de-DE" dirty="0" err="1"/>
              <a:t>vs</a:t>
            </a:r>
            <a:r>
              <a:rPr lang="de-DE" dirty="0"/>
              <a:t> Negative </a:t>
            </a:r>
            <a:r>
              <a:rPr lang="de-DE" dirty="0" err="1"/>
              <a:t>Binomial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A1712-90FD-2E91-D698-72BFDE5E5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AE84AC-F8A5-7ACC-D32D-F2969AB44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00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69432-6478-B59E-DD51-831717732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Statistics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90B460-9EBF-2E62-EF06-7B0B12714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026D19-35A5-2604-6B29-3917E50C1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168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455238-FFC4-47B7-CCE0-2361B78E3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Prior, </a:t>
            </a:r>
            <a:r>
              <a:rPr lang="de-DE" dirty="0" err="1"/>
              <a:t>Likelihood</a:t>
            </a:r>
            <a:r>
              <a:rPr lang="de-DE" dirty="0"/>
              <a:t>, </a:t>
            </a:r>
            <a:r>
              <a:rPr lang="de-DE" dirty="0" err="1"/>
              <a:t>Posterior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51C62C-7D0A-61E4-B378-E2A296529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E81870-FA25-D3BC-983F-36F35B162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9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6D083-3809-B3F2-5290-947907844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9EF95-A3CC-50C2-FC92-FF2E0B85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17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/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blipFill>
                <a:blip r:embed="rId2"/>
                <a:stretch>
                  <a:fillRect l="-141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/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p</a:t>
                </a:r>
                <a:r>
                  <a:rPr lang="en-DE" sz="2400" dirty="0"/>
                  <a:t>rior probability (belief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DE" sz="2400" dirty="0"/>
                  <a:t> before evidence)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blipFill>
                <a:blip r:embed="rId3"/>
                <a:stretch>
                  <a:fillRect l="-3704" t="-4167" r="-3704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3FF3577-4A01-1DEC-E4B4-75723E488AE3}"/>
              </a:ext>
            </a:extLst>
          </p:cNvPr>
          <p:cNvSpPr txBox="1"/>
          <p:nvPr/>
        </p:nvSpPr>
        <p:spPr>
          <a:xfrm>
            <a:off x="4953001" y="1534005"/>
            <a:ext cx="3763616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DE" sz="2400" dirty="0"/>
              <a:t>likelihood function (</a:t>
            </a:r>
            <a:r>
              <a:rPr lang="en-GB" sz="2400" dirty="0"/>
              <a:t>d</a:t>
            </a:r>
            <a:r>
              <a:rPr lang="en-DE" sz="2400" dirty="0"/>
              <a:t>erived from statistical model)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DB1AEB-5B92-AF7F-8213-0C80AC548A6E}"/>
              </a:ext>
            </a:extLst>
          </p:cNvPr>
          <p:cNvSpPr txBox="1"/>
          <p:nvPr/>
        </p:nvSpPr>
        <p:spPr>
          <a:xfrm>
            <a:off x="1361662" y="4515613"/>
            <a:ext cx="284542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 probability (belief updated with observed evidence)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0F36AA-B964-BEBF-8893-D8AE7C77D47B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784372" y="3710152"/>
            <a:ext cx="1373943" cy="80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B6A5EC-D8D8-2627-1F0B-C09E9824887E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6316717" y="2365002"/>
            <a:ext cx="518092" cy="5513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FCC376-1AB2-5E5F-C5E8-C82BBEF5FAF4}"/>
              </a:ext>
            </a:extLst>
          </p:cNvPr>
          <p:cNvCxnSpPr>
            <a:cxnSpLocks/>
          </p:cNvCxnSpPr>
          <p:nvPr/>
        </p:nvCxnSpPr>
        <p:spPr>
          <a:xfrm flipH="1" flipV="1">
            <a:off x="7655481" y="3364343"/>
            <a:ext cx="1691999" cy="1162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29414B7-24A4-506D-E649-FF8975144AED}"/>
              </a:ext>
            </a:extLst>
          </p:cNvPr>
          <p:cNvSpPr txBox="1"/>
          <p:nvPr/>
        </p:nvSpPr>
        <p:spPr>
          <a:xfrm>
            <a:off x="4851674" y="4522288"/>
            <a:ext cx="253310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new data</a:t>
            </a:r>
            <a:r>
              <a:rPr lang="en-DE" sz="2400" dirty="0"/>
              <a:t> (same for all hypotheses </a:t>
            </a:r>
            <a:r>
              <a:rPr lang="en-DE" sz="2400" dirty="0">
                <a:sym typeface="Wingdings" pitchFamily="2" charset="2"/>
              </a:rPr>
              <a:t> uninteresting</a:t>
            </a:r>
            <a:r>
              <a:rPr lang="en-DE" sz="2400" dirty="0"/>
              <a:t>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B76951-6349-FEB7-9787-2CE26595D181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6118224" y="3941672"/>
            <a:ext cx="663577" cy="580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/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hypothesis (model)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evidence (data)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blipFill>
                <a:blip r:embed="rId4"/>
                <a:stretch>
                  <a:fillRect l="-417" t="-4545" r="-2083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0701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3E2E1-F339-3C33-E4A0-683C3217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 for Parameter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C5BFA-CF2B-7911-694F-414613AA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18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AC3602-ADE5-3B79-4950-D589D25138B6}"/>
              </a:ext>
            </a:extLst>
          </p:cNvPr>
          <p:cNvSpPr txBox="1"/>
          <p:nvPr/>
        </p:nvSpPr>
        <p:spPr>
          <a:xfrm>
            <a:off x="7751379" y="4070992"/>
            <a:ext cx="4280338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rior (e.g., broad Gaussian):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initial belief about uncertain parameters (</a:t>
            </a:r>
            <a:r>
              <a:rPr lang="en-GB" sz="2400" dirty="0"/>
              <a:t>helps to reduce variance with few data)</a:t>
            </a:r>
            <a:endParaRPr lang="en-DE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/>
              <p:nvPr/>
            </p:nvSpPr>
            <p:spPr>
              <a:xfrm>
                <a:off x="3280320" y="1543667"/>
                <a:ext cx="5631360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</a:t>
                </a:r>
                <a:r>
                  <a:rPr lang="en-DE" sz="2400" dirty="0"/>
                  <a:t>ata likelihood:</a:t>
                </a:r>
              </a:p>
              <a:p>
                <a:r>
                  <a:rPr lang="en-GB" sz="2400" dirty="0"/>
                  <a:t>m</a:t>
                </a:r>
                <a:r>
                  <a:rPr lang="en-DE" sz="2400" dirty="0"/>
                  <a:t>odel (function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sz="2400" dirty="0"/>
                  <a:t> with data fixed), e.g., for linear regression: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0320" y="1543667"/>
                <a:ext cx="5631360" cy="1200329"/>
              </a:xfrm>
              <a:prstGeom prst="rect">
                <a:avLst/>
              </a:prstGeom>
              <a:blipFill>
                <a:blip r:embed="rId2"/>
                <a:stretch>
                  <a:fillRect l="-1802" t="-4167" r="-2477" b="-114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F47A30-ABFA-32C4-0285-3FEE6345CF30}"/>
              </a:ext>
            </a:extLst>
          </p:cNvPr>
          <p:cNvSpPr txBox="1"/>
          <p:nvPr/>
        </p:nvSpPr>
        <p:spPr>
          <a:xfrm>
            <a:off x="160282" y="4070992"/>
            <a:ext cx="4501170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the effect of data on prior belief about parameters </a:t>
            </a:r>
            <a:r>
              <a:rPr lang="en-GB" sz="2400" dirty="0"/>
              <a:t>(increasing certainty with new evidence</a:t>
            </a:r>
            <a:r>
              <a:rPr lang="en-DE" sz="2400" dirty="0"/>
              <a:t>)</a:t>
            </a:r>
            <a:endParaRPr lang="en-GB" sz="2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B4FF4A4-E971-123F-6E1C-A1FDAB52118A}"/>
              </a:ext>
            </a:extLst>
          </p:cNvPr>
          <p:cNvCxnSpPr>
            <a:cxnSpLocks/>
            <a:stCxn id="7" idx="0"/>
            <a:endCxn id="20" idx="1"/>
          </p:cNvCxnSpPr>
          <p:nvPr/>
        </p:nvCxnSpPr>
        <p:spPr>
          <a:xfrm flipV="1">
            <a:off x="2410867" y="3626371"/>
            <a:ext cx="1052292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E49E3D-A61D-1FE6-3F30-8C499197543F}"/>
              </a:ext>
            </a:extLst>
          </p:cNvPr>
          <p:cNvCxnSpPr>
            <a:cxnSpLocks/>
            <a:stCxn id="6" idx="2"/>
            <a:endCxn id="20" idx="0"/>
          </p:cNvCxnSpPr>
          <p:nvPr/>
        </p:nvCxnSpPr>
        <p:spPr>
          <a:xfrm>
            <a:off x="6096000" y="2743996"/>
            <a:ext cx="0" cy="589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08D47F-ADC3-C1B6-C958-BCE0FCAD0EDA}"/>
              </a:ext>
            </a:extLst>
          </p:cNvPr>
          <p:cNvCxnSpPr>
            <a:cxnSpLocks/>
            <a:stCxn id="5" idx="0"/>
            <a:endCxn id="20" idx="3"/>
          </p:cNvCxnSpPr>
          <p:nvPr/>
        </p:nvCxnSpPr>
        <p:spPr>
          <a:xfrm flipH="1" flipV="1">
            <a:off x="8728841" y="3626371"/>
            <a:ext cx="1162707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/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blipFill>
                <a:blip r:embed="rId3"/>
                <a:stretch>
                  <a:fillRect b="-20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/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to be compared to f</a:t>
                </a:r>
                <a:r>
                  <a:rPr lang="en-DE" sz="2200" dirty="0"/>
                  <a:t>requentist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sz="22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blipFill>
                <a:blip r:embed="rId4"/>
                <a:stretch>
                  <a:fillRect l="-3125" t="-3261" r="-3646" b="-76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102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0CCA7D-201C-4AA2-C9D1-773241E4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Updating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78DDB8-2323-E955-7B2C-5EA77375E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4F8D4A-4E07-4A27-3B25-1311C4CA4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2133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53B02-B7DF-1814-9149-5779531BF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Bayesian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,⋯,</m:t>
                          </m:r>
                          <m:d>
                            <m:dPr>
                              <m:ctrlP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d>
                                <m:dPr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,⋯,</m:t>
                              </m:r>
                              <m:d>
                                <m:d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nary>
                    </m:oMath>
                  </m:oMathPara>
                </a14:m>
                <a:endParaRPr lang="en-DE" sz="22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600" dirty="0"/>
                  <a:t>prediction of full probability distribution instead of frequentist point estimate(s) plugged into model distribution </a:t>
                </a:r>
                <a14:m>
                  <m:oMath xmlns:m="http://schemas.openxmlformats.org/officeDocument/2006/math"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PDF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drawback: high computational costs due to integral over parameter distribution (especially for large training data sets)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7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8E45-50AA-84E3-44A4-C716186B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E5C2A-112C-2070-5C96-3104C5FE2FCB}"/>
              </a:ext>
            </a:extLst>
          </p:cNvPr>
          <p:cNvSpPr txBox="1"/>
          <p:nvPr/>
        </p:nvSpPr>
        <p:spPr>
          <a:xfrm>
            <a:off x="5526158" y="2619701"/>
            <a:ext cx="1475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dirty="0"/>
              <a:t>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612EA3-CBBF-3B6A-3033-4E2108A365E3}"/>
              </a:ext>
            </a:extLst>
          </p:cNvPr>
          <p:cNvSpPr txBox="1"/>
          <p:nvPr/>
        </p:nvSpPr>
        <p:spPr>
          <a:xfrm>
            <a:off x="7253346" y="2619701"/>
            <a:ext cx="21788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l</a:t>
            </a:r>
            <a:r>
              <a:rPr lang="en-DE" sz="2400" dirty="0"/>
              <a:t>atest posterior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E1150C-BE7B-6676-9BA5-F64131E2BE9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096000" y="2364828"/>
            <a:ext cx="168042" cy="254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3E0F12-556A-A5CE-CD0F-570D6A5C213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019393" y="2364828"/>
            <a:ext cx="323398" cy="254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617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0C897-5D20-861C-52FF-1DDB5A360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Conjugate</a:t>
            </a:r>
            <a:r>
              <a:rPr lang="de-DE" dirty="0"/>
              <a:t> Priors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147A16-00D4-9DDF-DF83-93E97ED45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C048FE-E2AE-869C-BD11-A85DD518F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8960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53B02-B7DF-1814-9149-5779531BF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Frequentist</a:t>
            </a:r>
            <a:r>
              <a:rPr lang="de-DE" dirty="0"/>
              <a:t> View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300" dirty="0"/>
                  <a:t>f</a:t>
                </a:r>
                <a:r>
                  <a:rPr lang="en-DE" sz="2300" dirty="0"/>
                  <a:t>requentist perspective:</a:t>
                </a:r>
              </a:p>
              <a:p>
                <a:r>
                  <a:rPr lang="en-GB" sz="2300" dirty="0"/>
                  <a:t>true model parameters </a:t>
                </a:r>
                <a14:m>
                  <m:oMath xmlns:m="http://schemas.openxmlformats.org/officeDocument/2006/math">
                    <m:r>
                      <a:rPr lang="en-US" sz="23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300" dirty="0"/>
                  <a:t> fixed (but unknown </a:t>
                </a:r>
                <a:r>
                  <a:rPr lang="en-GB" sz="2300" dirty="0">
                    <a:sym typeface="Wingdings" pitchFamily="2" charset="2"/>
                  </a:rPr>
                  <a:t> </a:t>
                </a:r>
                <a:r>
                  <a:rPr lang="en-GB" sz="2300" dirty="0"/>
                  <a:t>uncertain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3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3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300" dirty="0"/>
                  <a:t>)</a:t>
                </a:r>
                <a:endParaRPr lang="en-DE" sz="2300" dirty="0"/>
              </a:p>
              <a:p>
                <a:r>
                  <a:rPr lang="en-GB" sz="2300" dirty="0"/>
                  <a:t>data set from random sampling</a:t>
                </a:r>
                <a:endParaRPr lang="en-DE" sz="2300" dirty="0"/>
              </a:p>
              <a:p>
                <a:pPr marL="0" indent="0">
                  <a:buNone/>
                </a:pPr>
                <a:endParaRPr lang="en-DE" sz="2300" dirty="0"/>
              </a:p>
              <a:p>
                <a:pPr marL="0" indent="0">
                  <a:buNone/>
                </a:pPr>
                <a:r>
                  <a:rPr lang="en-DE" sz="2300" dirty="0"/>
                  <a:t>Bayesian perspective:</a:t>
                </a:r>
              </a:p>
              <a:p>
                <a:r>
                  <a:rPr lang="en-GB" sz="2300" dirty="0"/>
                  <a:t>true model parameters </a:t>
                </a:r>
                <a14:m>
                  <m:oMath xmlns:m="http://schemas.openxmlformats.org/officeDocument/2006/math">
                    <m:r>
                      <a:rPr lang="en-US" sz="23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300" dirty="0"/>
                  <a:t> random (estimation of full distributions over parameters)</a:t>
                </a:r>
                <a:endParaRPr lang="en-DE" sz="2300" dirty="0"/>
              </a:p>
              <a:p>
                <a:r>
                  <a:rPr lang="en-GB" sz="2300" dirty="0"/>
                  <a:t>data not random (observed)</a:t>
                </a:r>
                <a:endParaRPr lang="en-DE" sz="2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8E45-50AA-84E3-44A4-C716186B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81321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9D839-CE5E-5693-FBA8-4C8766257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Use </a:t>
            </a:r>
            <a:r>
              <a:rPr lang="de-DE" dirty="0" err="1"/>
              <a:t>Probabilistic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AFA26-C812-EBD1-24B0-EDC8F434A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B4530C-CBDD-E9F2-8302-4AB4EAD46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5473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Macintosh PowerPoint</Application>
  <PresentationFormat>Breitbild</PresentationFormat>
  <Paragraphs>98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Wingdings</vt:lpstr>
      <vt:lpstr>Office Theme</vt:lpstr>
      <vt:lpstr>Probabilistic Models</vt:lpstr>
      <vt:lpstr>Course Schedule</vt:lpstr>
      <vt:lpstr>Probabilistic Models</vt:lpstr>
      <vt:lpstr>Why Probabilistic Modeling?</vt:lpstr>
      <vt:lpstr>Random Variables and Probability Distributions</vt:lpstr>
      <vt:lpstr>Probability Density Functions (PDFs)</vt:lpstr>
      <vt:lpstr>Parametric vs Non-Parametric Models</vt:lpstr>
      <vt:lpstr>Common Probability Distributions</vt:lpstr>
      <vt:lpstr>Gaussian Distribution</vt:lpstr>
      <vt:lpstr>Properties of the Gaussian</vt:lpstr>
      <vt:lpstr>Exponential Family of Distributions</vt:lpstr>
      <vt:lpstr>Likelihood and Generative Models</vt:lpstr>
      <vt:lpstr>Count Data and Overdispersion</vt:lpstr>
      <vt:lpstr>Poisson vs Negative Binomial</vt:lpstr>
      <vt:lpstr>Introduction to Bayesian Statistics</vt:lpstr>
      <vt:lpstr>Prior, Likelihood, Posterior</vt:lpstr>
      <vt:lpstr>Bayes Theorem</vt:lpstr>
      <vt:lpstr>Bayes Theorem for Parameter Estimation</vt:lpstr>
      <vt:lpstr>Bayesian Updating</vt:lpstr>
      <vt:lpstr>Bayesian Prediction</vt:lpstr>
      <vt:lpstr>Conjugate Priors</vt:lpstr>
      <vt:lpstr>Bayesian vs Frequentist View</vt:lpstr>
      <vt:lpstr>When to Use Probabilistic Models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42</cp:revision>
  <dcterms:created xsi:type="dcterms:W3CDTF">2025-01-08T09:27:30Z</dcterms:created>
  <dcterms:modified xsi:type="dcterms:W3CDTF">2026-01-11T12:29:03Z</dcterms:modified>
</cp:coreProperties>
</file>