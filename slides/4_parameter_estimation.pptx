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678" r:id="rId3"/>
    <p:sldId id="681" r:id="rId4"/>
    <p:sldId id="775" r:id="rId5"/>
    <p:sldId id="304" r:id="rId6"/>
    <p:sldId id="777" r:id="rId7"/>
    <p:sldId id="778" r:id="rId8"/>
    <p:sldId id="782" r:id="rId9"/>
    <p:sldId id="781" r:id="rId10"/>
    <p:sldId id="783" r:id="rId11"/>
    <p:sldId id="779" r:id="rId12"/>
    <p:sldId id="780" r:id="rId13"/>
    <p:sldId id="682" r:id="rId14"/>
    <p:sldId id="785" r:id="rId15"/>
    <p:sldId id="786" r:id="rId16"/>
    <p:sldId id="789" r:id="rId17"/>
    <p:sldId id="787" r:id="rId18"/>
    <p:sldId id="679" r:id="rId19"/>
    <p:sldId id="790" r:id="rId20"/>
    <p:sldId id="791" r:id="rId21"/>
    <p:sldId id="677" r:id="rId22"/>
    <p:sldId id="270" r:id="rId23"/>
    <p:sldId id="684" r:id="rId24"/>
    <p:sldId id="793" r:id="rId25"/>
    <p:sldId id="792" r:id="rId26"/>
    <p:sldId id="794" r:id="rId27"/>
    <p:sldId id="776" r:id="rId28"/>
    <p:sldId id="670" r:id="rId29"/>
    <p:sldId id="669" r:id="rId30"/>
    <p:sldId id="686" r:id="rId31"/>
    <p:sldId id="795" r:id="rId32"/>
    <p:sldId id="687" r:id="rId3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C66C9-5AC4-D143-AC41-EFC203E0D535}" type="datetimeFigureOut">
              <a:rPr lang="en-DE" smtClean="0"/>
              <a:t>4/17/26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7FF37-7D95-D74E-86BF-38AD4F48E8E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437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8456D-5ACD-4673-BCE9-52505EC32CEF}" type="datetime1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64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3083-041D-491F-A9FE-D51D99E0B41E}" type="datetime1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87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55E6-A1CA-4CB6-9964-88D5086DA5CA}" type="datetime1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04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2E38-24C1-4A8F-B916-1E714FC129DD}" type="datetime1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97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BCDC-BAA6-44B5-B642-6F28D623ABB1}" type="datetime1">
              <a:rPr lang="en-GB" smtClean="0"/>
              <a:t>17/04/2026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34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BEC3-2CF9-4B19-A0A5-E70A0675B677}" type="datetime1">
              <a:rPr lang="en-GB" smtClean="0"/>
              <a:t>17/04/2026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603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8BFD-B06D-4A45-8453-724AC7BA29C5}" type="datetime1">
              <a:rPr lang="en-GB" smtClean="0"/>
              <a:t>17/04/2026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42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99B0-2926-4194-B668-6A0D6123824C}" type="datetime1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94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3426-21FD-40F4-9F0B-AD19F2317DCA}" type="datetime1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195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2639-5270-4811-807B-89D4AE95E7ED}" type="datetime1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52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976C-D408-4E27-8D02-D7795F6D8A01}" type="datetime1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37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9896D-5D36-4D31-A0CE-0C2BFB17B225}" type="datetime1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79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eeplearningbook.org/contents/numerical.html" TargetMode="Externa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svg"/><Relationship Id="rId4" Type="http://schemas.openxmlformats.org/officeDocument/2006/relationships/hyperlink" Target="https://allmodelsarewrong.github.io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Parameter Estimation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E4890-E6FF-2E7F-8135-25115B14B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2588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19F86A3F-863F-29A5-F8B5-213D6426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Parameter </a:t>
            </a:r>
            <a:r>
              <a:rPr lang="de-DE" dirty="0" err="1"/>
              <a:t>Estimation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12B5ABE-485E-EDC2-E965-111CD5115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least </a:t>
            </a:r>
            <a:r>
              <a:rPr lang="de-DE" dirty="0" err="1"/>
              <a:t>squares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maximum </a:t>
            </a:r>
            <a:r>
              <a:rPr lang="de-DE" dirty="0" err="1"/>
              <a:t>likelihood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maximum a posteriori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confidence</a:t>
            </a:r>
            <a:r>
              <a:rPr lang="de-DE" dirty="0"/>
              <a:t> </a:t>
            </a:r>
            <a:r>
              <a:rPr lang="de-DE" dirty="0" err="1"/>
              <a:t>intervals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F3FC7B-F7BA-900D-038F-C269A44A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935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E0819-F09F-219D-494D-C0676A4A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Statistical </a:t>
            </a:r>
            <a:r>
              <a:rPr lang="de-DE" dirty="0" err="1"/>
              <a:t>Inference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99F8A3-CB23-5AD0-E2C5-CA9C2CC58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goals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 err="1"/>
              <a:t>parameter</a:t>
            </a:r>
            <a:r>
              <a:rPr lang="de-DE" b="1" dirty="0"/>
              <a:t> </a:t>
            </a:r>
            <a:r>
              <a:rPr lang="de-DE" b="1" dirty="0" err="1"/>
              <a:t>estimation</a:t>
            </a:r>
            <a:r>
              <a:rPr lang="de-DE" dirty="0"/>
              <a:t>: </a:t>
            </a:r>
            <a:r>
              <a:rPr lang="de-DE" dirty="0" err="1"/>
              <a:t>estimate</a:t>
            </a:r>
            <a:r>
              <a:rPr lang="de-DE" dirty="0"/>
              <a:t>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b="1" dirty="0" err="1"/>
              <a:t>hypothesis</a:t>
            </a:r>
            <a:r>
              <a:rPr lang="de-DE" b="1" dirty="0"/>
              <a:t> </a:t>
            </a:r>
            <a:r>
              <a:rPr lang="de-DE" b="1" dirty="0" err="1"/>
              <a:t>testing</a:t>
            </a:r>
            <a:r>
              <a:rPr lang="de-DE" dirty="0"/>
              <a:t>: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decisions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assumptions</a:t>
            </a:r>
            <a:r>
              <a:rPr lang="de-DE" dirty="0"/>
              <a:t>/</a:t>
            </a:r>
            <a:r>
              <a:rPr lang="de-DE" dirty="0" err="1"/>
              <a:t>models</a:t>
            </a:r>
            <a:r>
              <a:rPr lang="de-DE" dirty="0"/>
              <a:t> (</a:t>
            </a:r>
            <a:r>
              <a:rPr lang="de-DE" dirty="0" err="1"/>
              <a:t>discussed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in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evaluation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5C04F6-8F49-62DE-9D9D-CAFE55D4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257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76F67C-0FC0-AFFF-6B97-82586086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Parameter </a:t>
            </a:r>
            <a:r>
              <a:rPr lang="de-DE" dirty="0" err="1"/>
              <a:t>Estimation</a:t>
            </a:r>
            <a:r>
              <a:rPr lang="de-DE" dirty="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E4EE341-1B02-C697-912B-DAEFF0C800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 err="1"/>
                  <a:t>assumption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 err="1"/>
                  <a:t>observed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de-DE" dirty="0"/>
                  <a:t> sampled </a:t>
                </a:r>
                <a:r>
                  <a:rPr lang="de-DE" dirty="0" err="1"/>
                  <a:t>from</a:t>
                </a:r>
                <a:r>
                  <a:rPr lang="de-DE" dirty="0"/>
                  <a:t> a </a:t>
                </a:r>
                <a:r>
                  <a:rPr lang="de-DE" dirty="0" err="1"/>
                  <a:t>probability</a:t>
                </a:r>
                <a:r>
                  <a:rPr lang="de-DE" dirty="0"/>
                  <a:t> </a:t>
                </a:r>
                <a:r>
                  <a:rPr lang="de-DE" dirty="0" err="1"/>
                  <a:t>distribution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random</a:t>
                </a:r>
                <a:r>
                  <a:rPr lang="de-DE" dirty="0"/>
                  <a:t> variables </a:t>
                </a:r>
                <a14:m>
                  <m:oMath xmlns:m="http://schemas.openxmlformats.org/officeDocument/2006/math">
                    <m:r>
                      <a:rPr lang="de-DE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unknown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goal</a:t>
                </a:r>
                <a:r>
                  <a:rPr lang="de-DE" dirty="0"/>
                  <a:t>: </a:t>
                </a:r>
                <a:r>
                  <a:rPr lang="de-DE" dirty="0" err="1"/>
                  <a:t>estimate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observed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E4EE341-1B02-C697-912B-DAEFF0C800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50073D-208C-F567-6DCA-585C0091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313114C-A025-FD76-4EB9-E8683CA35263}"/>
              </a:ext>
            </a:extLst>
          </p:cNvPr>
          <p:cNvSpPr txBox="1"/>
          <p:nvPr/>
        </p:nvSpPr>
        <p:spPr>
          <a:xfrm>
            <a:off x="6140669" y="1594792"/>
            <a:ext cx="3414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400" dirty="0" err="1"/>
              <a:t>data</a:t>
            </a:r>
            <a:r>
              <a:rPr lang="de-DE" sz="2400" dirty="0"/>
              <a:t> </a:t>
            </a:r>
            <a:r>
              <a:rPr lang="de-DE" sz="2400" dirty="0" err="1"/>
              <a:t>generation</a:t>
            </a:r>
            <a:r>
              <a:rPr lang="de-DE" sz="2400" dirty="0"/>
              <a:t> </a:t>
            </a:r>
            <a:r>
              <a:rPr lang="de-DE" sz="2400" dirty="0" err="1"/>
              <a:t>process</a:t>
            </a:r>
            <a:endParaRPr lang="de-DE" sz="24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F2D37FB-E039-2CBD-6EF1-FA8E988E6BF1}"/>
              </a:ext>
            </a:extLst>
          </p:cNvPr>
          <p:cNvCxnSpPr>
            <a:stCxn id="6" idx="1"/>
          </p:cNvCxnSpPr>
          <p:nvPr/>
        </p:nvCxnSpPr>
        <p:spPr>
          <a:xfrm flipH="1">
            <a:off x="5454869" y="1825625"/>
            <a:ext cx="685800" cy="539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9BCA9F25-6205-864D-049E-93025BCE61BA}"/>
              </a:ext>
            </a:extLst>
          </p:cNvPr>
          <p:cNvSpPr txBox="1"/>
          <p:nvPr/>
        </p:nvSpPr>
        <p:spPr>
          <a:xfrm>
            <a:off x="6140669" y="3167390"/>
            <a:ext cx="159851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800" dirty="0">
                <a:sym typeface="Wingdings" pitchFamily="2" charset="2"/>
              </a:rPr>
              <a:t> </a:t>
            </a:r>
            <a:r>
              <a:rPr lang="de-DE" sz="2800" dirty="0" err="1"/>
              <a:t>model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307585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5351-A0A5-32A1-59FC-5F3E0722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58F9BA-AC6C-1C47-4F0A-358DD32B7F4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000" dirty="0"/>
                  <a:t>r</a:t>
                </a:r>
                <a:r>
                  <a:rPr lang="en-DE" sz="2000" dirty="0"/>
                  <a:t>andom variable: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DE" sz="2000" dirty="0"/>
              </a:p>
              <a:p>
                <a:r>
                  <a:rPr lang="en-GB" sz="2000" dirty="0"/>
                  <a:t>v</a:t>
                </a:r>
                <a:r>
                  <a:rPr lang="en-DE" sz="2000" dirty="0"/>
                  <a:t>ector </a:t>
                </a:r>
                <a:r>
                  <a:rPr lang="en-DE" sz="2000"/>
                  <a:t>of </a:t>
                </a:r>
                <a:r>
                  <a:rPr lang="de-DE" sz="2000" dirty="0" err="1"/>
                  <a:t>several</a:t>
                </a:r>
                <a:r>
                  <a:rPr lang="de-DE" sz="2000" dirty="0"/>
                  <a:t> </a:t>
                </a:r>
                <a:r>
                  <a:rPr lang="en-DE" sz="2000"/>
                  <a:t>random variables: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DE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r>
                  <a:rPr lang="en-DE" sz="2000" dirty="0"/>
                  <a:t>observation </a:t>
                </a:r>
                <a:r>
                  <a:rPr lang="en-GB" sz="2000" dirty="0"/>
                  <a:t>of random variable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000" dirty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2000" dirty="0"/>
              </a:p>
              <a:p>
                <a:r>
                  <a:rPr lang="en-DE" sz="2000" dirty="0"/>
                  <a:t>observation </a:t>
                </a:r>
                <a:r>
                  <a:rPr lang="en-GB" sz="2000" dirty="0"/>
                  <a:t>of random vector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GB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2000" dirty="0"/>
              </a:p>
              <a:p>
                <a:pPr lvl="1"/>
                <a:r>
                  <a:rPr lang="en-GB" sz="2000" dirty="0"/>
                  <a:t>column vector: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2000" dirty="0"/>
              </a:p>
              <a:p>
                <a:pPr lvl="1"/>
                <a:r>
                  <a:rPr lang="en-GB" sz="2000" dirty="0"/>
                  <a:t>row vector: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r>
                  <a:rPr lang="en-GB" sz="2000" dirty="0"/>
                  <a:t>multiple observations</a:t>
                </a:r>
                <a:endParaRPr lang="de-DE" sz="2000" dirty="0"/>
              </a:p>
              <a:p>
                <a:pPr lvl="1"/>
                <a:r>
                  <a:rPr lang="de-DE" sz="2000" dirty="0" err="1">
                    <a:ea typeface="Cambria Math" panose="02040503050406030204" pitchFamily="18" charset="0"/>
                  </a:rPr>
                  <a:t>of</a:t>
                </a:r>
                <a:r>
                  <a:rPr lang="de-DE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sz="2000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0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en-GB" sz="2000" dirty="0"/>
              </a:p>
              <a:p>
                <a:pPr lvl="1"/>
                <a:r>
                  <a:rPr lang="de-DE" sz="2000" dirty="0" err="1">
                    <a:ea typeface="Cambria Math" panose="02040503050406030204" pitchFamily="18" charset="0"/>
                  </a:rPr>
                  <a:t>of</a:t>
                </a:r>
                <a:r>
                  <a:rPr lang="de-DE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de-DE" sz="2000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0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58F9BA-AC6C-1C47-4F0A-358DD32B7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222" t="-11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D49FE76-66D1-E773-F89E-69496D092BE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000" dirty="0"/>
                  <a:t>data m</a:t>
                </a:r>
                <a:r>
                  <a:rPr lang="en-DE" sz="2000"/>
                  <a:t>atrix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de-DE" sz="2000" dirty="0"/>
              </a:p>
              <a:p>
                <a:pPr lvl="1"/>
                <a:r>
                  <a:rPr lang="de-DE" sz="2000" dirty="0"/>
                  <a:t>rows: </a:t>
                </a:r>
                <a:r>
                  <a:rPr lang="de-DE" sz="2000" dirty="0" err="1"/>
                  <a:t>samples</a:t>
                </a:r>
                <a:endParaRPr lang="de-DE" sz="2000" dirty="0"/>
              </a:p>
              <a:p>
                <a:pPr lvl="1"/>
                <a:r>
                  <a:rPr lang="de-DE" sz="2000" dirty="0" err="1"/>
                  <a:t>columns</a:t>
                </a:r>
                <a:r>
                  <a:rPr lang="de-DE" sz="2000" dirty="0"/>
                  <a:t>: </a:t>
                </a:r>
                <a:r>
                  <a:rPr lang="en-DE" sz="2000"/>
                  <a:t>features</a:t>
                </a: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r>
                  <a:rPr lang="en-GB" sz="2000" dirty="0"/>
                  <a:t>p</a:t>
                </a:r>
                <a:r>
                  <a:rPr lang="en-DE" sz="2000" dirty="0"/>
                  <a:t>arameter: </a:t>
                </a:r>
                <a14:m>
                  <m:oMath xmlns:m="http://schemas.openxmlformats.org/officeDocument/2006/math">
                    <m:r>
                      <a:rPr lang="de-DE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DE" sz="2000" dirty="0"/>
              </a:p>
              <a:p>
                <a:r>
                  <a:rPr lang="en-GB" sz="2000" dirty="0"/>
                  <a:t>vector of</a:t>
                </a:r>
                <a:r>
                  <a:rPr lang="en-DE" sz="2000" dirty="0"/>
                  <a:t> parameters </a:t>
                </a:r>
                <a14:m>
                  <m:oMath xmlns:m="http://schemas.openxmlformats.org/officeDocument/2006/math">
                    <m:r>
                      <a:rPr lang="de-DE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endParaRPr lang="en-DE" sz="2000" b="1" dirty="0"/>
              </a:p>
              <a:p>
                <a:pPr marL="0" indent="0">
                  <a:buNone/>
                </a:pPr>
                <a:endParaRPr lang="en-DE" sz="2000" dirty="0"/>
              </a:p>
              <a:p>
                <a:r>
                  <a:rPr lang="en-GB" sz="2000" dirty="0"/>
                  <a:t>probability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000" dirty="0"/>
                  <a:t> takes on value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: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D49FE76-66D1-E773-F89E-69496D092B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222" t="-11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94727-A962-0E05-23D2-AF8151A2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5</a:t>
            </a:fld>
            <a:endParaRPr lang="en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5EA994-DBAC-69D7-667E-3C69130CBB8F}"/>
              </a:ext>
            </a:extLst>
          </p:cNvPr>
          <p:cNvSpPr txBox="1"/>
          <p:nvPr/>
        </p:nvSpPr>
        <p:spPr>
          <a:xfrm>
            <a:off x="4452377" y="4161912"/>
            <a:ext cx="1095749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000" dirty="0" err="1"/>
              <a:t>features</a:t>
            </a:r>
            <a:endParaRPr lang="de-DE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C55DC67-D46C-C71C-43A3-89565F3AB37C}"/>
                  </a:ext>
                </a:extLst>
              </p:cNvPr>
              <p:cNvSpPr txBox="1"/>
              <p:nvPr/>
            </p:nvSpPr>
            <p:spPr>
              <a:xfrm>
                <a:off x="8313683" y="5392096"/>
                <a:ext cx="2743199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p</a:t>
                </a:r>
                <a:r>
                  <a:rPr lang="en-DE" sz="2000"/>
                  <a:t>robability distribution</a:t>
                </a:r>
                <a:endParaRPr lang="de-DE" sz="2000" dirty="0"/>
              </a:p>
              <a:p>
                <a:r>
                  <a:rPr lang="en-US" sz="2000" dirty="0"/>
                  <a:t>abbreviation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C55DC67-D46C-C71C-43A3-89565F3AB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683" y="5392096"/>
                <a:ext cx="2743199" cy="707886"/>
              </a:xfrm>
              <a:prstGeom prst="rect">
                <a:avLst/>
              </a:prstGeom>
              <a:blipFill>
                <a:blip r:embed="rId4"/>
                <a:stretch>
                  <a:fillRect l="-2304" t="-5263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FBC9AC91-F9B4-F2FD-50A0-E7011CA7D7F4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9685283" y="4855779"/>
            <a:ext cx="572814" cy="536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79A5800-3B1C-DE6A-830D-717363A2F19B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4855779" y="3731172"/>
            <a:ext cx="144473" cy="430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0B01C9BD-12C8-2BF7-B796-783654805BA6}"/>
              </a:ext>
            </a:extLst>
          </p:cNvPr>
          <p:cNvSpPr txBox="1"/>
          <p:nvPr/>
        </p:nvSpPr>
        <p:spPr>
          <a:xfrm>
            <a:off x="3720532" y="6377187"/>
            <a:ext cx="1135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/>
              <a:t>samples</a:t>
            </a:r>
            <a:endParaRPr lang="de-DE" sz="2000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EDEF6A1D-17B8-56BB-934F-2C5A282626E4}"/>
              </a:ext>
            </a:extLst>
          </p:cNvPr>
          <p:cNvCxnSpPr>
            <a:stCxn id="22" idx="0"/>
          </p:cNvCxnSpPr>
          <p:nvPr/>
        </p:nvCxnSpPr>
        <p:spPr>
          <a:xfrm flipH="1" flipV="1">
            <a:off x="4064746" y="5962916"/>
            <a:ext cx="223410" cy="414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3F704BA7-9119-66C6-6A16-08BC4056C1A3}"/>
              </a:ext>
            </a:extLst>
          </p:cNvPr>
          <p:cNvSpPr txBox="1"/>
          <p:nvPr/>
        </p:nvSpPr>
        <p:spPr>
          <a:xfrm>
            <a:off x="4719661" y="704740"/>
            <a:ext cx="2752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mild </a:t>
            </a:r>
            <a:r>
              <a:rPr lang="de-DE" dirty="0" err="1"/>
              <a:t>notation</a:t>
            </a:r>
            <a:r>
              <a:rPr lang="de-DE" dirty="0"/>
              <a:t> </a:t>
            </a:r>
            <a:r>
              <a:rPr lang="de-DE" dirty="0" err="1"/>
              <a:t>overload</a:t>
            </a:r>
            <a:endParaRPr lang="de-DE" dirty="0"/>
          </a:p>
          <a:p>
            <a:r>
              <a:rPr lang="de-DE" dirty="0"/>
              <a:t>(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handled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)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78905959-5242-FB20-6CB6-30A60E7F7B3A}"/>
              </a:ext>
            </a:extLst>
          </p:cNvPr>
          <p:cNvCxnSpPr>
            <a:stCxn id="25" idx="1"/>
          </p:cNvCxnSpPr>
          <p:nvPr/>
        </p:nvCxnSpPr>
        <p:spPr>
          <a:xfrm flipH="1">
            <a:off x="3268717" y="1027906"/>
            <a:ext cx="1450944" cy="874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0F66B54F-576D-9CCB-E1D5-A7D1B680F029}"/>
              </a:ext>
            </a:extLst>
          </p:cNvPr>
          <p:cNvCxnSpPr>
            <a:stCxn id="25" idx="3"/>
          </p:cNvCxnSpPr>
          <p:nvPr/>
        </p:nvCxnSpPr>
        <p:spPr>
          <a:xfrm>
            <a:off x="7472338" y="1027906"/>
            <a:ext cx="336848" cy="797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415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90A880C-014B-C599-D475-11F30269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Two 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Parameter </a:t>
            </a:r>
            <a:r>
              <a:rPr lang="de-DE" dirty="0" err="1"/>
              <a:t>Estimation</a:t>
            </a:r>
            <a:r>
              <a:rPr lang="de-DE" dirty="0"/>
              <a:t> Tasks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DFD35E7E-CC1E-CE4A-A367-58028C8F1C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unsupervised </a:t>
                </a:r>
                <a:r>
                  <a:rPr lang="de-DE" dirty="0" err="1"/>
                  <a:t>setup</a:t>
                </a:r>
                <a:r>
                  <a:rPr lang="de-DE" dirty="0"/>
                  <a:t> (</a:t>
                </a:r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labels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data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de-DE" dirty="0"/>
              </a:p>
              <a:p>
                <a:r>
                  <a:rPr lang="de-DE" dirty="0" err="1"/>
                  <a:t>model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dirty="0"/>
              </a:p>
              <a:p>
                <a:r>
                  <a:rPr lang="de-DE" dirty="0" err="1"/>
                  <a:t>goal</a:t>
                </a:r>
                <a:r>
                  <a:rPr lang="de-DE" dirty="0"/>
                  <a:t>: fit </a:t>
                </a:r>
                <a:r>
                  <a:rPr lang="de-DE" dirty="0" err="1"/>
                  <a:t>distribution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supervised</a:t>
                </a:r>
                <a:r>
                  <a:rPr lang="de-DE" dirty="0"/>
                  <a:t> </a:t>
                </a:r>
                <a:r>
                  <a:rPr lang="de-DE" dirty="0" err="1"/>
                  <a:t>setup</a:t>
                </a:r>
                <a:r>
                  <a:rPr lang="de-DE" dirty="0"/>
                  <a:t> (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labels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data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dirty="0"/>
                  <a:t> pairs</a:t>
                </a:r>
              </a:p>
              <a:p>
                <a:r>
                  <a:rPr lang="de-DE" dirty="0" err="1"/>
                  <a:t>model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dirty="0"/>
              </a:p>
              <a:p>
                <a:r>
                  <a:rPr lang="de-DE" dirty="0" err="1"/>
                  <a:t>goal</a:t>
                </a:r>
                <a:r>
                  <a:rPr lang="de-DE" dirty="0"/>
                  <a:t>: </a:t>
                </a:r>
                <a:r>
                  <a:rPr lang="de-DE" dirty="0" err="1"/>
                  <a:t>predict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endParaRPr lang="de-DE" b="1" dirty="0"/>
              </a:p>
            </p:txBody>
          </p:sp>
        </mc:Choice>
        <mc:Fallback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DFD35E7E-CC1E-CE4A-A367-58028C8F1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C3B386-1F03-464B-7A79-13949983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6</a:t>
            </a:fld>
            <a:endParaRPr lang="en-GB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2F2B150-9960-6261-DE12-0B0C39AAA838}"/>
              </a:ext>
            </a:extLst>
          </p:cNvPr>
          <p:cNvSpPr txBox="1"/>
          <p:nvPr/>
        </p:nvSpPr>
        <p:spPr>
          <a:xfrm>
            <a:off x="6760777" y="1448950"/>
            <a:ext cx="338592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ML </a:t>
            </a:r>
            <a:r>
              <a:rPr lang="de-DE" sz="2400" dirty="0" err="1"/>
              <a:t>perspective</a:t>
            </a:r>
            <a:r>
              <a:rPr lang="de-DE" sz="2400" dirty="0"/>
              <a:t>:</a:t>
            </a:r>
          </a:p>
          <a:p>
            <a:endParaRPr lang="de-DE" sz="2400" dirty="0"/>
          </a:p>
          <a:p>
            <a:endParaRPr lang="de-DE" sz="2400" dirty="0"/>
          </a:p>
          <a:p>
            <a:r>
              <a:rPr lang="de-DE" sz="2400" dirty="0" err="1"/>
              <a:t>unsupervised</a:t>
            </a:r>
            <a:r>
              <a:rPr lang="de-DE" sz="2400" dirty="0"/>
              <a:t> </a:t>
            </a:r>
            <a:r>
              <a:rPr lang="de-DE" sz="2400" dirty="0" err="1"/>
              <a:t>learning</a:t>
            </a:r>
            <a:endParaRPr lang="de-DE" sz="2400" dirty="0"/>
          </a:p>
          <a:p>
            <a:r>
              <a:rPr lang="de-DE" sz="2400" dirty="0"/>
              <a:t>(e.g., GMM in </a:t>
            </a:r>
            <a:r>
              <a:rPr lang="de-DE" sz="2400" dirty="0" err="1"/>
              <a:t>clustering</a:t>
            </a:r>
            <a:r>
              <a:rPr lang="de-DE" sz="2400" dirty="0"/>
              <a:t>)</a:t>
            </a:r>
          </a:p>
          <a:p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r>
              <a:rPr lang="de-DE" sz="2400" dirty="0" err="1"/>
              <a:t>supervised</a:t>
            </a:r>
            <a:r>
              <a:rPr lang="de-DE" sz="2400" dirty="0"/>
              <a:t> </a:t>
            </a:r>
            <a:r>
              <a:rPr lang="de-DE" sz="2400" dirty="0" err="1"/>
              <a:t>learning</a:t>
            </a:r>
            <a:endParaRPr lang="de-DE" sz="2400" dirty="0"/>
          </a:p>
        </p:txBody>
      </p:sp>
      <p:sp>
        <p:nvSpPr>
          <p:cNvPr id="16" name="Geschweifte Klammer rechts 15">
            <a:extLst>
              <a:ext uri="{FF2B5EF4-FFF2-40B4-BE49-F238E27FC236}">
                <a16:creationId xmlns:a16="http://schemas.microsoft.com/office/drawing/2014/main" id="{C1CBCA87-CD8B-2D31-A0AF-ADE4302F80A1}"/>
              </a:ext>
            </a:extLst>
          </p:cNvPr>
          <p:cNvSpPr/>
          <p:nvPr/>
        </p:nvSpPr>
        <p:spPr>
          <a:xfrm>
            <a:off x="6300949" y="1825625"/>
            <a:ext cx="415159" cy="1789934"/>
          </a:xfrm>
          <a:prstGeom prst="rightBrace">
            <a:avLst>
              <a:gd name="adj1" fmla="val 8333"/>
              <a:gd name="adj2" fmla="val 5352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Geschweifte Klammer rechts 16">
            <a:extLst>
              <a:ext uri="{FF2B5EF4-FFF2-40B4-BE49-F238E27FC236}">
                <a16:creationId xmlns:a16="http://schemas.microsoft.com/office/drawing/2014/main" id="{C6779BB8-B16C-C568-98F0-2B49AD2A211E}"/>
              </a:ext>
            </a:extLst>
          </p:cNvPr>
          <p:cNvSpPr/>
          <p:nvPr/>
        </p:nvSpPr>
        <p:spPr>
          <a:xfrm>
            <a:off x="6300948" y="4206218"/>
            <a:ext cx="415159" cy="1789934"/>
          </a:xfrm>
          <a:prstGeom prst="rightBrace">
            <a:avLst>
              <a:gd name="adj1" fmla="val 8333"/>
              <a:gd name="adj2" fmla="val 4412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841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03763A-91BF-2FC3-3D35-4CEBC82A1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Unsupervised</a:t>
            </a:r>
            <a:r>
              <a:rPr lang="de-DE" dirty="0"/>
              <a:t> Setup: </a:t>
            </a:r>
            <a:r>
              <a:rPr lang="de-DE" dirty="0" err="1"/>
              <a:t>Examples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ED4144-43C7-6D4B-FDB0-0CA05FF6D8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mean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distribution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de-DE" sz="2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sz="2400" b="1" dirty="0"/>
              </a:p>
              <a:p>
                <a:r>
                  <a:rPr lang="de-DE" sz="2400" dirty="0" err="1">
                    <a:ea typeface="Cambria Math" panose="02040503050406030204" pitchFamily="18" charset="0"/>
                  </a:rPr>
                  <a:t>parameter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of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interest</a:t>
                </a:r>
                <a:r>
                  <a:rPr lang="de-DE" sz="2400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de-DE" sz="2400" b="1" dirty="0">
                    <a:ea typeface="Cambria Math" panose="02040503050406030204" pitchFamily="18" charset="0"/>
                  </a:rPr>
                  <a:t>   </a:t>
                </a:r>
                <a:r>
                  <a:rPr lang="de-DE" sz="2400" dirty="0">
                    <a:ea typeface="Cambria Math" panose="02040503050406030204" pitchFamily="18" charset="0"/>
                  </a:rPr>
                  <a:t>(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think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of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as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>
                    <a:ea typeface="Cambria Math" panose="02040503050406030204" pitchFamily="18" charset="0"/>
                  </a:rPr>
                  <a:t>)</a:t>
                </a:r>
              </a:p>
              <a:p>
                <a:r>
                  <a:rPr lang="de-DE" sz="2400" dirty="0" err="1">
                    <a:sym typeface="Wingdings" pitchFamily="2" charset="2"/>
                  </a:rPr>
                  <a:t>estimated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from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observed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data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de-DE" sz="2400" dirty="0"/>
              </a:p>
              <a:p>
                <a:r>
                  <a:rPr lang="de-DE" sz="2400" dirty="0" err="1"/>
                  <a:t>examples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mean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Gaussian</a:t>
                </a:r>
                <a:r>
                  <a:rPr lang="de-DE" sz="2400" dirty="0"/>
                  <a:t>,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success</a:t>
                </a:r>
                <a:r>
                  <a:rPr lang="de-DE" sz="2400" dirty="0"/>
                  <a:t> in a Bernoulli</a:t>
                </a:r>
                <a:endParaRPr lang="de-DE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variance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distribution</a:t>
                </a:r>
                <a:r>
                  <a:rPr lang="de-DE" sz="2400" dirty="0"/>
                  <a:t> (e.g., </a:t>
                </a:r>
                <a:r>
                  <a:rPr lang="de-DE" sz="2400" dirty="0" err="1"/>
                  <a:t>variance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Gaussian</a:t>
                </a:r>
                <a:r>
                  <a:rPr lang="de-DE" sz="2400" dirty="0"/>
                  <a:t>)</a:t>
                </a:r>
              </a:p>
              <a:p>
                <a:r>
                  <a:rPr lang="de-DE" sz="2400" dirty="0" err="1"/>
                  <a:t>parameter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interest</a:t>
                </a:r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de-DE" sz="2400" dirty="0"/>
                  <a:t>    </a:t>
                </a:r>
                <a:r>
                  <a:rPr lang="de-DE" sz="2400" dirty="0">
                    <a:ea typeface="Cambria Math" panose="02040503050406030204" pitchFamily="18" charset="0"/>
                  </a:rPr>
                  <a:t>(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think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of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as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2400" dirty="0">
                    <a:ea typeface="Cambria Math" panose="02040503050406030204" pitchFamily="18" charset="0"/>
                  </a:rPr>
                  <a:t>)</a:t>
                </a:r>
              </a:p>
              <a:p>
                <a:r>
                  <a:rPr lang="de-DE" sz="2400" dirty="0" err="1"/>
                  <a:t>estimated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from</a:t>
                </a:r>
                <a:r>
                  <a:rPr lang="de-DE" sz="2400" dirty="0"/>
                  <a:t> sample </a:t>
                </a:r>
                <a:r>
                  <a:rPr lang="de-DE" sz="2400" dirty="0" err="1"/>
                  <a:t>variance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ED4144-43C7-6D4B-FDB0-0CA05FF6D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5669B0-EB35-821C-044D-ADE1384E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872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alkthrough: Fitting to a Gaussian distribution — Nevis Labs ROOT tutorial  May-2025 documentation">
            <a:extLst>
              <a:ext uri="{FF2B5EF4-FFF2-40B4-BE49-F238E27FC236}">
                <a16:creationId xmlns:a16="http://schemas.microsoft.com/office/drawing/2014/main" id="{E7C27A92-55E7-E1F5-5A60-812683410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0"/>
            <a:ext cx="11472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122AF5-E2F1-8470-24EE-631A69D3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995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058AA-F44D-0169-316A-702C1B5B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Unsupervised</a:t>
            </a:r>
            <a:r>
              <a:rPr lang="de-DE" dirty="0"/>
              <a:t> Setup: General </a:t>
            </a:r>
            <a:r>
              <a:rPr lang="de-DE" dirty="0" err="1"/>
              <a:t>Principle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0ED49DC-0E5F-B87C-1A62-F3C271E70F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e</a:t>
                </a:r>
                <a:r>
                  <a:rPr lang="de-DE" dirty="0" err="1"/>
                  <a:t>stimate</a:t>
                </a:r>
                <a:r>
                  <a:rPr lang="de-DE" dirty="0"/>
                  <a:t> </a:t>
                </a:r>
                <a:r>
                  <a:rPr lang="de-DE" dirty="0" err="1"/>
                  <a:t>any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de-DE" dirty="0"/>
                  <a:t> of </a:t>
                </a:r>
                <a:r>
                  <a:rPr lang="de-DE" dirty="0" err="1"/>
                  <a:t>assumed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find </a:t>
                </a:r>
                <a:r>
                  <a:rPr lang="de-DE" dirty="0" err="1"/>
                  <a:t>parameter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r>
                  <a:rPr lang="de-DE" dirty="0"/>
                  <a:t> such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assumed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best</a:t>
                </a:r>
                <a:r>
                  <a:rPr lang="de-DE" dirty="0"/>
                  <a:t> </a:t>
                </a:r>
                <a:r>
                  <a:rPr lang="de-DE" dirty="0" err="1"/>
                  <a:t>explains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observed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endParaRPr lang="de-DE" dirty="0"/>
              </a:p>
              <a:p>
                <a:pPr marL="0" indent="0">
                  <a:buNone/>
                </a:pPr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typically</a:t>
                </a:r>
                <a:r>
                  <a:rPr lang="de-DE" dirty="0"/>
                  <a:t> </a:t>
                </a:r>
                <a:r>
                  <a:rPr lang="de-DE" dirty="0" err="1"/>
                  <a:t>requires</a:t>
                </a:r>
                <a:r>
                  <a:rPr lang="de-DE" dirty="0"/>
                  <a:t> </a:t>
                </a:r>
                <a:r>
                  <a:rPr lang="de-DE" dirty="0" err="1"/>
                  <a:t>solving</a:t>
                </a:r>
                <a:r>
                  <a:rPr lang="de-DE" dirty="0"/>
                  <a:t> </a:t>
                </a:r>
                <a:r>
                  <a:rPr lang="de-DE" dirty="0" err="1"/>
                  <a:t>optimization</a:t>
                </a:r>
                <a:r>
                  <a:rPr lang="de-DE" dirty="0"/>
                  <a:t> </a:t>
                </a:r>
                <a:r>
                  <a:rPr lang="de-DE" dirty="0" err="1"/>
                  <a:t>problem</a:t>
                </a:r>
                <a:r>
                  <a:rPr lang="de-DE" dirty="0"/>
                  <a:t> (e.g. </a:t>
                </a:r>
                <a:r>
                  <a:rPr lang="de-DE" dirty="0">
                    <a:sym typeface="Wingdings" pitchFamily="2" charset="2"/>
                  </a:rPr>
                  <a:t>least </a:t>
                </a:r>
                <a:r>
                  <a:rPr lang="de-DE" dirty="0" err="1">
                    <a:sym typeface="Wingdings" pitchFamily="2" charset="2"/>
                  </a:rPr>
                  <a:t>squares</a:t>
                </a:r>
                <a:r>
                  <a:rPr lang="de-DE" dirty="0">
                    <a:sym typeface="Wingdings" pitchFamily="2" charset="2"/>
                  </a:rPr>
                  <a:t>, maximum </a:t>
                </a:r>
                <a:r>
                  <a:rPr lang="de-DE" dirty="0" err="1">
                    <a:sym typeface="Wingdings" pitchFamily="2" charset="2"/>
                  </a:rPr>
                  <a:t>likelihood</a:t>
                </a:r>
                <a:r>
                  <a:rPr lang="de-DE" dirty="0">
                    <a:sym typeface="Wingdings" pitchFamily="2" charset="2"/>
                  </a:rPr>
                  <a:t>)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0ED49DC-0E5F-B87C-1A62-F3C271E70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B10991-FAC2-074C-97F5-B6841CEA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856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956A60AA-E00F-E293-BE6B-EDCB93E2E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82" y="650497"/>
            <a:ext cx="6105279" cy="55710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icture containing engine&#10;&#10;Description automatically generated">
            <a:extLst>
              <a:ext uri="{FF2B5EF4-FFF2-40B4-BE49-F238E27FC236}">
                <a16:creationId xmlns:a16="http://schemas.microsoft.com/office/drawing/2014/main" id="{084BAFFF-8A6A-F106-7331-1409FF914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910" y="643467"/>
            <a:ext cx="3300870" cy="247565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n aerial view of a green landscape&#10;&#10;Description automatically generated with low confidence">
            <a:extLst>
              <a:ext uri="{FF2B5EF4-FFF2-40B4-BE49-F238E27FC236}">
                <a16:creationId xmlns:a16="http://schemas.microsoft.com/office/drawing/2014/main" id="{D0200561-BD58-6F0D-DEAA-646818E0F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375" y="3748194"/>
            <a:ext cx="3787940" cy="2471631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8EC50D-DC47-AF63-CB6F-1B733670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7822" y="6435478"/>
            <a:ext cx="63597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D4C94FE-FF23-4504-88E9-14D481113291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306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157950-3C41-E885-D3B7-7C3FF8B6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Supervised</a:t>
            </a:r>
            <a:r>
              <a:rPr lang="de-DE" dirty="0"/>
              <a:t> Setup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EC5F93A-406C-802D-016A-E2B86056B2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sampling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conditional</a:t>
                </a:r>
                <a:r>
                  <a:rPr lang="de-DE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pairs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goal</a:t>
                </a:r>
                <a:r>
                  <a:rPr lang="de-DE" dirty="0"/>
                  <a:t>: </a:t>
                </a:r>
                <a:r>
                  <a:rPr lang="de-DE" dirty="0" err="1"/>
                  <a:t>estimate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observed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fitting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de-DE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later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/>
                  <a:t>predict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new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learned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de-DE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regression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(</a:t>
                </a:r>
                <a:r>
                  <a:rPr lang="de-DE" dirty="0" err="1"/>
                  <a:t>continuous</a:t>
                </a:r>
                <a:r>
                  <a:rPr lang="de-DE" dirty="0"/>
                  <a:t> </a:t>
                </a:r>
                <a:r>
                  <a:rPr lang="de-DE" dirty="0" err="1"/>
                  <a:t>outputs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de-DE" dirty="0"/>
                  <a:t>)</a:t>
                </a:r>
              </a:p>
              <a:p>
                <a:r>
                  <a:rPr lang="de-DE" dirty="0" err="1"/>
                  <a:t>classification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(</a:t>
                </a:r>
                <a:r>
                  <a:rPr lang="de-DE" dirty="0" err="1"/>
                  <a:t>discrete</a:t>
                </a:r>
                <a:r>
                  <a:rPr lang="de-DE" dirty="0"/>
                  <a:t> </a:t>
                </a:r>
                <a:r>
                  <a:rPr lang="de-DE" dirty="0" err="1"/>
                  <a:t>outputs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1,⋯,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EC5F93A-406C-802D-016A-E2B86056B2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3255FC-C19A-1A56-91C4-8B7407EAC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43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D12C49AC-7348-2405-821F-9F5E5395C7BE}"/>
                  </a:ext>
                </a:extLst>
              </p:cNvPr>
              <p:cNvSpPr txBox="1"/>
              <p:nvPr/>
            </p:nvSpPr>
            <p:spPr>
              <a:xfrm>
                <a:off x="5015252" y="6339082"/>
                <a:ext cx="3112368" cy="5037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de-DE" b="1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de-DE" sz="1800" dirty="0"/>
              </a:p>
            </p:txBody>
          </p:sp>
        </mc:Choice>
        <mc:Fallback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D12C49AC-7348-2405-821F-9F5E5395C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252" y="6339082"/>
                <a:ext cx="3112368" cy="503728"/>
              </a:xfrm>
              <a:prstGeom prst="rect">
                <a:avLst/>
              </a:prstGeom>
              <a:blipFill>
                <a:blip r:embed="rId2"/>
                <a:stretch>
                  <a:fillRect t="-68293" b="-1097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>
            <a:extLst>
              <a:ext uri="{FF2B5EF4-FFF2-40B4-BE49-F238E27FC236}">
                <a16:creationId xmlns:a16="http://schemas.microsoft.com/office/drawing/2014/main" id="{94FD5CD1-7912-38B0-DC42-12E5303F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3DD325F3-A38E-94FA-BF5D-346B7F9537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model (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observation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/>
                  <a:t>):</a:t>
                </a: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assumption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D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3DD325F3-A38E-94FA-BF5D-346B7F9537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5E00446-917E-680D-C671-44B0A100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12</a:t>
            </a:fld>
            <a:endParaRPr lang="en-GB"/>
          </a:p>
        </p:txBody>
      </p:sp>
      <p:pic>
        <p:nvPicPr>
          <p:cNvPr id="11" name="Graphic 22">
            <a:extLst>
              <a:ext uri="{FF2B5EF4-FFF2-40B4-BE49-F238E27FC236}">
                <a16:creationId xmlns:a16="http://schemas.microsoft.com/office/drawing/2014/main" id="{15067471-1ADB-70BF-B6F8-A519E3DE8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2455" y="3554399"/>
            <a:ext cx="4354020" cy="28736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0BF49DF-8030-14D3-9D29-61C3D2F2FB0F}"/>
                  </a:ext>
                </a:extLst>
              </p:cNvPr>
              <p:cNvSpPr txBox="1"/>
              <p:nvPr/>
            </p:nvSpPr>
            <p:spPr>
              <a:xfrm>
                <a:off x="8829502" y="3139385"/>
                <a:ext cx="28469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000" dirty="0" err="1"/>
                  <a:t>here</a:t>
                </a:r>
                <a:r>
                  <a:rPr lang="de-DE" sz="2000" dirty="0"/>
                  <a:t>: </a:t>
                </a:r>
                <a:r>
                  <a:rPr lang="de-DE" sz="2000" dirty="0" err="1"/>
                  <a:t>only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one</a:t>
                </a:r>
                <a:r>
                  <a:rPr lang="de-DE" sz="2000" dirty="0"/>
                  <a:t> feature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de-DE" sz="2000" dirty="0"/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0BF49DF-8030-14D3-9D29-61C3D2F2F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502" y="3139385"/>
                <a:ext cx="2846973" cy="400110"/>
              </a:xfrm>
              <a:prstGeom prst="rect">
                <a:avLst/>
              </a:prstGeom>
              <a:blipFill>
                <a:blip r:embed="rId5"/>
                <a:stretch>
                  <a:fillRect l="-2222" t="-6250" b="-2812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feld 14">
            <a:extLst>
              <a:ext uri="{FF2B5EF4-FFF2-40B4-BE49-F238E27FC236}">
                <a16:creationId xmlns:a16="http://schemas.microsoft.com/office/drawing/2014/main" id="{51FF47C9-E41D-F2D0-A4CB-072DFC1B66C4}"/>
              </a:ext>
            </a:extLst>
          </p:cNvPr>
          <p:cNvSpPr txBox="1"/>
          <p:nvPr/>
        </p:nvSpPr>
        <p:spPr>
          <a:xfrm>
            <a:off x="10544511" y="5265944"/>
            <a:ext cx="16201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/>
              <a:t>observations</a:t>
            </a:r>
            <a:endParaRPr lang="de-DE" sz="2000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9194CC4-B5A1-CE93-1FDC-F393657619FD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773103" y="4698124"/>
            <a:ext cx="581470" cy="567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AB9D4E1C-89D3-B52A-F17E-AAA9D2D67837}"/>
                  </a:ext>
                </a:extLst>
              </p:cNvPr>
              <p:cNvSpPr txBox="1"/>
              <p:nvPr/>
            </p:nvSpPr>
            <p:spPr>
              <a:xfrm>
                <a:off x="11676475" y="6020766"/>
                <a:ext cx="3153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AB9D4E1C-89D3-B52A-F17E-AAA9D2D67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75" y="6020766"/>
                <a:ext cx="31531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44A5A0F-29CE-DFDF-C91A-43F5CDCB02A5}"/>
                  </a:ext>
                </a:extLst>
              </p:cNvPr>
              <p:cNvSpPr txBox="1"/>
              <p:nvPr/>
            </p:nvSpPr>
            <p:spPr>
              <a:xfrm>
                <a:off x="8295290" y="3234796"/>
                <a:ext cx="3153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44A5A0F-29CE-DFDF-C91A-43F5CDCB0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290" y="3234796"/>
                <a:ext cx="315310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C07849FD-DCBB-F3D0-1D5D-905F848E778D}"/>
                  </a:ext>
                </a:extLst>
              </p:cNvPr>
              <p:cNvSpPr txBox="1"/>
              <p:nvPr/>
            </p:nvSpPr>
            <p:spPr>
              <a:xfrm>
                <a:off x="7028165" y="1740568"/>
                <a:ext cx="4008341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err="1"/>
                  <a:t>typically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several</a:t>
                </a:r>
                <a:r>
                  <a:rPr lang="de-DE" sz="2400" dirty="0"/>
                  <a:t> variables </a:t>
                </a:r>
                <a14:m>
                  <m:oMath xmlns:m="http://schemas.openxmlformats.org/officeDocument/2006/math">
                    <m:r>
                      <a:rPr lang="de-DE" sz="24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de-DE" sz="2400" b="1" dirty="0"/>
              </a:p>
              <a:p>
                <a:r>
                  <a:rPr lang="de-DE" sz="2400" dirty="0">
                    <a:sym typeface="Wingdings" pitchFamily="2" charset="2"/>
                  </a:rPr>
                  <a:t> also </a:t>
                </a:r>
                <a:r>
                  <a:rPr lang="de-DE" sz="2400" dirty="0" err="1">
                    <a:sym typeface="Wingdings" pitchFamily="2" charset="2"/>
                  </a:rPr>
                  <a:t>several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parameters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endParaRPr lang="de-DE" sz="2400" b="1" dirty="0"/>
              </a:p>
            </p:txBody>
          </p:sp>
        </mc:Choice>
        <mc:Fallback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C07849FD-DCBB-F3D0-1D5D-905F848E7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165" y="1740568"/>
                <a:ext cx="4008341" cy="830997"/>
              </a:xfrm>
              <a:prstGeom prst="rect">
                <a:avLst/>
              </a:prstGeom>
              <a:blipFill>
                <a:blip r:embed="rId8"/>
                <a:stretch>
                  <a:fillRect l="-2201" t="-5882" b="-147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63ABF9D8-4290-80E1-7876-C6041804DA7E}"/>
                  </a:ext>
                </a:extLst>
              </p:cNvPr>
              <p:cNvSpPr txBox="1"/>
              <p:nvPr/>
            </p:nvSpPr>
            <p:spPr>
              <a:xfrm>
                <a:off x="838200" y="5705542"/>
                <a:ext cx="3471041" cy="7916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2200" dirty="0"/>
                  <a:t>different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DE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de-DE" sz="2200" dirty="0"/>
                  <a:t> </a:t>
                </a:r>
                <a:r>
                  <a:rPr lang="de-DE" sz="2200" dirty="0" err="1"/>
                  <a:t>for</a:t>
                </a:r>
                <a:r>
                  <a:rPr lang="de-DE" sz="2200" dirty="0"/>
                  <a:t> </a:t>
                </a:r>
                <a:r>
                  <a:rPr lang="de-DE" sz="2200" dirty="0" err="1"/>
                  <a:t>each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r>
                      <a:rPr lang="de-DE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de-DE" sz="2200" dirty="0"/>
                  <a:t>, </a:t>
                </a:r>
                <a:r>
                  <a:rPr lang="de-DE" sz="2200" dirty="0" err="1"/>
                  <a:t>sharing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parameters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de-DE" sz="2200" dirty="0"/>
              </a:p>
            </p:txBody>
          </p:sp>
        </mc:Choice>
        <mc:Fallback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63ABF9D8-4290-80E1-7876-C6041804D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705542"/>
                <a:ext cx="3471041" cy="791692"/>
              </a:xfrm>
              <a:prstGeom prst="rect">
                <a:avLst/>
              </a:prstGeom>
              <a:blipFill>
                <a:blip r:embed="rId9"/>
                <a:stretch>
                  <a:fillRect l="-2190" t="-1587" r="-2190" b="-158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Geschweifte Klammer links 24">
            <a:extLst>
              <a:ext uri="{FF2B5EF4-FFF2-40B4-BE49-F238E27FC236}">
                <a16:creationId xmlns:a16="http://schemas.microsoft.com/office/drawing/2014/main" id="{035DA464-701D-171E-21A1-04D8E40BE701}"/>
              </a:ext>
            </a:extLst>
          </p:cNvPr>
          <p:cNvSpPr/>
          <p:nvPr/>
        </p:nvSpPr>
        <p:spPr>
          <a:xfrm rot="16200000">
            <a:off x="3192666" y="2185607"/>
            <a:ext cx="320269" cy="15555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0ED030A-7D4D-F176-F27B-DDC47EBC2ACA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4381338" y="3299034"/>
            <a:ext cx="5435324" cy="1525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A8863062-8E51-917F-8F76-7AF3A66EE1FC}"/>
                  </a:ext>
                </a:extLst>
              </p:cNvPr>
              <p:cNvSpPr txBox="1"/>
              <p:nvPr/>
            </p:nvSpPr>
            <p:spPr>
              <a:xfrm>
                <a:off x="5015252" y="2937810"/>
                <a:ext cx="28049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 err="1"/>
                  <a:t>predictive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de-DE" dirty="0"/>
              </a:p>
              <a:p>
                <a:r>
                  <a:rPr lang="de-DE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nuisance</a:t>
                </a:r>
                <a:r>
                  <a:rPr lang="de-DE" dirty="0"/>
                  <a:t> </a:t>
                </a:r>
                <a:r>
                  <a:rPr lang="de-DE" dirty="0" err="1"/>
                  <a:t>parameter</a:t>
                </a:r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A8863062-8E51-917F-8F76-7AF3A66EE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252" y="2937810"/>
                <a:ext cx="2804935" cy="646331"/>
              </a:xfrm>
              <a:prstGeom prst="rect">
                <a:avLst/>
              </a:prstGeom>
              <a:blipFill>
                <a:blip r:embed="rId10"/>
                <a:stretch>
                  <a:fillRect l="-2262" t="-5769" b="-1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B7FA9CC5-89EC-A40B-8536-2CB2A42C6D0D}"/>
                  </a:ext>
                </a:extLst>
              </p:cNvPr>
              <p:cNvSpPr txBox="1"/>
              <p:nvPr/>
            </p:nvSpPr>
            <p:spPr>
              <a:xfrm>
                <a:off x="3519650" y="6538912"/>
                <a:ext cx="505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B7FA9CC5-89EC-A40B-8536-2CB2A42C6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650" y="6538912"/>
                <a:ext cx="50581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Geschweifte Klammer links 34">
            <a:extLst>
              <a:ext uri="{FF2B5EF4-FFF2-40B4-BE49-F238E27FC236}">
                <a16:creationId xmlns:a16="http://schemas.microsoft.com/office/drawing/2014/main" id="{72C40E39-A28D-AEC3-1721-C0E4994D9E86}"/>
              </a:ext>
            </a:extLst>
          </p:cNvPr>
          <p:cNvSpPr/>
          <p:nvPr/>
        </p:nvSpPr>
        <p:spPr>
          <a:xfrm rot="16200000">
            <a:off x="3675206" y="6046671"/>
            <a:ext cx="174997" cy="86185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46A9C5DF-1B37-5198-DEE0-50F7A4A7BF6B}"/>
                  </a:ext>
                </a:extLst>
              </p:cNvPr>
              <p:cNvSpPr txBox="1"/>
              <p:nvPr/>
            </p:nvSpPr>
            <p:spPr>
              <a:xfrm>
                <a:off x="3125352" y="3098979"/>
                <a:ext cx="125598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DE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de-DE" sz="2000" dirty="0"/>
              </a:p>
            </p:txBody>
          </p:sp>
        </mc:Choice>
        <mc:Fallback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46A9C5DF-1B37-5198-DEE0-50F7A4A7B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352" y="3098979"/>
                <a:ext cx="1255986" cy="400110"/>
              </a:xfrm>
              <a:prstGeom prst="rect">
                <a:avLst/>
              </a:prstGeom>
              <a:blipFill>
                <a:blip r:embed="rId12"/>
                <a:stretch>
                  <a:fillRect l="-3000" b="-121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69F2F0D7-D83A-1839-A851-25999ADA9A89}"/>
              </a:ext>
            </a:extLst>
          </p:cNvPr>
          <p:cNvCxnSpPr>
            <a:stCxn id="41" idx="0"/>
          </p:cNvCxnSpPr>
          <p:nvPr/>
        </p:nvCxnSpPr>
        <p:spPr>
          <a:xfrm flipH="1" flipV="1">
            <a:off x="6274676" y="5255434"/>
            <a:ext cx="296760" cy="1083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589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Least Squares Regression Method">
            <a:extLst>
              <a:ext uri="{FF2B5EF4-FFF2-40B4-BE49-F238E27FC236}">
                <a16:creationId xmlns:a16="http://schemas.microsoft.com/office/drawing/2014/main" id="{9FF9E35A-354D-D87D-25F8-1ACC9DAF9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294891"/>
            <a:ext cx="6096000" cy="406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1BD2DB9-A134-FF7E-C8BA-64FE53A5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Least Squares </a:t>
            </a:r>
            <a:r>
              <a:rPr lang="de-DE" dirty="0" err="1"/>
              <a:t>Estimation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3FD89AB-9049-BF80-08EB-4562A5C989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idea: </a:t>
                </a:r>
                <a:r>
                  <a:rPr lang="de-DE" dirty="0" err="1"/>
                  <a:t>choose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minimize</a:t>
                </a:r>
                <a:r>
                  <a:rPr lang="de-DE" dirty="0"/>
                  <a:t> </a:t>
                </a:r>
                <a:r>
                  <a:rPr lang="de-DE" dirty="0" err="1"/>
                  <a:t>sum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squared</a:t>
                </a:r>
                <a:r>
                  <a:rPr lang="de-DE" dirty="0"/>
                  <a:t> </a:t>
                </a:r>
                <a:r>
                  <a:rPr lang="de-DE" dirty="0" err="1"/>
                  <a:t>residuals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argm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residuals</a:t>
                </a:r>
                <a:r>
                  <a:rPr lang="de-DE" dirty="0"/>
                  <a:t>:</a:t>
                </a:r>
              </a:p>
              <a:p>
                <a:pPr/>
                <a:r>
                  <a:rPr lang="de-DE" dirty="0" err="1"/>
                  <a:t>mean</a:t>
                </a:r>
                <a:r>
                  <a:rPr lang="de-DE" dirty="0"/>
                  <a:t> </a:t>
                </a:r>
                <a:r>
                  <a:rPr lang="de-DE" dirty="0" err="1"/>
                  <a:t>estimation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de-DE" dirty="0"/>
              </a:p>
              <a:p>
                <a:pPr/>
                <a:r>
                  <a:rPr lang="de-DE" dirty="0"/>
                  <a:t>regression: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3FD89AB-9049-BF80-08EB-4562A5C98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30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B8C9E3-A4A1-62CE-7490-26C9E0C7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13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5A678FD-32A5-B91F-6D5E-C9CD9CFA8858}"/>
              </a:ext>
            </a:extLst>
          </p:cNvPr>
          <p:cNvSpPr txBox="1"/>
          <p:nvPr/>
        </p:nvSpPr>
        <p:spPr>
          <a:xfrm>
            <a:off x="7985572" y="5241821"/>
            <a:ext cx="136351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observation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DC106FF-70AB-99DF-C0D4-D0507ECD529F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461030" y="5426487"/>
            <a:ext cx="5245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1EB863EE-004E-75E2-5598-1D5B92D0FB1A}"/>
              </a:ext>
            </a:extLst>
          </p:cNvPr>
          <p:cNvSpPr txBox="1"/>
          <p:nvPr/>
        </p:nvSpPr>
        <p:spPr>
          <a:xfrm>
            <a:off x="6877009" y="3755014"/>
            <a:ext cx="12920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fitted</a:t>
            </a:r>
            <a:r>
              <a:rPr lang="de-DE" dirty="0"/>
              <a:t> </a:t>
            </a:r>
            <a:r>
              <a:rPr lang="de-DE" dirty="0" err="1"/>
              <a:t>value</a:t>
            </a: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63C156D8-DCFE-FE04-31E8-A0B493DB25A0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409794" y="4124346"/>
            <a:ext cx="113225" cy="469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609771BB-25E7-60D2-1515-95AA357F12AC}"/>
              </a:ext>
            </a:extLst>
          </p:cNvPr>
          <p:cNvSpPr txBox="1"/>
          <p:nvPr/>
        </p:nvSpPr>
        <p:spPr>
          <a:xfrm>
            <a:off x="7675111" y="4728549"/>
            <a:ext cx="9878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residual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F9F099B-158E-0DA3-8659-6B0CCE30FC4A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409794" y="4913215"/>
            <a:ext cx="265317" cy="5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6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3639D6-CD9D-E964-5B6A-4B3DEDB1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Least Squares </a:t>
            </a:r>
            <a:r>
              <a:rPr lang="de-DE" dirty="0" err="1"/>
              <a:t>Estimation</a:t>
            </a:r>
            <a:r>
              <a:rPr lang="de-DE" dirty="0"/>
              <a:t>: </a:t>
            </a:r>
            <a:r>
              <a:rPr lang="de-DE" dirty="0" err="1"/>
              <a:t>Minimization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AAE4644-528F-9CDF-D789-05819C4608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minimization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objective</a:t>
                </a: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first-order </a:t>
                </a:r>
                <a:r>
                  <a:rPr lang="de-DE" dirty="0" err="1"/>
                  <a:t>optimality</a:t>
                </a:r>
                <a:r>
                  <a:rPr lang="de-DE" dirty="0"/>
                  <a:t> </a:t>
                </a:r>
                <a:r>
                  <a:rPr lang="de-DE" dirty="0" err="1"/>
                  <a:t>condition</a:t>
                </a:r>
                <a:r>
                  <a:rPr lang="de-DE" dirty="0"/>
                  <a:t>: </a:t>
                </a:r>
                <a:r>
                  <a:rPr lang="de-DE" dirty="0" err="1"/>
                  <a:t>set</a:t>
                </a:r>
                <a:r>
                  <a:rPr lang="de-DE" dirty="0"/>
                  <a:t> </a:t>
                </a:r>
                <a:r>
                  <a:rPr lang="de-DE" dirty="0" err="1"/>
                  <a:t>gradient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objective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zero</a:t>
                </a:r>
                <a:endParaRPr lang="de-DE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de-DE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nary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s</a:t>
                </a:r>
                <a:r>
                  <a:rPr lang="de-DE" dirty="0" err="1"/>
                  <a:t>atisfies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AAE4644-528F-9CDF-D789-05819C4608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5291" b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49B3EE-A461-D83A-787A-B832A708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14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17CDBBD-2A99-33EC-18A3-EBBD3B905D0A}"/>
              </a:ext>
            </a:extLst>
          </p:cNvPr>
          <p:cNvSpPr txBox="1"/>
          <p:nvPr/>
        </p:nvSpPr>
        <p:spPr>
          <a:xfrm>
            <a:off x="2995448" y="5019358"/>
            <a:ext cx="6201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residuals</a:t>
            </a:r>
            <a:r>
              <a:rPr lang="de-DE" sz="2400" dirty="0"/>
              <a:t> </a:t>
            </a:r>
            <a:r>
              <a:rPr lang="de-DE" sz="2400" dirty="0" err="1"/>
              <a:t>appear</a:t>
            </a:r>
            <a:r>
              <a:rPr lang="de-DE" sz="2400" dirty="0"/>
              <a:t> </a:t>
            </a:r>
            <a:r>
              <a:rPr lang="de-DE" sz="2400" dirty="0" err="1"/>
              <a:t>multiplied</a:t>
            </a:r>
            <a:r>
              <a:rPr lang="de-DE" sz="2400" dirty="0"/>
              <a:t> </a:t>
            </a:r>
            <a:r>
              <a:rPr lang="de-DE" sz="2400" dirty="0" err="1"/>
              <a:t>by</a:t>
            </a:r>
            <a:r>
              <a:rPr lang="de-DE" sz="2400" dirty="0"/>
              <a:t> </a:t>
            </a:r>
            <a:r>
              <a:rPr lang="de-DE" sz="2400" dirty="0" err="1"/>
              <a:t>their</a:t>
            </a:r>
            <a:r>
              <a:rPr lang="de-DE" sz="2400" dirty="0"/>
              <a:t> </a:t>
            </a:r>
            <a:r>
              <a:rPr lang="de-DE" sz="2400" dirty="0" err="1"/>
              <a:t>sensitivity</a:t>
            </a:r>
            <a:endParaRPr lang="de-DE" sz="2400" dirty="0"/>
          </a:p>
        </p:txBody>
      </p:sp>
      <p:sp>
        <p:nvSpPr>
          <p:cNvPr id="7" name="Geschweifte Klammer links 6">
            <a:extLst>
              <a:ext uri="{FF2B5EF4-FFF2-40B4-BE49-F238E27FC236}">
                <a16:creationId xmlns:a16="http://schemas.microsoft.com/office/drawing/2014/main" id="{D1D98243-48E5-A280-865C-9EC8AF79F91C}"/>
              </a:ext>
            </a:extLst>
          </p:cNvPr>
          <p:cNvSpPr/>
          <p:nvPr/>
        </p:nvSpPr>
        <p:spPr>
          <a:xfrm rot="16200000">
            <a:off x="5023189" y="3826523"/>
            <a:ext cx="274783" cy="206003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2737F02-D860-FF78-165A-80D460C6C6A4}"/>
              </a:ext>
            </a:extLst>
          </p:cNvPr>
          <p:cNvSpPr txBox="1"/>
          <p:nvPr/>
        </p:nvSpPr>
        <p:spPr>
          <a:xfrm>
            <a:off x="304799" y="2802437"/>
            <a:ext cx="26906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candidate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: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ensure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minimum</a:t>
            </a:r>
            <a:endParaRPr lang="de-DE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093E952-4F67-FA79-8814-C3C6CCB0C893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439917" y="3448768"/>
            <a:ext cx="210207" cy="408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B91F75C-883E-CA92-B623-7B7F0DD42038}"/>
                  </a:ext>
                </a:extLst>
              </p:cNvPr>
              <p:cNvSpPr txBox="1"/>
              <p:nvPr/>
            </p:nvSpPr>
            <p:spPr>
              <a:xfrm>
                <a:off x="10562897" y="4485525"/>
                <a:ext cx="1324304" cy="1529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de-DE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DE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DE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B91F75C-883E-CA92-B623-7B7F0DD42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897" y="4485525"/>
                <a:ext cx="1324304" cy="1529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767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DB3EF4-6894-771A-5AAC-EA24C930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Least Squares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7FEEFB7-3950-66F3-EAD6-FDE3675DDA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m</a:t>
                </a:r>
                <a:r>
                  <a:rPr lang="de-DE" dirty="0" err="1"/>
                  <a:t>odel</a:t>
                </a:r>
                <a:r>
                  <a:rPr lang="de-DE" dirty="0"/>
                  <a:t> (linear in </a:t>
                </a:r>
                <a:r>
                  <a:rPr lang="de-DE" dirty="0" err="1"/>
                  <a:t>parameters</a:t>
                </a:r>
                <a:r>
                  <a:rPr lang="de-DE" dirty="0"/>
                  <a:t>):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objective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de-DE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matrix</a:t>
                </a:r>
                <a:r>
                  <a:rPr lang="de-DE" dirty="0"/>
                  <a:t> form: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de-DE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7FEEFB7-3950-66F3-EAD6-FDE3675DDA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8DDE68-031F-6427-0EED-66C4345A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15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9928F34-8B0C-AFC1-C175-192207BCF1CD}"/>
                  </a:ext>
                </a:extLst>
              </p:cNvPr>
              <p:cNvSpPr txBox="1"/>
              <p:nvPr/>
            </p:nvSpPr>
            <p:spPr>
              <a:xfrm>
                <a:off x="7454462" y="1825625"/>
                <a:ext cx="3899338" cy="28859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:r>
                  <a:rPr lang="de-DE" sz="2400" dirty="0"/>
                  <a:t>linear </a:t>
                </a:r>
                <a:r>
                  <a:rPr lang="de-DE" sz="2400" dirty="0" err="1"/>
                  <a:t>regression</a:t>
                </a:r>
                <a:r>
                  <a:rPr lang="de-DE" sz="2400" dirty="0"/>
                  <a:t>:</a:t>
                </a:r>
              </a:p>
              <a:p>
                <a:pPr/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de-DE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de-DE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e-DE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m:rPr>
                              <m:nor/>
                            </m:rPr>
                            <a:rPr lang="de-DE" sz="2400" dirty="0"/>
                            <m:t> </m:t>
                          </m:r>
                        </m:e>
                      </m:d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/>
                <a:endParaRPr lang="en-US" sz="2400" dirty="0">
                  <a:sym typeface="Wingdings" pitchFamily="2" charset="2"/>
                </a:endParaRPr>
              </a:p>
              <a:p>
                <a:pPr/>
                <a:r>
                  <a:rPr lang="en-US" sz="2400" dirty="0">
                    <a:sym typeface="Wingdings" pitchFamily="2" charset="2"/>
                  </a:rPr>
                  <a:t>define </a:t>
                </a:r>
                <a14:m>
                  <m:oMath xmlns:m="http://schemas.openxmlformats.org/officeDocument/2006/math">
                    <m:r>
                      <a:rPr lang="de-DE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mr>
                          <m:m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mr>
                          <m:m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ym typeface="Wingdings" pitchFamily="2" charset="2"/>
                </a:endParaRPr>
              </a:p>
              <a:p>
                <a:pPr/>
                <a:endParaRPr lang="en-US" sz="2400" dirty="0">
                  <a:sym typeface="Wingdings" pitchFamily="2" charset="2"/>
                </a:endParaRPr>
              </a:p>
              <a:p>
                <a:pPr/>
                <a:r>
                  <a:rPr lang="en-US" sz="24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de-DE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9928F34-8B0C-AFC1-C175-192207BCF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462" y="1825625"/>
                <a:ext cx="3899338" cy="2885918"/>
              </a:xfrm>
              <a:prstGeom prst="rect">
                <a:avLst/>
              </a:prstGeom>
              <a:blipFill>
                <a:blip r:embed="rId3"/>
                <a:stretch>
                  <a:fillRect l="-2265" t="-1747" b="-30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75364C4-B0B6-E767-B4F6-904D48E0CD1A}"/>
                  </a:ext>
                </a:extLst>
              </p:cNvPr>
              <p:cNvSpPr txBox="1"/>
              <p:nvPr/>
            </p:nvSpPr>
            <p:spPr>
              <a:xfrm>
                <a:off x="838200" y="5455295"/>
                <a:ext cx="6616262" cy="126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de-DE" sz="2400" dirty="0" err="1"/>
                  <a:t>new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notation</a:t>
                </a:r>
                <a:r>
                  <a:rPr lang="de-DE" sz="2400" dirty="0"/>
                  <a:t>:		</a:t>
                </a:r>
                <a14:m>
                  <m:oMath xmlns:m="http://schemas.openxmlformats.org/officeDocument/2006/math"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de-DE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de-DE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de-DE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de-DE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/>
                  <a:t>	</a:t>
                </a:r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75364C4-B0B6-E767-B4F6-904D48E0C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55295"/>
                <a:ext cx="6616262" cy="1266180"/>
              </a:xfrm>
              <a:prstGeom prst="rect">
                <a:avLst/>
              </a:prstGeom>
              <a:blipFill>
                <a:blip r:embed="rId4"/>
                <a:stretch>
                  <a:fillRect l="-15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402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A8A01C-9144-36DF-39F3-A6436EE1A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Least Squares: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1821150-E8E1-C1FF-6C84-4C92AA2CE1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de-DE" b="1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take</a:t>
                </a:r>
                <a:r>
                  <a:rPr lang="de-DE" dirty="0"/>
                  <a:t> </a:t>
                </a:r>
                <a:r>
                  <a:rPr lang="de-DE" dirty="0" err="1"/>
                  <a:t>gradient</a:t>
                </a:r>
                <a:r>
                  <a:rPr lang="de-DE" dirty="0"/>
                  <a:t> </a:t>
                </a:r>
                <a:r>
                  <a:rPr lang="de-DE" dirty="0" err="1"/>
                  <a:t>w.r.t</a:t>
                </a:r>
                <a:r>
                  <a:rPr lang="de-DE" dirty="0"/>
                  <a:t>. </a:t>
                </a:r>
                <a14:m>
                  <m:oMath xmlns:m="http://schemas.openxmlformats.org/officeDocument/2006/math"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set</a:t>
                </a:r>
                <a:r>
                  <a:rPr lang="de-DE" dirty="0"/>
                  <a:t> </a:t>
                </a:r>
                <a:r>
                  <a:rPr lang="de-DE" dirty="0" err="1"/>
                  <a:t>gradient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zero</a:t>
                </a:r>
                <a:r>
                  <a:rPr lang="de-DE" dirty="0"/>
                  <a:t> (</a:t>
                </a:r>
                <a:r>
                  <a:rPr lang="de-DE" dirty="0" err="1"/>
                  <a:t>optimality</a:t>
                </a:r>
                <a:r>
                  <a:rPr lang="de-DE" dirty="0"/>
                  <a:t> </a:t>
                </a:r>
                <a:r>
                  <a:rPr lang="de-DE" dirty="0" err="1"/>
                  <a:t>condition</a:t>
                </a:r>
                <a:r>
                  <a:rPr lang="de-DE" dirty="0"/>
                  <a:t>):</a:t>
                </a: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solution</a:t>
                </a:r>
                <a:r>
                  <a:rPr lang="de-DE" dirty="0"/>
                  <a:t> (normal </a:t>
                </a:r>
                <a:r>
                  <a:rPr lang="de-DE" dirty="0" err="1"/>
                  <a:t>equations</a:t>
                </a:r>
                <a:r>
                  <a:rPr lang="de-DE" dirty="0"/>
                  <a:t>):</a:t>
                </a:r>
              </a:p>
              <a:p>
                <a:pPr marL="0" indent="0">
                  <a:buNone/>
                </a:pPr>
                <a:r>
                  <a:rPr lang="de-DE" dirty="0"/>
                  <a:t> 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endParaRPr lang="de-DE" b="1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1821150-E8E1-C1FF-6C84-4C92AA2CE1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D4D1A4-F427-DF3A-4FC8-8C049FA5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16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DDD5150-EB95-1030-FD44-A8D947F8CD1D}"/>
                  </a:ext>
                </a:extLst>
              </p:cNvPr>
              <p:cNvSpPr txBox="1"/>
              <p:nvPr/>
            </p:nvSpPr>
            <p:spPr>
              <a:xfrm>
                <a:off x="6976242" y="2479705"/>
                <a:ext cx="3005958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DDD5150-EB95-1030-FD44-A8D947F8C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242" y="2479705"/>
                <a:ext cx="3005958" cy="374270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eschweifte Klammer links 6">
            <a:extLst>
              <a:ext uri="{FF2B5EF4-FFF2-40B4-BE49-F238E27FC236}">
                <a16:creationId xmlns:a16="http://schemas.microsoft.com/office/drawing/2014/main" id="{D8B4C341-C5C3-01E9-81E7-66560128DB19}"/>
              </a:ext>
            </a:extLst>
          </p:cNvPr>
          <p:cNvSpPr/>
          <p:nvPr/>
        </p:nvSpPr>
        <p:spPr>
          <a:xfrm rot="16200000">
            <a:off x="8250799" y="1152018"/>
            <a:ext cx="237446" cy="232672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CF639E3-057F-CD57-F00C-B23D1D76B5D8}"/>
                  </a:ext>
                </a:extLst>
              </p:cNvPr>
              <p:cNvSpPr txBox="1"/>
              <p:nvPr/>
            </p:nvSpPr>
            <p:spPr>
              <a:xfrm>
                <a:off x="8369522" y="3429000"/>
                <a:ext cx="367073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de-DE" dirty="0"/>
              </a:p>
              <a:p>
                <a:pPr/>
                <a:r>
                  <a:rPr lang="de-DE" dirty="0" err="1"/>
                  <a:t>here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which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symmetric</a:t>
                </a:r>
                <a:endParaRPr lang="de-DE" dirty="0"/>
              </a:p>
              <a:p>
                <a:pPr/>
                <a:r>
                  <a:rPr lang="en-US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CF639E3-057F-CD57-F00C-B23D1D76B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522" y="3429000"/>
                <a:ext cx="3670738" cy="923330"/>
              </a:xfrm>
              <a:prstGeom prst="rect">
                <a:avLst/>
              </a:prstGeom>
              <a:blipFill>
                <a:blip r:embed="rId4"/>
                <a:stretch>
                  <a:fillRect l="-1379" b="-82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7AA7D32-A45B-5885-549F-C513E8BE5BB2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5339255" y="3678621"/>
            <a:ext cx="3030267" cy="212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What is Column Space? — Example, Intuition &amp; Visualization | by Aerin Kim |  IntuitionMath | Medium">
            <a:extLst>
              <a:ext uri="{FF2B5EF4-FFF2-40B4-BE49-F238E27FC236}">
                <a16:creationId xmlns:a16="http://schemas.microsoft.com/office/drawing/2014/main" id="{066ABEB7-7231-5FCD-4292-769740C83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242" y="4490785"/>
            <a:ext cx="3670738" cy="2340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740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A23C7-108A-BC54-CE84-9594F11E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Nonlinear</a:t>
            </a:r>
            <a:r>
              <a:rPr lang="de-DE" dirty="0"/>
              <a:t> Case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1ADDD0B-2051-2197-C175-7F50F98EC6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   gives </a:t>
                </a:r>
                <a:r>
                  <a:rPr lang="de-DE" dirty="0" err="1"/>
                  <a:t>stationary</a:t>
                </a:r>
                <a:r>
                  <a:rPr lang="de-DE" dirty="0"/>
                  <a:t> </a:t>
                </a:r>
                <a:r>
                  <a:rPr lang="de-DE" dirty="0" err="1"/>
                  <a:t>points</a:t>
                </a:r>
                <a:endParaRPr lang="de-DE" dirty="0"/>
              </a:p>
              <a:p>
                <a:pPr marL="0" indent="0">
                  <a:buNone/>
                </a:pPr>
                <a:br>
                  <a:rPr lang="de-DE" dirty="0"/>
                </a:b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convex</a:t>
                </a:r>
                <a:r>
                  <a:rPr lang="de-DE" dirty="0"/>
                  <a:t> </a:t>
                </a:r>
                <a:r>
                  <a:rPr lang="de-DE" dirty="0" err="1"/>
                  <a:t>problems</a:t>
                </a:r>
                <a:r>
                  <a:rPr lang="de-DE" dirty="0"/>
                  <a:t> (like linear least </a:t>
                </a:r>
                <a:r>
                  <a:rPr lang="de-DE" dirty="0" err="1"/>
                  <a:t>squares</a:t>
                </a:r>
                <a:r>
                  <a:rPr lang="de-DE" dirty="0"/>
                  <a:t>), </a:t>
                </a:r>
                <a:r>
                  <a:rPr lang="de-DE" dirty="0" err="1"/>
                  <a:t>this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global </a:t>
                </a:r>
                <a:r>
                  <a:rPr lang="de-DE" dirty="0" err="1"/>
                  <a:t>minimum</a:t>
                </a:r>
                <a:r>
                  <a:rPr lang="de-DE" dirty="0"/>
                  <a:t>.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1ADDD0B-2051-2197-C175-7F50F98EC6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5F7F70-A413-6538-CB3B-2C632002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17</a:t>
            </a:fld>
            <a:endParaRPr lang="en-GB"/>
          </a:p>
        </p:txBody>
      </p:sp>
      <p:pic>
        <p:nvPicPr>
          <p:cNvPr id="5" name="Picture 2" descr="Gradient Descent | Towards Data Science">
            <a:extLst>
              <a:ext uri="{FF2B5EF4-FFF2-40B4-BE49-F238E27FC236}">
                <a16:creationId xmlns:a16="http://schemas.microsoft.com/office/drawing/2014/main" id="{99219CC7-5ED4-E12E-D921-2826AF6B9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96" y="3657600"/>
            <a:ext cx="7274409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9E1DAF4-C77F-3D9B-026C-2882A55DF31B}"/>
                  </a:ext>
                </a:extLst>
              </p:cNvPr>
              <p:cNvSpPr txBox="1"/>
              <p:nvPr/>
            </p:nvSpPr>
            <p:spPr>
              <a:xfrm>
                <a:off x="4022214" y="4001292"/>
                <a:ext cx="7041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9E1DAF4-C77F-3D9B-026C-2882A55DF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14" y="4001292"/>
                <a:ext cx="704193" cy="461665"/>
              </a:xfrm>
              <a:prstGeom prst="rect">
                <a:avLst/>
              </a:prstGeom>
              <a:blipFill>
                <a:blip r:embed="rId4"/>
                <a:stretch>
                  <a:fillRect l="-7143" b="-131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C7DEA259-7418-2C83-FAA8-77ACECC37ECF}"/>
                  </a:ext>
                </a:extLst>
              </p:cNvPr>
              <p:cNvSpPr txBox="1"/>
              <p:nvPr/>
            </p:nvSpPr>
            <p:spPr>
              <a:xfrm>
                <a:off x="428301" y="4001293"/>
                <a:ext cx="7041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C7DEA259-7418-2C83-FAA8-77ACECC37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01" y="4001293"/>
                <a:ext cx="704193" cy="461665"/>
              </a:xfrm>
              <a:prstGeom prst="rect">
                <a:avLst/>
              </a:prstGeom>
              <a:blipFill>
                <a:blip r:embed="rId5"/>
                <a:stretch>
                  <a:fillRect l="-5263" b="-131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FBA1659-82A8-A1B0-3991-98C15E10B4DA}"/>
                  </a:ext>
                </a:extLst>
              </p:cNvPr>
              <p:cNvSpPr txBox="1"/>
              <p:nvPr/>
            </p:nvSpPr>
            <p:spPr>
              <a:xfrm>
                <a:off x="2973808" y="6356350"/>
                <a:ext cx="3678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FBA1659-82A8-A1B0-3991-98C15E10B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808" y="6356350"/>
                <a:ext cx="367862" cy="461665"/>
              </a:xfrm>
              <a:prstGeom prst="rect">
                <a:avLst/>
              </a:prstGeom>
              <a:blipFill>
                <a:blip r:embed="rId6"/>
                <a:stretch>
                  <a:fillRect l="-3333" r="-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141D323-9D14-7F41-1E8D-DFE01CE99860}"/>
                  </a:ext>
                </a:extLst>
              </p:cNvPr>
              <p:cNvSpPr txBox="1"/>
              <p:nvPr/>
            </p:nvSpPr>
            <p:spPr>
              <a:xfrm>
                <a:off x="6626151" y="6351489"/>
                <a:ext cx="3678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141D323-9D14-7F41-1E8D-DFE01CE99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151" y="6351489"/>
                <a:ext cx="367862" cy="461665"/>
              </a:xfrm>
              <a:prstGeom prst="rect">
                <a:avLst/>
              </a:prstGeom>
              <a:blipFill>
                <a:blip r:embed="rId7"/>
                <a:stretch>
                  <a:fillRect l="-3333" r="-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BB2E6CA9-BCA0-CD36-06C4-4DBA9C838775}"/>
                  </a:ext>
                </a:extLst>
              </p:cNvPr>
              <p:cNvSpPr txBox="1"/>
              <p:nvPr/>
            </p:nvSpPr>
            <p:spPr>
              <a:xfrm>
                <a:off x="7994500" y="3657600"/>
                <a:ext cx="3915094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2800" dirty="0"/>
                  <a:t>if </a:t>
                </a:r>
                <a14:m>
                  <m:oMath xmlns:m="http://schemas.openxmlformats.org/officeDocument/2006/math">
                    <m:r>
                      <a:rPr lang="de-DE" sz="2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de-DE" sz="2800" dirty="0"/>
                  <a:t> </a:t>
                </a:r>
                <a:r>
                  <a:rPr lang="de-DE" sz="2800" dirty="0" err="1"/>
                  <a:t>nonlinear</a:t>
                </a:r>
                <a:r>
                  <a:rPr lang="de-DE" sz="2800" dirty="0"/>
                  <a:t> in </a:t>
                </a:r>
                <a14:m>
                  <m:oMath xmlns:m="http://schemas.openxmlformats.org/officeDocument/2006/math">
                    <m:r>
                      <a:rPr lang="de-DE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de-DE" sz="2800" dirty="0"/>
                  <a:t>: </a:t>
                </a:r>
                <a:r>
                  <a:rPr lang="de-DE" sz="2800" dirty="0" err="1"/>
                  <a:t>typically</a:t>
                </a:r>
                <a:r>
                  <a:rPr lang="de-DE" sz="2800" dirty="0"/>
                  <a:t> </a:t>
                </a:r>
                <a:r>
                  <a:rPr lang="de-DE" sz="2800" dirty="0" err="1"/>
                  <a:t>no</a:t>
                </a:r>
                <a:r>
                  <a:rPr lang="de-DE" sz="2800" dirty="0"/>
                  <a:t> </a:t>
                </a:r>
                <a:r>
                  <a:rPr lang="de-DE" sz="2800" dirty="0" err="1"/>
                  <a:t>closed</a:t>
                </a:r>
                <a:r>
                  <a:rPr lang="de-DE" sz="2800" dirty="0"/>
                  <a:t>-form </a:t>
                </a:r>
                <a:r>
                  <a:rPr lang="de-DE" sz="2800" dirty="0" err="1"/>
                  <a:t>solution</a:t>
                </a:r>
                <a:r>
                  <a:rPr lang="de-DE" sz="2800" dirty="0"/>
                  <a:t> </a:t>
                </a:r>
                <a:r>
                  <a:rPr lang="de-DE" sz="2800" dirty="0" err="1"/>
                  <a:t>to</a:t>
                </a:r>
                <a:r>
                  <a:rPr lang="de-DE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800" dirty="0"/>
              </a:p>
              <a:p>
                <a:pPr marL="0" indent="0">
                  <a:buNone/>
                </a:pPr>
                <a:endParaRPr lang="de-DE" sz="2800" dirty="0"/>
              </a:p>
              <a:p>
                <a:pPr marL="0" indent="0">
                  <a:buNone/>
                </a:pPr>
                <a:r>
                  <a:rPr lang="de-DE" sz="2800" dirty="0">
                    <a:sym typeface="Wingdings" pitchFamily="2" charset="2"/>
                  </a:rPr>
                  <a:t></a:t>
                </a:r>
                <a:r>
                  <a:rPr lang="de-DE" sz="2800" dirty="0"/>
                  <a:t>iterative </a:t>
                </a:r>
                <a:r>
                  <a:rPr lang="de-DE" sz="2800" dirty="0" err="1"/>
                  <a:t>numerical</a:t>
                </a:r>
                <a:r>
                  <a:rPr lang="de-DE" sz="2800" dirty="0"/>
                  <a:t> </a:t>
                </a:r>
                <a:r>
                  <a:rPr lang="de-DE" sz="2800" dirty="0" err="1"/>
                  <a:t>optimization</a:t>
                </a:r>
                <a:endParaRPr lang="de-DE" sz="2800" dirty="0"/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BB2E6CA9-BCA0-CD36-06C4-4DBA9C838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4500" y="3657600"/>
                <a:ext cx="3915094" cy="2677656"/>
              </a:xfrm>
              <a:prstGeom prst="rect">
                <a:avLst/>
              </a:prstGeom>
              <a:blipFill>
                <a:blip r:embed="rId8"/>
                <a:stretch>
                  <a:fillRect l="-3236" t="-2844" r="-4207" b="-56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feld 13">
            <a:extLst>
              <a:ext uri="{FF2B5EF4-FFF2-40B4-BE49-F238E27FC236}">
                <a16:creationId xmlns:a16="http://schemas.microsoft.com/office/drawing/2014/main" id="{37A1F174-AC53-C445-7B94-00B5745425A5}"/>
              </a:ext>
            </a:extLst>
          </p:cNvPr>
          <p:cNvSpPr txBox="1"/>
          <p:nvPr/>
        </p:nvSpPr>
        <p:spPr>
          <a:xfrm>
            <a:off x="5188696" y="4213872"/>
            <a:ext cx="2197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/>
              <a:t>multiple </a:t>
            </a:r>
            <a:r>
              <a:rPr lang="de-DE" sz="2200" dirty="0" err="1"/>
              <a:t>local</a:t>
            </a:r>
            <a:r>
              <a:rPr lang="de-DE" sz="2200" dirty="0"/>
              <a:t> </a:t>
            </a:r>
            <a:r>
              <a:rPr lang="de-DE" sz="2200" dirty="0" err="1"/>
              <a:t>minima</a:t>
            </a:r>
            <a:r>
              <a:rPr lang="de-DE" sz="2200" dirty="0"/>
              <a:t> possible</a:t>
            </a:r>
          </a:p>
        </p:txBody>
      </p:sp>
    </p:spTree>
    <p:extLst>
      <p:ext uri="{BB962C8B-B14F-4D97-AF65-F5344CB8AC3E}">
        <p14:creationId xmlns:p14="http://schemas.microsoft.com/office/powerpoint/2010/main" val="628209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414F-11C2-BCCE-F387-4D57F2D8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5CD2-2C81-0690-1A89-81D61EC3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Gradient Descent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9C1FC-77AE-C11F-AB9B-1CCFAE940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6704886" cy="489585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>
                    <a:sym typeface="Wingdings" pitchFamily="2" charset="2"/>
                  </a:rPr>
                  <a:t>iteratively m</a:t>
                </a:r>
                <a:r>
                  <a:rPr lang="en-DE" dirty="0">
                    <a:sym typeface="Wingdings" pitchFamily="2" charset="2"/>
                  </a:rPr>
                  <a:t>oving in direction of steepest descent</a:t>
                </a:r>
                <a:r>
                  <a:rPr lang="de-DE" dirty="0">
                    <a:sym typeface="Wingdings" pitchFamily="2" charset="2"/>
                  </a:rPr>
                  <a:t> (</a:t>
                </a:r>
                <a:r>
                  <a:rPr lang="en-DE" dirty="0">
                    <a:sym typeface="Wingdings" pitchFamily="2" charset="2"/>
                  </a:rPr>
                  <a:t>negative gradient</a:t>
                </a:r>
                <a:r>
                  <a:rPr lang="de-DE" dirty="0">
                    <a:sym typeface="Wingdings" pitchFamily="2" charset="2"/>
                  </a:rPr>
                  <a:t>)</a:t>
                </a:r>
                <a:r>
                  <a:rPr lang="en-DE">
                    <a:sym typeface="Wingdings" pitchFamily="2" charset="2"/>
                  </a:rPr>
                  <a:t>:</a:t>
                </a:r>
                <a:endParaRPr lang="de-DE" b="1" i="1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repeatedly</a:t>
                </a:r>
                <a:r>
                  <a:rPr lang="de-DE" dirty="0"/>
                  <a:t> </a:t>
                </a:r>
                <a:r>
                  <a:rPr lang="de-DE" dirty="0" err="1"/>
                  <a:t>take</a:t>
                </a:r>
                <a:r>
                  <a:rPr lang="de-DE" dirty="0"/>
                  <a:t> </a:t>
                </a:r>
                <a:r>
                  <a:rPr lang="de-DE" dirty="0" err="1"/>
                  <a:t>small</a:t>
                </a:r>
                <a:r>
                  <a:rPr lang="de-DE" dirty="0"/>
                  <a:t> </a:t>
                </a:r>
                <a:r>
                  <a:rPr lang="de-DE" dirty="0" err="1"/>
                  <a:t>steps</a:t>
                </a:r>
                <a:r>
                  <a:rPr lang="de-DE" dirty="0"/>
                  <a:t> </a:t>
                </a:r>
                <a:r>
                  <a:rPr lang="de-DE" dirty="0" err="1"/>
                  <a:t>downhill</a:t>
                </a:r>
                <a:r>
                  <a:rPr lang="de-DE" dirty="0"/>
                  <a:t> on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loss</a:t>
                </a:r>
                <a:r>
                  <a:rPr lang="de-DE" dirty="0"/>
                  <a:t> </a:t>
                </a:r>
                <a:r>
                  <a:rPr lang="de-DE" dirty="0" err="1"/>
                  <a:t>surface</a:t>
                </a:r>
                <a:r>
                  <a:rPr lang="de-DE" dirty="0"/>
                  <a:t> </a:t>
                </a:r>
                <a:r>
                  <a:rPr lang="de-DE" dirty="0" err="1"/>
                  <a:t>until</a:t>
                </a:r>
                <a:r>
                  <a:rPr lang="de-DE" dirty="0"/>
                  <a:t> a </a:t>
                </a:r>
                <a:r>
                  <a:rPr lang="de-DE" dirty="0" err="1"/>
                  <a:t>minimum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reached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typically</a:t>
                </a:r>
                <a:r>
                  <a:rPr lang="de-DE" dirty="0"/>
                  <a:t> </a:t>
                </a:r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:r>
                  <a:rPr lang="de-DE" dirty="0" err="1"/>
                  <a:t>automatic</a:t>
                </a:r>
                <a:r>
                  <a:rPr lang="de-DE" dirty="0"/>
                  <a:t> </a:t>
                </a:r>
                <a:r>
                  <a:rPr lang="de-DE" dirty="0" err="1"/>
                  <a:t>differentiation</a:t>
                </a:r>
                <a:r>
                  <a:rPr lang="de-DE" dirty="0"/>
                  <a:t> (</a:t>
                </a:r>
                <a:r>
                  <a:rPr lang="de-DE" dirty="0" err="1"/>
                  <a:t>autodiff</a:t>
                </a:r>
                <a:r>
                  <a:rPr lang="de-DE" dirty="0"/>
                  <a:t>)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calculate</a:t>
                </a:r>
                <a:r>
                  <a:rPr lang="de-DE" dirty="0"/>
                  <a:t> </a:t>
                </a:r>
                <a:r>
                  <a:rPr lang="de-DE" dirty="0" err="1"/>
                  <a:t>gradients</a:t>
                </a:r>
                <a:r>
                  <a:rPr lang="de-DE" dirty="0"/>
                  <a:t> (</a:t>
                </a:r>
                <a:r>
                  <a:rPr lang="de-DE" dirty="0" err="1"/>
                  <a:t>systematic</a:t>
                </a:r>
                <a:r>
                  <a:rPr lang="de-DE" dirty="0"/>
                  <a:t> </a:t>
                </a:r>
                <a:r>
                  <a:rPr lang="de-DE" dirty="0" err="1"/>
                  <a:t>application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chain</a:t>
                </a:r>
                <a:r>
                  <a:rPr lang="de-DE" dirty="0"/>
                  <a:t> </a:t>
                </a:r>
                <a:r>
                  <a:rPr lang="de-DE" dirty="0" err="1"/>
                  <a:t>rule</a:t>
                </a:r>
                <a:r>
                  <a:rPr lang="de-DE" dirty="0"/>
                  <a:t> on </a:t>
                </a:r>
                <a:r>
                  <a:rPr lang="de-DE" dirty="0" err="1"/>
                  <a:t>computation</a:t>
                </a:r>
                <a:r>
                  <a:rPr lang="de-DE" dirty="0"/>
                  <a:t> </a:t>
                </a:r>
                <a:r>
                  <a:rPr lang="de-DE" dirty="0" err="1"/>
                  <a:t>graph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 err="1"/>
                  <a:t>called</a:t>
                </a:r>
                <a:r>
                  <a:rPr lang="de-DE" dirty="0"/>
                  <a:t> </a:t>
                </a:r>
                <a:r>
                  <a:rPr lang="de-DE" dirty="0" err="1"/>
                  <a:t>backpropagation</a:t>
                </a:r>
                <a:r>
                  <a:rPr lang="de-DE" dirty="0"/>
                  <a:t> in </a:t>
                </a:r>
                <a:r>
                  <a:rPr lang="de-DE" dirty="0" err="1"/>
                  <a:t>neural</a:t>
                </a:r>
                <a:r>
                  <a:rPr lang="de-DE" dirty="0"/>
                  <a:t> </a:t>
                </a:r>
                <a:r>
                  <a:rPr lang="de-DE" dirty="0" err="1"/>
                  <a:t>networks</a:t>
                </a:r>
                <a:endParaRPr lang="de-D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9C1FC-77AE-C11F-AB9B-1CCFAE940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6704886" cy="4895850"/>
              </a:xfrm>
              <a:blipFill>
                <a:blip r:embed="rId2"/>
                <a:stretch>
                  <a:fillRect l="-1515" t="-2842" r="-758" b="-7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11602-9C3D-A071-FD1B-23D2C0BF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18</a:t>
            </a:fld>
            <a:endParaRPr lang="en-DE"/>
          </a:p>
        </p:txBody>
      </p:sp>
      <p:pic>
        <p:nvPicPr>
          <p:cNvPr id="7" name="Picture 6" descr="Chart, surface chart&#10;&#10;Description automatically generated">
            <a:extLst>
              <a:ext uri="{FF2B5EF4-FFF2-40B4-BE49-F238E27FC236}">
                <a16:creationId xmlns:a16="http://schemas.microsoft.com/office/drawing/2014/main" id="{A381A97C-0D9F-1233-3FBE-C1BC7F100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88343" y="3890455"/>
            <a:ext cx="3750087" cy="2545491"/>
          </a:xfrm>
          <a:prstGeom prst="rect">
            <a:avLst/>
          </a:prstGeom>
        </p:spPr>
      </p:pic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E1A38A98-0CED-BDB4-C0E4-F0398663E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62" y="531663"/>
            <a:ext cx="4314905" cy="31869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C82B48-760E-C7A2-0E3D-AD57903A0580}"/>
              </a:ext>
            </a:extLst>
          </p:cNvPr>
          <p:cNvSpPr txBox="1"/>
          <p:nvPr/>
        </p:nvSpPr>
        <p:spPr>
          <a:xfrm>
            <a:off x="816148" y="3148927"/>
            <a:ext cx="649571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s</a:t>
            </a:r>
            <a:r>
              <a:rPr lang="en-DE" sz="2400" dirty="0"/>
              <a:t>tep size (</a:t>
            </a:r>
            <a:r>
              <a:rPr lang="en-GB" sz="2400" dirty="0"/>
              <a:t>l</a:t>
            </a:r>
            <a:r>
              <a:rPr lang="en-DE" sz="2400" dirty="0"/>
              <a:t>earning </a:t>
            </a:r>
            <a:r>
              <a:rPr lang="en-DE" sz="2400"/>
              <a:t>rate)</a:t>
            </a:r>
            <a:r>
              <a:rPr lang="de-DE" sz="2400" dirty="0"/>
              <a:t>: </a:t>
            </a:r>
            <a:r>
              <a:rPr lang="de-DE" sz="2400" dirty="0" err="1"/>
              <a:t>hyperparameter</a:t>
            </a:r>
            <a:r>
              <a:rPr lang="de-DE" sz="2400" dirty="0"/>
              <a:t> </a:t>
            </a:r>
            <a:r>
              <a:rPr lang="de-DE" sz="2400" dirty="0" err="1"/>
              <a:t>controlling</a:t>
            </a:r>
            <a:r>
              <a:rPr lang="de-DE" sz="2400" dirty="0"/>
              <a:t> </a:t>
            </a:r>
            <a:r>
              <a:rPr lang="de-DE" sz="2400" dirty="0" err="1"/>
              <a:t>how</a:t>
            </a:r>
            <a:r>
              <a:rPr lang="de-DE" sz="2400" dirty="0"/>
              <a:t> </a:t>
            </a:r>
            <a:r>
              <a:rPr lang="de-DE" sz="2400" dirty="0" err="1"/>
              <a:t>aggressively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move</a:t>
            </a:r>
            <a:r>
              <a:rPr lang="de-DE" sz="2400" dirty="0"/>
              <a:t> </a:t>
            </a:r>
            <a:r>
              <a:rPr lang="de-DE" sz="2400" dirty="0" err="1"/>
              <a:t>downhill</a:t>
            </a:r>
            <a:endParaRPr lang="de-DE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E224D5-1DEC-F2F7-1AE7-F20F8D01E5DA}"/>
              </a:ext>
            </a:extLst>
          </p:cNvPr>
          <p:cNvSpPr txBox="1"/>
          <p:nvPr/>
        </p:nvSpPr>
        <p:spPr>
          <a:xfrm>
            <a:off x="11458836" y="3665117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8A8E21-F4EB-12BE-70B8-4C89D90A0605}"/>
              </a:ext>
            </a:extLst>
          </p:cNvPr>
          <p:cNvSpPr txBox="1"/>
          <p:nvPr/>
        </p:nvSpPr>
        <p:spPr>
          <a:xfrm>
            <a:off x="7823525" y="4133318"/>
            <a:ext cx="157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</a:t>
            </a:r>
            <a:r>
              <a:rPr lang="en-DE" dirty="0"/>
              <a:t>ocal minimum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B37612-F7DC-6CE5-53D1-EFF3CBD90697}"/>
              </a:ext>
            </a:extLst>
          </p:cNvPr>
          <p:cNvSpPr txBox="1"/>
          <p:nvPr/>
        </p:nvSpPr>
        <p:spPr>
          <a:xfrm>
            <a:off x="10981267" y="4249615"/>
            <a:ext cx="1157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</a:t>
            </a:r>
            <a:r>
              <a:rPr lang="en-DE" dirty="0"/>
              <a:t>lobal minimum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A0A7BF8-C044-832F-CC75-16B8215D7377}"/>
              </a:ext>
            </a:extLst>
          </p:cNvPr>
          <p:cNvCxnSpPr/>
          <p:nvPr/>
        </p:nvCxnSpPr>
        <p:spPr>
          <a:xfrm>
            <a:off x="8610600" y="4572780"/>
            <a:ext cx="449940" cy="763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756089E-0DC2-5014-297C-211945C8714F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10899890" y="4895946"/>
            <a:ext cx="659959" cy="804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FED88E0-0219-3A83-8E33-0BE32643432F}"/>
              </a:ext>
            </a:extLst>
          </p:cNvPr>
          <p:cNvCxnSpPr>
            <a:stCxn id="12" idx="0"/>
          </p:cNvCxnSpPr>
          <p:nvPr/>
        </p:nvCxnSpPr>
        <p:spPr>
          <a:xfrm flipV="1">
            <a:off x="4064005" y="2701165"/>
            <a:ext cx="203198" cy="447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9B95D8F0-088B-F34F-2FCF-ADF4B30754A0}"/>
              </a:ext>
            </a:extLst>
          </p:cNvPr>
          <p:cNvSpPr txBox="1"/>
          <p:nvPr/>
        </p:nvSpPr>
        <p:spPr>
          <a:xfrm>
            <a:off x="5822375" y="2298484"/>
            <a:ext cx="15029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2400" dirty="0"/>
              <a:t>first-order</a:t>
            </a:r>
          </a:p>
        </p:txBody>
      </p:sp>
    </p:spTree>
    <p:extLst>
      <p:ext uri="{BB962C8B-B14F-4D97-AF65-F5344CB8AC3E}">
        <p14:creationId xmlns:p14="http://schemas.microsoft.com/office/powerpoint/2010/main" val="402639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7C6842-C0DB-A6AF-338A-E5DF5BB2F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Beyond</a:t>
            </a:r>
            <a:r>
              <a:rPr lang="de-DE" dirty="0"/>
              <a:t> Gradient Descent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5044F48-9B11-B3B5-CB7E-4B927813C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400" dirty="0" err="1"/>
                  <a:t>gradient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descent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is</a:t>
                </a:r>
                <a:r>
                  <a:rPr lang="de-DE" sz="2400" dirty="0"/>
                  <a:t> simple and </a:t>
                </a:r>
                <a:r>
                  <a:rPr lang="de-DE" sz="2400" dirty="0" err="1"/>
                  <a:t>general</a:t>
                </a:r>
                <a:r>
                  <a:rPr lang="de-DE" sz="2400" dirty="0"/>
                  <a:t>, but not </a:t>
                </a:r>
                <a:r>
                  <a:rPr lang="de-DE" sz="2400" dirty="0" err="1"/>
                  <a:t>always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best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choice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alternative </a:t>
                </a:r>
                <a:r>
                  <a:rPr lang="de-DE" sz="2400" dirty="0" err="1"/>
                  <a:t>optimization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methods</a:t>
                </a:r>
                <a:r>
                  <a:rPr lang="de-DE" sz="2400" dirty="0"/>
                  <a:t>:</a:t>
                </a:r>
              </a:p>
              <a:p>
                <a:r>
                  <a:rPr lang="de-DE" sz="2400" dirty="0" err="1"/>
                  <a:t>second</a:t>
                </a:r>
                <a:r>
                  <a:rPr lang="de-DE" sz="2400" dirty="0"/>
                  <a:t>-order </a:t>
                </a:r>
                <a:r>
                  <a:rPr lang="de-DE" sz="2400" dirty="0" err="1"/>
                  <a:t>methods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faster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convergence</a:t>
                </a:r>
                <a:r>
                  <a:rPr lang="de-DE" sz="2400" dirty="0">
                    <a:sym typeface="Wingdings" pitchFamily="2" charset="2"/>
                  </a:rPr>
                  <a:t>, </a:t>
                </a:r>
                <a:r>
                  <a:rPr lang="de-DE" sz="2400" dirty="0" err="1">
                    <a:sym typeface="Wingdings" pitchFamily="2" charset="2"/>
                  </a:rPr>
                  <a:t>more</a:t>
                </a:r>
                <a:r>
                  <a:rPr lang="de-DE" sz="2400" dirty="0">
                    <a:sym typeface="Wingdings" pitchFamily="2" charset="2"/>
                  </a:rPr>
                  <a:t> expensive</a:t>
                </a:r>
                <a:endParaRPr lang="de-DE" sz="2400" dirty="0"/>
              </a:p>
              <a:p>
                <a:pPr lvl="1"/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:r>
                  <a:rPr lang="de-DE" dirty="0" err="1"/>
                  <a:t>curvature</a:t>
                </a:r>
                <a:r>
                  <a:rPr lang="de-DE" dirty="0"/>
                  <a:t> (Hessian)</a:t>
                </a:r>
              </a:p>
              <a:p>
                <a:pPr lvl="1"/>
                <a:r>
                  <a:rPr lang="de-DE" dirty="0" err="1"/>
                  <a:t>Newton’s</a:t>
                </a:r>
                <a:r>
                  <a:rPr lang="de-DE" dirty="0"/>
                  <a:t> </a:t>
                </a:r>
                <a:r>
                  <a:rPr lang="de-DE" dirty="0" err="1"/>
                  <a:t>method</a:t>
                </a:r>
                <a:r>
                  <a:rPr lang="de-DE" dirty="0"/>
                  <a:t>, quasi-Newton (BFGS)</a:t>
                </a:r>
              </a:p>
              <a:p>
                <a:r>
                  <a:rPr lang="de-DE" sz="2400" dirty="0" err="1"/>
                  <a:t>stochastic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methods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subsampling</a:t>
                </a:r>
                <a:r>
                  <a:rPr lang="de-DE" sz="2400" dirty="0"/>
                  <a:t>) </a:t>
                </a: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can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escape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shallow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local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minima</a:t>
                </a:r>
                <a:r>
                  <a:rPr lang="de-DE" sz="2400" dirty="0">
                    <a:sym typeface="Wingdings" pitchFamily="2" charset="2"/>
                  </a:rPr>
                  <a:t>, </a:t>
                </a:r>
                <a:r>
                  <a:rPr lang="de-DE" sz="2400" dirty="0" err="1">
                    <a:sym typeface="Wingdings" pitchFamily="2" charset="2"/>
                  </a:rPr>
                  <a:t>scales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to</a:t>
                </a:r>
                <a:r>
                  <a:rPr lang="de-DE" sz="2400" dirty="0">
                    <a:sym typeface="Wingdings" pitchFamily="2" charset="2"/>
                  </a:rPr>
                  <a:t> large </a:t>
                </a:r>
                <a:r>
                  <a:rPr lang="de-DE" sz="2400" dirty="0" err="1">
                    <a:sym typeface="Wingdings" pitchFamily="2" charset="2"/>
                  </a:rPr>
                  <a:t>datasets</a:t>
                </a:r>
                <a:r>
                  <a:rPr lang="de-DE" sz="2400" dirty="0">
                    <a:sym typeface="Wingdings" pitchFamily="2" charset="2"/>
                  </a:rPr>
                  <a:t>, </a:t>
                </a:r>
                <a:r>
                  <a:rPr lang="de-DE" sz="2400" dirty="0" err="1">
                    <a:sym typeface="Wingdings" pitchFamily="2" charset="2"/>
                  </a:rPr>
                  <a:t>less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stable</a:t>
                </a:r>
                <a:endParaRPr lang="de-DE" sz="2400" dirty="0"/>
              </a:p>
              <a:p>
                <a:pPr lvl="1"/>
                <a:r>
                  <a:rPr lang="de-DE" dirty="0" err="1"/>
                  <a:t>stochastic</a:t>
                </a:r>
                <a:r>
                  <a:rPr lang="de-DE" dirty="0"/>
                  <a:t> </a:t>
                </a:r>
                <a:r>
                  <a:rPr lang="de-DE" dirty="0" err="1"/>
                  <a:t>gradient</a:t>
                </a:r>
                <a:r>
                  <a:rPr lang="de-DE" dirty="0"/>
                  <a:t> </a:t>
                </a:r>
                <a:r>
                  <a:rPr lang="de-DE" dirty="0" err="1"/>
                  <a:t>descent</a:t>
                </a:r>
                <a:r>
                  <a:rPr lang="de-DE" dirty="0"/>
                  <a:t> (SGD)</a:t>
                </a:r>
              </a:p>
              <a:p>
                <a:pPr lvl="1"/>
                <a:r>
                  <a:rPr lang="de-DE" dirty="0"/>
                  <a:t>mini-batch </a:t>
                </a:r>
                <a:r>
                  <a:rPr lang="de-DE" dirty="0" err="1"/>
                  <a:t>optimization</a:t>
                </a:r>
                <a:br>
                  <a:rPr lang="de-DE" dirty="0"/>
                </a:br>
                <a:endParaRPr lang="de-DE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appropriate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optimization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strategy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depends</a:t>
                </a:r>
                <a:r>
                  <a:rPr lang="de-DE" sz="2400" dirty="0">
                    <a:sym typeface="Wingdings" pitchFamily="2" charset="2"/>
                  </a:rPr>
                  <a:t> on </a:t>
                </a:r>
                <a:r>
                  <a:rPr lang="de-DE" sz="2400" dirty="0" err="1"/>
                  <a:t>structure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5044F48-9B11-B3B5-CB7E-4B927813C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1686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42CDDA-1CB9-A6B1-EA68-445EF495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19</a:t>
            </a:fld>
            <a:endParaRPr lang="en-GB"/>
          </a:p>
        </p:txBody>
      </p:sp>
      <p:sp>
        <p:nvSpPr>
          <p:cNvPr id="5" name="Geschweifte Klammer rechts 4">
            <a:extLst>
              <a:ext uri="{FF2B5EF4-FFF2-40B4-BE49-F238E27FC236}">
                <a16:creationId xmlns:a16="http://schemas.microsoft.com/office/drawing/2014/main" id="{5B82BFC1-FA7A-568E-D0AB-52090A57AA4A}"/>
              </a:ext>
            </a:extLst>
          </p:cNvPr>
          <p:cNvSpPr/>
          <p:nvPr/>
        </p:nvSpPr>
        <p:spPr>
          <a:xfrm>
            <a:off x="6327226" y="5216916"/>
            <a:ext cx="241738" cy="70419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98DED56-23F5-CEE9-6E00-1B94CB14252E}"/>
              </a:ext>
            </a:extLst>
          </p:cNvPr>
          <p:cNvSpPr txBox="1"/>
          <p:nvPr/>
        </p:nvSpPr>
        <p:spPr>
          <a:xfrm>
            <a:off x="6568964" y="5384347"/>
            <a:ext cx="4669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more</a:t>
            </a:r>
            <a:r>
              <a:rPr lang="de-DE" dirty="0"/>
              <a:t> on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in </a:t>
            </a:r>
            <a:r>
              <a:rPr lang="de-DE" dirty="0" err="1"/>
              <a:t>deep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discussion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4036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77E821-F327-78BD-F379-0947645B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Generalization</a:t>
            </a:r>
            <a:r>
              <a:rPr lang="de-DE" dirty="0"/>
              <a:t>: Loss </a:t>
            </a:r>
            <a:r>
              <a:rPr lang="de-DE" dirty="0" err="1"/>
              <a:t>Functions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D40E51F-588A-15E6-0564-52A87489A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least </a:t>
                </a:r>
                <a:r>
                  <a:rPr lang="de-DE" dirty="0" err="1"/>
                  <a:t>squares</a:t>
                </a:r>
                <a:r>
                  <a:rPr lang="de-DE" dirty="0"/>
                  <a:t>: </a:t>
                </a:r>
                <a:r>
                  <a:rPr lang="de-DE" dirty="0" err="1"/>
                  <a:t>minimize</a:t>
                </a:r>
                <a:r>
                  <a:rPr lang="de-DE" dirty="0"/>
                  <a:t> </a:t>
                </a:r>
                <a:r>
                  <a:rPr lang="de-DE" dirty="0" err="1"/>
                  <a:t>sum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squared</a:t>
                </a:r>
                <a:r>
                  <a:rPr lang="de-DE" dirty="0"/>
                  <a:t> </a:t>
                </a:r>
                <a:r>
                  <a:rPr lang="de-DE" dirty="0" err="1"/>
                  <a:t>residuals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loss</a:t>
                </a:r>
                <a:r>
                  <a:rPr lang="de-DE" dirty="0"/>
                  <a:t> </a:t>
                </a:r>
                <a:r>
                  <a:rPr lang="de-DE" dirty="0" err="1"/>
                  <a:t>functions</a:t>
                </a:r>
                <a:r>
                  <a:rPr lang="de-DE" dirty="0"/>
                  <a:t> </a:t>
                </a:r>
                <a:r>
                  <a:rPr lang="de-DE" dirty="0" err="1"/>
                  <a:t>generalize</a:t>
                </a:r>
                <a:r>
                  <a:rPr lang="de-DE" dirty="0"/>
                  <a:t> </a:t>
                </a:r>
                <a:r>
                  <a:rPr lang="de-DE" dirty="0" err="1"/>
                  <a:t>squared</a:t>
                </a:r>
                <a:r>
                  <a:rPr lang="de-DE" dirty="0"/>
                  <a:t> </a:t>
                </a:r>
                <a:r>
                  <a:rPr lang="de-DE" dirty="0" err="1"/>
                  <a:t>residuals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arbitrary</a:t>
                </a:r>
                <a:r>
                  <a:rPr lang="de-DE" dirty="0"/>
                  <a:t> </a:t>
                </a:r>
                <a:r>
                  <a:rPr lang="de-DE" dirty="0" err="1"/>
                  <a:t>models</a:t>
                </a:r>
                <a:r>
                  <a:rPr lang="de-DE" dirty="0"/>
                  <a:t> and </a:t>
                </a:r>
                <a:r>
                  <a:rPr lang="de-DE" dirty="0" err="1"/>
                  <a:t>tasks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de-DE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quantifies</a:t>
                </a:r>
                <a:r>
                  <a:rPr lang="de-DE" dirty="0"/>
                  <a:t> </a:t>
                </a:r>
                <a:r>
                  <a:rPr lang="de-DE" dirty="0" err="1"/>
                  <a:t>error</a:t>
                </a:r>
                <a:r>
                  <a:rPr lang="de-DE" dirty="0"/>
                  <a:t> (e.g., residual) on </a:t>
                </a:r>
                <a:r>
                  <a:rPr lang="de-DE" dirty="0" err="1"/>
                  <a:t>one</a:t>
                </a:r>
                <a:r>
                  <a:rPr lang="de-DE" dirty="0"/>
                  <a:t> sample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further</a:t>
                </a:r>
                <a:r>
                  <a:rPr lang="de-DE" dirty="0"/>
                  <a:t> </a:t>
                </a:r>
                <a:r>
                  <a:rPr lang="de-DE" dirty="0" err="1"/>
                  <a:t>examples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absolute </a:t>
                </a:r>
                <a:r>
                  <a:rPr lang="de-DE" dirty="0" err="1"/>
                  <a:t>error</a:t>
                </a:r>
                <a:endParaRPr lang="de-DE" dirty="0"/>
              </a:p>
              <a:p>
                <a:r>
                  <a:rPr lang="de-DE" dirty="0" err="1"/>
                  <a:t>cross-entropy</a:t>
                </a:r>
                <a:r>
                  <a:rPr lang="de-DE" dirty="0"/>
                  <a:t> (</a:t>
                </a:r>
                <a:r>
                  <a:rPr lang="de-DE" dirty="0" err="1"/>
                  <a:t>classification</a:t>
                </a:r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D40E51F-588A-15E6-0564-52A87489A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b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629965-0C1A-5E98-6DA4-783FAE46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108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AEA11-22CD-E386-94C6-DAB4CB19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9369-FB6B-41DF-A9C7-977BF7B3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Cost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B94945-E694-0A8C-469A-0C2A1B08F1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a</a:t>
                </a:r>
                <a:r>
                  <a:rPr lang="de-DE" dirty="0" err="1"/>
                  <a:t>ggregate</a:t>
                </a:r>
                <a:r>
                  <a:rPr lang="de-DE" dirty="0"/>
                  <a:t> (</a:t>
                </a:r>
                <a:r>
                  <a:rPr lang="de-DE" dirty="0" err="1"/>
                  <a:t>average</a:t>
                </a:r>
                <a:r>
                  <a:rPr lang="de-DE" dirty="0"/>
                  <a:t>)</a:t>
                </a:r>
                <a:r>
                  <a:rPr lang="en-DE"/>
                  <a:t> </a:t>
                </a:r>
                <a:r>
                  <a:rPr lang="en-DE" dirty="0"/>
                  <a:t>losses </a:t>
                </a:r>
                <a:r>
                  <a:rPr lang="en-DE"/>
                  <a:t>over data </a:t>
                </a:r>
                <a:r>
                  <a:rPr lang="en-DE" dirty="0"/>
                  <a:t>set:</a:t>
                </a:r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DE"/>
                  <a:t>to </a:t>
                </a:r>
                <a:r>
                  <a:rPr lang="en-DE" dirty="0"/>
                  <a:t>be minimized according to model parameters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endParaRPr lang="en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DE" dirty="0">
                    <a:sym typeface="Wingdings" pitchFamily="2" charset="2"/>
                  </a:rPr>
                  <a:t> objective function</a:t>
                </a:r>
                <a:endParaRPr lang="en-D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B94945-E694-0A8C-469A-0C2A1B08F1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CB90B-B030-56D5-18F0-E79822C1A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5944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F16FEB-005B-4365-D67C-8FB7C804F3D6}"/>
              </a:ext>
            </a:extLst>
          </p:cNvPr>
          <p:cNvSpPr/>
          <p:nvPr/>
        </p:nvSpPr>
        <p:spPr>
          <a:xfrm>
            <a:off x="4854277" y="2281980"/>
            <a:ext cx="1072683" cy="42351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59A9B-43F1-6828-A55D-B8946C485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264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DE" sz="2400" dirty="0"/>
                  <a:t>add </a:t>
                </a:r>
                <a:r>
                  <a:rPr lang="en-DE" sz="2400" b="1" dirty="0"/>
                  <a:t>penalty term</a:t>
                </a:r>
                <a:r>
                  <a:rPr lang="en-DE" sz="2400" dirty="0"/>
                  <a:t> on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400" dirty="0"/>
                  <a:t>norm to cost function</a:t>
                </a:r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de-DE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sz="2400" dirty="0"/>
                  <a:t>	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aka </a:t>
                </a:r>
                <a:r>
                  <a:rPr lang="en-GB" sz="2400" b="1" dirty="0"/>
                  <a:t>w</a:t>
                </a:r>
                <a:r>
                  <a:rPr lang="en-DE" sz="2400" b="1" dirty="0"/>
                  <a:t>eight decay</a:t>
                </a:r>
                <a:r>
                  <a:rPr lang="en-DE" sz="2400" dirty="0"/>
                  <a:t> </a:t>
                </a:r>
                <a:r>
                  <a:rPr lang="en-GB" sz="2400" dirty="0"/>
                  <a:t>in </a:t>
                </a:r>
                <a:r>
                  <a:rPr lang="en-DE" sz="2400" dirty="0"/>
                  <a:t>neural networks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corresponds to imposing constraint on parameters to lie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/>
                  <a:t> region (size controlled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2400" dirty="0"/>
                  <a:t>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goal: reduce overfitting from </a:t>
                </a:r>
                <a:r>
                  <a:rPr lang="de-DE" sz="2400" dirty="0"/>
                  <a:t>large/</a:t>
                </a:r>
                <a:r>
                  <a:rPr lang="de-DE" sz="2400" dirty="0" err="1"/>
                  <a:t>unstable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parameters</a:t>
                </a:r>
                <a:endParaRPr lang="en-GB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59A9B-43F1-6828-A55D-B8946C485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26400" cy="4351338"/>
              </a:xfrm>
              <a:blipFill>
                <a:blip r:embed="rId2"/>
                <a:stretch>
                  <a:fillRect l="-1266" t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E607F70-DB94-E3A4-9C21-845042D375B6}"/>
              </a:ext>
            </a:extLst>
          </p:cNvPr>
          <p:cNvSpPr txBox="1"/>
          <p:nvPr/>
        </p:nvSpPr>
        <p:spPr>
          <a:xfrm>
            <a:off x="6484759" y="2720972"/>
            <a:ext cx="2971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hyperparameter controlling strength of regularization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915AF1-2E35-7C0C-1A2A-6AE6979D378E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013436" y="2617076"/>
            <a:ext cx="1471323" cy="427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6FE75F7-5391-7309-EAAE-E2CC19916A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D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DE" dirty="0"/>
                  <a:t> Regularization (Ridge Regression)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6FE75F7-5391-7309-EAAE-E2CC19916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E6C35-9946-346B-1491-7CF0F93B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4FF7-4194-DC4A-997C-EF4C65C96866}" type="slidenum">
              <a:rPr lang="en-DE" smtClean="0"/>
              <a:t>22</a:t>
            </a:fld>
            <a:endParaRPr lang="en-D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2BE184-17EE-226A-FC0B-C92B251C851C}"/>
              </a:ext>
            </a:extLst>
          </p:cNvPr>
          <p:cNvSpPr txBox="1"/>
          <p:nvPr/>
        </p:nvSpPr>
        <p:spPr>
          <a:xfrm>
            <a:off x="10821282" y="588362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9BDF090-ED9E-25B6-9B10-AA53CEE3B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0600" y="3347586"/>
            <a:ext cx="3386010" cy="283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77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4D96D1-0DFD-CDA0-2D1A-1A4269EE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Maximum </a:t>
            </a:r>
            <a:r>
              <a:rPr lang="de-DE" dirty="0" err="1"/>
              <a:t>Likelihood</a:t>
            </a:r>
            <a:r>
              <a:rPr lang="de-DE" dirty="0"/>
              <a:t> </a:t>
            </a:r>
            <a:r>
              <a:rPr lang="de-DE" dirty="0" err="1"/>
              <a:t>Estimation</a:t>
            </a:r>
            <a:r>
              <a:rPr lang="de-DE" dirty="0"/>
              <a:t> (MLE)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F956010-9C28-F9EE-4A46-5F8A3B30F4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assume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generated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idea</a:t>
                </a:r>
                <a:r>
                  <a:rPr lang="de-DE" dirty="0"/>
                  <a:t>: </a:t>
                </a:r>
                <a:r>
                  <a:rPr lang="de-DE" dirty="0" err="1"/>
                  <a:t>choose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make</a:t>
                </a:r>
                <a:r>
                  <a:rPr lang="de-DE" dirty="0"/>
                  <a:t> </a:t>
                </a:r>
                <a:r>
                  <a:rPr lang="de-DE" dirty="0" err="1"/>
                  <a:t>observed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most</a:t>
                </a:r>
                <a:r>
                  <a:rPr lang="de-DE" dirty="0"/>
                  <a:t> </a:t>
                </a:r>
                <a:r>
                  <a:rPr lang="de-DE" dirty="0" err="1"/>
                  <a:t>likely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nary>
                        <m:naryPr>
                          <m:chr m:val="∏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nary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m</a:t>
                </a:r>
                <a:r>
                  <a:rPr lang="de-DE" dirty="0" err="1"/>
                  <a:t>any</a:t>
                </a:r>
                <a:r>
                  <a:rPr lang="de-DE" dirty="0"/>
                  <a:t> </a:t>
                </a:r>
                <a:r>
                  <a:rPr lang="de-DE" dirty="0" err="1"/>
                  <a:t>loss</a:t>
                </a:r>
                <a:r>
                  <a:rPr lang="de-DE" dirty="0"/>
                  <a:t> </a:t>
                </a:r>
                <a:r>
                  <a:rPr lang="de-DE" dirty="0" err="1"/>
                  <a:t>functions</a:t>
                </a:r>
                <a:r>
                  <a:rPr lang="de-DE" dirty="0"/>
                  <a:t> </a:t>
                </a:r>
                <a:r>
                  <a:rPr lang="de-DE" dirty="0" err="1"/>
                  <a:t>defined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probabilistic</a:t>
                </a:r>
                <a:r>
                  <a:rPr lang="de-DE" dirty="0"/>
                  <a:t> </a:t>
                </a:r>
                <a:r>
                  <a:rPr lang="de-DE" dirty="0" err="1"/>
                  <a:t>assumptions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F956010-9C28-F9EE-4A46-5F8A3B30F4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148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7E4D77-FE8D-127B-EEEF-939F25A1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23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F5DBD8A-2995-655A-EB4F-E752C3DBD654}"/>
              </a:ext>
            </a:extLst>
          </p:cNvPr>
          <p:cNvSpPr txBox="1"/>
          <p:nvPr/>
        </p:nvSpPr>
        <p:spPr>
          <a:xfrm>
            <a:off x="838200" y="4897426"/>
            <a:ext cx="743344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independent</a:t>
            </a:r>
            <a:r>
              <a:rPr lang="de-DE" sz="2400" dirty="0"/>
              <a:t> and </a:t>
            </a:r>
            <a:r>
              <a:rPr lang="de-DE" sz="2400" dirty="0" err="1"/>
              <a:t>identically</a:t>
            </a:r>
            <a:r>
              <a:rPr lang="de-DE" sz="2400" dirty="0"/>
              <a:t> </a:t>
            </a:r>
            <a:r>
              <a:rPr lang="de-DE" sz="2400" dirty="0" err="1"/>
              <a:t>distributed</a:t>
            </a:r>
            <a:r>
              <a:rPr lang="de-DE" sz="2400" dirty="0"/>
              <a:t> (</a:t>
            </a:r>
            <a:r>
              <a:rPr lang="de-DE" sz="2400" dirty="0" err="1"/>
              <a:t>i.i.d</a:t>
            </a:r>
            <a:r>
              <a:rPr lang="de-DE" sz="2400" dirty="0"/>
              <a:t>.) </a:t>
            </a:r>
            <a:r>
              <a:rPr lang="de-DE" sz="2400" dirty="0" err="1"/>
              <a:t>samples</a:t>
            </a:r>
            <a:r>
              <a:rPr lang="de-DE" sz="2400" dirty="0"/>
              <a:t> 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E572491-9893-D107-94AA-A14A705C4EA8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4554921" y="4519448"/>
            <a:ext cx="195755" cy="377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0EA88897-6861-551D-31C7-DCBB3EBC7DDE}"/>
              </a:ext>
            </a:extLst>
          </p:cNvPr>
          <p:cNvSpPr txBox="1"/>
          <p:nvPr/>
        </p:nvSpPr>
        <p:spPr>
          <a:xfrm>
            <a:off x="9091449" y="3198167"/>
            <a:ext cx="265072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likelihood</a:t>
            </a:r>
            <a:r>
              <a:rPr lang="de-DE" sz="2400" dirty="0"/>
              <a:t> </a:t>
            </a:r>
            <a:r>
              <a:rPr lang="de-DE" sz="2400" dirty="0" err="1"/>
              <a:t>function</a:t>
            </a:r>
            <a:endParaRPr lang="de-DE" sz="24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F8714E4-516C-1AD6-6C8F-93F9D21F1532}"/>
              </a:ext>
            </a:extLst>
          </p:cNvPr>
          <p:cNvCxnSpPr>
            <a:stCxn id="8" idx="1"/>
          </p:cNvCxnSpPr>
          <p:nvPr/>
        </p:nvCxnSpPr>
        <p:spPr>
          <a:xfrm flipH="1">
            <a:off x="8933793" y="3429000"/>
            <a:ext cx="157656" cy="533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515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97019-A6BB-71D1-F20E-F6C0178A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Side Note: </a:t>
            </a:r>
            <a:r>
              <a:rPr lang="de-DE" dirty="0" err="1"/>
              <a:t>i.i.d</a:t>
            </a:r>
            <a:r>
              <a:rPr lang="de-DE" dirty="0"/>
              <a:t>. Samples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8B679D2-5489-8649-5D4D-093105EC18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586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i</a:t>
                </a:r>
                <a:r>
                  <a:rPr lang="de-DE" dirty="0" err="1"/>
                  <a:t>dentically</a:t>
                </a:r>
                <a:r>
                  <a:rPr lang="de-DE" dirty="0"/>
                  <a:t> </a:t>
                </a:r>
                <a:r>
                  <a:rPr lang="de-DE" dirty="0" err="1"/>
                  <a:t>distributed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 err="1"/>
                  <a:t>each</a:t>
                </a:r>
                <a:r>
                  <a:rPr lang="de-DE" dirty="0"/>
                  <a:t> sample </a:t>
                </a:r>
                <a:r>
                  <a:rPr lang="de-DE" dirty="0" err="1"/>
                  <a:t>drawn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same </a:t>
                </a:r>
                <a:r>
                  <a:rPr lang="de-DE" dirty="0" err="1"/>
                  <a:t>distribution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GB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/>
                  <a:t>same </a:t>
                </a:r>
                <a:r>
                  <a:rPr lang="de-DE" dirty="0" err="1"/>
                  <a:t>model</a:t>
                </a:r>
                <a:r>
                  <a:rPr lang="de-DE" dirty="0"/>
                  <a:t>, same </a:t>
                </a:r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all </a:t>
                </a:r>
                <a:r>
                  <a:rPr lang="de-DE" dirty="0" err="1"/>
                  <a:t>samples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independent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 err="1"/>
                  <a:t>samples</a:t>
                </a:r>
                <a:r>
                  <a:rPr lang="de-DE" dirty="0"/>
                  <a:t> do not </a:t>
                </a:r>
                <a:r>
                  <a:rPr lang="de-DE" dirty="0" err="1"/>
                  <a:t>influence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other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de-DE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knowing</a:t>
                </a:r>
                <a:r>
                  <a:rPr lang="de-DE" dirty="0"/>
                  <a:t> </a:t>
                </a:r>
                <a:r>
                  <a:rPr lang="de-DE" dirty="0" err="1"/>
                  <a:t>one</a:t>
                </a:r>
                <a:r>
                  <a:rPr lang="de-DE" dirty="0"/>
                  <a:t> </a:t>
                </a:r>
                <a:r>
                  <a:rPr lang="de-DE" dirty="0" err="1"/>
                  <a:t>observation</a:t>
                </a:r>
                <a:r>
                  <a:rPr lang="de-DE" dirty="0"/>
                  <a:t> </a:t>
                </a:r>
                <a:r>
                  <a:rPr lang="de-DE" dirty="0" err="1"/>
                  <a:t>gives</a:t>
                </a:r>
                <a:r>
                  <a:rPr lang="de-DE" dirty="0"/>
                  <a:t> </a:t>
                </a:r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information</a:t>
                </a:r>
                <a:r>
                  <a:rPr lang="de-DE" dirty="0"/>
                  <a:t> </a:t>
                </a:r>
                <a:r>
                  <a:rPr lang="de-DE" dirty="0" err="1"/>
                  <a:t>about</a:t>
                </a:r>
                <a:r>
                  <a:rPr lang="de-DE" dirty="0"/>
                  <a:t> </a:t>
                </a:r>
                <a:r>
                  <a:rPr lang="de-DE" dirty="0" err="1"/>
                  <a:t>another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common</a:t>
                </a:r>
                <a:r>
                  <a:rPr lang="de-DE" dirty="0"/>
                  <a:t> </a:t>
                </a:r>
                <a:r>
                  <a:rPr lang="de-DE" dirty="0" err="1"/>
                  <a:t>violations</a:t>
                </a:r>
                <a:r>
                  <a:rPr lang="de-DE" dirty="0"/>
                  <a:t>: time </a:t>
                </a:r>
                <a:r>
                  <a:rPr lang="de-DE" dirty="0" err="1"/>
                  <a:t>series</a:t>
                </a:r>
                <a:r>
                  <a:rPr lang="de-DE" dirty="0"/>
                  <a:t> (temporal </a:t>
                </a:r>
                <a:r>
                  <a:rPr lang="de-DE" dirty="0" err="1"/>
                  <a:t>dependence</a:t>
                </a:r>
                <a:r>
                  <a:rPr lang="de-DE" dirty="0"/>
                  <a:t>), </a:t>
                </a:r>
                <a:r>
                  <a:rPr lang="de-DE" dirty="0" err="1"/>
                  <a:t>spatial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(</a:t>
                </a:r>
                <a:r>
                  <a:rPr lang="de-DE" dirty="0" err="1"/>
                  <a:t>spatial</a:t>
                </a:r>
                <a:r>
                  <a:rPr lang="de-DE" dirty="0"/>
                  <a:t> </a:t>
                </a:r>
                <a:r>
                  <a:rPr lang="de-DE" dirty="0" err="1"/>
                  <a:t>dependence</a:t>
                </a:r>
                <a:r>
                  <a:rPr lang="de-DE" dirty="0"/>
                  <a:t>), </a:t>
                </a:r>
                <a:r>
                  <a:rPr lang="de-DE" dirty="0" err="1"/>
                  <a:t>text</a:t>
                </a:r>
                <a:r>
                  <a:rPr lang="de-DE" dirty="0"/>
                  <a:t>/</a:t>
                </a:r>
                <a:r>
                  <a:rPr lang="de-DE" dirty="0" err="1"/>
                  <a:t>language</a:t>
                </a:r>
                <a:r>
                  <a:rPr lang="de-DE" dirty="0"/>
                  <a:t> (</a:t>
                </a:r>
                <a:r>
                  <a:rPr lang="de-DE" dirty="0" err="1"/>
                  <a:t>sequential</a:t>
                </a:r>
                <a:r>
                  <a:rPr lang="de-DE" dirty="0"/>
                  <a:t> </a:t>
                </a:r>
                <a:r>
                  <a:rPr lang="de-DE" dirty="0" err="1"/>
                  <a:t>dependence</a:t>
                </a:r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8B679D2-5489-8649-5D4D-093105EC18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586" cy="4351338"/>
              </a:xfrm>
              <a:blipFill>
                <a:blip r:embed="rId2"/>
                <a:stretch>
                  <a:fillRect l="-1075" t="-2616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394611-57BA-5061-8B1B-2EB1B0B0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24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F418F7A-469F-F1CF-DF88-193D4381AB7B}"/>
              </a:ext>
            </a:extLst>
          </p:cNvPr>
          <p:cNvSpPr txBox="1"/>
          <p:nvPr/>
        </p:nvSpPr>
        <p:spPr>
          <a:xfrm>
            <a:off x="7378261" y="3589922"/>
            <a:ext cx="46035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additive </a:t>
            </a:r>
            <a:r>
              <a:rPr lang="de-DE" dirty="0" err="1"/>
              <a:t>losses</a:t>
            </a:r>
            <a:r>
              <a:rPr lang="de-DE" dirty="0"/>
              <a:t>: </a:t>
            </a:r>
            <a:r>
              <a:rPr lang="de-DE" dirty="0" err="1"/>
              <a:t>decompose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samples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6485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DE9CD3-F96D-3F2A-ADC9-7A903CE8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Negative Log-Likelihood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843C12-7F75-9600-958C-51C56509B5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log-likelihood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logarithm monotonic function </a:t>
                </a:r>
                <a:r>
                  <a:rPr lang="en-GB" dirty="0">
                    <a:sym typeface="Wingdings" pitchFamily="2" charset="2"/>
                  </a:rPr>
                  <a:t> maximum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GB" dirty="0"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dirty="0">
                    <a:sym typeface="Wingdings" pitchFamily="2" charset="2"/>
                  </a:rPr>
                  <a:t> at same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dirty="0"/>
                  <a:t> values</a:t>
                </a:r>
              </a:p>
              <a:p>
                <a:r>
                  <a:rPr lang="en-GB" dirty="0"/>
                  <a:t>most probability distributions (e.g., exponential family) only logarithmically concave (important for optimization)</a:t>
                </a:r>
              </a:p>
              <a:p>
                <a:r>
                  <a:rPr lang="en-GB" dirty="0"/>
                  <a:t>sum computationally more convenient than product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DE" dirty="0"/>
                  <a:t>negative log-likelihood:</a:t>
                </a:r>
                <a:r>
                  <a:rPr lang="en-DE" dirty="0">
                    <a:sym typeface="Wingdings" pitchFamily="2" charset="2"/>
                  </a:rPr>
                  <a:t> minimization instead of maximization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/>
                  <a:t>negative log-</a:t>
                </a:r>
                <a:r>
                  <a:rPr lang="de-DE" dirty="0" err="1"/>
                  <a:t>likelihood</a:t>
                </a:r>
                <a:r>
                  <a:rPr lang="de-DE" dirty="0"/>
                  <a:t>: </a:t>
                </a:r>
                <a:r>
                  <a:rPr lang="de-DE" dirty="0" err="1"/>
                  <a:t>loss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derived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likelihood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843C12-7F75-9600-958C-51C56509B5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65" t="-21409" b="-108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129CC5-49E0-CD63-97F3-12C8DDFC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10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43A444-FE26-3D08-5989-4B620CB32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From </a:t>
            </a:r>
            <a:r>
              <a:rPr lang="de-DE" dirty="0" err="1"/>
              <a:t>Gaussian</a:t>
            </a:r>
            <a:r>
              <a:rPr lang="de-DE" dirty="0"/>
              <a:t> Noise </a:t>
            </a:r>
            <a:r>
              <a:rPr lang="de-DE" dirty="0" err="1"/>
              <a:t>to</a:t>
            </a:r>
            <a:r>
              <a:rPr lang="de-DE" dirty="0"/>
              <a:t> Least Squares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68418CF-D4AA-3703-713B-BA847847C1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9589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model assumption: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GB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en-GB" dirty="0"/>
                  <a:t>with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implied distribution: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likelihood: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GB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de-DE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de-DE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;</m:t>
                                            </m:r>
                                            <m:r>
                                              <a:rPr lang="en-GB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𝜽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en-GB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const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l</a:t>
                </a:r>
                <a:r>
                  <a:rPr lang="de-DE" dirty="0"/>
                  <a:t>east </a:t>
                </a:r>
                <a:r>
                  <a:rPr lang="de-DE" dirty="0" err="1"/>
                  <a:t>squares</a:t>
                </a:r>
                <a:r>
                  <a:rPr lang="de-DE" dirty="0"/>
                  <a:t> </a:t>
                </a:r>
                <a:r>
                  <a:rPr lang="de-DE" dirty="0" err="1"/>
                  <a:t>corresponds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MLE </a:t>
                </a:r>
                <a:r>
                  <a:rPr lang="de-DE" dirty="0" err="1"/>
                  <a:t>assuming</a:t>
                </a:r>
                <a:r>
                  <a:rPr lang="de-DE" dirty="0"/>
                  <a:t> </a:t>
                </a:r>
                <a:r>
                  <a:rPr lang="de-DE" dirty="0" err="1"/>
                  <a:t>Gaussian</a:t>
                </a:r>
                <a:r>
                  <a:rPr lang="de-DE" dirty="0"/>
                  <a:t> </a:t>
                </a:r>
                <a:r>
                  <a:rPr lang="de-DE" dirty="0" err="1"/>
                  <a:t>noise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different </a:t>
                </a:r>
                <a:r>
                  <a:rPr lang="de-DE" dirty="0" err="1"/>
                  <a:t>noise</a:t>
                </a:r>
                <a:r>
                  <a:rPr lang="de-DE" dirty="0"/>
                  <a:t> </a:t>
                </a:r>
                <a:r>
                  <a:rPr lang="de-DE" dirty="0" err="1"/>
                  <a:t>assumptions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different </a:t>
                </a:r>
                <a:r>
                  <a:rPr lang="de-DE" dirty="0" err="1"/>
                  <a:t>loss</a:t>
                </a:r>
                <a:r>
                  <a:rPr lang="de-DE" dirty="0"/>
                  <a:t> </a:t>
                </a:r>
                <a:r>
                  <a:rPr lang="de-DE" dirty="0" err="1"/>
                  <a:t>functions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68418CF-D4AA-3703-713B-BA847847C1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95892"/>
              </a:xfrm>
              <a:blipFill>
                <a:blip r:embed="rId2"/>
                <a:stretch>
                  <a:fillRect l="-1086" t="-316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6C7D96-9E8F-5529-5135-1F50EBEB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76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B044C9-73F4-1BC2-0E18-646E69C3C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Estimators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BAE1527-8962-02B5-AD95-69F31EFDF1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 err="1"/>
                  <a:t>two</a:t>
                </a:r>
                <a:r>
                  <a:rPr lang="de-DE" dirty="0"/>
                  <a:t> </a:t>
                </a:r>
                <a:r>
                  <a:rPr lang="de-DE" dirty="0" err="1"/>
                  <a:t>main</a:t>
                </a:r>
                <a:r>
                  <a:rPr lang="de-DE" dirty="0"/>
                  <a:t> </a:t>
                </a:r>
                <a:r>
                  <a:rPr lang="de-DE" dirty="0" err="1"/>
                  <a:t>philosophies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frequentist</a:t>
                </a:r>
                <a:r>
                  <a:rPr lang="de-DE" dirty="0"/>
                  <a:t> </a:t>
                </a:r>
                <a:r>
                  <a:rPr lang="de-DE" dirty="0" err="1"/>
                  <a:t>perspective</a:t>
                </a:r>
                <a:endParaRPr lang="de-DE" dirty="0"/>
              </a:p>
              <a:p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fixed</a:t>
                </a:r>
                <a:r>
                  <a:rPr lang="de-DE" dirty="0"/>
                  <a:t>, but </a:t>
                </a:r>
                <a:r>
                  <a:rPr lang="de-DE" dirty="0" err="1"/>
                  <a:t>unknown</a:t>
                </a:r>
                <a:endParaRPr lang="de-DE" dirty="0"/>
              </a:p>
              <a:p>
                <a:r>
                  <a:rPr lang="de-DE" dirty="0" err="1"/>
                  <a:t>estimate</a:t>
                </a:r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only</a:t>
                </a:r>
                <a:r>
                  <a:rPr lang="de-DE" dirty="0"/>
                  <a:t> (</a:t>
                </a:r>
                <a:r>
                  <a:rPr lang="de-DE" dirty="0" err="1"/>
                  <a:t>point</a:t>
                </a:r>
                <a:r>
                  <a:rPr lang="de-DE" dirty="0"/>
                  <a:t> </a:t>
                </a:r>
                <a:r>
                  <a:rPr lang="de-DE" dirty="0" err="1"/>
                  <a:t>estimates</a:t>
                </a:r>
                <a:r>
                  <a:rPr lang="de-DE" dirty="0"/>
                  <a:t>, </a:t>
                </a:r>
                <a:r>
                  <a:rPr lang="de-DE" dirty="0" err="1"/>
                  <a:t>potentially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confidence</a:t>
                </a:r>
                <a:r>
                  <a:rPr lang="de-DE" dirty="0"/>
                  <a:t> </a:t>
                </a:r>
                <a:r>
                  <a:rPr lang="de-DE" dirty="0" err="1"/>
                  <a:t>intervals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Bayesian</a:t>
                </a:r>
                <a:r>
                  <a:rPr lang="de-DE" dirty="0"/>
                  <a:t> </a:t>
                </a:r>
                <a:r>
                  <a:rPr lang="de-DE" dirty="0" err="1"/>
                  <a:t>perspective</a:t>
                </a:r>
                <a:endParaRPr lang="de-DE" dirty="0"/>
              </a:p>
              <a:p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random</a:t>
                </a:r>
                <a:r>
                  <a:rPr lang="de-DE" dirty="0"/>
                  <a:t> variables (</a:t>
                </a:r>
                <a:r>
                  <a:rPr lang="de-DE" dirty="0" err="1">
                    <a:sym typeface="Wingdings" pitchFamily="2" charset="2"/>
                  </a:rPr>
                  <a:t>following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probability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distributions</a:t>
                </a:r>
                <a:r>
                  <a:rPr lang="de-DE" dirty="0">
                    <a:sym typeface="Wingdings" pitchFamily="2" charset="2"/>
                  </a:rPr>
                  <a:t>)</a:t>
                </a:r>
                <a:endParaRPr lang="de-DE" dirty="0"/>
              </a:p>
              <a:p>
                <a:r>
                  <a:rPr lang="de-DE" dirty="0" err="1"/>
                  <a:t>combine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and </a:t>
                </a:r>
                <a:r>
                  <a:rPr lang="de-DE" dirty="0" err="1"/>
                  <a:t>prior</a:t>
                </a:r>
                <a:r>
                  <a:rPr lang="de-DE" dirty="0"/>
                  <a:t> beliefs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estimate</a:t>
                </a:r>
                <a:r>
                  <a:rPr lang="de-DE" dirty="0"/>
                  <a:t> </a:t>
                </a:r>
                <a:r>
                  <a:rPr lang="de-DE" dirty="0" err="1"/>
                  <a:t>posterior</a:t>
                </a:r>
                <a:r>
                  <a:rPr lang="de-DE" dirty="0"/>
                  <a:t> </a:t>
                </a:r>
                <a:r>
                  <a:rPr lang="de-DE" dirty="0" err="1"/>
                  <a:t>distributions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BAE1527-8962-02B5-AD95-69F31EFDF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C7FF3D-3965-98CD-58CD-032EFBB6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403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D083-3809-B3F2-5290-94790784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 Theorem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9EF95-A3CC-50C2-FC92-FF2E0B85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28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9C2805-7BBC-38B8-8256-ACF3DC7799F4}"/>
                  </a:ext>
                </a:extLst>
              </p:cNvPr>
              <p:cNvSpPr txBox="1"/>
              <p:nvPr/>
            </p:nvSpPr>
            <p:spPr>
              <a:xfrm>
                <a:off x="3857631" y="2916327"/>
                <a:ext cx="4476738" cy="102534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DE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9C2805-7BBC-38B8-8256-ACF3DC779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31" y="2916327"/>
                <a:ext cx="4476738" cy="1025345"/>
              </a:xfrm>
              <a:prstGeom prst="rect">
                <a:avLst/>
              </a:prstGeom>
              <a:blipFill>
                <a:blip r:embed="rId2"/>
                <a:stretch>
                  <a:fillRect l="-1412" b="-47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4059E9-36C1-0C63-DCC8-3ED5BD95595E}"/>
                  </a:ext>
                </a:extLst>
              </p:cNvPr>
              <p:cNvSpPr txBox="1"/>
              <p:nvPr/>
            </p:nvSpPr>
            <p:spPr>
              <a:xfrm>
                <a:off x="7895675" y="4515613"/>
                <a:ext cx="2383291" cy="120032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p</a:t>
                </a:r>
                <a:r>
                  <a:rPr lang="en-DE" sz="2400" dirty="0"/>
                  <a:t>rior probability (belief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DE" sz="2400" dirty="0"/>
                  <a:t> before evidence)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4059E9-36C1-0C63-DCC8-3ED5BD955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675" y="4515613"/>
                <a:ext cx="2383291" cy="1200329"/>
              </a:xfrm>
              <a:prstGeom prst="rect">
                <a:avLst/>
              </a:prstGeom>
              <a:blipFill>
                <a:blip r:embed="rId3"/>
                <a:stretch>
                  <a:fillRect l="-3704" t="-4167" r="-3704" b="-104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3FF3577-4A01-1DEC-E4B4-75723E488AE3}"/>
              </a:ext>
            </a:extLst>
          </p:cNvPr>
          <p:cNvSpPr txBox="1"/>
          <p:nvPr/>
        </p:nvSpPr>
        <p:spPr>
          <a:xfrm>
            <a:off x="4953001" y="1534005"/>
            <a:ext cx="3763616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DE" sz="2400" dirty="0"/>
              <a:t>likelihood function (</a:t>
            </a:r>
            <a:r>
              <a:rPr lang="en-GB" sz="2400" dirty="0"/>
              <a:t>d</a:t>
            </a:r>
            <a:r>
              <a:rPr lang="en-DE" sz="2400" dirty="0"/>
              <a:t>erived from statistical model)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B1AEB-5B92-AF7F-8213-0C80AC548A6E}"/>
              </a:ext>
            </a:extLst>
          </p:cNvPr>
          <p:cNvSpPr txBox="1"/>
          <p:nvPr/>
        </p:nvSpPr>
        <p:spPr>
          <a:xfrm>
            <a:off x="1361662" y="4515613"/>
            <a:ext cx="284542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p</a:t>
            </a:r>
            <a:r>
              <a:rPr lang="en-DE" sz="2400" dirty="0"/>
              <a:t>osterior probability (belief updated with observed evidence)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0F36AA-B964-BEBF-8893-D8AE7C77D47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784372" y="3710152"/>
            <a:ext cx="1373943" cy="805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B6A5EC-D8D8-2627-1F0B-C09E9824887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316717" y="2365002"/>
            <a:ext cx="518092" cy="551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FCC376-1AB2-5E5F-C5E8-C82BBEF5FAF4}"/>
              </a:ext>
            </a:extLst>
          </p:cNvPr>
          <p:cNvCxnSpPr>
            <a:cxnSpLocks/>
          </p:cNvCxnSpPr>
          <p:nvPr/>
        </p:nvCxnSpPr>
        <p:spPr>
          <a:xfrm flipH="1" flipV="1">
            <a:off x="7655481" y="3364343"/>
            <a:ext cx="1691999" cy="1162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29414B7-24A4-506D-E649-FF8975144AED}"/>
              </a:ext>
            </a:extLst>
          </p:cNvPr>
          <p:cNvSpPr txBox="1"/>
          <p:nvPr/>
        </p:nvSpPr>
        <p:spPr>
          <a:xfrm>
            <a:off x="4851674" y="4522288"/>
            <a:ext cx="253310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new data</a:t>
            </a:r>
            <a:r>
              <a:rPr lang="en-DE" sz="2400" dirty="0"/>
              <a:t> (same for all hypotheses </a:t>
            </a:r>
            <a:r>
              <a:rPr lang="en-DE" sz="2400" dirty="0">
                <a:sym typeface="Wingdings" pitchFamily="2" charset="2"/>
              </a:rPr>
              <a:t> uninteresting</a:t>
            </a:r>
            <a:r>
              <a:rPr lang="en-DE" sz="2400" dirty="0"/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B76951-6349-FEB7-9787-2CE26595D181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6118224" y="3941672"/>
            <a:ext cx="663577" cy="580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C24B1E-3649-640C-30E1-D8472BCE486C}"/>
                  </a:ext>
                </a:extLst>
              </p:cNvPr>
              <p:cNvSpPr txBox="1"/>
              <p:nvPr/>
            </p:nvSpPr>
            <p:spPr>
              <a:xfrm>
                <a:off x="537178" y="1926888"/>
                <a:ext cx="303333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400" dirty="0"/>
                  <a:t>: hypothesis (model)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400" dirty="0"/>
                  <a:t>: evidence (data)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C24B1E-3649-640C-30E1-D8472BCE4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78" y="1926888"/>
                <a:ext cx="3033331" cy="830997"/>
              </a:xfrm>
              <a:prstGeom prst="rect">
                <a:avLst/>
              </a:prstGeom>
              <a:blipFill>
                <a:blip r:embed="rId4"/>
                <a:stretch>
                  <a:fillRect l="-417" t="-4545" r="-2083"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701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E2E1-F339-3C33-E4A0-683C32176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 Theorem for Parameter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C5BFA-CF2B-7911-694F-414613AA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29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C3602-ADE5-3B79-4950-D589D25138B6}"/>
              </a:ext>
            </a:extLst>
          </p:cNvPr>
          <p:cNvSpPr txBox="1"/>
          <p:nvPr/>
        </p:nvSpPr>
        <p:spPr>
          <a:xfrm>
            <a:off x="7751379" y="4070992"/>
            <a:ext cx="4280338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p</a:t>
            </a:r>
            <a:r>
              <a:rPr lang="en-DE" sz="2400" dirty="0"/>
              <a:t>rior (e.g., broad Gaussian):</a:t>
            </a:r>
          </a:p>
          <a:p>
            <a:r>
              <a:rPr lang="en-GB" sz="2400" dirty="0"/>
              <a:t>p</a:t>
            </a:r>
            <a:r>
              <a:rPr lang="en-DE" sz="2400" dirty="0"/>
              <a:t>robability distribution reflecting initial belief about uncertain parameters (</a:t>
            </a:r>
            <a:r>
              <a:rPr lang="en-GB" sz="2400" dirty="0"/>
              <a:t>helps to reduce variance with few data)</a:t>
            </a:r>
            <a:endParaRPr lang="en-DE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C9204A-4D87-9839-B209-4A7B55591244}"/>
                  </a:ext>
                </a:extLst>
              </p:cNvPr>
              <p:cNvSpPr txBox="1"/>
              <p:nvPr/>
            </p:nvSpPr>
            <p:spPr>
              <a:xfrm>
                <a:off x="3616105" y="1526623"/>
                <a:ext cx="4959790" cy="83099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</a:t>
                </a:r>
                <a:r>
                  <a:rPr lang="en-DE" sz="2400" dirty="0"/>
                  <a:t>ata likelihood:</a:t>
                </a:r>
              </a:p>
              <a:p>
                <a:r>
                  <a:rPr lang="en-GB" sz="2400" dirty="0"/>
                  <a:t>m</a:t>
                </a:r>
                <a:r>
                  <a:rPr lang="en-DE" sz="2400" dirty="0"/>
                  <a:t>odel (function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DE" sz="2400" dirty="0"/>
                  <a:t> with data </a:t>
                </a:r>
                <a:r>
                  <a:rPr lang="en-DE" sz="2400"/>
                  <a:t>fixed)</a:t>
                </a:r>
                <a:endParaRPr lang="en-DE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C9204A-4D87-9839-B209-4A7B55591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105" y="1526623"/>
                <a:ext cx="4959790" cy="830997"/>
              </a:xfrm>
              <a:prstGeom prst="rect">
                <a:avLst/>
              </a:prstGeom>
              <a:blipFill>
                <a:blip r:embed="rId2"/>
                <a:stretch>
                  <a:fillRect l="-2041" t="-6061" r="-510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F47A30-ABFA-32C4-0285-3FEE6345CF30}"/>
              </a:ext>
            </a:extLst>
          </p:cNvPr>
          <p:cNvSpPr txBox="1"/>
          <p:nvPr/>
        </p:nvSpPr>
        <p:spPr>
          <a:xfrm>
            <a:off x="160282" y="4070992"/>
            <a:ext cx="4501170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p</a:t>
            </a:r>
            <a:r>
              <a:rPr lang="en-DE" sz="2400" dirty="0"/>
              <a:t>osterior:</a:t>
            </a:r>
          </a:p>
          <a:p>
            <a:r>
              <a:rPr lang="en-GB" sz="2400" dirty="0"/>
              <a:t>p</a:t>
            </a:r>
            <a:r>
              <a:rPr lang="en-DE" sz="2400" dirty="0"/>
              <a:t>robability distribution reflecting the effect of data on prior belief about parameters </a:t>
            </a:r>
            <a:r>
              <a:rPr lang="en-GB" sz="2400" dirty="0"/>
              <a:t>(increasing certainty with new evidence</a:t>
            </a:r>
            <a:r>
              <a:rPr lang="en-DE" sz="2400" dirty="0"/>
              <a:t>)</a:t>
            </a:r>
            <a:endParaRPr lang="en-GB" sz="2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4FF4A4-E971-123F-6E1C-A1FDAB52118A}"/>
              </a:ext>
            </a:extLst>
          </p:cNvPr>
          <p:cNvCxnSpPr>
            <a:cxnSpLocks/>
            <a:stCxn id="7" idx="0"/>
            <a:endCxn id="20" idx="1"/>
          </p:cNvCxnSpPr>
          <p:nvPr/>
        </p:nvCxnSpPr>
        <p:spPr>
          <a:xfrm flipV="1">
            <a:off x="2410867" y="3626371"/>
            <a:ext cx="1052292" cy="444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E49E3D-A61D-1FE6-3F30-8C499197543F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>
            <a:off x="6096000" y="2357620"/>
            <a:ext cx="0" cy="976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08D47F-ADC3-C1B6-C958-BCE0FCAD0EDA}"/>
              </a:ext>
            </a:extLst>
          </p:cNvPr>
          <p:cNvCxnSpPr>
            <a:cxnSpLocks/>
            <a:stCxn id="5" idx="0"/>
            <a:endCxn id="20" idx="3"/>
          </p:cNvCxnSpPr>
          <p:nvPr/>
        </p:nvCxnSpPr>
        <p:spPr>
          <a:xfrm flipH="1" flipV="1">
            <a:off x="8728841" y="3626371"/>
            <a:ext cx="1162707" cy="444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6B289F-AEA2-8D88-BBA5-D51F72AA053A}"/>
                  </a:ext>
                </a:extLst>
              </p:cNvPr>
              <p:cNvSpPr txBox="1"/>
              <p:nvPr/>
            </p:nvSpPr>
            <p:spPr>
              <a:xfrm>
                <a:off x="3463159" y="3333983"/>
                <a:ext cx="5265682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DE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6B289F-AEA2-8D88-BBA5-D51F72AA0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159" y="3333983"/>
                <a:ext cx="5265682" cy="584775"/>
              </a:xfrm>
              <a:prstGeom prst="rect">
                <a:avLst/>
              </a:prstGeom>
              <a:blipFill>
                <a:blip r:embed="rId3"/>
                <a:stretch>
                  <a:fillRect b="-208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0A4C12-CCAF-751F-2A33-5A56DC547F8E}"/>
                  </a:ext>
                </a:extLst>
              </p:cNvPr>
              <p:cNvSpPr txBox="1"/>
              <p:nvPr/>
            </p:nvSpPr>
            <p:spPr>
              <a:xfrm>
                <a:off x="4999439" y="5040488"/>
                <a:ext cx="2413952" cy="11398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to be compared to f</a:t>
                </a:r>
                <a:r>
                  <a:rPr lang="en-DE" sz="2200" dirty="0"/>
                  <a:t>requentist point estimates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DE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endParaRPr lang="en-DE" sz="2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0A4C12-CCAF-751F-2A33-5A56DC547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439" y="5040488"/>
                <a:ext cx="2413952" cy="1139864"/>
              </a:xfrm>
              <a:prstGeom prst="rect">
                <a:avLst/>
              </a:prstGeom>
              <a:blipFill>
                <a:blip r:embed="rId4"/>
                <a:stretch>
                  <a:fillRect l="-3125" t="-3261" r="-3646" b="-760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DEF0F421-DCCA-25DE-84E8-5D7AF51C10C1}"/>
              </a:ext>
            </a:extLst>
          </p:cNvPr>
          <p:cNvSpPr txBox="1"/>
          <p:nvPr/>
        </p:nvSpPr>
        <p:spPr>
          <a:xfrm>
            <a:off x="838200" y="6245232"/>
            <a:ext cx="3823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/>
              <a:t>Bayesian</a:t>
            </a:r>
            <a:r>
              <a:rPr lang="de-DE" sz="2400" dirty="0"/>
              <a:t> </a:t>
            </a:r>
            <a:r>
              <a:rPr lang="de-DE" sz="2400" dirty="0" err="1"/>
              <a:t>updating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127102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5960BF-0696-F646-3D20-9C943273D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Maximum A Posteriori (MAP) </a:t>
            </a:r>
            <a:r>
              <a:rPr lang="de-DE" dirty="0" err="1"/>
              <a:t>Estimation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D387CDE-B64C-E3C9-30E5-80EAB23FC9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18076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MLE: mode of likelihood as point estimate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MLE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nary>
                      <m:naryPr>
                        <m:chr m:val="∏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nary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de-DE" dirty="0"/>
                  <a:t>uses </a:t>
                </a:r>
                <a:r>
                  <a:rPr lang="de-DE" dirty="0" err="1"/>
                  <a:t>only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, </a:t>
                </a:r>
                <a:r>
                  <a:rPr lang="de-DE" dirty="0" err="1"/>
                  <a:t>ignores</a:t>
                </a:r>
                <a:r>
                  <a:rPr lang="de-DE" dirty="0"/>
                  <a:t> </a:t>
                </a:r>
                <a:r>
                  <a:rPr lang="de-DE" dirty="0" err="1"/>
                  <a:t>prior</a:t>
                </a:r>
                <a:r>
                  <a:rPr lang="de-DE" dirty="0"/>
                  <a:t> </a:t>
                </a:r>
                <a:r>
                  <a:rPr lang="de-DE" dirty="0" err="1"/>
                  <a:t>knowledge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MAP: </a:t>
                </a:r>
                <a:r>
                  <a:rPr lang="de-DE" dirty="0" err="1"/>
                  <a:t>instead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only</a:t>
                </a:r>
                <a:r>
                  <a:rPr lang="de-DE" dirty="0"/>
                  <a:t> </a:t>
                </a:r>
                <a:r>
                  <a:rPr lang="de-DE" dirty="0" err="1"/>
                  <a:t>likelihood</a:t>
                </a:r>
                <a:r>
                  <a:rPr lang="de-DE" dirty="0"/>
                  <a:t>, </a:t>
                </a:r>
                <a:r>
                  <a:rPr lang="de-DE" dirty="0" err="1"/>
                  <a:t>include</a:t>
                </a:r>
                <a:r>
                  <a:rPr lang="de-DE" dirty="0"/>
                  <a:t> </a:t>
                </a:r>
                <a:r>
                  <a:rPr lang="de-DE" dirty="0" err="1"/>
                  <a:t>prior</a:t>
                </a:r>
                <a:endParaRPr lang="de-DE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AP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nary>
                      <m:naryPr>
                        <m:chr m:val="∏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nary>
                      <m:naryPr>
                        <m:chr m:val="∏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nary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de-DE" dirty="0"/>
              </a:p>
              <a:p>
                <a:endParaRPr lang="en-GB" dirty="0"/>
              </a:p>
              <a:p>
                <a:r>
                  <a:rPr lang="en-GB" dirty="0"/>
                  <a:t>approximation to Bayesian inference (using mode of posterior distribution)</a:t>
                </a:r>
              </a:p>
              <a:p>
                <a:r>
                  <a:rPr lang="en-GB" dirty="0"/>
                  <a:t>MLE special case of MAP estimation with uniform prior</a:t>
                </a:r>
                <a:endParaRPr lang="de-DE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D387CDE-B64C-E3C9-30E5-80EAB23FC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18076" cy="4351338"/>
              </a:xfrm>
              <a:blipFill>
                <a:blip r:embed="rId2"/>
                <a:stretch>
                  <a:fillRect l="-1077" t="-6105" b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ACAD2C-B2CC-ABCA-436B-383FF917D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30</a:t>
            </a:fld>
            <a:endParaRPr lang="en-GB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8805998-88FE-6449-2DD2-DD3992DEAD2E}"/>
              </a:ext>
            </a:extLst>
          </p:cNvPr>
          <p:cNvSpPr txBox="1"/>
          <p:nvPr/>
        </p:nvSpPr>
        <p:spPr>
          <a:xfrm>
            <a:off x="6337738" y="4550978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Bayes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1E1E9E8-C064-DD0A-234C-A88E9DD4EFD9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6729383" y="4340772"/>
            <a:ext cx="1" cy="210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8B86138B-0C11-259C-20D9-B43F8E17158D}"/>
              </a:ext>
            </a:extLst>
          </p:cNvPr>
          <p:cNvSpPr txBox="1"/>
          <p:nvPr/>
        </p:nvSpPr>
        <p:spPr>
          <a:xfrm>
            <a:off x="10518228" y="3105834"/>
            <a:ext cx="1671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prior</a:t>
            </a:r>
            <a:r>
              <a:rPr lang="de-DE" dirty="0"/>
              <a:t> (</a:t>
            </a:r>
            <a:r>
              <a:rPr lang="de-DE" dirty="0" err="1"/>
              <a:t>regularization</a:t>
            </a:r>
            <a:r>
              <a:rPr lang="de-DE" dirty="0"/>
              <a:t>)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0B5B06E-B72D-DAAC-1547-82E01971250F}"/>
              </a:ext>
            </a:extLst>
          </p:cNvPr>
          <p:cNvCxnSpPr/>
          <p:nvPr/>
        </p:nvCxnSpPr>
        <p:spPr>
          <a:xfrm>
            <a:off x="10809889" y="3752165"/>
            <a:ext cx="0" cy="315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366B032-330B-043B-A9E9-78C6540A57D7}"/>
              </a:ext>
            </a:extLst>
          </p:cNvPr>
          <p:cNvSpPr txBox="1"/>
          <p:nvPr/>
        </p:nvSpPr>
        <p:spPr>
          <a:xfrm>
            <a:off x="8610600" y="3105834"/>
            <a:ext cx="1261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likelihood</a:t>
            </a:r>
            <a:r>
              <a:rPr lang="de-DE" dirty="0"/>
              <a:t> (MLE)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2B808FE-EC7E-B8C0-D7D3-76E8C1265B49}"/>
              </a:ext>
            </a:extLst>
          </p:cNvPr>
          <p:cNvCxnSpPr>
            <a:cxnSpLocks/>
          </p:cNvCxnSpPr>
          <p:nvPr/>
        </p:nvCxnSpPr>
        <p:spPr>
          <a:xfrm>
            <a:off x="9059921" y="3752165"/>
            <a:ext cx="0" cy="315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82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1617B0-68BA-E436-B604-FBE21C70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DCAF64-2C41-C461-B739-03BC2DB06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D58165-CBA4-0694-F79A-F53ACCA1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948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A6D956-3E5E-37E1-3B78-F5E866E4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</a:t>
            </a:r>
            <a:r>
              <a:rPr lang="de-DE" dirty="0" err="1"/>
              <a:t>Intervals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176BB4-916C-073F-7845-226577B31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9043C9-882E-F87C-FBEE-6D021421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7169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1786</Words>
  <Application>Microsoft Macintosh PowerPoint</Application>
  <PresentationFormat>Breitbild</PresentationFormat>
  <Paragraphs>352</Paragraphs>
  <Slides>32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Cambria Math</vt:lpstr>
      <vt:lpstr>Wingdings</vt:lpstr>
      <vt:lpstr>1_Office Theme</vt:lpstr>
      <vt:lpstr>Parameter Estimation</vt:lpstr>
      <vt:lpstr>Parameter Estimation</vt:lpstr>
      <vt:lpstr>Statistical Inference</vt:lpstr>
      <vt:lpstr>What is Parameter Estimation?</vt:lpstr>
      <vt:lpstr>Notation</vt:lpstr>
      <vt:lpstr>Two Types of Parameter Estimation Tasks</vt:lpstr>
      <vt:lpstr>Unsupervised Setup: Examples</vt:lpstr>
      <vt:lpstr>PowerPoint-Präsentation</vt:lpstr>
      <vt:lpstr>Unsupervised Setup: General Principle</vt:lpstr>
      <vt:lpstr>PowerPoint-Präsentation</vt:lpstr>
      <vt:lpstr>Supervised Setup</vt:lpstr>
      <vt:lpstr>Example: Linear Regression</vt:lpstr>
      <vt:lpstr>Least Squares Estimation</vt:lpstr>
      <vt:lpstr>Least Squares Estimation: Minimization</vt:lpstr>
      <vt:lpstr>Linear Least Squares</vt:lpstr>
      <vt:lpstr>Linear Least Squares: Solution</vt:lpstr>
      <vt:lpstr>General Nonlinear Case</vt:lpstr>
      <vt:lpstr>Gradient Descent</vt:lpstr>
      <vt:lpstr>Beyond Gradient Descent</vt:lpstr>
      <vt:lpstr>Generalization: Loss Functions</vt:lpstr>
      <vt:lpstr>Cost Function</vt:lpstr>
      <vt:lpstr>L^2 Regularization (Ridge Regression)</vt:lpstr>
      <vt:lpstr>Maximum Likelihood Estimation (MLE)</vt:lpstr>
      <vt:lpstr>Side Note: i.i.d. Samples</vt:lpstr>
      <vt:lpstr>Negative Log-Likelihood</vt:lpstr>
      <vt:lpstr>From Gaussian Noise to Least Squares</vt:lpstr>
      <vt:lpstr>Types of Estimators</vt:lpstr>
      <vt:lpstr>Bayes Theorem</vt:lpstr>
      <vt:lpstr>Bayes Theorem for Parameter Estimation</vt:lpstr>
      <vt:lpstr>Maximum A Posteriori (MAP) Estimation</vt:lpstr>
      <vt:lpstr>PowerPoint-Präsentation</vt:lpstr>
      <vt:lpstr>Confidence Intervals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Learning</dc:title>
  <dc:creator>Felix Wick</dc:creator>
  <cp:lastModifiedBy>Felix Wick</cp:lastModifiedBy>
  <cp:revision>415</cp:revision>
  <dcterms:created xsi:type="dcterms:W3CDTF">2022-07-19T12:56:51Z</dcterms:created>
  <dcterms:modified xsi:type="dcterms:W3CDTF">2026-04-18T23:26:19Z</dcterms:modified>
</cp:coreProperties>
</file>