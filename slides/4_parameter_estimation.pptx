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20"/>
  </p:notesMasterIdLst>
  <p:sldIdLst>
    <p:sldId id="256" r:id="rId3"/>
    <p:sldId id="678" r:id="rId4"/>
    <p:sldId id="681" r:id="rId5"/>
    <p:sldId id="682" r:id="rId6"/>
    <p:sldId id="683" r:id="rId7"/>
    <p:sldId id="684" r:id="rId8"/>
    <p:sldId id="263" r:id="rId9"/>
    <p:sldId id="662" r:id="rId10"/>
    <p:sldId id="654" r:id="rId11"/>
    <p:sldId id="264" r:id="rId12"/>
    <p:sldId id="272" r:id="rId13"/>
    <p:sldId id="686" r:id="rId14"/>
    <p:sldId id="670" r:id="rId15"/>
    <p:sldId id="669" r:id="rId16"/>
    <p:sldId id="284" r:id="rId17"/>
    <p:sldId id="633" r:id="rId18"/>
    <p:sldId id="687" r:id="rId19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32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C66C9-5AC4-D143-AC41-EFC203E0D535}" type="datetimeFigureOut">
              <a:rPr lang="en-DE" smtClean="0"/>
              <a:t>4/17/26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7FF37-7D95-D74E-86BF-38AD4F48E8EF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37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0F51-BC67-2409-5F67-B90E1BB44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191858-70D0-583D-ED82-C3684708D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A1CDB-6353-C385-5D49-78169BEE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12DCE-6557-4F4C-9EF2-71954FC5C5C0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807C3-C7C3-F0DE-8EE3-EE1768468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78F38-7E07-8F40-0864-1E14DC52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608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ADF2-CDD1-B7BB-2C71-874A4785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035BC-CF8A-41DD-0063-BFB41F376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FE1FA-E2C8-27BE-9FE6-067BEA50E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C701-1A57-C948-B28D-AF931FF78AF3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375AA4-0BEE-D479-0FE0-0AFF82A6A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4274-8578-84D6-55CA-4BAC7E932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2036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3EC4-0F4F-8772-ABF8-AEF9376E3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BD8187-44EB-6A3A-46E2-3726C3ABE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AC51F-AFB2-A90A-B5D7-FD81BFA1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F2D68-AC2E-EA4A-974C-16395F5BD9DD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BE97-82C1-E587-CBF8-F3C6EDA58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59A96-50D2-95E1-412B-F3BA70D1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1034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6FB11-A74C-2554-F62A-C5140CB12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E2C16-F5D6-4105-C754-3C5196552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C8314-2785-130B-7A97-591B06F79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E51AD-3153-BBAE-48D4-D1D44272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9811-4ACB-234E-BFAA-6F05033E0D52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9CBD8-995A-2163-3652-468FB773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F39B2-F870-46EE-4D5D-ABC2DAEB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3631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430C3-B001-38B8-EC6C-BF661EC1F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6E69B-F009-2D6E-3072-C41E82B3F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A491E-2EF4-C732-7643-2047CCFC5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9183-8D77-ECBF-751F-495BF65075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F09BFA-480E-0759-3F2D-C88A6B9A4F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B4074E-B383-D113-A345-F23714983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557C-09A3-C548-BB01-1F0212DED143}" type="datetime1">
              <a:rPr lang="de-DE" smtClean="0"/>
              <a:t>17.04.26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F5375-5874-EB2B-20A6-016CD3A1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CD1E79-6EDD-DC9F-02F1-FBFDEA33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803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390DA-25AC-59F5-C616-595691E0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CF12C1-3A24-6170-EB04-5815F0ECB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86379-B67D-864C-959F-C9FC3FCCE377}" type="datetime1">
              <a:rPr lang="de-DE" smtClean="0"/>
              <a:t>17.04.26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BF9F80-9DD6-E3ED-15E3-6BA7D368D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69ADA8-8EE0-D015-3CEC-4D82781EB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910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67105-A324-0B93-5889-024E1CFC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DF66D-D36A-554E-ABAF-BAB3214E8E46}" type="datetime1">
              <a:rPr lang="de-DE" smtClean="0"/>
              <a:t>17.04.26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E4514B-14E9-EFC4-2808-F1B65C84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1A3F3-E5F4-ACCB-AFDB-D84F6470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4372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27A54-D1EF-8939-7E48-301413EA9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6DA8C-F9F3-1A88-E1DE-A85EDD539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FE6A4-9C67-B29E-8A97-3B9A38EC9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F80F4D-235A-CAE8-699E-CAE520958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8A7-13F1-C747-8421-8AD2AC70E301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02C4C-A238-472B-58D6-C028CD135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31887-A193-67E1-2111-12DCE025C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98340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B630-3DB7-FEE8-67EB-6F542F407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985760-D748-A4BE-014B-820E025F28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E076-873D-6FDE-B1AA-DB1A13AE2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E7A09-2345-FC83-D197-4FF669D09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FD949-D71E-274F-984C-986551850ABF}" type="datetime1">
              <a:rPr lang="de-DE" smtClean="0"/>
              <a:t>17.04.26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0718D-AB47-58BA-697D-8C65A672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3EBED5-A0B1-61A8-3715-A1CA2E01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9956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0C68-A760-D8EA-6E64-E8A219931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60652-B859-E333-FD28-424265CE3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8ADFC-648E-8F24-7BE3-D1402F16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0504E-081E-2244-82EF-59857EECA44C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3414B-460A-1653-67ED-E095393F9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0868E-8B04-29D5-843D-E5434A132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1835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E8B8-834E-7405-4978-B3D2E7892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C3733-D8F0-914A-8934-884889849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4AE9F-8C5D-B6C8-6A2E-F8D7A18A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F15A8-F6C0-3340-9E29-5B7EE8A425EE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5327-8235-7CF1-158B-E05AD3AB5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33F68-6794-ECAB-FF79-0293F32B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9944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641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2871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040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9746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17/04/2026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3492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17/04/2026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03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17/04/2026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4221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9450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17/04/2026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95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5266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7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628460-306B-90BC-C78B-8E80BC880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FD271-3E00-3A58-82FC-399E735F2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E739F-D39E-1065-6A79-A9A8348BF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C0196-C149-3543-A854-7AE4E991F7BB}" type="datetime1">
              <a:rPr lang="de-DE" smtClean="0"/>
              <a:t>17.04.26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42B9E-D9E9-C53B-C325-E1066A9D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9EC1-8370-9C52-D2A8-A7F2D3691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2046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17/04/2026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79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3.xml"/><Relationship Id="rId4" Type="http://schemas.openxmlformats.org/officeDocument/2006/relationships/image" Target="NUL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13.xml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Statistical Inference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9F86A3F-863F-29A5-F8B5-213D6426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12B5ABE-485E-EDC2-E965-111CD511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parameter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, least </a:t>
            </a:r>
            <a:r>
              <a:rPr lang="de-DE" dirty="0" err="1"/>
              <a:t>squares</a:t>
            </a:r>
            <a:endParaRPr lang="de-DE" dirty="0"/>
          </a:p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, MAP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3FC7B-F7BA-900D-038F-C269A44A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9355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E0819-F09F-219D-494D-C0676A4A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99F8A3-CB23-5AD0-E2C5-CA9C2CC5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  <a:p>
            <a:r>
              <a:rPr lang="de-DE" dirty="0" err="1"/>
              <a:t>Testing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5C04F6-8F49-62DE-9D9D-CAFE55D4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2570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D2DB9-A134-FF7E-C8BA-64FE53A5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FD89AB-9049-BF80-08EB-4562A5C98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8C9E3-A4A1-62CE-7490-26C9E0C7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66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FD234-B2B0-8F19-1D5F-C84B9BF98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Functions</a:t>
            </a:r>
            <a:r>
              <a:rPr lang="de-DE" dirty="0"/>
              <a:t> and </a:t>
            </a:r>
            <a:r>
              <a:rPr lang="de-DE" dirty="0" err="1"/>
              <a:t>Optimization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FB1DE5-55FB-B039-D4C1-82720EF56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EBBF11-72D6-A819-6FEA-934A8EAA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40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4D96D1-0DFD-CDA0-2D1A-1A4269EE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(MLE)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956010-9C28-F9EE-4A46-5F8A3B30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E4D77-FE8D-127B-EEEF-939F25A12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515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90FB9-91D6-8173-1C05-1E9C1494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special objective function: likelihood function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value of predicted probability density function (model) at observed target</a:t>
                </a:r>
              </a:p>
              <a:p>
                <a:r>
                  <a:rPr lang="en-GB" sz="2600" dirty="0"/>
                  <a:t>as function of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a little bit confusing:</a:t>
                </a: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density function if function of data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fixed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likelihood function if function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with data fixed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7468D-B2C2-583F-71EF-170C4D7F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7448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8190-0F29-736C-02B0-E67BDDE58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Independence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>
                    <a:sym typeface="Wingdings" pitchFamily="2" charset="2"/>
                  </a:rPr>
                  <a:t>c</a:t>
                </a:r>
                <a:r>
                  <a:rPr lang="en-DE" sz="2200" dirty="0">
                    <a:sym typeface="Wingdings" pitchFamily="2" charset="2"/>
                  </a:rPr>
                  <a:t>onsider training data set (of size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) as one sample from unknown joint probability distribution of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independent </a:t>
                </a:r>
                <a:r>
                  <a:rPr lang="en-DE" sz="2200" dirty="0"/>
                  <a:t>(i.i.d.) </a:t>
                </a:r>
                <a:r>
                  <a:rPr lang="en-DE" sz="2200" dirty="0">
                    <a:sym typeface="Wingdings" pitchFamily="2" charset="2"/>
                  </a:rPr>
                  <a:t>sets of random variables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,…, 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(same thing as random sampling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 times from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𝑿</m:t>
                        </m:r>
                      </m:e>
                    </m:d>
                  </m:oMath>
                </a14:m>
                <a:r>
                  <a:rPr lang="en-DE" sz="2200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 </a:t>
                </a:r>
                <a:r>
                  <a:rPr lang="en-GB" sz="2200" dirty="0">
                    <a:sym typeface="Wingdings" pitchFamily="2" charset="2"/>
                  </a:rPr>
                  <a:t>l</a:t>
                </a:r>
                <a:r>
                  <a:rPr lang="en-DE" sz="2200" dirty="0">
                    <a:sym typeface="Wingdings" pitchFamily="2" charset="2"/>
                  </a:rPr>
                  <a:t>ikelihood as product of univariate probability density functions: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e>
                      </m:nary>
                    </m:oMath>
                  </m:oMathPara>
                </a14:m>
                <a:endParaRPr lang="en-DE" sz="2200" dirty="0"/>
              </a:p>
              <a:p>
                <a:pPr marL="0" indent="0">
                  <a:buNone/>
                </a:pPr>
                <a:endParaRPr lang="en-DE" sz="2200" dirty="0"/>
              </a:p>
              <a:p>
                <a:pPr marL="0" indent="0">
                  <a:buNone/>
                </a:pPr>
                <a:r>
                  <a:rPr lang="en-DE" sz="2200" dirty="0"/>
                  <a:t>… to be maximized according to estimated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US" sz="22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DE" sz="2200" dirty="0"/>
                  <a:t>(known as maximum likelihood estimation)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127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1884E-FC06-2625-8D8E-4C79602F8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38270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78DBC-7181-EA20-D228-B57BD1EB6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Negative Log-Likelihood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logarithmic transformation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: </a:t>
                </a:r>
                <a:r>
                  <a:rPr lang="en-GB" sz="2400" dirty="0"/>
                  <a:t>log-likelihood function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4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r>
                  <a:rPr lang="en-GB" sz="2400" dirty="0"/>
                  <a:t>logarithm monotonic function </a:t>
                </a:r>
                <a:r>
                  <a:rPr lang="en-GB" sz="2400" dirty="0">
                    <a:sym typeface="Wingdings" pitchFamily="2" charset="2"/>
                  </a:rPr>
                  <a:t> maximum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at same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400" dirty="0"/>
                  <a:t> values</a:t>
                </a:r>
              </a:p>
              <a:p>
                <a:r>
                  <a:rPr lang="en-GB" sz="2400" dirty="0"/>
                  <a:t>most probability distributions (e.g., exponential family) only logarithmically concave (important for optimization)</a:t>
                </a:r>
              </a:p>
              <a:p>
                <a:r>
                  <a:rPr lang="en-GB" sz="2400" dirty="0"/>
                  <a:t>sum computationally more convenient than product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DE" sz="2400" dirty="0"/>
                  <a:t>negative log-likelihood:</a:t>
                </a:r>
                <a:r>
                  <a:rPr lang="en-DE" sz="2400" dirty="0">
                    <a:sym typeface="Wingdings" pitchFamily="2" charset="2"/>
                  </a:rPr>
                  <a:t> minimization instead of maximization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9884" b="-2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3ABB5-C09F-871F-F43B-E53B1C04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/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</a:t>
                </a:r>
                <a:r>
                  <a:rPr lang="en-DE" dirty="0"/>
                  <a:t>odel, e.g., for linear regression: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GB" dirty="0"/>
                  <a:t> g</a:t>
                </a:r>
                <a:r>
                  <a:rPr lang="en-DE" dirty="0"/>
                  <a:t>iven in training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DE" dirty="0"/>
                  <a:t> to be estimated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blipFill>
                <a:blip r:embed="rId3"/>
                <a:stretch>
                  <a:fillRect l="-1866" t="-2000" b="-7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2BCCAE4-34C0-7788-FA9B-023B1837371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767145" y="1306465"/>
            <a:ext cx="843455" cy="1373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626CA9-DB03-94F8-2BE7-F9F356C1A3AA}"/>
              </a:ext>
            </a:extLst>
          </p:cNvPr>
          <p:cNvSpPr txBox="1"/>
          <p:nvPr/>
        </p:nvSpPr>
        <p:spPr>
          <a:xfrm>
            <a:off x="4736758" y="6352143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A44FF520-3933-7B9D-E850-6817B769D990}"/>
              </a:ext>
            </a:extLst>
          </p:cNvPr>
          <p:cNvSpPr/>
          <p:nvPr/>
        </p:nvSpPr>
        <p:spPr>
          <a:xfrm rot="5400000">
            <a:off x="5457502" y="5586047"/>
            <a:ext cx="197837" cy="134276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939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7A19B-C77D-9FE4-9FA2-370D078E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estimate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solving</a:t>
                </a:r>
              </a:p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/>
                  <a:t> likelihood equations (if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DE" sz="2400" dirty="0"/>
                  <a:t> differentiable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400" dirty="0"/>
                  <a:t>):</a:t>
                </a:r>
                <a:endParaRPr lang="en-GB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400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400" dirty="0"/>
                  <a:t>		(in short: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DE" sz="2400" dirty="0"/>
                  <a:t>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can be solved explicitly for some cases</a:t>
                </a:r>
                <a:r>
                  <a:rPr lang="en-DE" sz="2400" dirty="0"/>
                  <a:t> (e.g., ordinary least squares for linear regression)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b</a:t>
                </a:r>
                <a:r>
                  <a:rPr lang="en-DE" sz="2400" dirty="0"/>
                  <a:t>ut usually no closed-form solution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need for numerical optimization (e.g., gradient descent)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667A3-D90F-DA12-4A27-3C00790B6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10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/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200" b="1" dirty="0"/>
                  <a:t>least squares method </a:t>
                </a:r>
                <a:r>
                  <a:rPr lang="en-GB" sz="2200" dirty="0"/>
                  <a:t>corresponds to maximum likelihood estimation with </a:t>
                </a:r>
                <a:r>
                  <a:rPr lang="en-GB" sz="2200" b="1" dirty="0"/>
                  <a:t>Gaussian model</a:t>
                </a:r>
                <a:r>
                  <a:rPr lang="en-GB" sz="2200" dirty="0"/>
                  <a:t>:</a:t>
                </a:r>
                <a:r>
                  <a:rPr lang="en-GB" sz="2200" b="1" dirty="0"/>
                  <a:t>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GB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num>
                                  <m:den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</m:acc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endParaRPr lang="en-GB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blipFill>
                <a:blip r:embed="rId3"/>
                <a:stretch>
                  <a:fillRect l="-2297" t="-2583" b="-66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F883C3A-BB34-A49B-D00B-72B79FC95EE3}"/>
              </a:ext>
            </a:extLst>
          </p:cNvPr>
          <p:cNvSpPr txBox="1"/>
          <p:nvPr/>
        </p:nvSpPr>
        <p:spPr>
          <a:xfrm>
            <a:off x="5119817" y="2345510"/>
            <a:ext cx="195236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mode of likelihood as point estimate</a:t>
            </a:r>
          </a:p>
        </p:txBody>
      </p:sp>
    </p:spTree>
    <p:extLst>
      <p:ext uri="{BB962C8B-B14F-4D97-AF65-F5344CB8AC3E}">
        <p14:creationId xmlns:p14="http://schemas.microsoft.com/office/powerpoint/2010/main" val="11345750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6EAA7-0843-1BEC-9F15-A7E513868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maximum likelihood estimation corresponds to minimization of </a:t>
                </a:r>
                <a:r>
                  <a:rPr lang="en-GB" sz="2000" dirty="0" err="1"/>
                  <a:t>Kullback-Leibler</a:t>
                </a:r>
                <a:r>
                  <a:rPr lang="en-GB" sz="2000" dirty="0"/>
                  <a:t> divergence (as well as cross entropy: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||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GB" sz="2000" dirty="0"/>
                  <a:t>) between true data-generating probability distribution (manifested by empirical distribution of training data) and probability distribution of model:</a:t>
                </a:r>
              </a:p>
              <a:p>
                <a:pPr marL="0" indent="0">
                  <a:buNone/>
                </a:pPr>
                <a:endParaRPr lang="en-GB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model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0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|| 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GB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i="1" dirty="0"/>
                  <a:t>make the model distribution match the empirical distribution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(mean squared error corresponds to cross-entropy between empirical distribution and Gaussian model)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639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EB3FE-E82D-CD71-129A-B09361242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11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/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500" dirty="0"/>
                  <a:t>n</a:t>
                </a:r>
                <a:r>
                  <a:rPr lang="en-DE" sz="1500" dirty="0"/>
                  <a:t>o contribution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data</m:t>
                        </m:r>
                      </m:sub>
                    </m:sSub>
                  </m:oMath>
                </a14:m>
                <a:endParaRPr lang="en-DE" sz="1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blipFill>
                <a:blip r:embed="rId3"/>
                <a:stretch>
                  <a:fillRect l="-562" t="-3846" b="-2307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E56F0D-43D7-83C2-E2B3-C994107EB71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095725" y="3920362"/>
            <a:ext cx="32861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/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DE" sz="1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blipFill>
                <a:blip r:embed="rId4"/>
                <a:stretch>
                  <a:fillRect l="-7500"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A0D027-E70A-88AE-E7D3-FE30767CB2AF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1383994" y="3920362"/>
            <a:ext cx="0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9A971F-7AC8-1FD5-899E-B0742FC7D2DA}"/>
              </a:ext>
            </a:extLst>
          </p:cNvPr>
          <p:cNvSpPr txBox="1"/>
          <p:nvPr/>
        </p:nvSpPr>
        <p:spPr>
          <a:xfrm>
            <a:off x="9827172" y="801994"/>
            <a:ext cx="21651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q</a:t>
            </a:r>
            <a:r>
              <a:rPr lang="en-DE" sz="1600" dirty="0"/>
              <a:t>uantification of difference between two probability distributions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010764-EE49-2055-2DDB-CC8C3B8AD01D}"/>
              </a:ext>
            </a:extLst>
          </p:cNvPr>
          <p:cNvCxnSpPr>
            <a:stCxn id="5" idx="1"/>
          </p:cNvCxnSpPr>
          <p:nvPr/>
        </p:nvCxnSpPr>
        <p:spPr>
          <a:xfrm flipH="1">
            <a:off x="8755117" y="1217493"/>
            <a:ext cx="1072055" cy="608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132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960BF-0696-F646-3D20-9C943273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A Posteriori (MAP)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87CDE-B64C-E3C9-30E5-80EAB23FC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ACAD2C-B2CC-ABCA-436B-383FF917D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82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6D083-3809-B3F2-5290-947907844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9EF95-A3CC-50C2-FC92-FF2E0B859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/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9C2805-7BBC-38B8-8256-ACF3DC7799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631" y="2916327"/>
                <a:ext cx="4476738" cy="1025345"/>
              </a:xfrm>
              <a:prstGeom prst="rect">
                <a:avLst/>
              </a:prstGeom>
              <a:blipFill>
                <a:blip r:embed="rId2"/>
                <a:stretch>
                  <a:fillRect l="-1412" b="-476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/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p</a:t>
                </a:r>
                <a:r>
                  <a:rPr lang="en-DE" sz="2400" dirty="0"/>
                  <a:t>rior probability (belief in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DE" sz="2400" dirty="0"/>
                  <a:t> before evidence)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14059E9-36C1-0C63-DCC8-3ED5BD9559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5675" y="4515613"/>
                <a:ext cx="2383291" cy="1200329"/>
              </a:xfrm>
              <a:prstGeom prst="rect">
                <a:avLst/>
              </a:prstGeom>
              <a:blipFill>
                <a:blip r:embed="rId3"/>
                <a:stretch>
                  <a:fillRect l="-3704" t="-4167" r="-3704" b="-1041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3FF3577-4A01-1DEC-E4B4-75723E488AE3}"/>
              </a:ext>
            </a:extLst>
          </p:cNvPr>
          <p:cNvSpPr txBox="1"/>
          <p:nvPr/>
        </p:nvSpPr>
        <p:spPr>
          <a:xfrm>
            <a:off x="4953001" y="1534005"/>
            <a:ext cx="3763616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DE" sz="2400" dirty="0"/>
              <a:t>likelihood function (</a:t>
            </a:r>
            <a:r>
              <a:rPr lang="en-GB" sz="2400" dirty="0"/>
              <a:t>d</a:t>
            </a:r>
            <a:r>
              <a:rPr lang="en-DE" sz="2400" dirty="0"/>
              <a:t>erived from statistical model)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DB1AEB-5B92-AF7F-8213-0C80AC548A6E}"/>
              </a:ext>
            </a:extLst>
          </p:cNvPr>
          <p:cNvSpPr txBox="1"/>
          <p:nvPr/>
        </p:nvSpPr>
        <p:spPr>
          <a:xfrm>
            <a:off x="1361662" y="4515613"/>
            <a:ext cx="284542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 probability (belief updated with observed evidence)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30F36AA-B964-BEBF-8893-D8AE7C77D47B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784372" y="3710152"/>
            <a:ext cx="1373943" cy="80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9B6A5EC-D8D8-2627-1F0B-C09E9824887E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6316717" y="2365002"/>
            <a:ext cx="518092" cy="5513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FCC376-1AB2-5E5F-C5E8-C82BBEF5FAF4}"/>
              </a:ext>
            </a:extLst>
          </p:cNvPr>
          <p:cNvCxnSpPr>
            <a:cxnSpLocks/>
          </p:cNvCxnSpPr>
          <p:nvPr/>
        </p:nvCxnSpPr>
        <p:spPr>
          <a:xfrm flipH="1" flipV="1">
            <a:off x="7655481" y="3364343"/>
            <a:ext cx="1691999" cy="1162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29414B7-24A4-506D-E649-FF8975144AED}"/>
              </a:ext>
            </a:extLst>
          </p:cNvPr>
          <p:cNvSpPr txBox="1"/>
          <p:nvPr/>
        </p:nvSpPr>
        <p:spPr>
          <a:xfrm>
            <a:off x="4851674" y="4522288"/>
            <a:ext cx="2533100" cy="120032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new data</a:t>
            </a:r>
            <a:r>
              <a:rPr lang="en-DE" sz="2400" dirty="0"/>
              <a:t> (same for all hypotheses </a:t>
            </a:r>
            <a:r>
              <a:rPr lang="en-DE" sz="2400" dirty="0">
                <a:sym typeface="Wingdings" pitchFamily="2" charset="2"/>
              </a:rPr>
              <a:t> uninteresting</a:t>
            </a:r>
            <a:r>
              <a:rPr lang="en-DE" sz="2400" dirty="0"/>
              <a:t>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9B76951-6349-FEB7-9787-2CE26595D181}"/>
              </a:ext>
            </a:extLst>
          </p:cNvPr>
          <p:cNvCxnSpPr>
            <a:cxnSpLocks/>
            <a:stCxn id="18" idx="0"/>
          </p:cNvCxnSpPr>
          <p:nvPr/>
        </p:nvCxnSpPr>
        <p:spPr>
          <a:xfrm flipV="1">
            <a:off x="6118224" y="3941672"/>
            <a:ext cx="663577" cy="5806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/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hypothesis (model)</a:t>
                </a:r>
              </a:p>
              <a:p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DE" sz="2400" dirty="0"/>
                  <a:t>: evidence (data)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1C24B1E-3649-640C-30E1-D8472BCE4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178" y="1926888"/>
                <a:ext cx="3033331" cy="830997"/>
              </a:xfrm>
              <a:prstGeom prst="rect">
                <a:avLst/>
              </a:prstGeom>
              <a:blipFill>
                <a:blip r:embed="rId4"/>
                <a:stretch>
                  <a:fillRect l="-417" t="-4545" r="-2083" b="-1666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07019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3E2E1-F339-3C33-E4A0-683C32176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Bayes Theorem for Parameter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C5BFA-CF2B-7911-694F-414613AAA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14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AC3602-ADE5-3B79-4950-D589D25138B6}"/>
              </a:ext>
            </a:extLst>
          </p:cNvPr>
          <p:cNvSpPr txBox="1"/>
          <p:nvPr/>
        </p:nvSpPr>
        <p:spPr>
          <a:xfrm>
            <a:off x="7751379" y="4070992"/>
            <a:ext cx="4280338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rior (e.g., broad Gaussian):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initial belief about uncertain parameters (</a:t>
            </a:r>
            <a:r>
              <a:rPr lang="en-GB" sz="2400" dirty="0"/>
              <a:t>helps to reduce variance with few data)</a:t>
            </a:r>
            <a:endParaRPr lang="en-DE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/>
              <p:nvPr/>
            </p:nvSpPr>
            <p:spPr>
              <a:xfrm>
                <a:off x="3280320" y="1543667"/>
                <a:ext cx="5631360" cy="1200329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d</a:t>
                </a:r>
                <a:r>
                  <a:rPr lang="en-DE" sz="2400" dirty="0"/>
                  <a:t>ata likelihood:</a:t>
                </a:r>
              </a:p>
              <a:p>
                <a:r>
                  <a:rPr lang="en-GB" sz="2400" dirty="0"/>
                  <a:t>m</a:t>
                </a:r>
                <a:r>
                  <a:rPr lang="en-DE" sz="2400" dirty="0"/>
                  <a:t>odel (function of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DE" sz="2400" dirty="0"/>
                  <a:t> with data fixed), e.g., for linear regression: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DE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C9204A-4D87-9839-B209-4A7B55591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0320" y="1543667"/>
                <a:ext cx="5631360" cy="1200329"/>
              </a:xfrm>
              <a:prstGeom prst="rect">
                <a:avLst/>
              </a:prstGeom>
              <a:blipFill>
                <a:blip r:embed="rId2"/>
                <a:stretch>
                  <a:fillRect l="-1802" t="-4167" r="-2477" b="-114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54F47A30-ABFA-32C4-0285-3FEE6345CF30}"/>
              </a:ext>
            </a:extLst>
          </p:cNvPr>
          <p:cNvSpPr txBox="1"/>
          <p:nvPr/>
        </p:nvSpPr>
        <p:spPr>
          <a:xfrm>
            <a:off x="160282" y="4070992"/>
            <a:ext cx="4501170" cy="1938992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GB" sz="2400" dirty="0"/>
              <a:t>p</a:t>
            </a:r>
            <a:r>
              <a:rPr lang="en-DE" sz="2400" dirty="0"/>
              <a:t>osterior:</a:t>
            </a:r>
          </a:p>
          <a:p>
            <a:r>
              <a:rPr lang="en-GB" sz="2400" dirty="0"/>
              <a:t>p</a:t>
            </a:r>
            <a:r>
              <a:rPr lang="en-DE" sz="2400" dirty="0"/>
              <a:t>robability distribution reflecting the effect of data on prior belief about parameters </a:t>
            </a:r>
            <a:r>
              <a:rPr lang="en-GB" sz="2400" dirty="0"/>
              <a:t>(increasing certainty with new evidence</a:t>
            </a:r>
            <a:r>
              <a:rPr lang="en-DE" sz="2400" dirty="0"/>
              <a:t>)</a:t>
            </a:r>
            <a:endParaRPr lang="en-GB" sz="240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B4FF4A4-E971-123F-6E1C-A1FDAB52118A}"/>
              </a:ext>
            </a:extLst>
          </p:cNvPr>
          <p:cNvCxnSpPr>
            <a:cxnSpLocks/>
            <a:stCxn id="7" idx="0"/>
            <a:endCxn id="20" idx="1"/>
          </p:cNvCxnSpPr>
          <p:nvPr/>
        </p:nvCxnSpPr>
        <p:spPr>
          <a:xfrm flipV="1">
            <a:off x="2410867" y="3626371"/>
            <a:ext cx="1052292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2E49E3D-A61D-1FE6-3F30-8C499197543F}"/>
              </a:ext>
            </a:extLst>
          </p:cNvPr>
          <p:cNvCxnSpPr>
            <a:cxnSpLocks/>
            <a:stCxn id="6" idx="2"/>
            <a:endCxn id="20" idx="0"/>
          </p:cNvCxnSpPr>
          <p:nvPr/>
        </p:nvCxnSpPr>
        <p:spPr>
          <a:xfrm>
            <a:off x="6096000" y="2743996"/>
            <a:ext cx="0" cy="5899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08D47F-ADC3-C1B6-C958-BCE0FCAD0EDA}"/>
              </a:ext>
            </a:extLst>
          </p:cNvPr>
          <p:cNvCxnSpPr>
            <a:cxnSpLocks/>
            <a:stCxn id="5" idx="0"/>
            <a:endCxn id="20" idx="3"/>
          </p:cNvCxnSpPr>
          <p:nvPr/>
        </p:nvCxnSpPr>
        <p:spPr>
          <a:xfrm flipH="1" flipV="1">
            <a:off x="8728841" y="3626371"/>
            <a:ext cx="1162707" cy="4446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/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3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∙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</m:oMath>
                  </m:oMathPara>
                </a14:m>
                <a:endParaRPr lang="en-DE" sz="32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E96B289F-AEA2-8D88-BBA5-D51F72AA05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159" y="3333983"/>
                <a:ext cx="5265682" cy="584775"/>
              </a:xfrm>
              <a:prstGeom prst="rect">
                <a:avLst/>
              </a:prstGeom>
              <a:blipFill>
                <a:blip r:embed="rId3"/>
                <a:stretch>
                  <a:fillRect b="-208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/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200" dirty="0"/>
                  <a:t>to be compared to f</a:t>
                </a:r>
                <a:r>
                  <a:rPr lang="en-DE" sz="2200" dirty="0"/>
                  <a:t>requentist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DE" sz="2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DE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A0A4C12-CCAF-751F-2A33-5A56DC547F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9439" y="5040488"/>
                <a:ext cx="2413952" cy="1139864"/>
              </a:xfrm>
              <a:prstGeom prst="rect">
                <a:avLst/>
              </a:prstGeom>
              <a:blipFill>
                <a:blip r:embed="rId4"/>
                <a:stretch>
                  <a:fillRect l="-3125" t="-3261" r="-3646" b="-76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DEF0F421-DCCA-25DE-84E8-5D7AF51C10C1}"/>
              </a:ext>
            </a:extLst>
          </p:cNvPr>
          <p:cNvSpPr txBox="1"/>
          <p:nvPr/>
        </p:nvSpPr>
        <p:spPr>
          <a:xfrm>
            <a:off x="838200" y="6245232"/>
            <a:ext cx="38232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b="1" dirty="0" err="1"/>
              <a:t>Bayesian</a:t>
            </a:r>
            <a:r>
              <a:rPr lang="de-DE" sz="2400" b="1" dirty="0"/>
              <a:t> </a:t>
            </a:r>
            <a:r>
              <a:rPr lang="de-DE" sz="2400" b="1" dirty="0" err="1"/>
              <a:t>updating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1127102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53B02-B7DF-1814-9149-5779531BF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Frequentist</a:t>
            </a:r>
            <a:r>
              <a:rPr lang="de-DE" dirty="0"/>
              <a:t> View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300" dirty="0"/>
                  <a:t>f</a:t>
                </a:r>
                <a:r>
                  <a:rPr lang="en-DE" sz="2300" dirty="0"/>
                  <a:t>requentist perspective:</a:t>
                </a:r>
              </a:p>
              <a:p>
                <a:r>
                  <a:rPr lang="en-GB" sz="2300" dirty="0"/>
                  <a:t>true model parameters </a:t>
                </a:r>
                <a14:m>
                  <m:oMath xmlns:m="http://schemas.openxmlformats.org/officeDocument/2006/math">
                    <m:r>
                      <a:rPr lang="en-US" sz="23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300" dirty="0"/>
                  <a:t> fixed (but unknown </a:t>
                </a:r>
                <a:r>
                  <a:rPr lang="en-GB" sz="2300" dirty="0">
                    <a:sym typeface="Wingdings" pitchFamily="2" charset="2"/>
                  </a:rPr>
                  <a:t> </a:t>
                </a:r>
                <a:r>
                  <a:rPr lang="en-GB" sz="2300" dirty="0"/>
                  <a:t>uncertain point estimates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3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3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300" dirty="0"/>
                  <a:t>)</a:t>
                </a:r>
                <a:endParaRPr lang="en-DE" sz="2300" dirty="0"/>
              </a:p>
              <a:p>
                <a:r>
                  <a:rPr lang="en-GB" sz="2300" dirty="0"/>
                  <a:t>data set from random sampling</a:t>
                </a:r>
                <a:endParaRPr lang="en-DE" sz="2300" dirty="0"/>
              </a:p>
              <a:p>
                <a:pPr marL="0" indent="0">
                  <a:buNone/>
                </a:pPr>
                <a:endParaRPr lang="en-DE" sz="2300" dirty="0"/>
              </a:p>
              <a:p>
                <a:pPr marL="0" indent="0">
                  <a:buNone/>
                </a:pPr>
                <a:r>
                  <a:rPr lang="en-DE" sz="2300" dirty="0"/>
                  <a:t>Bayesian perspective:</a:t>
                </a:r>
              </a:p>
              <a:p>
                <a:r>
                  <a:rPr lang="en-GB" sz="2300" dirty="0"/>
                  <a:t>true model parameters </a:t>
                </a:r>
                <a14:m>
                  <m:oMath xmlns:m="http://schemas.openxmlformats.org/officeDocument/2006/math">
                    <m:r>
                      <a:rPr lang="en-US" sz="23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</m:oMath>
                </a14:m>
                <a:r>
                  <a:rPr lang="en-GB" sz="2300" dirty="0"/>
                  <a:t> random (estimation of full distributions over parameters)</a:t>
                </a:r>
                <a:endParaRPr lang="en-DE" sz="2300" dirty="0"/>
              </a:p>
              <a:p>
                <a:r>
                  <a:rPr lang="en-GB" sz="2300" dirty="0"/>
                  <a:t>data not random (observed)</a:t>
                </a:r>
                <a:endParaRPr lang="en-DE" sz="23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E03EFA-AED7-F3D0-B414-D286C62364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C8E45-50AA-84E3-44A4-C716186B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813214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360D385-E370-58B5-7B4B-6F581264FDB9}"/>
              </a:ext>
            </a:extLst>
          </p:cNvPr>
          <p:cNvSpPr/>
          <p:nvPr/>
        </p:nvSpPr>
        <p:spPr>
          <a:xfrm>
            <a:off x="2435190" y="3322966"/>
            <a:ext cx="7324825" cy="11543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frequentist maximum likelihood estimation: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MLE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maximum a posteriori estimation as alternative applying Bayes theorem: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AP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GB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𝝑</m:t>
                          </m:r>
                        </m:den>
                      </m:f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r>
                  <a:rPr lang="en-GB" sz="2200" dirty="0"/>
                  <a:t>approximation to Bayesian inference (using mode of posterior distribution)</a:t>
                </a:r>
              </a:p>
              <a:p>
                <a:r>
                  <a:rPr lang="en-GB" sz="2200" dirty="0"/>
                  <a:t>maximum likelihood special case of maximum a posteriori estimation with uniform prior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348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5FAEBE6-858F-A756-A947-07C5182A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dirty="0"/>
              <a:t>aximum a Posteriori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1F38A-BCE2-B8EE-627F-968762F8B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16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10C6-7C6F-3FCD-35FC-D4E1C7323FB4}"/>
              </a:ext>
            </a:extLst>
          </p:cNvPr>
          <p:cNvSpPr txBox="1"/>
          <p:nvPr/>
        </p:nvSpPr>
        <p:spPr>
          <a:xfrm>
            <a:off x="6798451" y="4698868"/>
            <a:ext cx="21307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rior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845B9D-D3B9-660E-11B8-82566C584F6A}"/>
              </a:ext>
            </a:extLst>
          </p:cNvPr>
          <p:cNvSpPr txBox="1"/>
          <p:nvPr/>
        </p:nvSpPr>
        <p:spPr>
          <a:xfrm>
            <a:off x="1485935" y="4698868"/>
            <a:ext cx="26199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osterior distribution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7B0125-14CE-67A9-68AB-231D17BB300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795909" y="3936733"/>
            <a:ext cx="1809347" cy="76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50A18A8-8E65-89FC-B7D3-9C9EAEC1B134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421078" y="4520617"/>
            <a:ext cx="442761" cy="178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6F56FE-2433-6CFB-5B96-47582FDFF757}"/>
              </a:ext>
            </a:extLst>
          </p:cNvPr>
          <p:cNvSpPr txBox="1"/>
          <p:nvPr/>
        </p:nvSpPr>
        <p:spPr>
          <a:xfrm>
            <a:off x="5218968" y="4698868"/>
            <a:ext cx="12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200" dirty="0"/>
              <a:t>likelihood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49784-4184-2032-3AF2-0822AC814C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866197" y="4483424"/>
            <a:ext cx="101466" cy="215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EB84F89-5FF0-36FD-E5EB-28CC45256527}"/>
              </a:ext>
            </a:extLst>
          </p:cNvPr>
          <p:cNvSpPr txBox="1"/>
          <p:nvPr/>
        </p:nvSpPr>
        <p:spPr>
          <a:xfrm>
            <a:off x="6865756" y="1484490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BB2BA8-C18D-23AA-2B95-9F93566488B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806559" y="1853822"/>
            <a:ext cx="147144" cy="332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483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6D956-3E5E-37E1-3B78-F5E866E4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Confidence </a:t>
            </a:r>
            <a:r>
              <a:rPr lang="de-DE" dirty="0" err="1"/>
              <a:t>Intervals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176BB4-916C-073F-7845-226577B31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043C9-882E-F87C-FBEE-6D021421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7169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789</Words>
  <Application>Microsoft Macintosh PowerPoint</Application>
  <PresentationFormat>Breitbild</PresentationFormat>
  <Paragraphs>130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Statistical Inference</vt:lpstr>
      <vt:lpstr>Parameter Estimation</vt:lpstr>
      <vt:lpstr>Statistical Inference</vt:lpstr>
      <vt:lpstr>Least Squares Estimation</vt:lpstr>
      <vt:lpstr>Loss Functions and Optimization</vt:lpstr>
      <vt:lpstr>Maximum Likelihood Estimation (MLE)</vt:lpstr>
      <vt:lpstr>Likelihood</vt:lpstr>
      <vt:lpstr>Independence Assumption</vt:lpstr>
      <vt:lpstr>Negative Log-Likelihood</vt:lpstr>
      <vt:lpstr>Maximum Likelihood</vt:lpstr>
      <vt:lpstr>Interpretation of Maximum Likelihood</vt:lpstr>
      <vt:lpstr>Maximum A Posteriori (MAP) Estimation</vt:lpstr>
      <vt:lpstr>Bayes Theorem</vt:lpstr>
      <vt:lpstr>Bayes Theorem for Parameter Estimation</vt:lpstr>
      <vt:lpstr>Bayesian vs Frequentist View</vt:lpstr>
      <vt:lpstr>Maximum a Posteriori Estimation</vt:lpstr>
      <vt:lpstr>Confidence Intervals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Learning</dc:title>
  <dc:creator>Felix Wick</dc:creator>
  <cp:lastModifiedBy>Felix Wick</cp:lastModifiedBy>
  <cp:revision>284</cp:revision>
  <dcterms:created xsi:type="dcterms:W3CDTF">2022-07-19T12:56:51Z</dcterms:created>
  <dcterms:modified xsi:type="dcterms:W3CDTF">2026-04-17T14:55:48Z</dcterms:modified>
</cp:coreProperties>
</file>