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0" r:id="rId2"/>
  </p:sldMasterIdLst>
  <p:notesMasterIdLst>
    <p:notesMasterId r:id="rId25"/>
  </p:notesMasterIdLst>
  <p:sldIdLst>
    <p:sldId id="256" r:id="rId3"/>
    <p:sldId id="265" r:id="rId4"/>
    <p:sldId id="678" r:id="rId5"/>
    <p:sldId id="681" r:id="rId6"/>
    <p:sldId id="682" r:id="rId7"/>
    <p:sldId id="683" r:id="rId8"/>
    <p:sldId id="684" r:id="rId9"/>
    <p:sldId id="263" r:id="rId10"/>
    <p:sldId id="662" r:id="rId11"/>
    <p:sldId id="654" r:id="rId12"/>
    <p:sldId id="264" r:id="rId13"/>
    <p:sldId id="272" r:id="rId14"/>
    <p:sldId id="686" r:id="rId15"/>
    <p:sldId id="670" r:id="rId16"/>
    <p:sldId id="669" r:id="rId17"/>
    <p:sldId id="284" r:id="rId18"/>
    <p:sldId id="633" r:id="rId19"/>
    <p:sldId id="687" r:id="rId20"/>
    <p:sldId id="688" r:id="rId21"/>
    <p:sldId id="693" r:id="rId22"/>
    <p:sldId id="694" r:id="rId23"/>
    <p:sldId id="695" r:id="rId2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C66C9-5AC4-D143-AC41-EFC203E0D535}" type="datetimeFigureOut">
              <a:rPr lang="en-DE" smtClean="0"/>
              <a:t>4/16/26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7FF37-7D95-D74E-86BF-38AD4F48E8E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437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0F51-BC67-2409-5F67-B90E1BB44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91858-70D0-583D-ED82-C3684708D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A1CDB-6353-C385-5D49-78169BEEF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12DCE-6557-4F4C-9EF2-71954FC5C5C0}" type="datetime1">
              <a:rPr lang="de-DE" smtClean="0"/>
              <a:t>16.04.26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807C3-C7C3-F0DE-8EE3-EE1768468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78F38-7E07-8F40-0864-1E14DC528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96087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ADF2-CDD1-B7BB-2C71-874A47856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035BC-CF8A-41DD-0063-BFB41F376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FE1FA-E2C8-27BE-9FE6-067BEA50E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C701-1A57-C948-B28D-AF931FF78AF3}" type="datetime1">
              <a:rPr lang="de-DE" smtClean="0"/>
              <a:t>16.04.26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75AA4-0BEE-D479-0FE0-0AFF82A6A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F4274-8578-84D6-55CA-4BAC7E93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02036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63EC4-0F4F-8772-ABF8-AEF9376E3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D8187-44EB-6A3A-46E2-3726C3ABE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AC51F-AFB2-A90A-B5D7-FD81BFA16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2D68-AC2E-EA4A-974C-16395F5BD9DD}" type="datetime1">
              <a:rPr lang="de-DE" smtClean="0"/>
              <a:t>16.04.26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ABE97-82C1-E587-CBF8-F3C6EDA58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59A96-50D2-95E1-412B-F3BA70D1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5103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6FB11-A74C-2554-F62A-C5140CB12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E2C16-F5D6-4105-C754-3C5196552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C8314-2785-130B-7A97-591B06F79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E51AD-3153-BBAE-48D4-D1D44272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9811-4ACB-234E-BFAA-6F05033E0D52}" type="datetime1">
              <a:rPr lang="de-DE" smtClean="0"/>
              <a:t>16.04.26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9CBD8-995A-2163-3652-468FB773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F39B2-F870-46EE-4D5D-ABC2DAEB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7363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430C3-B001-38B8-EC6C-BF661EC1F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6E69B-F009-2D6E-3072-C41E82B3F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A491E-2EF4-C732-7643-2047CCFC5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E19183-8D77-ECBF-751F-495BF6507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F09BFA-480E-0759-3F2D-C88A6B9A4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B4074E-B383-D113-A345-F23714983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557C-09A3-C548-BB01-1F0212DED143}" type="datetime1">
              <a:rPr lang="de-DE" smtClean="0"/>
              <a:t>16.04.26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EF5375-5874-EB2B-20A6-016CD3A1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CD1E79-6EDD-DC9F-02F1-FBFDEA33D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3803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390DA-25AC-59F5-C616-595691E0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CF12C1-3A24-6170-EB04-5815F0EC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86379-B67D-864C-959F-C9FC3FCCE377}" type="datetime1">
              <a:rPr lang="de-DE" smtClean="0"/>
              <a:t>16.04.26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F9F80-9DD6-E3ED-15E3-6BA7D368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9ADA8-8EE0-D015-3CEC-4D82781E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7591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67105-A324-0B93-5889-024E1CFC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DF66D-D36A-554E-ABAF-BAB3214E8E46}" type="datetime1">
              <a:rPr lang="de-DE" smtClean="0"/>
              <a:t>16.04.26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4514B-14E9-EFC4-2808-F1B65C84D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1A3F3-E5F4-ACCB-AFDB-D84F6470A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54372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27A54-D1EF-8939-7E48-301413EA9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6DA8C-F9F3-1A88-E1DE-A85EDD539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FE6A4-9C67-B29E-8A97-3B9A38EC9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80F4D-235A-CAE8-699E-CAE520958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88A7-13F1-C747-8421-8AD2AC70E301}" type="datetime1">
              <a:rPr lang="de-DE" smtClean="0"/>
              <a:t>16.04.26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02C4C-A238-472B-58D6-C028CD135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31887-A193-67E1-2111-12DCE025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98340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5B630-3DB7-FEE8-67EB-6F542F407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985760-D748-A4BE-014B-820E025F2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AE076-873D-6FDE-B1AA-DB1A13AE2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E7A09-2345-FC83-D197-4FF669D09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FD949-D71E-274F-984C-986551850ABF}" type="datetime1">
              <a:rPr lang="de-DE" smtClean="0"/>
              <a:t>16.04.26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0718D-AB47-58BA-697D-8C65A672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EBED5-A0B1-61A8-3715-A1CA2E01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99564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0C68-A760-D8EA-6E64-E8A219931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60652-B859-E333-FD28-424265CE3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8ADFC-648E-8F24-7BE3-D1402F168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0504E-081E-2244-82EF-59857EECA44C}" type="datetime1">
              <a:rPr lang="de-DE" smtClean="0"/>
              <a:t>16.04.26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3414B-460A-1653-67ED-E095393F9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0868E-8B04-29D5-843D-E5434A132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18355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BBE8B8-834E-7405-4978-B3D2E7892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C3733-D8F0-914A-8934-884889849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4AE9F-8C5D-B6C8-6A2E-F8D7A18AD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F15A8-F6C0-3340-9E29-5B7EE8A425EE}" type="datetime1">
              <a:rPr lang="de-DE" smtClean="0"/>
              <a:t>16.04.26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65327-8235-7CF1-158B-E05AD3AB5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33F68-6794-ECAB-FF79-0293F32B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49944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E232-6A08-C646-2F0F-7B4537832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C59EB-D8F3-E8BD-B1EC-56DF686BF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49EFE-519A-68BE-B63B-FB136372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8456D-5ACD-4673-BCE9-52505EC32CEF}" type="datetime1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D3B9B-51DF-3B62-96BF-E6F200FD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3C5D-A406-4DE4-25F8-1C748421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641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97C8-3195-0777-CF8C-A41D42A5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16D2E-6389-A1A5-6066-8369C378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2E599-054C-9D40-45ED-9A326B30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3083-041D-491F-A9FE-D51D99E0B41E}" type="datetime1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C60BA-1BBD-ADF5-2F19-18BD8DE5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82DC-62DF-735A-48C4-6742EE39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871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81ED-99D4-6120-A107-37380EC1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FF93-EB92-4FEC-45AA-58113194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C74A-183A-C97D-E6B1-DE0E269D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55E6-A1CA-4CB6-9964-88D5086DA5CA}" type="datetime1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9765F-8D63-9F85-2396-5A563344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2A8-648A-10B8-E9F2-3C9E9FCD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040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0B2B-44D3-138B-35DF-2E1B592E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C613-1040-438E-81ED-0211AE812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B7688-5F8F-7B22-691E-33F1B7BAA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156C-C5B9-AFCE-069E-31D9448B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82E38-24C1-4A8F-B916-1E714FC129DD}" type="datetime1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45F1-B2A9-1C16-2A00-5EC6161C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224BD-38F6-7562-22A6-FE534AA8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974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5EE4-A52C-09D1-11A3-3D983D9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478A3-18D5-BA5D-5E50-1AA2C7E9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663B-0321-A7B8-AC29-189DC4243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FBEB0-2CF1-AC16-40B2-C1B936EB5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31FFA-B333-AE27-E67E-6071492E8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D0BE5-6933-5226-FC8C-E1C07FDB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BCDC-BAA6-44B5-B642-6F28D623ABB1}" type="datetime1">
              <a:rPr lang="en-GB" smtClean="0"/>
              <a:t>16/04/2026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ECC54-2495-2718-982E-D4C759D0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7C725C-84C4-EF91-391A-7375D712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349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79AB-7720-DCA6-0463-87BA2643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9DAE7-5C75-E600-F76D-D7B0F270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BEC3-2CF9-4B19-A0A5-E70A0675B677}" type="datetime1">
              <a:rPr lang="en-GB" smtClean="0"/>
              <a:t>16/04/2026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F55D9-B3BF-AB7B-77F9-C04E13B5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3A5C0-2A84-9091-8249-B7686C8E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6030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D8075-8D1F-44F9-269E-A6537A30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28BFD-B06D-4A45-8453-724AC7BA29C5}" type="datetime1">
              <a:rPr lang="en-GB" smtClean="0"/>
              <a:t>16/04/2026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416A4-1FA8-127F-0776-EE3FD032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26D08-4BEC-998B-DD36-1FBD9F8D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4221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820C-CDC7-642F-4FD7-59C10CDB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B273-E9D9-9128-5F97-64320694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B4002-E98F-90C8-95AC-8E3B40C84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ADBC8-F62D-1D9D-A3B0-7A7EFD2F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99B0-2926-4194-B668-6A0D6123824C}" type="datetime1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31F7C-0CC0-1EBB-FEC4-8538E8AA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CBB8-37BB-2274-6FF3-BAA24709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9450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5A0B-1FF1-7AFA-80FD-DF120EED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2E177-E93B-F241-BB26-EBADA224A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2668B-D67B-AF8D-E087-4AABB3F09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E640-1A46-0780-1A6D-5938E2FE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3426-21FD-40F4-9F0B-AD19F2317DCA}" type="datetime1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D8D26-0A69-518C-59E5-03C22C04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B8936-E86F-F46C-B7C8-E1AD8D1B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195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086C-574E-7618-D84D-7EAAA7CA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36E03-8E84-13D2-5EA7-214037C9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1BE1-0C0A-5E5C-2149-397BEE2E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2639-5270-4811-807B-89D4AE95E7ED}" type="datetime1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263D-72BD-5505-C92E-A3345FB7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F995-4BDD-F17C-91BE-A6411AC0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5266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955D4-BF28-B579-F91E-906F9A1B7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6EF3C-3270-076A-087B-7E79E3D65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FCE79-A807-B40D-CB95-1A8513CDC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976C-D408-4E27-8D02-D7795F6D8A01}" type="datetime1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E3050-5BC3-196F-FBE2-4D50BFE1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963B-C222-AD40-CAAF-FBC5B93D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37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28460-306B-90BC-C78B-8E80BC880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FD271-3E00-3A58-82FC-399E735F2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E739F-D39E-1065-6A79-A9A8348BF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C0196-C149-3543-A854-7AE4E991F7BB}" type="datetime1">
              <a:rPr lang="de-DE" smtClean="0"/>
              <a:t>16.04.26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42B9E-D9E9-C53B-C325-E1066A9DA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09EC1-8370-9C52-D2A8-A7F2D3691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1BB0D-8AD4-A14C-8FD5-F1619D1A43A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2204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BD8EF-B77B-0D1C-2E0A-802AECD8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DEC1C-545E-6E83-A412-C7549F36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FE343-40C9-420A-32A0-BFCEE4E4E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9896D-5D36-4D31-A0CE-0C2BFB17B225}" type="datetime1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811A-169D-C62C-6FA6-CB186B9FE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9752-6753-A75C-0CEC-6D6CE3EB9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79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3.xm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3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5D14-FDE8-A941-F2E5-FEBDF1122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Statistical Inference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E4890-E6FF-2E7F-8135-25115B14B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2588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Exploratory</a:t>
            </a:r>
            <a:r>
              <a:rPr lang="de-DE" dirty="0"/>
              <a:t> Data Analysis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Clustering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Probabilistic</a:t>
            </a:r>
            <a:r>
              <a:rPr lang="de-DE" dirty="0"/>
              <a:t> Models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Statistical </a:t>
            </a:r>
            <a:r>
              <a:rPr lang="de-DE" dirty="0" err="1"/>
              <a:t>Inference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Machine</a:t>
            </a:r>
            <a:r>
              <a:rPr lang="de-DE" dirty="0"/>
              <a:t> 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de-DE" dirty="0"/>
              <a:t>Feature Engineering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Model Evaluation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Deep Learning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Time Series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 err="1"/>
              <a:t>Causality</a:t>
            </a:r>
            <a:endParaRPr lang="de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19F86A3F-863F-29A5-F8B5-213D64268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Statistical </a:t>
            </a:r>
            <a:r>
              <a:rPr lang="de-DE" dirty="0" err="1"/>
              <a:t>Inference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12B5ABE-485E-EDC2-E965-111CD5115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parameter</a:t>
            </a:r>
            <a:r>
              <a:rPr lang="de-DE" dirty="0"/>
              <a:t> </a:t>
            </a:r>
            <a:r>
              <a:rPr lang="de-DE" dirty="0" err="1"/>
              <a:t>estimation</a:t>
            </a:r>
            <a:r>
              <a:rPr lang="de-DE" dirty="0"/>
              <a:t>, least </a:t>
            </a:r>
            <a:r>
              <a:rPr lang="de-DE" dirty="0" err="1"/>
              <a:t>squares</a:t>
            </a:r>
            <a:endParaRPr lang="de-DE" dirty="0"/>
          </a:p>
          <a:p>
            <a:r>
              <a:rPr lang="de-DE" dirty="0"/>
              <a:t>maximum </a:t>
            </a:r>
            <a:r>
              <a:rPr lang="de-DE" dirty="0" err="1"/>
              <a:t>likelihood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, MAP</a:t>
            </a:r>
          </a:p>
          <a:p>
            <a:r>
              <a:rPr lang="de-DE" dirty="0" err="1"/>
              <a:t>hypothesis</a:t>
            </a:r>
            <a:r>
              <a:rPr lang="de-DE" dirty="0"/>
              <a:t> </a:t>
            </a:r>
            <a:r>
              <a:rPr lang="de-DE" dirty="0" err="1"/>
              <a:t>testing</a:t>
            </a:r>
            <a:endParaRPr lang="de-DE" dirty="0"/>
          </a:p>
          <a:p>
            <a:r>
              <a:rPr lang="de-DE" dirty="0" err="1"/>
              <a:t>statsmodels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F3FC7B-F7BA-900D-038F-C269A44A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935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E0819-F09F-219D-494D-C0676A4A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Parameter </a:t>
            </a:r>
            <a:r>
              <a:rPr lang="de-DE" dirty="0" err="1"/>
              <a:t>Estimation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99F8A3-CB23-5AD0-E2C5-CA9C2CC58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5C04F6-8F49-62DE-9D9D-CAFE55D4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257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BD2DB9-A134-FF7E-C8BA-64FE53A5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Least Squares </a:t>
            </a:r>
            <a:r>
              <a:rPr lang="de-DE" dirty="0" err="1"/>
              <a:t>Estimation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FD89AB-9049-BF80-08EB-4562A5C98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B8C9E3-A4A1-62CE-7490-26C9E0C7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96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CFD234-B2B0-8F19-1D5F-C84B9BF98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Loss </a:t>
            </a:r>
            <a:r>
              <a:rPr lang="de-DE" dirty="0" err="1"/>
              <a:t>Functions</a:t>
            </a:r>
            <a:r>
              <a:rPr lang="de-DE" dirty="0"/>
              <a:t> and </a:t>
            </a:r>
            <a:r>
              <a:rPr lang="de-DE" dirty="0" err="1"/>
              <a:t>Optimization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FB1DE5-55FB-B039-D4C1-82720EF56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EBBF11-72D6-A819-6FEA-934A8EAA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40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4D96D1-0DFD-CDA0-2D1A-1A4269EE6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Maximum </a:t>
            </a:r>
            <a:r>
              <a:rPr lang="de-DE" dirty="0" err="1"/>
              <a:t>Likelihood</a:t>
            </a:r>
            <a:r>
              <a:rPr lang="de-DE" dirty="0"/>
              <a:t> </a:t>
            </a:r>
            <a:r>
              <a:rPr lang="de-DE" dirty="0" err="1"/>
              <a:t>Estimation</a:t>
            </a:r>
            <a:r>
              <a:rPr lang="de-DE" dirty="0"/>
              <a:t> (MLE)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956010-9C28-F9EE-4A46-5F8A3B30F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7E4D77-FE8D-127B-EEEF-939F25A1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515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90FB9-91D6-8173-1C05-1E9C1494A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1C44CC-E2D9-26AA-724C-69454C0871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special objective function: likelihood function </a:t>
                </a:r>
                <a14:m>
                  <m:oMath xmlns:m="http://schemas.openxmlformats.org/officeDocument/2006/math">
                    <m:r>
                      <a:rPr lang="en-GB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endParaRPr lang="en-GB" sz="2600" dirty="0"/>
              </a:p>
              <a:p>
                <a:r>
                  <a:rPr lang="en-GB" sz="2600" dirty="0"/>
                  <a:t>value of predicted probability density function (model) at observed target</a:t>
                </a:r>
              </a:p>
              <a:p>
                <a:r>
                  <a:rPr lang="en-GB" sz="2600" dirty="0"/>
                  <a:t>as function of model parameters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endParaRPr lang="en-GB" sz="2600" dirty="0"/>
              </a:p>
              <a:p>
                <a:pPr marL="0" indent="0">
                  <a:buNone/>
                </a:pPr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GB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GB" sz="2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acc>
                            <m:accPr>
                              <m:chr m:val="̂"/>
                              <m:ctrlPr>
                                <a:rPr lang="en-US" sz="2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GB" sz="2600" dirty="0"/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/>
                  <a:t>a little bit confusing:</a:t>
                </a:r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600" b="0" i="1">
                            <a:latin typeface="Cambria Math" panose="02040503050406030204" pitchFamily="18" charset="0"/>
                          </a:rPr>
                          <m:t>;</m:t>
                        </m:r>
                        <m:acc>
                          <m:accPr>
                            <m:chr m:val="̂"/>
                            <m:ctrlPr>
                              <a:rPr lang="en-US" sz="2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</m:d>
                  </m:oMath>
                </a14:m>
                <a:r>
                  <a:rPr lang="en-GB" sz="2600" dirty="0"/>
                  <a:t> is conditional density function if function of data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en-GB" sz="2600" dirty="0"/>
                  <a:t> fixed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600" b="0" i="1">
                            <a:latin typeface="Cambria Math" panose="02040503050406030204" pitchFamily="18" charset="0"/>
                          </a:rPr>
                          <m:t>;</m:t>
                        </m:r>
                        <m:acc>
                          <m:accPr>
                            <m:chr m:val="̂"/>
                            <m:ctrlPr>
                              <a:rPr lang="en-US" sz="2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</m:d>
                  </m:oMath>
                </a14:m>
                <a:r>
                  <a:rPr lang="en-GB" sz="2600" dirty="0"/>
                  <a:t> is conditional likelihood function if function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en-GB" sz="2600" dirty="0"/>
                  <a:t> with data fixed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1C44CC-E2D9-26AA-724C-69454C0871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b="-3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7468D-B2C2-583F-71EF-170C4D7F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744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C8190-0F29-736C-02B0-E67BDDE58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Independence Assumption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FDDA55-280D-23EA-F172-A72AACD4FB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200" dirty="0">
                    <a:sym typeface="Wingdings" pitchFamily="2" charset="2"/>
                  </a:rPr>
                  <a:t>c</a:t>
                </a:r>
                <a:r>
                  <a:rPr lang="en-DE" sz="2200" dirty="0">
                    <a:sym typeface="Wingdings" pitchFamily="2" charset="2"/>
                  </a:rPr>
                  <a:t>onsider training data set (of size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en-DE" sz="2200" dirty="0">
                    <a:sym typeface="Wingdings" pitchFamily="2" charset="2"/>
                  </a:rPr>
                  <a:t>) as one sample from unknown joint probability distribution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  <m:r>
                      <a:rPr lang="en-US" sz="2200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DE" sz="2200" dirty="0">
                    <a:sym typeface="Wingdings" pitchFamily="2" charset="2"/>
                  </a:rPr>
                  <a:t>independent </a:t>
                </a:r>
                <a:r>
                  <a:rPr lang="en-DE" sz="2200" dirty="0"/>
                  <a:t>(i.i.d.) </a:t>
                </a:r>
                <a:r>
                  <a:rPr lang="en-DE" sz="2200" dirty="0">
                    <a:sym typeface="Wingdings" pitchFamily="2" charset="2"/>
                  </a:rPr>
                  <a:t>sets of random variables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DE" sz="2200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DE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d>
                      <m:dPr>
                        <m:ctrlPr>
                          <a:rPr lang="en-DE" sz="2200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DE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  <a:sym typeface="Wingdings" pitchFamily="2" charset="2"/>
                      </a:rPr>
                      <m:t>,…, </m:t>
                    </m:r>
                    <m:d>
                      <m:dPr>
                        <m:ctrlPr>
                          <a:rPr lang="en-DE" sz="2200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DE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DE" sz="22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DE" sz="2200" dirty="0">
                    <a:sym typeface="Wingdings" pitchFamily="2" charset="2"/>
                  </a:rPr>
                  <a:t>(same thing as random sampling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en-DE" sz="2200" dirty="0">
                    <a:sym typeface="Wingdings" pitchFamily="2" charset="2"/>
                  </a:rPr>
                  <a:t> times from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𝑌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𝑿</m:t>
                        </m:r>
                      </m:e>
                    </m:d>
                  </m:oMath>
                </a14:m>
                <a:r>
                  <a:rPr lang="en-DE" sz="22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endParaRPr lang="en-DE" sz="22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DE" sz="2200" dirty="0">
                    <a:sym typeface="Wingdings" pitchFamily="2" charset="2"/>
                  </a:rPr>
                  <a:t> </a:t>
                </a:r>
                <a:r>
                  <a:rPr lang="en-GB" sz="2200" dirty="0">
                    <a:sym typeface="Wingdings" pitchFamily="2" charset="2"/>
                  </a:rPr>
                  <a:t>l</a:t>
                </a:r>
                <a:r>
                  <a:rPr lang="en-DE" sz="2200" dirty="0">
                    <a:sym typeface="Wingdings" pitchFamily="2" charset="2"/>
                  </a:rPr>
                  <a:t>ikelihood as product of univariate probability density functions:</a:t>
                </a:r>
              </a:p>
              <a:p>
                <a:pPr marL="0" indent="0">
                  <a:buNone/>
                </a:pPr>
                <a:endParaRPr lang="en-DE" sz="22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GB" sz="2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DE" sz="2200" dirty="0"/>
              </a:p>
              <a:p>
                <a:pPr marL="0" indent="0">
                  <a:buNone/>
                </a:pPr>
                <a:endParaRPr lang="en-DE" sz="2200" dirty="0"/>
              </a:p>
              <a:p>
                <a:pPr marL="0" indent="0">
                  <a:buNone/>
                </a:pPr>
                <a:r>
                  <a:rPr lang="en-DE" sz="2200" dirty="0"/>
                  <a:t>… to be maximized according to estimated model parameters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endParaRPr lang="en-US" sz="2200" b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DE" sz="2200" dirty="0"/>
                  <a:t>(known as maximum likelihood estimation)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FDDA55-280D-23EA-F172-A72AACD4FB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744" b="-1279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1884E-FC06-2625-8D8E-4C79602F8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3827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8DBC-7181-EA20-D228-B57BD1EB6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Negative Log-Likelihood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D50BE1-6E3C-96FF-14B6-FBB141E405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logarithmic transformation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GB" sz="2400" dirty="0">
                    <a:sym typeface="Wingdings" pitchFamily="2" charset="2"/>
                  </a:rPr>
                  <a:t>: </a:t>
                </a:r>
                <a:r>
                  <a:rPr lang="en-GB" sz="2400" dirty="0"/>
                  <a:t>log-likelihood function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sz="2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r>
                  <a:rPr lang="en-GB" sz="2400" dirty="0"/>
                  <a:t>logarithm monotonic function </a:t>
                </a:r>
                <a:r>
                  <a:rPr lang="en-GB" sz="2400" dirty="0">
                    <a:sym typeface="Wingdings" pitchFamily="2" charset="2"/>
                  </a:rPr>
                  <a:t> maximum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GB" sz="2400" dirty="0">
                    <a:sym typeface="Wingding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GB" sz="2400" dirty="0">
                    <a:sym typeface="Wingdings" pitchFamily="2" charset="2"/>
                  </a:rPr>
                  <a:t> at same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en-GB" sz="2400" dirty="0"/>
                  <a:t> values</a:t>
                </a:r>
              </a:p>
              <a:p>
                <a:r>
                  <a:rPr lang="en-GB" sz="2400" dirty="0"/>
                  <a:t>most probability distributions (e.g., exponential family) only logarithmically concave (important for optimization)</a:t>
                </a:r>
              </a:p>
              <a:p>
                <a:r>
                  <a:rPr lang="en-GB" sz="2400" dirty="0"/>
                  <a:t>sum computationally more convenient than product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DE" sz="2400" dirty="0"/>
                  <a:t>negative log-likelihood:</a:t>
                </a:r>
                <a:r>
                  <a:rPr lang="en-DE" sz="2400" dirty="0">
                    <a:sym typeface="Wingdings" pitchFamily="2" charset="2"/>
                  </a:rPr>
                  <a:t> minimization instead of maximization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|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D50BE1-6E3C-96FF-14B6-FBB141E405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9884" b="-29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3ABB5-C09F-871F-F43B-E53B1C04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10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247870-2EBE-384D-F1E4-36BA1902C127}"/>
                  </a:ext>
                </a:extLst>
              </p:cNvPr>
              <p:cNvSpPr txBox="1"/>
              <p:nvPr/>
            </p:nvSpPr>
            <p:spPr>
              <a:xfrm>
                <a:off x="8610600" y="681037"/>
                <a:ext cx="3390243" cy="125085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</a:t>
                </a:r>
                <a:r>
                  <a:rPr lang="en-DE" dirty="0"/>
                  <a:t>odel, e.g., for linear regression: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with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GB" dirty="0"/>
                  <a:t> g</a:t>
                </a:r>
                <a:r>
                  <a:rPr lang="en-DE" dirty="0"/>
                  <a:t>iven in training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DE" dirty="0"/>
                  <a:t> to be estimated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247870-2EBE-384D-F1E4-36BA1902C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681037"/>
                <a:ext cx="3390243" cy="1250855"/>
              </a:xfrm>
              <a:prstGeom prst="rect">
                <a:avLst/>
              </a:prstGeom>
              <a:blipFill>
                <a:blip r:embed="rId3"/>
                <a:stretch>
                  <a:fillRect l="-1866" t="-2000" b="-7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BCCAE4-34C0-7788-FA9B-023B1837371A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7767145" y="1306465"/>
            <a:ext cx="843455" cy="1373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6626CA9-DB03-94F8-2BE7-F9F356C1A3AA}"/>
              </a:ext>
            </a:extLst>
          </p:cNvPr>
          <p:cNvSpPr txBox="1"/>
          <p:nvPr/>
        </p:nvSpPr>
        <p:spPr>
          <a:xfrm>
            <a:off x="4736758" y="6352143"/>
            <a:ext cx="1881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objective function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A44FF520-3933-7B9D-E850-6817B769D990}"/>
              </a:ext>
            </a:extLst>
          </p:cNvPr>
          <p:cNvSpPr/>
          <p:nvPr/>
        </p:nvSpPr>
        <p:spPr>
          <a:xfrm rot="5400000">
            <a:off x="5457502" y="5586047"/>
            <a:ext cx="197837" cy="13427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939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7A19B-C77D-9FE4-9FA2-370D078E5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7CCC17-C9FA-518B-332B-7CA39C1D67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ea typeface="Cambria Math" panose="02040503050406030204" pitchFamily="18" charset="0"/>
                  </a:rPr>
                  <a:t>estimate parameters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solving</a:t>
                </a:r>
              </a:p>
              <a:p>
                <a:pPr marL="0" indent="0">
                  <a:buNone/>
                </a:pPr>
                <a:r>
                  <a:rPr lang="en-US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GB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DE" sz="2400" dirty="0"/>
              </a:p>
              <a:p>
                <a:pPr marL="0" indent="0">
                  <a:buNone/>
                </a:pPr>
                <a:endParaRPr lang="en-DE" sz="2400" dirty="0"/>
              </a:p>
              <a:p>
                <a:pPr>
                  <a:buFont typeface="Wingdings" pitchFamily="2" charset="2"/>
                  <a:buChar char="à"/>
                </a:pPr>
                <a:r>
                  <a:rPr lang="en-DE" sz="2400" dirty="0"/>
                  <a:t> likelihood equations (if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DE" sz="2400" dirty="0"/>
                  <a:t> differentiable in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en-DE" sz="2400" dirty="0"/>
                  <a:t>):</a:t>
                </a:r>
                <a:endParaRPr lang="en-GB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400" i="1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r>
                          <a:rPr lang="en-GB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  </m:t>
                    </m:r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DE" sz="2400" dirty="0"/>
                  <a:t>		(in short: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GB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DE" sz="2400" dirty="0"/>
                  <a:t>)</a:t>
                </a:r>
              </a:p>
              <a:p>
                <a:pPr marL="0" indent="0">
                  <a:buNone/>
                </a:pPr>
                <a:endParaRPr lang="en-DE" sz="2400" dirty="0"/>
              </a:p>
              <a:p>
                <a:pPr marL="0" indent="0">
                  <a:buNone/>
                </a:pPr>
                <a:r>
                  <a:rPr lang="en-GB" sz="2400" dirty="0"/>
                  <a:t>can be solved explicitly for some cases</a:t>
                </a:r>
                <a:r>
                  <a:rPr lang="en-DE" sz="2400" dirty="0"/>
                  <a:t> (e.g., ordinary least squares for linear regression)</a:t>
                </a:r>
              </a:p>
              <a:p>
                <a:pPr marL="0" indent="0">
                  <a:buNone/>
                </a:pPr>
                <a:endParaRPr lang="en-DE" sz="2400" dirty="0"/>
              </a:p>
              <a:p>
                <a:pPr marL="0" indent="0">
                  <a:buNone/>
                </a:pPr>
                <a:r>
                  <a:rPr lang="en-GB" sz="2400" dirty="0"/>
                  <a:t>b</a:t>
                </a:r>
                <a:r>
                  <a:rPr lang="en-DE" sz="2400" dirty="0"/>
                  <a:t>ut usually no closed-form solution</a:t>
                </a:r>
              </a:p>
              <a:p>
                <a:pPr marL="0" indent="0">
                  <a:buNone/>
                </a:pPr>
                <a:r>
                  <a:rPr lang="en-DE" sz="2400" dirty="0">
                    <a:sym typeface="Wingdings" pitchFamily="2" charset="2"/>
                  </a:rPr>
                  <a:t> need for numerical optimization (e.g., gradient descent)</a:t>
                </a:r>
                <a:endParaRPr lang="en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7CCC17-C9FA-518B-332B-7CA39C1D67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74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667A3-D90F-DA12-4A27-3C00790B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11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BD3F00-9194-BD76-8255-E58E5C779207}"/>
                  </a:ext>
                </a:extLst>
              </p:cNvPr>
              <p:cNvSpPr txBox="1"/>
              <p:nvPr/>
            </p:nvSpPr>
            <p:spPr>
              <a:xfrm>
                <a:off x="8429297" y="1027906"/>
                <a:ext cx="3450020" cy="1656928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200" b="1" dirty="0"/>
                  <a:t>least squares method </a:t>
                </a:r>
                <a:r>
                  <a:rPr lang="en-GB" sz="2200" dirty="0"/>
                  <a:t>corresponds to maximum likelihood estimation with </a:t>
                </a:r>
                <a:r>
                  <a:rPr lang="en-GB" sz="2200" b="1" dirty="0"/>
                  <a:t>Gaussian model</a:t>
                </a:r>
                <a:r>
                  <a:rPr lang="en-GB" sz="2200" dirty="0"/>
                  <a:t>:</a:t>
                </a:r>
                <a:r>
                  <a:rPr lang="en-GB" sz="2200" b="1" dirty="0"/>
                  <a:t> </a:t>
                </a:r>
                <a14:m>
                  <m:oMath xmlns:m="http://schemas.openxmlformats.org/officeDocument/2006/math">
                    <m:r>
                      <a:rPr lang="en-GB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GB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num>
                                  <m:den>
                                    <m:acc>
                                      <m:accPr>
                                        <m:chr m:val="̂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BD3F00-9194-BD76-8255-E58E5C779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297" y="1027906"/>
                <a:ext cx="3450020" cy="1656928"/>
              </a:xfrm>
              <a:prstGeom prst="rect">
                <a:avLst/>
              </a:prstGeom>
              <a:blipFill>
                <a:blip r:embed="rId3"/>
                <a:stretch>
                  <a:fillRect l="-2297" t="-2583" b="-66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F883C3A-BB34-A49B-D00B-72B79FC95EE3}"/>
              </a:ext>
            </a:extLst>
          </p:cNvPr>
          <p:cNvSpPr txBox="1"/>
          <p:nvPr/>
        </p:nvSpPr>
        <p:spPr>
          <a:xfrm>
            <a:off x="5119817" y="2345510"/>
            <a:ext cx="195236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mode of likelihood as point estimate</a:t>
            </a:r>
          </a:p>
        </p:txBody>
      </p:sp>
    </p:spTree>
    <p:extLst>
      <p:ext uri="{BB962C8B-B14F-4D97-AF65-F5344CB8AC3E}">
        <p14:creationId xmlns:p14="http://schemas.microsoft.com/office/powerpoint/2010/main" val="1134575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EAA7-0843-1BEC-9F15-A7E513868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Interpretation of 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27594E-9C2A-4D6C-2B14-A5F754A862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maximum likelihood estimation corresponds to minimization of </a:t>
                </a:r>
                <a:r>
                  <a:rPr lang="en-GB" sz="2000" dirty="0" err="1"/>
                  <a:t>Kullback-Leibler</a:t>
                </a:r>
                <a:r>
                  <a:rPr lang="en-GB" sz="2000" dirty="0"/>
                  <a:t> divergence (as well as cross entropy: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GB" sz="2000" dirty="0"/>
                  <a:t>) between true data-generating probability distribution (manifested by empirical distribution of training data) and probability distribution of model:</a:t>
                </a:r>
              </a:p>
              <a:p>
                <a:pPr marL="0" indent="0">
                  <a:buNone/>
                </a:pPr>
                <a:endParaRPr lang="en-GB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model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||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data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data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i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data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i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model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i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data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i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model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i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model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i="1" dirty="0"/>
                  <a:t>make the model distribution match the empirical distribution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(mean squared error corresponds to cross-entropy between empirical distribution and Gaussian model)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27594E-9C2A-4D6C-2B14-A5F754A862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639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EB3FE-E82D-CD71-129A-B09361242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12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34609C-358B-617D-C169-BED96BCAEC49}"/>
                  </a:ext>
                </a:extLst>
              </p:cNvPr>
              <p:cNvSpPr txBox="1"/>
              <p:nvPr/>
            </p:nvSpPr>
            <p:spPr>
              <a:xfrm>
                <a:off x="3977309" y="4273591"/>
                <a:ext cx="2236831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500" dirty="0"/>
                  <a:t>n</a:t>
                </a:r>
                <a:r>
                  <a:rPr lang="en-DE" sz="1500" dirty="0"/>
                  <a:t>o contribution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5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data</m:t>
                        </m:r>
                      </m:sub>
                    </m:sSub>
                  </m:oMath>
                </a14:m>
                <a:endParaRPr lang="en-DE" sz="1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34609C-358B-617D-C169-BED96BCAE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309" y="4273591"/>
                <a:ext cx="2236831" cy="323165"/>
              </a:xfrm>
              <a:prstGeom prst="rect">
                <a:avLst/>
              </a:prstGeom>
              <a:blipFill>
                <a:blip r:embed="rId3"/>
                <a:stretch>
                  <a:fillRect l="-562" t="-3846" b="-2307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E56F0D-43D7-83C2-E2B3-C994107EB71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5095725" y="3920362"/>
            <a:ext cx="32861" cy="353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871DEC-206F-1165-7BA7-1D503A90F78A}"/>
                  </a:ext>
                </a:extLst>
              </p:cNvPr>
              <p:cNvSpPr txBox="1"/>
              <p:nvPr/>
            </p:nvSpPr>
            <p:spPr>
              <a:xfrm>
                <a:off x="1142999" y="4273591"/>
                <a:ext cx="481990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en-DE" sz="1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871DEC-206F-1165-7BA7-1D503A90F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99" y="4273591"/>
                <a:ext cx="481990" cy="230832"/>
              </a:xfrm>
              <a:prstGeom prst="rect">
                <a:avLst/>
              </a:prstGeom>
              <a:blipFill>
                <a:blip r:embed="rId4"/>
                <a:stretch>
                  <a:fillRect l="-7500" b="-526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A0D027-E70A-88AE-E7D3-FE30767CB2AF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383994" y="3920362"/>
            <a:ext cx="0" cy="353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9A971F-7AC8-1FD5-899E-B0742FC7D2DA}"/>
              </a:ext>
            </a:extLst>
          </p:cNvPr>
          <p:cNvSpPr txBox="1"/>
          <p:nvPr/>
        </p:nvSpPr>
        <p:spPr>
          <a:xfrm>
            <a:off x="9827172" y="801994"/>
            <a:ext cx="216513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q</a:t>
            </a:r>
            <a:r>
              <a:rPr lang="en-DE" sz="1600" dirty="0"/>
              <a:t>uantification of difference between two probability distributions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010764-EE49-2055-2DDB-CC8C3B8AD01D}"/>
              </a:ext>
            </a:extLst>
          </p:cNvPr>
          <p:cNvCxnSpPr>
            <a:stCxn id="5" idx="1"/>
          </p:cNvCxnSpPr>
          <p:nvPr/>
        </p:nvCxnSpPr>
        <p:spPr>
          <a:xfrm flipH="1">
            <a:off x="8755117" y="1217493"/>
            <a:ext cx="1072055" cy="608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132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5960BF-0696-F646-3D20-9C943273D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Maximum A Posteriori (MAP) </a:t>
            </a:r>
            <a:r>
              <a:rPr lang="de-DE" dirty="0" err="1"/>
              <a:t>Estimation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387CDE-B64C-E3C9-30E5-80EAB23FC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ACAD2C-B2CC-ABCA-436B-383FF917D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82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6D083-3809-B3F2-5290-94790784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Bayes Theorem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9EF95-A3CC-50C2-FC92-FF2E0B85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14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9C2805-7BBC-38B8-8256-ACF3DC7799F4}"/>
                  </a:ext>
                </a:extLst>
              </p:cNvPr>
              <p:cNvSpPr txBox="1"/>
              <p:nvPr/>
            </p:nvSpPr>
            <p:spPr>
              <a:xfrm>
                <a:off x="3857631" y="2916327"/>
                <a:ext cx="4476738" cy="102534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DE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9C2805-7BBC-38B8-8256-ACF3DC779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631" y="2916327"/>
                <a:ext cx="4476738" cy="1025345"/>
              </a:xfrm>
              <a:prstGeom prst="rect">
                <a:avLst/>
              </a:prstGeom>
              <a:blipFill>
                <a:blip r:embed="rId2"/>
                <a:stretch>
                  <a:fillRect l="-1412" b="-47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4059E9-36C1-0C63-DCC8-3ED5BD95595E}"/>
                  </a:ext>
                </a:extLst>
              </p:cNvPr>
              <p:cNvSpPr txBox="1"/>
              <p:nvPr/>
            </p:nvSpPr>
            <p:spPr>
              <a:xfrm>
                <a:off x="7895675" y="4515613"/>
                <a:ext cx="2383291" cy="120032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p</a:t>
                </a:r>
                <a:r>
                  <a:rPr lang="en-DE" sz="2400" dirty="0"/>
                  <a:t>rior probability (belief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DE" sz="2400" dirty="0"/>
                  <a:t> before evidence)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4059E9-36C1-0C63-DCC8-3ED5BD955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675" y="4515613"/>
                <a:ext cx="2383291" cy="1200329"/>
              </a:xfrm>
              <a:prstGeom prst="rect">
                <a:avLst/>
              </a:prstGeom>
              <a:blipFill>
                <a:blip r:embed="rId3"/>
                <a:stretch>
                  <a:fillRect l="-3704" t="-4167" r="-3704" b="-104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3FF3577-4A01-1DEC-E4B4-75723E488AE3}"/>
              </a:ext>
            </a:extLst>
          </p:cNvPr>
          <p:cNvSpPr txBox="1"/>
          <p:nvPr/>
        </p:nvSpPr>
        <p:spPr>
          <a:xfrm>
            <a:off x="4953001" y="1534005"/>
            <a:ext cx="3763616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DE" sz="2400" dirty="0"/>
              <a:t>likelihood function (</a:t>
            </a:r>
            <a:r>
              <a:rPr lang="en-GB" sz="2400" dirty="0"/>
              <a:t>d</a:t>
            </a:r>
            <a:r>
              <a:rPr lang="en-DE" sz="2400" dirty="0"/>
              <a:t>erived from statistical model)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B1AEB-5B92-AF7F-8213-0C80AC548A6E}"/>
              </a:ext>
            </a:extLst>
          </p:cNvPr>
          <p:cNvSpPr txBox="1"/>
          <p:nvPr/>
        </p:nvSpPr>
        <p:spPr>
          <a:xfrm>
            <a:off x="1361662" y="4515613"/>
            <a:ext cx="2845420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p</a:t>
            </a:r>
            <a:r>
              <a:rPr lang="en-DE" sz="2400" dirty="0"/>
              <a:t>osterior probability (belief updated with observed evidence)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30F36AA-B964-BEBF-8893-D8AE7C77D47B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2784372" y="3710152"/>
            <a:ext cx="1373943" cy="805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B6A5EC-D8D8-2627-1F0B-C09E9824887E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316717" y="2365002"/>
            <a:ext cx="518092" cy="551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FCC376-1AB2-5E5F-C5E8-C82BBEF5FAF4}"/>
              </a:ext>
            </a:extLst>
          </p:cNvPr>
          <p:cNvCxnSpPr>
            <a:cxnSpLocks/>
          </p:cNvCxnSpPr>
          <p:nvPr/>
        </p:nvCxnSpPr>
        <p:spPr>
          <a:xfrm flipH="1" flipV="1">
            <a:off x="7655481" y="3364343"/>
            <a:ext cx="1691999" cy="1162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29414B7-24A4-506D-E649-FF8975144AED}"/>
              </a:ext>
            </a:extLst>
          </p:cNvPr>
          <p:cNvSpPr txBox="1"/>
          <p:nvPr/>
        </p:nvSpPr>
        <p:spPr>
          <a:xfrm>
            <a:off x="4851674" y="4522288"/>
            <a:ext cx="2533100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new data</a:t>
            </a:r>
            <a:r>
              <a:rPr lang="en-DE" sz="2400" dirty="0"/>
              <a:t> (same for all hypotheses </a:t>
            </a:r>
            <a:r>
              <a:rPr lang="en-DE" sz="2400" dirty="0">
                <a:sym typeface="Wingdings" pitchFamily="2" charset="2"/>
              </a:rPr>
              <a:t> uninteresting</a:t>
            </a:r>
            <a:r>
              <a:rPr lang="en-DE" sz="2400" dirty="0"/>
              <a:t>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9B76951-6349-FEB7-9787-2CE26595D181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6118224" y="3941672"/>
            <a:ext cx="663577" cy="580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C24B1E-3649-640C-30E1-D8472BCE486C}"/>
                  </a:ext>
                </a:extLst>
              </p:cNvPr>
              <p:cNvSpPr txBox="1"/>
              <p:nvPr/>
            </p:nvSpPr>
            <p:spPr>
              <a:xfrm>
                <a:off x="537178" y="1926888"/>
                <a:ext cx="303333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2400" dirty="0"/>
                  <a:t>: hypothesis (model)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2400" dirty="0"/>
                  <a:t>: evidence (data)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C24B1E-3649-640C-30E1-D8472BCE4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78" y="1926888"/>
                <a:ext cx="3033331" cy="830997"/>
              </a:xfrm>
              <a:prstGeom prst="rect">
                <a:avLst/>
              </a:prstGeom>
              <a:blipFill>
                <a:blip r:embed="rId4"/>
                <a:stretch>
                  <a:fillRect l="-417" t="-4545" r="-2083" b="-166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701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3E2E1-F339-3C33-E4A0-683C32176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Bayes Theorem for Parameter Estimation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C5BFA-CF2B-7911-694F-414613AA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15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C3602-ADE5-3B79-4950-D589D25138B6}"/>
              </a:ext>
            </a:extLst>
          </p:cNvPr>
          <p:cNvSpPr txBox="1"/>
          <p:nvPr/>
        </p:nvSpPr>
        <p:spPr>
          <a:xfrm>
            <a:off x="7751379" y="4070992"/>
            <a:ext cx="4280338" cy="193899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p</a:t>
            </a:r>
            <a:r>
              <a:rPr lang="en-DE" sz="2400" dirty="0"/>
              <a:t>rior (e.g., broad Gaussian):</a:t>
            </a:r>
          </a:p>
          <a:p>
            <a:r>
              <a:rPr lang="en-GB" sz="2400" dirty="0"/>
              <a:t>p</a:t>
            </a:r>
            <a:r>
              <a:rPr lang="en-DE" sz="2400" dirty="0"/>
              <a:t>robability distribution reflecting initial belief about uncertain parameters (</a:t>
            </a:r>
            <a:r>
              <a:rPr lang="en-GB" sz="2400" dirty="0"/>
              <a:t>helps to reduce variance with few data)</a:t>
            </a:r>
            <a:endParaRPr lang="en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C9204A-4D87-9839-B209-4A7B55591244}"/>
                  </a:ext>
                </a:extLst>
              </p:cNvPr>
              <p:cNvSpPr txBox="1"/>
              <p:nvPr/>
            </p:nvSpPr>
            <p:spPr>
              <a:xfrm>
                <a:off x="3280320" y="1543667"/>
                <a:ext cx="5631360" cy="120032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</a:t>
                </a:r>
                <a:r>
                  <a:rPr lang="en-DE" sz="2400" dirty="0"/>
                  <a:t>ata likelihood:</a:t>
                </a:r>
              </a:p>
              <a:p>
                <a:r>
                  <a:rPr lang="en-GB" sz="2400" dirty="0"/>
                  <a:t>m</a:t>
                </a:r>
                <a:r>
                  <a:rPr lang="en-DE" sz="2400" dirty="0"/>
                  <a:t>odel (function of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DE" sz="2400" dirty="0"/>
                  <a:t> with data fixed), e.g., for linear regression: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DE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C9204A-4D87-9839-B209-4A7B55591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20" y="1543667"/>
                <a:ext cx="5631360" cy="1200329"/>
              </a:xfrm>
              <a:prstGeom prst="rect">
                <a:avLst/>
              </a:prstGeom>
              <a:blipFill>
                <a:blip r:embed="rId2"/>
                <a:stretch>
                  <a:fillRect l="-1802" t="-4167" r="-2477" b="-114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4F47A30-ABFA-32C4-0285-3FEE6345CF30}"/>
              </a:ext>
            </a:extLst>
          </p:cNvPr>
          <p:cNvSpPr txBox="1"/>
          <p:nvPr/>
        </p:nvSpPr>
        <p:spPr>
          <a:xfrm>
            <a:off x="160282" y="4070992"/>
            <a:ext cx="4501170" cy="193899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p</a:t>
            </a:r>
            <a:r>
              <a:rPr lang="en-DE" sz="2400" dirty="0"/>
              <a:t>osterior:</a:t>
            </a:r>
          </a:p>
          <a:p>
            <a:r>
              <a:rPr lang="en-GB" sz="2400" dirty="0"/>
              <a:t>p</a:t>
            </a:r>
            <a:r>
              <a:rPr lang="en-DE" sz="2400" dirty="0"/>
              <a:t>robability distribution reflecting the effect of data on prior belief about parameters </a:t>
            </a:r>
            <a:r>
              <a:rPr lang="en-GB" sz="2400" dirty="0"/>
              <a:t>(increasing certainty with new evidence</a:t>
            </a:r>
            <a:r>
              <a:rPr lang="en-DE" sz="2400" dirty="0"/>
              <a:t>)</a:t>
            </a:r>
            <a:endParaRPr lang="en-GB" sz="2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4FF4A4-E971-123F-6E1C-A1FDAB52118A}"/>
              </a:ext>
            </a:extLst>
          </p:cNvPr>
          <p:cNvCxnSpPr>
            <a:cxnSpLocks/>
            <a:stCxn id="7" idx="0"/>
            <a:endCxn id="20" idx="1"/>
          </p:cNvCxnSpPr>
          <p:nvPr/>
        </p:nvCxnSpPr>
        <p:spPr>
          <a:xfrm flipV="1">
            <a:off x="2410867" y="3626371"/>
            <a:ext cx="1052292" cy="444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E49E3D-A61D-1FE6-3F30-8C499197543F}"/>
              </a:ext>
            </a:extLst>
          </p:cNvPr>
          <p:cNvCxnSpPr>
            <a:cxnSpLocks/>
            <a:stCxn id="6" idx="2"/>
            <a:endCxn id="20" idx="0"/>
          </p:cNvCxnSpPr>
          <p:nvPr/>
        </p:nvCxnSpPr>
        <p:spPr>
          <a:xfrm>
            <a:off x="6096000" y="2743996"/>
            <a:ext cx="0" cy="589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08D47F-ADC3-C1B6-C958-BCE0FCAD0EDA}"/>
              </a:ext>
            </a:extLst>
          </p:cNvPr>
          <p:cNvCxnSpPr>
            <a:cxnSpLocks/>
            <a:stCxn id="5" idx="0"/>
            <a:endCxn id="20" idx="3"/>
          </p:cNvCxnSpPr>
          <p:nvPr/>
        </p:nvCxnSpPr>
        <p:spPr>
          <a:xfrm flipH="1" flipV="1">
            <a:off x="8728841" y="3626371"/>
            <a:ext cx="1162707" cy="444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6B289F-AEA2-8D88-BBA5-D51F72AA053A}"/>
                  </a:ext>
                </a:extLst>
              </p:cNvPr>
              <p:cNvSpPr txBox="1"/>
              <p:nvPr/>
            </p:nvSpPr>
            <p:spPr>
              <a:xfrm>
                <a:off x="3463159" y="3333983"/>
                <a:ext cx="5265682" cy="5847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∙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DE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6B289F-AEA2-8D88-BBA5-D51F72AA0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159" y="3333983"/>
                <a:ext cx="5265682" cy="584775"/>
              </a:xfrm>
              <a:prstGeom prst="rect">
                <a:avLst/>
              </a:prstGeom>
              <a:blipFill>
                <a:blip r:embed="rId3"/>
                <a:stretch>
                  <a:fillRect b="-208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A0A4C12-CCAF-751F-2A33-5A56DC547F8E}"/>
                  </a:ext>
                </a:extLst>
              </p:cNvPr>
              <p:cNvSpPr txBox="1"/>
              <p:nvPr/>
            </p:nvSpPr>
            <p:spPr>
              <a:xfrm>
                <a:off x="4999439" y="5040488"/>
                <a:ext cx="2413952" cy="11398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to be compared to f</a:t>
                </a:r>
                <a:r>
                  <a:rPr lang="en-DE" sz="2200" dirty="0"/>
                  <a:t>requentist point estimates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DE" sz="2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endParaRPr lang="en-DE" sz="2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A0A4C12-CCAF-751F-2A33-5A56DC547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439" y="5040488"/>
                <a:ext cx="2413952" cy="1139864"/>
              </a:xfrm>
              <a:prstGeom prst="rect">
                <a:avLst/>
              </a:prstGeom>
              <a:blipFill>
                <a:blip r:embed="rId4"/>
                <a:stretch>
                  <a:fillRect l="-3125" t="-3261" r="-3646" b="-760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DEF0F421-DCCA-25DE-84E8-5D7AF51C10C1}"/>
              </a:ext>
            </a:extLst>
          </p:cNvPr>
          <p:cNvSpPr txBox="1"/>
          <p:nvPr/>
        </p:nvSpPr>
        <p:spPr>
          <a:xfrm>
            <a:off x="838200" y="6245232"/>
            <a:ext cx="3823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b="1" dirty="0" err="1"/>
              <a:t>Bayesian</a:t>
            </a:r>
            <a:r>
              <a:rPr lang="de-DE" sz="2400" b="1" dirty="0"/>
              <a:t> </a:t>
            </a:r>
            <a:r>
              <a:rPr lang="de-DE" sz="2400" b="1" dirty="0" err="1"/>
              <a:t>updating</a:t>
            </a:r>
            <a:endParaRPr lang="de-DE" sz="2400" b="1" dirty="0"/>
          </a:p>
        </p:txBody>
      </p:sp>
    </p:spTree>
    <p:extLst>
      <p:ext uri="{BB962C8B-B14F-4D97-AF65-F5344CB8AC3E}">
        <p14:creationId xmlns:p14="http://schemas.microsoft.com/office/powerpoint/2010/main" val="1127102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3B02-B7DF-1814-9149-5779531B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Bayesian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Frequentist</a:t>
            </a:r>
            <a:r>
              <a:rPr lang="de-DE" dirty="0"/>
              <a:t> View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03EFA-AED7-F3D0-B414-D286C62364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300" dirty="0"/>
                  <a:t>f</a:t>
                </a:r>
                <a:r>
                  <a:rPr lang="en-DE" sz="2300" dirty="0"/>
                  <a:t>requentist perspective:</a:t>
                </a:r>
              </a:p>
              <a:p>
                <a:r>
                  <a:rPr lang="en-GB" sz="2300" dirty="0"/>
                  <a:t>true model parameters </a:t>
                </a:r>
                <a14:m>
                  <m:oMath xmlns:m="http://schemas.openxmlformats.org/officeDocument/2006/math">
                    <m:r>
                      <a:rPr lang="en-US" sz="23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GB" sz="2300" dirty="0"/>
                  <a:t> fixed (but unknown </a:t>
                </a:r>
                <a:r>
                  <a:rPr lang="en-GB" sz="2300" dirty="0">
                    <a:sym typeface="Wingdings" pitchFamily="2" charset="2"/>
                  </a:rPr>
                  <a:t> </a:t>
                </a:r>
                <a:r>
                  <a:rPr lang="en-GB" sz="2300" dirty="0"/>
                  <a:t>uncertain point estimates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3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3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en-GB" sz="2300" dirty="0"/>
                  <a:t>)</a:t>
                </a:r>
                <a:endParaRPr lang="en-DE" sz="2300" dirty="0"/>
              </a:p>
              <a:p>
                <a:r>
                  <a:rPr lang="en-GB" sz="2300" dirty="0"/>
                  <a:t>data set from random sampling</a:t>
                </a:r>
                <a:endParaRPr lang="en-DE" sz="2300" dirty="0"/>
              </a:p>
              <a:p>
                <a:pPr marL="0" indent="0">
                  <a:buNone/>
                </a:pPr>
                <a:endParaRPr lang="en-DE" sz="2300" dirty="0"/>
              </a:p>
              <a:p>
                <a:pPr marL="0" indent="0">
                  <a:buNone/>
                </a:pPr>
                <a:r>
                  <a:rPr lang="en-DE" sz="2300" dirty="0"/>
                  <a:t>Bayesian perspective:</a:t>
                </a:r>
              </a:p>
              <a:p>
                <a:r>
                  <a:rPr lang="en-GB" sz="2300" dirty="0"/>
                  <a:t>true model parameters </a:t>
                </a:r>
                <a14:m>
                  <m:oMath xmlns:m="http://schemas.openxmlformats.org/officeDocument/2006/math">
                    <m:r>
                      <a:rPr lang="en-US" sz="23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GB" sz="2300" dirty="0"/>
                  <a:t> random (estimation of full distributions over parameters)</a:t>
                </a:r>
                <a:endParaRPr lang="en-DE" sz="2300" dirty="0"/>
              </a:p>
              <a:p>
                <a:r>
                  <a:rPr lang="en-GB" sz="2300" dirty="0"/>
                  <a:t>data not random (observed)</a:t>
                </a:r>
                <a:endParaRPr lang="en-DE" sz="23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03EFA-AED7-F3D0-B414-D286C62364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74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C8E45-50AA-84E3-44A4-C716186B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81321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360D385-E370-58B5-7B4B-6F581264FDB9}"/>
              </a:ext>
            </a:extLst>
          </p:cNvPr>
          <p:cNvSpPr/>
          <p:nvPr/>
        </p:nvSpPr>
        <p:spPr>
          <a:xfrm>
            <a:off x="2435190" y="3322966"/>
            <a:ext cx="7324825" cy="11543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C0417B-6781-3415-D71A-B1EF18939A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200" dirty="0"/>
                  <a:t>frequentist maximum likelihood estimation: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MLE</m:t>
                              </m:r>
                            </m:sub>
                          </m:sSub>
                          <m:r>
                            <a:rPr lang="en-US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GB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GB" sz="2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2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;</m:t>
                          </m:r>
                          <m:acc>
                            <m:accPr>
                              <m:chr m:val="̂"/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GB" sz="2200" dirty="0"/>
              </a:p>
              <a:p>
                <a:pPr marL="0" indent="0">
                  <a:buNone/>
                </a:pPr>
                <a:endParaRPr lang="en-GB" sz="2200" dirty="0"/>
              </a:p>
              <a:p>
                <a:pPr marL="0" indent="0">
                  <a:buNone/>
                </a:pPr>
                <a:r>
                  <a:rPr lang="en-GB" sz="2200" dirty="0"/>
                  <a:t>maximum a posteriori estimation as alternative applying Bayes theorem: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AP</m:t>
                              </m:r>
                            </m:sub>
                          </m:sSub>
                          <m:r>
                            <a:rPr lang="en-US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f>
                        <m:fPr>
                          <m:ctrlPr>
                            <a:rPr lang="en-GB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</m:d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GB" sz="2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2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𝝑</m:t>
                                  </m:r>
                                </m:e>
                              </m:d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𝝑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𝝑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;</m:t>
                          </m:r>
                          <m:acc>
                            <m:accPr>
                              <m:chr m:val="̂"/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</m:d>
                      <m:r>
                        <a:rPr lang="en-U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GB" sz="2200" dirty="0"/>
              </a:p>
              <a:p>
                <a:pPr marL="0" indent="0">
                  <a:buNone/>
                </a:pPr>
                <a:endParaRPr lang="en-GB" sz="2200" dirty="0"/>
              </a:p>
              <a:p>
                <a:pPr marL="0" indent="0">
                  <a:buNone/>
                </a:pPr>
                <a:endParaRPr lang="en-GB" sz="2200" dirty="0"/>
              </a:p>
              <a:p>
                <a:r>
                  <a:rPr lang="en-GB" sz="2200" dirty="0"/>
                  <a:t>approximation to Bayesian inference (using mode of posterior distribution)</a:t>
                </a:r>
              </a:p>
              <a:p>
                <a:r>
                  <a:rPr lang="en-GB" sz="2200" dirty="0"/>
                  <a:t>maximum likelihood special case of maximum a posteriori estimation with uniform prior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C0417B-6781-3415-D71A-B1EF18939A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744" b="-348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5FAEBE6-858F-A756-A947-07C5182A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DE" dirty="0"/>
              <a:t>aximum a Posteriori Estimation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1F38A-BCE2-B8EE-627F-968762F8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17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510C6-7C6F-3FCD-35FC-D4E1C7323FB4}"/>
              </a:ext>
            </a:extLst>
          </p:cNvPr>
          <p:cNvSpPr txBox="1"/>
          <p:nvPr/>
        </p:nvSpPr>
        <p:spPr>
          <a:xfrm>
            <a:off x="6798451" y="4698868"/>
            <a:ext cx="21307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/>
              <a:t>p</a:t>
            </a:r>
            <a:r>
              <a:rPr lang="en-DE" sz="2200" dirty="0"/>
              <a:t>rior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845B9D-D3B9-660E-11B8-82566C584F6A}"/>
              </a:ext>
            </a:extLst>
          </p:cNvPr>
          <p:cNvSpPr txBox="1"/>
          <p:nvPr/>
        </p:nvSpPr>
        <p:spPr>
          <a:xfrm>
            <a:off x="1485935" y="4698868"/>
            <a:ext cx="26199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/>
              <a:t>p</a:t>
            </a:r>
            <a:r>
              <a:rPr lang="en-DE" sz="2200" dirty="0"/>
              <a:t>osterior distribution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7B0125-14CE-67A9-68AB-231D17BB3005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795909" y="3936733"/>
            <a:ext cx="1809347" cy="762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0A18A8-8E65-89FC-B7D3-9C9EAEC1B134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421078" y="4520617"/>
            <a:ext cx="442761" cy="178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36F56FE-2433-6CFB-5B96-47582FDFF757}"/>
              </a:ext>
            </a:extLst>
          </p:cNvPr>
          <p:cNvSpPr txBox="1"/>
          <p:nvPr/>
        </p:nvSpPr>
        <p:spPr>
          <a:xfrm>
            <a:off x="5218968" y="4698868"/>
            <a:ext cx="1294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200" dirty="0"/>
              <a:t>likelihood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749784-4184-2032-3AF2-0822AC814CF7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5866197" y="4483424"/>
            <a:ext cx="101466" cy="215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EB84F89-5FF0-36FD-E5EB-28CC45256527}"/>
              </a:ext>
            </a:extLst>
          </p:cNvPr>
          <p:cNvSpPr txBox="1"/>
          <p:nvPr/>
        </p:nvSpPr>
        <p:spPr>
          <a:xfrm>
            <a:off x="6865756" y="1484490"/>
            <a:ext cx="1881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objective function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BB2BA8-C18D-23AA-2B95-9F93566488B7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806559" y="1853822"/>
            <a:ext cx="147144" cy="332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483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A6D956-3E5E-37E1-3B78-F5E866E4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Confidence </a:t>
            </a:r>
            <a:r>
              <a:rPr lang="de-DE" dirty="0" err="1"/>
              <a:t>Intervals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176BB4-916C-073F-7845-226577B31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9043C9-882E-F87C-FBEE-6D021421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716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D64CC6-3F21-81E7-D70C-086C5BA6B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Hypothesis </a:t>
            </a:r>
            <a:r>
              <a:rPr lang="de-DE" dirty="0" err="1"/>
              <a:t>Testing</a:t>
            </a:r>
            <a:r>
              <a:rPr lang="de-DE" dirty="0"/>
              <a:t> Framework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4D66D5-120C-0371-AE51-2920254EA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ED5D70-8F36-C6E3-87D3-94815044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881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EF6B0E-748E-0880-8525-9D657C075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statsmodels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9C05E0-BB28-CDA4-FA7A-F3680EA2E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6482F9-135D-36BE-286D-CCF26BB3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69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DEDC3-EB7D-D99E-1932-637E0645F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Models in </a:t>
            </a:r>
            <a:r>
              <a:rPr lang="de-DE" dirty="0" err="1"/>
              <a:t>statsmodels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B787FA-9090-8915-5CE1-332A4B3F1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1EF5CC-3BAC-B082-7191-A8A5B9D5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8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C9EB93-7610-B16A-1031-FB86BF1C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Interpreting</a:t>
            </a:r>
            <a:r>
              <a:rPr lang="de-DE" dirty="0"/>
              <a:t> Statistical Output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E1F2CE-8B9C-967D-E3F5-EBDEC2697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2B1CB0-D86C-BFCC-4CDA-7933DECE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6944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</Words>
  <Application>Microsoft Macintosh PowerPoint</Application>
  <PresentationFormat>Breitbild</PresentationFormat>
  <Paragraphs>158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22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Statistical Inference</vt:lpstr>
      <vt:lpstr>Course Schedule</vt:lpstr>
      <vt:lpstr>Statistical Inference</vt:lpstr>
      <vt:lpstr>Parameter Estimation</vt:lpstr>
      <vt:lpstr>Least Squares Estimation</vt:lpstr>
      <vt:lpstr>Loss Functions and Optimization</vt:lpstr>
      <vt:lpstr>Maximum Likelihood Estimation (MLE)</vt:lpstr>
      <vt:lpstr>Likelihood</vt:lpstr>
      <vt:lpstr>Independence Assumption</vt:lpstr>
      <vt:lpstr>Negative Log-Likelihood</vt:lpstr>
      <vt:lpstr>Maximum Likelihood</vt:lpstr>
      <vt:lpstr>Interpretation of Maximum Likelihood</vt:lpstr>
      <vt:lpstr>Maximum A Posteriori (MAP) Estimation</vt:lpstr>
      <vt:lpstr>Bayes Theorem</vt:lpstr>
      <vt:lpstr>Bayes Theorem for Parameter Estimation</vt:lpstr>
      <vt:lpstr>Bayesian vs Frequentist View</vt:lpstr>
      <vt:lpstr>Maximum a Posteriori Estimation</vt:lpstr>
      <vt:lpstr>Confidence Intervals</vt:lpstr>
      <vt:lpstr>Hypothesis Testing Framework</vt:lpstr>
      <vt:lpstr>Introduction to statsmodels</vt:lpstr>
      <vt:lpstr>Linear Models in statsmodels</vt:lpstr>
      <vt:lpstr>Interpreting Statistical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Learning</dc:title>
  <dc:creator>Felix Wick</dc:creator>
  <cp:lastModifiedBy>Felix Wick</cp:lastModifiedBy>
  <cp:revision>282</cp:revision>
  <dcterms:created xsi:type="dcterms:W3CDTF">2022-07-19T12:56:51Z</dcterms:created>
  <dcterms:modified xsi:type="dcterms:W3CDTF">2026-04-16T19:53:49Z</dcterms:modified>
</cp:coreProperties>
</file>