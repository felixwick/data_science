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</p:sldMasterIdLst>
  <p:notesMasterIdLst>
    <p:notesMasterId r:id="rId43"/>
  </p:notesMasterIdLst>
  <p:sldIdLst>
    <p:sldId id="256" r:id="rId3"/>
    <p:sldId id="265" r:id="rId4"/>
    <p:sldId id="678" r:id="rId5"/>
    <p:sldId id="679" r:id="rId6"/>
    <p:sldId id="680" r:id="rId7"/>
    <p:sldId id="681" r:id="rId8"/>
    <p:sldId id="682" r:id="rId9"/>
    <p:sldId id="683" r:id="rId10"/>
    <p:sldId id="261" r:id="rId11"/>
    <p:sldId id="262" r:id="rId12"/>
    <p:sldId id="258" r:id="rId13"/>
    <p:sldId id="259" r:id="rId14"/>
    <p:sldId id="267" r:id="rId15"/>
    <p:sldId id="655" r:id="rId16"/>
    <p:sldId id="269" r:id="rId17"/>
    <p:sldId id="674" r:id="rId18"/>
    <p:sldId id="673" r:id="rId19"/>
    <p:sldId id="684" r:id="rId20"/>
    <p:sldId id="263" r:id="rId21"/>
    <p:sldId id="662" r:id="rId22"/>
    <p:sldId id="654" r:id="rId23"/>
    <p:sldId id="264" r:id="rId24"/>
    <p:sldId id="272" r:id="rId25"/>
    <p:sldId id="685" r:id="rId26"/>
    <p:sldId id="686" r:id="rId27"/>
    <p:sldId id="633" r:id="rId28"/>
    <p:sldId id="687" r:id="rId29"/>
    <p:sldId id="688" r:id="rId30"/>
    <p:sldId id="689" r:id="rId31"/>
    <p:sldId id="690" r:id="rId32"/>
    <p:sldId id="691" r:id="rId33"/>
    <p:sldId id="692" r:id="rId34"/>
    <p:sldId id="693" r:id="rId35"/>
    <p:sldId id="694" r:id="rId36"/>
    <p:sldId id="695" r:id="rId37"/>
    <p:sldId id="696" r:id="rId38"/>
    <p:sldId id="653" r:id="rId39"/>
    <p:sldId id="650" r:id="rId40"/>
    <p:sldId id="651" r:id="rId41"/>
    <p:sldId id="675" r:id="rId4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C66C9-5AC4-D143-AC41-EFC203E0D535}" type="datetimeFigureOut">
              <a:rPr lang="en-DE" smtClean="0"/>
              <a:t>1/11/26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C7FF37-7D95-D74E-86BF-38AD4F48E8EF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4376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0F51-BC67-2409-5F67-B90E1BB44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191858-70D0-583D-ED82-C3684708D6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A1CDB-6353-C385-5D49-78169BEEF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12DCE-6557-4F4C-9EF2-71954FC5C5C0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807C3-C7C3-F0DE-8EE3-EE1768468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78F38-7E07-8F40-0864-1E14DC528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9608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8ADF2-CDD1-B7BB-2C71-874A47856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035BC-CF8A-41DD-0063-BFB41F376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4FE1FA-E2C8-27BE-9FE6-067BEA50E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0C701-1A57-C948-B28D-AF931FF78AF3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375AA4-0BEE-D479-0FE0-0AFF82A6A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4274-8578-84D6-55CA-4BAC7E932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02036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63EC4-0F4F-8772-ABF8-AEF9376E3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BD8187-44EB-6A3A-46E2-3726C3ABE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AC51F-AFB2-A90A-B5D7-FD81BFA1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F2D68-AC2E-EA4A-974C-16395F5BD9DD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ABE97-82C1-E587-CBF8-F3C6EDA58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59A96-50D2-95E1-412B-F3BA70D12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51034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6FB11-A74C-2554-F62A-C5140CB12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E2C16-F5D6-4105-C754-3C5196552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CC8314-2785-130B-7A97-591B06F79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E51AD-3153-BBAE-48D4-D1D442728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9811-4ACB-234E-BFAA-6F05033E0D52}" type="datetime1">
              <a:rPr lang="de-DE" smtClean="0"/>
              <a:t>11.01.26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9CBD8-995A-2163-3652-468FB7730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F39B2-F870-46EE-4D5D-ABC2DAEBC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73631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430C3-B001-38B8-EC6C-BF661EC1F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6E69B-F009-2D6E-3072-C41E82B3F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8A491E-2EF4-C732-7643-2047CCFC5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E19183-8D77-ECBF-751F-495BF65075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F09BFA-480E-0759-3F2D-C88A6B9A4F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B4074E-B383-D113-A345-F23714983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557C-09A3-C548-BB01-1F0212DED143}" type="datetime1">
              <a:rPr lang="de-DE" smtClean="0"/>
              <a:t>11.01.26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F5375-5874-EB2B-20A6-016CD3A17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CD1E79-6EDD-DC9F-02F1-FBFDEA33D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803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390DA-25AC-59F5-C616-595691E03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CF12C1-3A24-6170-EB04-5815F0ECB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86379-B67D-864C-959F-C9FC3FCCE377}" type="datetime1">
              <a:rPr lang="de-DE" smtClean="0"/>
              <a:t>11.01.26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BF9F80-9DD6-E3ED-15E3-6BA7D368D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69ADA8-8EE0-D015-3CEC-4D82781EB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5910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A67105-A324-0B93-5889-024E1CFC4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DF66D-D36A-554E-ABAF-BAB3214E8E46}" type="datetime1">
              <a:rPr lang="de-DE" smtClean="0"/>
              <a:t>11.01.26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E4514B-14E9-EFC4-2808-F1B65C84D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1A3F3-E5F4-ACCB-AFDB-D84F6470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54372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27A54-D1EF-8939-7E48-301413EA9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6DA8C-F9F3-1A88-E1DE-A85EDD539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FE6A4-9C67-B29E-8A97-3B9A38EC9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F80F4D-235A-CAE8-699E-CAE520958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8A7-13F1-C747-8421-8AD2AC70E301}" type="datetime1">
              <a:rPr lang="de-DE" smtClean="0"/>
              <a:t>11.01.26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102C4C-A238-472B-58D6-C028CD135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A31887-A193-67E1-2111-12DCE025C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98340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5B630-3DB7-FEE8-67EB-6F542F407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985760-D748-A4BE-014B-820E025F28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AE076-873D-6FDE-B1AA-DB1A13AE2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E7A09-2345-FC83-D197-4FF669D09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FD949-D71E-274F-984C-986551850ABF}" type="datetime1">
              <a:rPr lang="de-DE" smtClean="0"/>
              <a:t>11.01.26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0718D-AB47-58BA-697D-8C65A6725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3EBED5-A0B1-61A8-3715-A1CA2E016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99564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40C68-A760-D8EA-6E64-E8A219931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F60652-B859-E333-FD28-424265CE3E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18ADFC-648E-8F24-7BE3-D1402F168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0504E-081E-2244-82EF-59857EECA44C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3414B-460A-1653-67ED-E095393F9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0868E-8B04-29D5-843D-E5434A132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1835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BBE8B8-834E-7405-4978-B3D2E7892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C3733-D8F0-914A-8934-8848898495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4AE9F-8C5D-B6C8-6A2E-F8D7A18AD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F15A8-F6C0-3340-9E29-5B7EE8A425EE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65327-8235-7CF1-158B-E05AD3AB5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33F68-6794-ECAB-FF79-0293F32B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9944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641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2871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60400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9746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11/01/2026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3492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11/01/2026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76030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11/01/2026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4221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9450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11/01/2026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195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35266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78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628460-306B-90BC-C78B-8E80BC880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5FD271-3E00-3A58-82FC-399E735F2D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E739F-D39E-1065-6A79-A9A8348BFB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C0196-C149-3543-A854-7AE4E991F7BB}" type="datetime1">
              <a:rPr lang="de-DE" smtClean="0"/>
              <a:t>11.01.26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42B9E-D9E9-C53B-C325-E1066A9D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9EC1-8370-9C52-D2A8-A7F2D3691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22046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11/01/2026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7791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eeplearningbook.org/contents/numerical.html" TargetMode="External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jeremyjordan.me/nn-learning-rate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Statistical Inference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19F86A3F-863F-29A5-F8B5-213D6426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12B5ABE-485E-EDC2-E965-111CD5115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parameter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, least </a:t>
            </a:r>
            <a:r>
              <a:rPr lang="de-DE" dirty="0" err="1"/>
              <a:t>squares</a:t>
            </a:r>
            <a:endParaRPr lang="de-DE" dirty="0"/>
          </a:p>
          <a:p>
            <a:r>
              <a:rPr lang="de-DE" dirty="0"/>
              <a:t>maximum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, MAP</a:t>
            </a:r>
          </a:p>
          <a:p>
            <a:r>
              <a:rPr lang="de-DE" dirty="0" err="1"/>
              <a:t>hypothesis</a:t>
            </a:r>
            <a:r>
              <a:rPr lang="de-DE" dirty="0"/>
              <a:t> </a:t>
            </a:r>
            <a:r>
              <a:rPr lang="de-DE" dirty="0" err="1"/>
              <a:t>testing</a:t>
            </a:r>
            <a:endParaRPr lang="de-DE" dirty="0"/>
          </a:p>
          <a:p>
            <a:r>
              <a:rPr lang="de-DE" dirty="0" err="1"/>
              <a:t>statsmodels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8F3FC7B-F7BA-900D-038F-C269A44A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935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94800B-B9F7-36D5-E95C-BB85D5DF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Statistical </a:t>
            </a:r>
            <a:r>
              <a:rPr lang="de-DE" dirty="0" err="1"/>
              <a:t>Inference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DF5A3A2-4EB9-E23C-C313-18AA7E3BD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05A4913-51A4-7049-FF34-15DC1E845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135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AAF2FE-21B6-4D93-5A98-6C727A703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Estimation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Prediction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11D64C-EA57-1736-EB7D-B8741E2B0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F29F84-CC6D-C552-0195-88DC1DF15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4415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7E0819-F09F-219D-494D-C0676A4AF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Parameter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99F8A3-CB23-5AD0-E2C5-CA9C2CC58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5C04F6-8F49-62DE-9D9D-CAFE55D4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2257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BD2DB9-A134-FF7E-C8BA-64FE53A5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Least Squares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FD89AB-9049-BF80-08EB-4562A5C98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B8C9E3-A4A1-62CE-7490-26C9E0C7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196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FD234-B2B0-8F19-1D5F-C84B9BF98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Loss </a:t>
            </a:r>
            <a:r>
              <a:rPr lang="de-DE" dirty="0" err="1"/>
              <a:t>Functions</a:t>
            </a:r>
            <a:r>
              <a:rPr lang="de-DE" dirty="0"/>
              <a:t> and </a:t>
            </a:r>
            <a:r>
              <a:rPr lang="de-DE" dirty="0" err="1"/>
              <a:t>Optimization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FB1DE5-55FB-B039-D4C1-82720EF56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EBBF11-72D6-A819-6FEA-934A8EAA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540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C60C8-D3F0-10A2-028C-BF3C919E1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Loss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D41991-7CB0-7CB3-CBB7-1C694B2F24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600" dirty="0"/>
                  <a:t>loss 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sz="2600" dirty="0"/>
                  <a:t>: expressing d</a:t>
                </a:r>
                <a:r>
                  <a:rPr lang="en-DE" sz="2600" dirty="0"/>
                  <a:t>eviation between prediction and target</a:t>
                </a:r>
              </a:p>
              <a:p>
                <a:pPr marL="0" indent="0">
                  <a:buNone/>
                </a:pPr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DE" sz="2600" dirty="0"/>
              </a:p>
              <a:p>
                <a:pPr marL="0" indent="0">
                  <a:buNone/>
                </a:pPr>
                <a:r>
                  <a:rPr lang="en-DE" sz="2600" dirty="0"/>
                  <a:t>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600" dirty="0"/>
                  <a:t> corresponding to p</a:t>
                </a:r>
                <a:r>
                  <a:rPr lang="en-DE" sz="2600" dirty="0"/>
                  <a:t>arameters of model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sz="2600" b="1" dirty="0"/>
              </a:p>
              <a:p>
                <a:pPr marL="0" indent="0">
                  <a:buNone/>
                </a:pPr>
                <a:r>
                  <a:rPr lang="en-DE" sz="2600" dirty="0"/>
                  <a:t>e.g.,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l-GR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l-GR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α</m:t>
                        </m:r>
                      </m:e>
                    </m:acc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̂"/>
                        <m:ctrlPr>
                          <a:rPr lang="en-US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</m:oMath>
                </a14:m>
                <a:r>
                  <a:rPr lang="en-DE" sz="2600" dirty="0"/>
                  <a:t> in linear regression</a:t>
                </a:r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en-DE" sz="2600" dirty="0"/>
                  <a:t>e.g., squared residuals (for regression problems):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600" b="1" i="1" smtClean="0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26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D41991-7CB0-7CB3-CBB7-1C694B2F24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46F9B9-0465-078D-3D55-9F8FA2E13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10691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3E2D-02F2-1C53-7C74-6C5BB203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E9058-D0AB-1DE1-CF86-2659E7CBCE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en-DE" dirty="0"/>
                  <a:t>veraging losses over (empirical) training data set: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</m:e>
                      </m:nary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c</a:t>
                </a:r>
                <a:r>
                  <a:rPr lang="en-DE" dirty="0"/>
                  <a:t>ost function to be minimized according to model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dirty="0">
                    <a:sym typeface="Wingdings" pitchFamily="2" charset="2"/>
                  </a:rPr>
                  <a:t> objective function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E9058-D0AB-1DE1-CF86-2659E7CBCE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DCCB1-2640-E858-543E-149654DA4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62295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6C1F0-9464-0EAA-8A93-BD40891A7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Minimization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DAF90-4B2C-FC3F-B0AA-AE51B887F7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m</a:t>
                </a:r>
                <a:r>
                  <a:rPr lang="en-DE" sz="2600" dirty="0"/>
                  <a:t>inimize training costs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r>
                  <a:rPr lang="en-DE" sz="2600" dirty="0"/>
                  <a:t> according to model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2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6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2600" dirty="0"/>
                  <a:t>	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f</a:t>
                </a:r>
                <a:r>
                  <a:rPr lang="en-DE" sz="2600" dirty="0"/>
                  <a:t>or mean squared error</a:t>
                </a:r>
                <a:r>
                  <a:rPr lang="en-GB" sz="2600" dirty="0"/>
                  <a:t> (aka least squares method)</a:t>
                </a:r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2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600" b="1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𝜽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DE" sz="2600" dirty="0"/>
                  <a:t>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8DAF90-4B2C-FC3F-B0AA-AE51B887F7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2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07475E-E799-FAB0-1881-3859F4CEB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56648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4C380-7D0A-EFDE-BEBB-FDB9208C0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Ordinary 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CBAE70-EB3A-DFCC-A400-CD95E61AE7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DE" sz="2400" dirty="0"/>
                  <a:t>linear regression: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1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matrix notation (d</a:t>
                </a:r>
                <a:r>
                  <a:rPr lang="en-DE" sz="2400" dirty="0"/>
                  <a:t>rop intercept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sz="2400" dirty="0"/>
                  <a:t> for simplicity here):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0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</m:oMath>
                </a14:m>
                <a:endParaRPr lang="en-DE" sz="2400" b="1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solve n</a:t>
                </a:r>
                <a:r>
                  <a:rPr lang="en-DE" sz="2400" dirty="0">
                    <a:sym typeface="Wingdings" pitchFamily="2" charset="2"/>
                  </a:rPr>
                  <a:t>ormal equations for training data set</a:t>
                </a:r>
                <a:r>
                  <a:rPr lang="en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</m:acc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1" i="0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𝜷</m:t>
                                  </m:r>
                                </m:e>
                              </m:acc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0"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̂"/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</m:acc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DE" sz="2400" dirty="0"/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1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𝐗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sz="2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sz="2400" b="1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𝐗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𝐗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</m:oMath>
                </a14:m>
                <a:endParaRPr lang="en-GB" sz="2400" b="1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400" b="1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GB" sz="2400" dirty="0"/>
                  <a:t>b</a:t>
                </a:r>
                <a:r>
                  <a:rPr lang="en-DE" sz="2400" dirty="0"/>
                  <a:t>ut usually no closed-form solution</a:t>
                </a:r>
                <a:r>
                  <a:rPr lang="en-GB" sz="2400" dirty="0"/>
                  <a:t> </a:t>
                </a:r>
                <a:r>
                  <a:rPr lang="en-DE" sz="2400" dirty="0">
                    <a:sym typeface="Wingdings" pitchFamily="2" charset="2"/>
                  </a:rPr>
                  <a:t> need for numerical optimization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CBAE70-EB3A-DFCC-A400-CD95E61AE7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12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5E714-806F-1FBD-34FD-69EADE49C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190189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920C7-6F2D-69DC-37C9-1BB07BA8F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B557F4-9C97-2AC4-733C-57EE31ED2D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usually (except for special cases like ordinary least squares)</a:t>
                </a:r>
                <a:r>
                  <a:rPr lang="en-DE" sz="2400" dirty="0"/>
                  <a:t> no closed-form solution to ML optimization problems like minimization of a cost function or maximization of a likelihood function:</a:t>
                </a:r>
                <a:endParaRPr lang="en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sz="2400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>
                    <a:sym typeface="Wingdings" pitchFamily="2" charset="2"/>
                  </a:rPr>
                  <a:t> need for numerical methods</a:t>
                </a:r>
              </a:p>
              <a:p>
                <a:pPr marL="0" indent="0">
                  <a:buNone/>
                </a:pPr>
                <a:endParaRPr lang="en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most popular choice: </a:t>
                </a:r>
                <a:r>
                  <a:rPr lang="en-GB" sz="2400" dirty="0">
                    <a:sym typeface="Wingdings" pitchFamily="2" charset="2"/>
                  </a:rPr>
                  <a:t>g</a:t>
                </a:r>
                <a:r>
                  <a:rPr lang="en-DE" sz="2400" dirty="0">
                    <a:sym typeface="Wingdings" pitchFamily="2" charset="2"/>
                  </a:rPr>
                  <a:t>radient descent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decreasing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by iteratively m</a:t>
                </a:r>
                <a:r>
                  <a:rPr lang="en-DE" sz="2400" dirty="0">
                    <a:sym typeface="Wingdings" pitchFamily="2" charset="2"/>
                  </a:rPr>
                  <a:t>oving in direction of negative gradient (steepest descent) with respect to input vector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DE" sz="2400" dirty="0">
                    <a:sym typeface="Wingdings" pitchFamily="2" charset="2"/>
                  </a:rPr>
                  <a:t>:</a:t>
                </a:r>
                <a:endParaRPr lang="en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acc>
                      <m:r>
                        <a:rPr lang="en-US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acc>
                        <m:accPr>
                          <m:chr m:val="̂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B557F4-9C97-2AC4-733C-57EE31ED2D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  <a:blipFill>
                <a:blip r:embed="rId2"/>
                <a:stretch>
                  <a:fillRect l="-1372" t="-1744" r="-120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33358-F2F5-F234-E154-8D763FC5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13</a:t>
            </a:fld>
            <a:endParaRPr lang="en-DE"/>
          </a:p>
        </p:txBody>
      </p:sp>
      <p:pic>
        <p:nvPicPr>
          <p:cNvPr id="7" name="Picture 6" descr="Chart, surface chart&#10;&#10;Description automatically generated">
            <a:extLst>
              <a:ext uri="{FF2B5EF4-FFF2-40B4-BE49-F238E27FC236}">
                <a16:creationId xmlns:a16="http://schemas.microsoft.com/office/drawing/2014/main" id="{E7631CD3-FE65-017B-4512-24B491EADB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388343" y="3890455"/>
            <a:ext cx="3750087" cy="254549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5CAB56E7-6E0C-9170-8D66-DF5C7DD09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393" y="964810"/>
            <a:ext cx="3902037" cy="28819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8F9DD7-DE35-47C1-8F9C-77317AAF0BF6}"/>
                  </a:ext>
                </a:extLst>
              </p:cNvPr>
              <p:cNvSpPr txBox="1"/>
              <p:nvPr/>
            </p:nvSpPr>
            <p:spPr>
              <a:xfrm>
                <a:off x="8842633" y="334958"/>
                <a:ext cx="2882462" cy="6298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𝑑𝑓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8F9DD7-DE35-47C1-8F9C-77317AAF0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2633" y="334958"/>
                <a:ext cx="2882462" cy="629852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103C44E-CBCE-275D-FD56-B6CD104F84E7}"/>
              </a:ext>
            </a:extLst>
          </p:cNvPr>
          <p:cNvSpPr txBox="1"/>
          <p:nvPr/>
        </p:nvSpPr>
        <p:spPr>
          <a:xfrm>
            <a:off x="2659114" y="6114648"/>
            <a:ext cx="1601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</a:t>
            </a:r>
            <a:r>
              <a:rPr lang="en-DE" dirty="0"/>
              <a:t>tep size (</a:t>
            </a:r>
            <a:r>
              <a:rPr lang="en-GB" dirty="0"/>
              <a:t>l</a:t>
            </a:r>
            <a:r>
              <a:rPr lang="en-DE" dirty="0"/>
              <a:t>earning rate)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EE9966-F5C5-2BCC-BAF7-95D30E2F71D9}"/>
              </a:ext>
            </a:extLst>
          </p:cNvPr>
          <p:cNvCxnSpPr>
            <a:cxnSpLocks/>
          </p:cNvCxnSpPr>
          <p:nvPr/>
        </p:nvCxnSpPr>
        <p:spPr>
          <a:xfrm flipV="1">
            <a:off x="3657600" y="5981837"/>
            <a:ext cx="903890" cy="311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DD07E1D-1B5A-F4AE-A0B6-72F04F1C1B0A}"/>
              </a:ext>
            </a:extLst>
          </p:cNvPr>
          <p:cNvSpPr txBox="1"/>
          <p:nvPr/>
        </p:nvSpPr>
        <p:spPr>
          <a:xfrm>
            <a:off x="4297444" y="6251280"/>
            <a:ext cx="382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</a:t>
            </a:r>
            <a:r>
              <a:rPr lang="en-DE" dirty="0"/>
              <a:t>ector containing all partial derivatives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A5F6733-6AD0-5EF2-0D91-276365573E68}"/>
              </a:ext>
            </a:extLst>
          </p:cNvPr>
          <p:cNvCxnSpPr>
            <a:cxnSpLocks/>
          </p:cNvCxnSpPr>
          <p:nvPr/>
        </p:nvCxnSpPr>
        <p:spPr>
          <a:xfrm flipH="1" flipV="1">
            <a:off x="4887310" y="5981837"/>
            <a:ext cx="73573" cy="311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BD310B1-6979-1FF1-3CDF-1FEACFBF2736}"/>
              </a:ext>
            </a:extLst>
          </p:cNvPr>
          <p:cNvSpPr txBox="1"/>
          <p:nvPr/>
        </p:nvSpPr>
        <p:spPr>
          <a:xfrm>
            <a:off x="11458836" y="377518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6"/>
              </a:rPr>
              <a:t>source</a:t>
            </a:r>
            <a:endParaRPr lang="de-D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F4E2B2-61D7-F208-D225-F605C81CF94F}"/>
              </a:ext>
            </a:extLst>
          </p:cNvPr>
          <p:cNvSpPr txBox="1"/>
          <p:nvPr/>
        </p:nvSpPr>
        <p:spPr>
          <a:xfrm>
            <a:off x="7823525" y="4133318"/>
            <a:ext cx="157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</a:t>
            </a:r>
            <a:r>
              <a:rPr lang="en-DE" dirty="0"/>
              <a:t>ocal minimum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91D054-8B0C-C455-5A13-5623DE111F7D}"/>
              </a:ext>
            </a:extLst>
          </p:cNvPr>
          <p:cNvSpPr txBox="1"/>
          <p:nvPr/>
        </p:nvSpPr>
        <p:spPr>
          <a:xfrm>
            <a:off x="11051840" y="4249615"/>
            <a:ext cx="10865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</a:t>
            </a:r>
            <a:r>
              <a:rPr lang="en-DE" dirty="0"/>
              <a:t>lobal minimum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FFD6EBB-178D-8072-DF43-835615D86038}"/>
              </a:ext>
            </a:extLst>
          </p:cNvPr>
          <p:cNvCxnSpPr/>
          <p:nvPr/>
        </p:nvCxnSpPr>
        <p:spPr>
          <a:xfrm>
            <a:off x="8610600" y="4572780"/>
            <a:ext cx="449940" cy="763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46E2ABE-3798-4354-0088-9023D5BEF545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899890" y="4895946"/>
            <a:ext cx="695245" cy="804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5936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6B63E-1E42-BE43-0C23-96E694132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Learning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40F5CA-05ED-EDB5-8CED-C405CF4C22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714844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learning rate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DE" sz="2400" dirty="0"/>
                  <a:t> corresponds to positive scalar value (hyperparameter)</a:t>
                </a:r>
              </a:p>
              <a:p>
                <a:r>
                  <a:rPr lang="en-GB" sz="2400" dirty="0"/>
                  <a:t>o</a:t>
                </a:r>
                <a:r>
                  <a:rPr lang="en-DE" sz="2400" dirty="0"/>
                  <a:t>ften set to small constant</a:t>
                </a:r>
              </a:p>
              <a:p>
                <a:r>
                  <a:rPr lang="en-GB" sz="2400" dirty="0"/>
                  <a:t>can be optimized via l</a:t>
                </a:r>
                <a:r>
                  <a:rPr lang="en-DE" sz="2400" dirty="0"/>
                  <a:t>ine search: evaluate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acc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acc>
                          </m:e>
                        </m:d>
                      </m:e>
                    </m:d>
                  </m:oMath>
                </a14:m>
                <a:r>
                  <a:rPr lang="en-DE" sz="2400" dirty="0"/>
                  <a:t> for several values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DE" sz="2400" dirty="0"/>
                  <a:t> and choose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DE" sz="2400" dirty="0"/>
                  <a:t> resulting in smallest value of objective function</a:t>
                </a:r>
              </a:p>
              <a:p>
                <a:r>
                  <a:rPr lang="en-DE" sz="2400" dirty="0"/>
                  <a:t>can be varied from iteration to iteration (e.g., via some heuristic): smaller steps closer to the minimum (learning rate schedule/decay)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40F5CA-05ED-EDB5-8CED-C405CF4C22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714844"/>
              </a:xfrm>
              <a:blipFill>
                <a:blip r:embed="rId2"/>
                <a:stretch>
                  <a:fillRect l="-965" t="-2791" b="-9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BC640-DBB9-123A-5115-D26C3AFA2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14</a:t>
            </a:fld>
            <a:endParaRPr lang="en-DE"/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416F2BB4-F01D-7C0C-FF15-9208AD8F8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8189" y="4523805"/>
            <a:ext cx="5902411" cy="21556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5AFFF0-AAD7-100D-5355-D99C67E122D5}"/>
              </a:ext>
            </a:extLst>
          </p:cNvPr>
          <p:cNvSpPr txBox="1"/>
          <p:nvPr/>
        </p:nvSpPr>
        <p:spPr>
          <a:xfrm>
            <a:off x="8078082" y="6598364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21362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6C14A-14EC-0D92-937C-276BB23DF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Batch and Stochastic 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E377A4-5C75-2135-C10D-3C465B8B97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843054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in usual gradient descent: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600" dirty="0"/>
                  <a:t> (and in turn objective function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GB" sz="2600" dirty="0"/>
                  <a:t>) updated after full t</a:t>
                </a:r>
                <a:r>
                  <a:rPr lang="en-DE" sz="2600" dirty="0"/>
                  <a:t>raining epoch (one sweep through entire training data set) </a:t>
                </a:r>
                <a:r>
                  <a:rPr lang="en-GB" sz="2600" dirty="0">
                    <a:sym typeface="Wingdings" pitchFamily="2" charset="2"/>
                  </a:rPr>
                  <a:t> </a:t>
                </a:r>
                <a:r>
                  <a:rPr lang="en-GB" sz="2600" dirty="0"/>
                  <a:t>batch learning</a:t>
                </a:r>
              </a:p>
              <a:p>
                <a:pPr marL="0" indent="0">
                  <a:buNone/>
                </a:pPr>
                <a:r>
                  <a:rPr lang="en-GB" sz="2600" dirty="0"/>
                  <a:t>consider: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6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acc>
                          </m:e>
                        </m:d>
                      </m:e>
                    </m:nary>
                  </m:oMath>
                </a14:m>
                <a:r>
                  <a:rPr lang="en-GB" sz="2600" dirty="0"/>
                  <a:t>		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600" dirty="0"/>
                  <a:t>corresponds to loss function)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s</a:t>
                </a:r>
                <a:r>
                  <a:rPr lang="en-DE" sz="2600" dirty="0"/>
                  <a:t>tochastic gradient descent </a:t>
                </a:r>
                <a:r>
                  <a:rPr lang="en-GB" sz="2600" dirty="0"/>
                  <a:t>(SGD) </a:t>
                </a:r>
                <a:r>
                  <a:rPr lang="en-DE" sz="2600" dirty="0"/>
                  <a:t>updates after each training example (gradient of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r>
                  <a:rPr lang="en-DE" sz="2600" dirty="0"/>
                  <a:t> approximated with gradient of single loss):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sz="2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endParaRPr lang="en-DE" sz="2600" dirty="0"/>
              </a:p>
              <a:p>
                <a:pPr marL="0" indent="0">
                  <a:buNone/>
                </a:pPr>
                <a:r>
                  <a:rPr lang="en-DE" sz="2600" dirty="0">
                    <a:sym typeface="Wingdings" pitchFamily="2" charset="2"/>
                  </a:rPr>
                  <a:t> online learning</a:t>
                </a:r>
                <a:endParaRPr lang="en-DE" sz="2600" dirty="0"/>
              </a:p>
              <a:p>
                <a:r>
                  <a:rPr lang="en-GB" sz="2600" dirty="0"/>
                  <a:t>shuffling of samples after training epoch to prevent cycles</a:t>
                </a:r>
              </a:p>
              <a:p>
                <a:r>
                  <a:rPr lang="en-GB" sz="2600" dirty="0"/>
                  <a:t>adaptive learning rate to improve convergence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E377A4-5C75-2135-C10D-3C465B8B97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843054" cy="4351338"/>
              </a:xfrm>
              <a:blipFill>
                <a:blip r:embed="rId2"/>
                <a:stretch>
                  <a:fillRect l="-900" t="-1681" r="-5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2BF27-FFB7-7BCE-50ED-559FB1C4F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049848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08122-749A-08BA-C05C-205348FDE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DE" dirty="0"/>
              <a:t>ini Batches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AA105-3BA8-8FCA-F751-CB355C0EDD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Compared to its batch mode, stochastic gradient descent helps to avoid local minima (more robust) but is computationally expensive (less efficient).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m</a:t>
            </a:r>
            <a:r>
              <a:rPr lang="en-DE" sz="2600" dirty="0"/>
              <a:t>ini-batch </a:t>
            </a:r>
            <a:r>
              <a:rPr lang="en-GB" sz="2600" dirty="0"/>
              <a:t>SGD</a:t>
            </a:r>
            <a:r>
              <a:rPr lang="en-DE" sz="2600" dirty="0"/>
              <a:t> as compromise:</a:t>
            </a:r>
          </a:p>
          <a:p>
            <a:pPr marL="0" indent="0">
              <a:buNone/>
            </a:pPr>
            <a:r>
              <a:rPr lang="en-GB" sz="2600" dirty="0"/>
              <a:t>splitting training data set into small batches used to calculate model error and update parameters</a:t>
            </a:r>
          </a:p>
          <a:p>
            <a:pPr marL="0" indent="0">
              <a:buNone/>
            </a:pPr>
            <a:r>
              <a:rPr lang="en-GB" sz="2600" dirty="0"/>
              <a:t>at the cost of one additional hyperparameter specifying mini-batch size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0BE3E-80DD-74FF-2F42-11C271159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0619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0C066-EE27-BB22-4C9D-727A7F8E6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 with Momentum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2FE56-5192-7272-AAD5-EB223EDD65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goal: improve optimization process by avoiding gradients bouncing around the search space (dampening oscillations), accelerate in direction of minima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algorithm:</a:t>
                </a:r>
              </a:p>
              <a:p>
                <a:r>
                  <a:rPr lang="en-GB" dirty="0"/>
                  <a:t>estimate gradient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endParaRPr lang="en-GB" b="1" i="1" dirty="0"/>
              </a:p>
              <a:p>
                <a:r>
                  <a:rPr lang="en-GB" dirty="0"/>
                  <a:t>compute velocity update: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𝒈</m:t>
                    </m:r>
                  </m:oMath>
                </a14:m>
                <a:endParaRPr lang="en-GB" b="1" dirty="0"/>
              </a:p>
              <a:p>
                <a:r>
                  <a:rPr lang="en-GB" dirty="0"/>
                  <a:t>apply parameter update: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←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velocity: direction and speed at which the parameters move through parameter space, set to an exponentially decaying average of the past negative gradients (continues to move in its direction)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2FE56-5192-7272-AAD5-EB223EDD65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1A9E5-ABD4-B36C-76BA-7EC1EB064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17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E9E4439-D0D2-5F32-287B-BB62ED8AB8AA}"/>
                  </a:ext>
                </a:extLst>
              </p:cNvPr>
              <p:cNvSpPr txBox="1"/>
              <p:nvPr/>
            </p:nvSpPr>
            <p:spPr>
              <a:xfrm>
                <a:off x="5980383" y="2554013"/>
                <a:ext cx="606446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h</a:t>
                </a:r>
                <a:r>
                  <a:rPr lang="en-DE" dirty="0"/>
                  <a:t>yperparameter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DE" dirty="0"/>
                  <a:t>) specifying exponential decay (like learning 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DE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DE" dirty="0"/>
                  <a:t> may be adapted over course of optimization)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E9E4439-D0D2-5F32-287B-BB62ED8AB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0383" y="2554013"/>
                <a:ext cx="6064469" cy="646331"/>
              </a:xfrm>
              <a:prstGeom prst="rect">
                <a:avLst/>
              </a:prstGeom>
              <a:blipFill>
                <a:blip r:embed="rId3"/>
                <a:stretch>
                  <a:fillRect l="-626" t="-3846" r="-1253" b="-1538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F0FBF36-9E0C-0834-3B42-523AF1AEC329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612524" y="2877179"/>
            <a:ext cx="367859" cy="8855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665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4D96D1-0DFD-CDA0-2D1A-1A4269EE6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Maximum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(MLE)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956010-9C28-F9EE-4A46-5F8A3B30F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7E4D77-FE8D-127B-EEEF-939F25A12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515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90FB9-91D6-8173-1C05-1E9C1494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1C44CC-E2D9-26AA-724C-69454C087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special objective function: likelihood function </a:t>
                </a:r>
                <a14:m>
                  <m:oMath xmlns:m="http://schemas.openxmlformats.org/officeDocument/2006/math">
                    <m:r>
                      <a:rPr lang="en-GB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value of predicted probability density function (model) at observed target</a:t>
                </a:r>
              </a:p>
              <a:p>
                <a:r>
                  <a:rPr lang="en-GB" sz="2600" dirty="0"/>
                  <a:t>as function of model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GB" sz="2600" dirty="0"/>
              </a:p>
              <a:p>
                <a:pPr marL="0" indent="0">
                  <a:buNone/>
                </a:pPr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6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a little bit confusing:</a:t>
                </a:r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600" b="0" i="1">
                            <a:latin typeface="Cambria Math" panose="02040503050406030204" pitchFamily="18" charset="0"/>
                          </a:rPr>
                          <m:t>;</m:t>
                        </m:r>
                        <m:acc>
                          <m:accPr>
                            <m:chr m:val="̂"/>
                            <m:ctrlPr>
                              <a:rPr lang="en-US" sz="2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r>
                  <a:rPr lang="en-GB" sz="2600" dirty="0"/>
                  <a:t> is conditional density function if function of data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600" dirty="0"/>
                  <a:t> fixed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600" b="0" i="1">
                            <a:latin typeface="Cambria Math" panose="02040503050406030204" pitchFamily="18" charset="0"/>
                          </a:rPr>
                          <m:t>;</m:t>
                        </m:r>
                        <m:acc>
                          <m:accPr>
                            <m:chr m:val="̂"/>
                            <m:ctrlPr>
                              <a:rPr lang="en-US" sz="2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r>
                  <a:rPr lang="en-GB" sz="2600" dirty="0"/>
                  <a:t> is conditional likelihood function if function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600" dirty="0"/>
                  <a:t> with data fixed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1C44CC-E2D9-26AA-724C-69454C087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b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B7468D-B2C2-583F-71EF-170C4D7F2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74487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8190-0F29-736C-02B0-E67BDDE58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Independence Assumption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FDDA55-280D-23EA-F172-A72AACD4FB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>
                    <a:sym typeface="Wingdings" pitchFamily="2" charset="2"/>
                  </a:rPr>
                  <a:t>c</a:t>
                </a:r>
                <a:r>
                  <a:rPr lang="en-DE" sz="2200" dirty="0">
                    <a:sym typeface="Wingdings" pitchFamily="2" charset="2"/>
                  </a:rPr>
                  <a:t>onsider training data set (of size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𝑛</m:t>
                    </m:r>
                  </m:oMath>
                </a14:m>
                <a:r>
                  <a:rPr lang="en-DE" sz="2200" dirty="0">
                    <a:sym typeface="Wingdings" pitchFamily="2" charset="2"/>
                  </a:rPr>
                  <a:t>) as one sample from unknown joint probability distribution of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𝑛</m:t>
                    </m:r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DE" sz="2200" dirty="0">
                    <a:sym typeface="Wingdings" pitchFamily="2" charset="2"/>
                  </a:rPr>
                  <a:t>independent </a:t>
                </a:r>
                <a:r>
                  <a:rPr lang="en-DE" sz="2200" dirty="0"/>
                  <a:t>(i.i.d.) </a:t>
                </a:r>
                <a:r>
                  <a:rPr lang="en-DE" sz="2200" dirty="0">
                    <a:sym typeface="Wingdings" pitchFamily="2" charset="2"/>
                  </a:rPr>
                  <a:t>sets of random variables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DE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𝑿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d>
                      <m:dPr>
                        <m:ctrlPr>
                          <a:rPr lang="en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DE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𝑿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,…, </m:t>
                    </m:r>
                    <m:d>
                      <m:dPr>
                        <m:ctrlPr>
                          <a:rPr lang="en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DE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𝑿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200" dirty="0">
                    <a:sym typeface="Wingdings" pitchFamily="2" charset="2"/>
                  </a:rPr>
                  <a:t>(same thing as random sampling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𝑛</m:t>
                    </m:r>
                  </m:oMath>
                </a14:m>
                <a:r>
                  <a:rPr lang="en-DE" sz="2200" dirty="0">
                    <a:sym typeface="Wingdings" pitchFamily="2" charset="2"/>
                  </a:rPr>
                  <a:t> times from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𝑌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𝑿</m:t>
                        </m:r>
                      </m:e>
                    </m:d>
                  </m:oMath>
                </a14:m>
                <a:r>
                  <a:rPr lang="en-DE" sz="2200" dirty="0">
                    <a:sym typeface="Wingdings" pitchFamily="2" charset="2"/>
                  </a:rPr>
                  <a:t>)</a:t>
                </a:r>
              </a:p>
              <a:p>
                <a:pPr marL="0" indent="0">
                  <a:buNone/>
                </a:pPr>
                <a:endParaRPr lang="en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200" dirty="0">
                    <a:sym typeface="Wingdings" pitchFamily="2" charset="2"/>
                  </a:rPr>
                  <a:t> </a:t>
                </a:r>
                <a:r>
                  <a:rPr lang="en-GB" sz="2200" dirty="0">
                    <a:sym typeface="Wingdings" pitchFamily="2" charset="2"/>
                  </a:rPr>
                  <a:t>l</a:t>
                </a:r>
                <a:r>
                  <a:rPr lang="en-DE" sz="2200" dirty="0">
                    <a:sym typeface="Wingdings" pitchFamily="2" charset="2"/>
                  </a:rPr>
                  <a:t>ikelihood as product of univariate probability density functions:</a:t>
                </a:r>
              </a:p>
              <a:p>
                <a:pPr marL="0" indent="0">
                  <a:buNone/>
                </a:pPr>
                <a:endParaRPr lang="en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GB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200" b="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</m:e>
                      </m:nary>
                    </m:oMath>
                  </m:oMathPara>
                </a14:m>
                <a:endParaRPr lang="en-DE" sz="2200" dirty="0"/>
              </a:p>
              <a:p>
                <a:pPr marL="0" indent="0">
                  <a:buNone/>
                </a:pPr>
                <a:endParaRPr lang="en-DE" sz="2200" dirty="0"/>
              </a:p>
              <a:p>
                <a:pPr marL="0" indent="0">
                  <a:buNone/>
                </a:pPr>
                <a:r>
                  <a:rPr lang="en-DE" sz="2200" dirty="0"/>
                  <a:t>… to be maximized according to estimated model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US" sz="2200" b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DE" sz="2200" dirty="0"/>
                  <a:t>(known as maximum likelihood estimation)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FDDA55-280D-23EA-F172-A72AACD4FB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744" b="-127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1884E-FC06-2625-8D8E-4C79602F8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3827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78DBC-7181-EA20-D228-B57BD1EB6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Negative Log-Likelihood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50BE1-6E3C-96FF-14B6-FBB141E405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logarithmic transformation of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: </a:t>
                </a:r>
                <a:r>
                  <a:rPr lang="en-GB" sz="2400" dirty="0"/>
                  <a:t>log-likelihood function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GB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400" b="1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r>
                  <a:rPr lang="en-GB" sz="2400" dirty="0"/>
                  <a:t>logarithm monotonic function </a:t>
                </a:r>
                <a:r>
                  <a:rPr lang="en-GB" sz="2400" dirty="0">
                    <a:sym typeface="Wingdings" pitchFamily="2" charset="2"/>
                  </a:rPr>
                  <a:t> maximum of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at same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400" dirty="0"/>
                  <a:t> values</a:t>
                </a:r>
              </a:p>
              <a:p>
                <a:r>
                  <a:rPr lang="en-GB" sz="2400" dirty="0"/>
                  <a:t>most probability distributions (e.g., exponential family) only logarithmically concave (important for optimization)</a:t>
                </a:r>
              </a:p>
              <a:p>
                <a:r>
                  <a:rPr lang="en-GB" sz="2400" dirty="0"/>
                  <a:t>sum computationally more convenient than product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DE" sz="2400" dirty="0"/>
                  <a:t>negative log-likelihood:</a:t>
                </a:r>
                <a:r>
                  <a:rPr lang="en-DE" sz="2400" dirty="0">
                    <a:sym typeface="Wingdings" pitchFamily="2" charset="2"/>
                  </a:rPr>
                  <a:t> minimization instead of maximization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50BE1-6E3C-96FF-14B6-FBB141E405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9884" b="-2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3ABB5-C09F-871F-F43B-E53B1C04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21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247870-2EBE-384D-F1E4-36BA1902C127}"/>
                  </a:ext>
                </a:extLst>
              </p:cNvPr>
              <p:cNvSpPr txBox="1"/>
              <p:nvPr/>
            </p:nvSpPr>
            <p:spPr>
              <a:xfrm>
                <a:off x="8610600" y="681037"/>
                <a:ext cx="3390243" cy="125085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</a:t>
                </a:r>
                <a:r>
                  <a:rPr lang="en-DE" dirty="0"/>
                  <a:t>odel, e.g., for linear regression: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with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GB" dirty="0"/>
                  <a:t> g</a:t>
                </a:r>
                <a:r>
                  <a:rPr lang="en-DE" dirty="0"/>
                  <a:t>iven in training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DE" dirty="0"/>
                  <a:t> to be estimated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247870-2EBE-384D-F1E4-36BA1902C1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681037"/>
                <a:ext cx="3390243" cy="1250855"/>
              </a:xfrm>
              <a:prstGeom prst="rect">
                <a:avLst/>
              </a:prstGeom>
              <a:blipFill>
                <a:blip r:embed="rId3"/>
                <a:stretch>
                  <a:fillRect l="-1866" t="-2000" b="-7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2BCCAE4-34C0-7788-FA9B-023B1837371A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767145" y="1306465"/>
            <a:ext cx="843455" cy="1373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6626CA9-DB03-94F8-2BE7-F9F356C1A3AA}"/>
              </a:ext>
            </a:extLst>
          </p:cNvPr>
          <p:cNvSpPr txBox="1"/>
          <p:nvPr/>
        </p:nvSpPr>
        <p:spPr>
          <a:xfrm>
            <a:off x="4736758" y="6352143"/>
            <a:ext cx="1881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objective function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A44FF520-3933-7B9D-E850-6817B769D990}"/>
              </a:ext>
            </a:extLst>
          </p:cNvPr>
          <p:cNvSpPr/>
          <p:nvPr/>
        </p:nvSpPr>
        <p:spPr>
          <a:xfrm rot="5400000">
            <a:off x="5457502" y="5586047"/>
            <a:ext cx="197837" cy="134276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5939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7A19B-C77D-9FE4-9FA2-370D078E5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CCC17-C9FA-518B-332B-7CA39C1D67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estimate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solving</a:t>
                </a:r>
              </a:p>
              <a:p>
                <a:pPr marL="0" indent="0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GB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|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sz="2400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/>
                  <a:t> likelihood equations (if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DE" sz="2400" dirty="0"/>
                  <a:t> differentiable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DE" sz="2400" dirty="0"/>
                  <a:t>):</a:t>
                </a:r>
                <a:endParaRPr lang="en-GB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400" i="1" dirty="0">
                    <a:latin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num>
                      <m:den>
                        <m:r>
                          <a:rPr lang="en-GB" sz="24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GB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  </m:t>
                    </m:r>
                    <m:f>
                      <m:f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num>
                      <m:den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</m:t>
                    </m:r>
                    <m:f>
                      <m:f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num>
                      <m:den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DE" sz="2400" dirty="0"/>
                  <a:t>		(in short: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GB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DE" sz="2400" dirty="0"/>
                  <a:t>)</a:t>
                </a:r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can be solved explicitly for some cases</a:t>
                </a:r>
                <a:r>
                  <a:rPr lang="en-DE" sz="2400" dirty="0"/>
                  <a:t> (e.g., ordinary least squares for linear regression)</a:t>
                </a:r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b</a:t>
                </a:r>
                <a:r>
                  <a:rPr lang="en-DE" sz="2400" dirty="0"/>
                  <a:t>ut usually no closed-form solution</a:t>
                </a: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 need for numerical optimization (e.g., gradient descent)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CCC17-C9FA-518B-332B-7CA39C1D67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7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667A3-D90F-DA12-4A27-3C00790B6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22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BD3F00-9194-BD76-8255-E58E5C779207}"/>
                  </a:ext>
                </a:extLst>
              </p:cNvPr>
              <p:cNvSpPr txBox="1"/>
              <p:nvPr/>
            </p:nvSpPr>
            <p:spPr>
              <a:xfrm>
                <a:off x="8429297" y="1027906"/>
                <a:ext cx="3450020" cy="1656928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200" b="1" dirty="0"/>
                  <a:t>least squares method </a:t>
                </a:r>
                <a:r>
                  <a:rPr lang="en-GB" sz="2200" dirty="0"/>
                  <a:t>corresponds to maximum likelihood estimation with </a:t>
                </a:r>
                <a:r>
                  <a:rPr lang="en-GB" sz="2200" b="1" dirty="0"/>
                  <a:t>Gaussian model</a:t>
                </a:r>
                <a:r>
                  <a:rPr lang="en-GB" sz="2200" dirty="0"/>
                  <a:t>:</a:t>
                </a:r>
                <a:r>
                  <a:rPr lang="en-GB" sz="2200" b="1" dirty="0"/>
                  <a:t>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GB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num>
                                  <m:den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</m:acc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</m:oMath>
                </a14:m>
                <a:endParaRPr lang="en-GB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BD3F00-9194-BD76-8255-E58E5C779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9297" y="1027906"/>
                <a:ext cx="3450020" cy="1656928"/>
              </a:xfrm>
              <a:prstGeom prst="rect">
                <a:avLst/>
              </a:prstGeom>
              <a:blipFill>
                <a:blip r:embed="rId3"/>
                <a:stretch>
                  <a:fillRect l="-2297" t="-2583" b="-66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F883C3A-BB34-A49B-D00B-72B79FC95EE3}"/>
              </a:ext>
            </a:extLst>
          </p:cNvPr>
          <p:cNvSpPr txBox="1"/>
          <p:nvPr/>
        </p:nvSpPr>
        <p:spPr>
          <a:xfrm>
            <a:off x="5119817" y="2345510"/>
            <a:ext cx="195236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mode of likelihood as point estimate</a:t>
            </a:r>
          </a:p>
        </p:txBody>
      </p:sp>
    </p:spTree>
    <p:extLst>
      <p:ext uri="{BB962C8B-B14F-4D97-AF65-F5344CB8AC3E}">
        <p14:creationId xmlns:p14="http://schemas.microsoft.com/office/powerpoint/2010/main" val="11345750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6EAA7-0843-1BEC-9F15-A7E513868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Interpretation of 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27594E-9C2A-4D6C-2B14-A5F754A862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sz="2000" dirty="0"/>
                  <a:t>maximum likelihood estimation corresponds to minimization of </a:t>
                </a:r>
                <a:r>
                  <a:rPr lang="en-GB" sz="2000" dirty="0" err="1"/>
                  <a:t>Kullback-Leibler</a:t>
                </a:r>
                <a:r>
                  <a:rPr lang="en-GB" sz="2000" dirty="0"/>
                  <a:t> divergence (as well as cross entropy: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||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GB" sz="2000" dirty="0"/>
                  <a:t>) between true data-generating probability distribution (manifested by empirical distribution of training data) and probability distribution of model:</a:t>
                </a:r>
              </a:p>
              <a:p>
                <a:pPr marL="0" indent="0">
                  <a:buNone/>
                </a:pPr>
                <a:endParaRPr lang="en-GB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model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000" b="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|| 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data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GB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data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data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den>
                              </m:f>
                            </m:e>
                          </m:func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𝑑𝑦</m:t>
                          </m:r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data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den>
                              </m:f>
                            </m:e>
                          </m:func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b="1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sz="2000" b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i="1" dirty="0"/>
                  <a:t>make the model distribution match the empirical distribution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(mean squared error corresponds to cross-entropy between empirical distribution and Gaussian model)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27594E-9C2A-4D6C-2B14-A5F754A862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639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EB3FE-E82D-CD71-129A-B09361242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23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34609C-358B-617D-C169-BED96BCAEC49}"/>
                  </a:ext>
                </a:extLst>
              </p:cNvPr>
              <p:cNvSpPr txBox="1"/>
              <p:nvPr/>
            </p:nvSpPr>
            <p:spPr>
              <a:xfrm>
                <a:off x="3977309" y="4273591"/>
                <a:ext cx="2236831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500" dirty="0"/>
                  <a:t>n</a:t>
                </a:r>
                <a:r>
                  <a:rPr lang="en-DE" sz="1500" dirty="0"/>
                  <a:t>o contribution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5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data</m:t>
                        </m:r>
                      </m:sub>
                    </m:sSub>
                  </m:oMath>
                </a14:m>
                <a:endParaRPr lang="en-DE" sz="15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34609C-358B-617D-C169-BED96BCAE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7309" y="4273591"/>
                <a:ext cx="2236831" cy="323165"/>
              </a:xfrm>
              <a:prstGeom prst="rect">
                <a:avLst/>
              </a:prstGeom>
              <a:blipFill>
                <a:blip r:embed="rId3"/>
                <a:stretch>
                  <a:fillRect l="-562" t="-3846" b="-2307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DE56F0D-43D7-83C2-E2B3-C994107EB71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095725" y="3920362"/>
            <a:ext cx="32861" cy="353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871DEC-206F-1165-7BA7-1D503A90F78A}"/>
                  </a:ext>
                </a:extLst>
              </p:cNvPr>
              <p:cNvSpPr txBox="1"/>
              <p:nvPr/>
            </p:nvSpPr>
            <p:spPr>
              <a:xfrm>
                <a:off x="1142999" y="4273591"/>
                <a:ext cx="48199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en-DE" sz="1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871DEC-206F-1165-7BA7-1D503A90F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99" y="4273591"/>
                <a:ext cx="481990" cy="230832"/>
              </a:xfrm>
              <a:prstGeom prst="rect">
                <a:avLst/>
              </a:prstGeom>
              <a:blipFill>
                <a:blip r:embed="rId4"/>
                <a:stretch>
                  <a:fillRect l="-7500" b="-526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1A0D027-E70A-88AE-E7D3-FE30767CB2AF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1383994" y="3920362"/>
            <a:ext cx="0" cy="353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B9A971F-7AC8-1FD5-899E-B0742FC7D2DA}"/>
              </a:ext>
            </a:extLst>
          </p:cNvPr>
          <p:cNvSpPr txBox="1"/>
          <p:nvPr/>
        </p:nvSpPr>
        <p:spPr>
          <a:xfrm>
            <a:off x="9827172" y="801994"/>
            <a:ext cx="216513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600" dirty="0"/>
              <a:t>q</a:t>
            </a:r>
            <a:r>
              <a:rPr lang="en-DE" sz="1600" dirty="0"/>
              <a:t>uantification of difference between two probability distributions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6010764-EE49-2055-2DDB-CC8C3B8AD01D}"/>
              </a:ext>
            </a:extLst>
          </p:cNvPr>
          <p:cNvCxnSpPr>
            <a:stCxn id="5" idx="1"/>
          </p:cNvCxnSpPr>
          <p:nvPr/>
        </p:nvCxnSpPr>
        <p:spPr>
          <a:xfrm flipH="1">
            <a:off x="8755117" y="1217493"/>
            <a:ext cx="1072055" cy="608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4132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A0027E-BD58-51A0-07B6-8650B6348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MLE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013623-9751-3A73-718B-D8B86CF56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69368C-8B19-1116-E86A-4F23EA845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80157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5960BF-0696-F646-3D20-9C943273D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Maximum A Posteriori (MAP)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87CDE-B64C-E3C9-30E5-80EAB23FC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ACAD2C-B2CC-ABCA-436B-383FF917D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823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360D385-E370-58B5-7B4B-6F581264FDB9}"/>
              </a:ext>
            </a:extLst>
          </p:cNvPr>
          <p:cNvSpPr/>
          <p:nvPr/>
        </p:nvSpPr>
        <p:spPr>
          <a:xfrm>
            <a:off x="2435190" y="3322966"/>
            <a:ext cx="7324825" cy="11543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C0417B-6781-3415-D71A-B1EF18939A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frequentist maximum likelihood estimation: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MLE</m:t>
                              </m:r>
                            </m:sub>
                          </m:sSub>
                          <m: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sub>
                              <m:acc>
                                <m:accPr>
                                  <m:chr m:val="̂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GB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2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r>
                  <a:rPr lang="en-GB" sz="2200" dirty="0"/>
                  <a:t>maximum a posteriori estimation as alternative applying Bayes theorem: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AP</m:t>
                              </m:r>
                            </m:sub>
                          </m:sSub>
                          <m: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f>
                        <m:fPr>
                          <m:ctrlPr>
                            <a:rPr lang="en-GB" sz="2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GB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𝝑</m:t>
                                  </m:r>
                                </m:e>
                              </m:d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𝝑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𝝑</m:t>
                          </m:r>
                        </m:den>
                      </m:f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r>
                  <a:rPr lang="en-GB" sz="2200" dirty="0"/>
                  <a:t>approximation to Bayesian inference (using mode of posterior distribution)</a:t>
                </a:r>
              </a:p>
              <a:p>
                <a:r>
                  <a:rPr lang="en-GB" sz="2200" dirty="0"/>
                  <a:t>maximum likelihood special case of maximum a posteriori estimation with uniform prior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C0417B-6781-3415-D71A-B1EF18939A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744" b="-348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A5FAEBE6-858F-A756-A947-07C5182A5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DE" dirty="0"/>
              <a:t>aximum a Posteriori Estimation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1F38A-BCE2-B8EE-627F-968762F8B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26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10C6-7C6F-3FCD-35FC-D4E1C7323FB4}"/>
              </a:ext>
            </a:extLst>
          </p:cNvPr>
          <p:cNvSpPr txBox="1"/>
          <p:nvPr/>
        </p:nvSpPr>
        <p:spPr>
          <a:xfrm>
            <a:off x="6798451" y="4698868"/>
            <a:ext cx="213077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p</a:t>
            </a:r>
            <a:r>
              <a:rPr lang="en-DE" sz="2200" dirty="0"/>
              <a:t>rior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845B9D-D3B9-660E-11B8-82566C584F6A}"/>
              </a:ext>
            </a:extLst>
          </p:cNvPr>
          <p:cNvSpPr txBox="1"/>
          <p:nvPr/>
        </p:nvSpPr>
        <p:spPr>
          <a:xfrm>
            <a:off x="1485935" y="4698868"/>
            <a:ext cx="261994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p</a:t>
            </a:r>
            <a:r>
              <a:rPr lang="en-DE" sz="2200" dirty="0"/>
              <a:t>osterior distribution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7B0125-14CE-67A9-68AB-231D17BB3005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2795909" y="3936733"/>
            <a:ext cx="1809347" cy="7621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50A18A8-8E65-89FC-B7D3-9C9EAEC1B134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421078" y="4520617"/>
            <a:ext cx="442761" cy="178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36F56FE-2433-6CFB-5B96-47582FDFF757}"/>
              </a:ext>
            </a:extLst>
          </p:cNvPr>
          <p:cNvSpPr txBox="1"/>
          <p:nvPr/>
        </p:nvSpPr>
        <p:spPr>
          <a:xfrm>
            <a:off x="5218968" y="4698868"/>
            <a:ext cx="12944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200" dirty="0"/>
              <a:t>likelihood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749784-4184-2032-3AF2-0822AC814CF7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5866197" y="4483424"/>
            <a:ext cx="101466" cy="215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EB84F89-5FF0-36FD-E5EB-28CC45256527}"/>
              </a:ext>
            </a:extLst>
          </p:cNvPr>
          <p:cNvSpPr txBox="1"/>
          <p:nvPr/>
        </p:nvSpPr>
        <p:spPr>
          <a:xfrm>
            <a:off x="6865756" y="1484490"/>
            <a:ext cx="1881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objective function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BB2BA8-C18D-23AA-2B95-9F93566488B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806559" y="1853822"/>
            <a:ext cx="147144" cy="332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4830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6D956-3E5E-37E1-3B78-F5E866E45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Confidence </a:t>
            </a:r>
            <a:r>
              <a:rPr lang="de-DE" dirty="0" err="1"/>
              <a:t>Intervals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176BB4-916C-073F-7845-226577B31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9043C9-882E-F87C-FBEE-6D0214214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07169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D64CC6-3F21-81E7-D70C-086C5BA6B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 </a:t>
            </a:r>
            <a:r>
              <a:rPr lang="de-DE" dirty="0" err="1"/>
              <a:t>Testing</a:t>
            </a:r>
            <a:r>
              <a:rPr lang="de-DE" dirty="0"/>
              <a:t> Framework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4D66D5-120C-0371-AE51-2920254EA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ED5D70-8F36-C6E3-87D3-94815044E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4881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8A0AE2-40C3-9643-C77F-4D83BC705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Null and Alternative </a:t>
            </a:r>
            <a:r>
              <a:rPr lang="de-DE" dirty="0" err="1"/>
              <a:t>Hypotheses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B8E5AA0-0F3D-29FA-6092-A7D2E8A25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257153-961F-C25E-C102-89EACAE1B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2431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B14013-F14F-F867-B8E2-4B856E696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 </a:t>
            </a:r>
            <a:r>
              <a:rPr lang="de-DE" dirty="0" err="1"/>
              <a:t>Statistics</a:t>
            </a:r>
            <a:r>
              <a:rPr lang="de-DE" dirty="0"/>
              <a:t> and p-Values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D1B14E-F8AC-42C0-5D94-BA99BBCC7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F99324-97D6-2AE9-DBF6-D24587921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57272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F8AD61-EBD3-10FE-91BC-085DA482E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Statistical Tests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72E253-636C-A81F-A67C-E190C569E6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96C048-BCC4-CE0C-225B-4FF4A8FDC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9931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0E4950-998E-0C4A-0899-E09ECE0A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Multiple </a:t>
            </a:r>
            <a:r>
              <a:rPr lang="de-DE" dirty="0" err="1"/>
              <a:t>Testing</a:t>
            </a:r>
            <a:r>
              <a:rPr lang="de-DE" dirty="0"/>
              <a:t>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1456CB-DA85-3C88-C519-B85CB2CA4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5AD544-A216-88A7-CCD9-7E684692A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03731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F6B0E-748E-0880-8525-9D657C07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statsmodels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9C05E0-BB28-CDA4-FA7A-F3680EA2E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6482F9-135D-36BE-286D-CCF26BB3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694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6DEDC3-EB7D-D99E-1932-637E0645F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Models in </a:t>
            </a:r>
            <a:r>
              <a:rPr lang="de-DE" dirty="0" err="1"/>
              <a:t>statsmodels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B787FA-9090-8915-5CE1-332A4B3F1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11EF5CC-3BAC-B082-7191-A8A5B9D58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9EB93-7610-B16A-1031-FB86BF1C6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Statistical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E1F2CE-8B9C-967D-E3F5-EBDEC2697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2B1CB0-D86C-BFCC-4CDA-7933DECEC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69444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C61DE6-6363-9CD9-0B0B-89983589A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Inference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Modeling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B59C19-B77B-A1BD-C628-C37CE52CBC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FC690A-F9A9-DA4C-AC3C-1534B416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13472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21F78-9676-FC22-2D71-300BB2A84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Consider Supervised Learning Scenario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916FA3-AEFF-3F24-45D6-48CAAC1419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922876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map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estimated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en-GB" sz="2200" dirty="0"/>
                  <a:t>random variables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200" dirty="0"/>
                  <a:t>)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GB" sz="2200" dirty="0"/>
                  <a:t> usually high-dimensional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c</a:t>
                </a:r>
                <a:r>
                  <a:rPr lang="en-DE" dirty="0"/>
                  <a:t>urve fitting / parameter estimation:</a:t>
                </a:r>
              </a:p>
              <a:p>
                <a:pPr marL="0" indent="0">
                  <a:buNone/>
                </a:pPr>
                <a:r>
                  <a:rPr lang="en-GB" dirty="0"/>
                  <a:t>fit train data set of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) pairs </a:t>
                </a:r>
                <a:r>
                  <a:rPr lang="en-GB" dirty="0">
                    <a:sym typeface="Wingdings" pitchFamily="2" charset="2"/>
                  </a:rPr>
                  <a:t> m</a:t>
                </a:r>
                <a:r>
                  <a:rPr lang="en-GB" dirty="0"/>
                  <a:t>inimization of cost function</a:t>
                </a:r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consider d</a:t>
                </a:r>
                <a:r>
                  <a:rPr lang="en-DE" dirty="0"/>
                  <a:t>iscriminative models:</a:t>
                </a:r>
              </a:p>
              <a:p>
                <a:r>
                  <a:rPr lang="en-DE" dirty="0"/>
                  <a:t>predict conditional density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en-DE" sz="2200" dirty="0"/>
                  <a:t>as opposed to generative models predicting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/>
                  <a:t> (or just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) 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 not given, more difficult</a:t>
                </a:r>
                <a:endParaRPr lang="en-DE" sz="2200" dirty="0"/>
              </a:p>
              <a:p>
                <a:r>
                  <a:rPr lang="en-GB" dirty="0"/>
                  <a:t>o</a:t>
                </a:r>
                <a:r>
                  <a:rPr lang="en-DE" dirty="0"/>
                  <a:t>ften just conditional mean</a:t>
                </a:r>
                <a:r>
                  <a:rPr lang="en-GB" dirty="0"/>
                  <a:t> (depending on used loss)</a:t>
                </a:r>
                <a:r>
                  <a:rPr lang="en-DE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𝑿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916FA3-AEFF-3F24-45D6-48CAAC1419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922876" cy="4351338"/>
              </a:xfrm>
              <a:blipFill>
                <a:blip r:embed="rId2"/>
                <a:stretch>
                  <a:fillRect l="-1005" t="-2521" b="-26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30186-3866-87F6-86F6-E38EACD2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37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747287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2D649-9BFE-9E81-3DC7-C4260805E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Model in Linear Regression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BB937A-B88D-157A-9CD4-6C6940772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38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F08F9B9-9352-8411-AC1F-F8B23D4C1323}"/>
                  </a:ext>
                </a:extLst>
              </p:cNvPr>
              <p:cNvSpPr txBox="1"/>
              <p:nvPr/>
            </p:nvSpPr>
            <p:spPr>
              <a:xfrm>
                <a:off x="1261241" y="4648777"/>
                <a:ext cx="3899338" cy="4551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800" b="1" i="1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2800" b="1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2800" baseline="-25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F08F9B9-9352-8411-AC1F-F8B23D4C13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1241" y="4648777"/>
                <a:ext cx="3899338" cy="455125"/>
              </a:xfrm>
              <a:prstGeom prst="rect">
                <a:avLst/>
              </a:prstGeom>
              <a:blipFill>
                <a:blip r:embed="rId2"/>
                <a:stretch>
                  <a:fillRect l="-3247" t="-19444" b="-3611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94A4F985-CD6D-1992-18F0-E34007E9B53F}"/>
              </a:ext>
            </a:extLst>
          </p:cNvPr>
          <p:cNvSpPr txBox="1"/>
          <p:nvPr/>
        </p:nvSpPr>
        <p:spPr>
          <a:xfrm>
            <a:off x="1909687" y="1882742"/>
            <a:ext cx="5918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f</a:t>
            </a:r>
            <a:r>
              <a:rPr lang="en-DE" sz="2800" dirty="0"/>
              <a:t>it: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ABF9D3-16B4-AD39-064E-D7463D59B221}"/>
              </a:ext>
            </a:extLst>
          </p:cNvPr>
          <p:cNvSpPr txBox="1"/>
          <p:nvPr/>
        </p:nvSpPr>
        <p:spPr>
          <a:xfrm>
            <a:off x="1909687" y="3875673"/>
            <a:ext cx="13116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predict</a:t>
            </a:r>
            <a:r>
              <a:rPr lang="en-DE" sz="2800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4DDED27-C3A5-B6FB-1BC6-55D285145CD1}"/>
                  </a:ext>
                </a:extLst>
              </p:cNvPr>
              <p:cNvSpPr txBox="1"/>
              <p:nvPr/>
            </p:nvSpPr>
            <p:spPr>
              <a:xfrm>
                <a:off x="6096000" y="4648777"/>
                <a:ext cx="40372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4DDED27-C3A5-B6FB-1BC6-55D285145C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648777"/>
                <a:ext cx="4037286" cy="523220"/>
              </a:xfrm>
              <a:prstGeom prst="rect">
                <a:avLst/>
              </a:prstGeom>
              <a:blipFill>
                <a:blip r:embed="rId3"/>
                <a:stretch>
                  <a:fillRect t="-7143" b="-1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B3EB0DBB-EBCC-4E8B-73DF-65E18C782E4F}"/>
              </a:ext>
            </a:extLst>
          </p:cNvPr>
          <p:cNvSpPr txBox="1"/>
          <p:nvPr/>
        </p:nvSpPr>
        <p:spPr>
          <a:xfrm>
            <a:off x="6921371" y="5507202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Gaussian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3A09CB-7D67-C504-33A1-F95111C122B5}"/>
              </a:ext>
            </a:extLst>
          </p:cNvPr>
          <p:cNvSpPr txBox="1"/>
          <p:nvPr/>
        </p:nvSpPr>
        <p:spPr>
          <a:xfrm>
            <a:off x="8394907" y="5506983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C2A4C11-B4E3-E1FC-5F93-83AC13EAE908}"/>
                  </a:ext>
                </a:extLst>
              </p:cNvPr>
              <p:cNvSpPr txBox="1"/>
              <p:nvPr/>
            </p:nvSpPr>
            <p:spPr>
              <a:xfrm>
                <a:off x="9358751" y="5496254"/>
                <a:ext cx="128464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v</a:t>
                </a:r>
                <a:r>
                  <a:rPr lang="en-DE" dirty="0"/>
                  <a:t>ariance</a:t>
                </a:r>
              </a:p>
              <a:p>
                <a:r>
                  <a:rPr lang="en-DE" dirty="0"/>
                  <a:t>(reflected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dirty="0"/>
                  <a:t> in fit)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C2A4C11-B4E3-E1FC-5F93-83AC13EAE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751" y="5496254"/>
                <a:ext cx="1284644" cy="923330"/>
              </a:xfrm>
              <a:prstGeom prst="rect">
                <a:avLst/>
              </a:prstGeom>
              <a:blipFill>
                <a:blip r:embed="rId4"/>
                <a:stretch>
                  <a:fillRect l="-3883" t="-2703" b="-945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884A1FC-E6FF-F1AC-E30A-5D13D590E4ED}"/>
              </a:ext>
            </a:extLst>
          </p:cNvPr>
          <p:cNvCxnSpPr>
            <a:stCxn id="26" idx="0"/>
          </p:cNvCxnSpPr>
          <p:nvPr/>
        </p:nvCxnSpPr>
        <p:spPr>
          <a:xfrm flipV="1">
            <a:off x="7435294" y="5139332"/>
            <a:ext cx="608129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2A2C01D-59F2-A1D2-2766-0617847FFDCE}"/>
              </a:ext>
            </a:extLst>
          </p:cNvPr>
          <p:cNvCxnSpPr>
            <a:stCxn id="27" idx="0"/>
          </p:cNvCxnSpPr>
          <p:nvPr/>
        </p:nvCxnSpPr>
        <p:spPr>
          <a:xfrm flipV="1">
            <a:off x="8753339" y="5230577"/>
            <a:ext cx="174746" cy="276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190FA7D-3D3C-B816-5D30-04964793BE09}"/>
              </a:ext>
            </a:extLst>
          </p:cNvPr>
          <p:cNvCxnSpPr>
            <a:cxnSpLocks/>
            <a:stCxn id="28" idx="0"/>
          </p:cNvCxnSpPr>
          <p:nvPr/>
        </p:nvCxnSpPr>
        <p:spPr>
          <a:xfrm flipH="1" flipV="1">
            <a:off x="9498424" y="5128384"/>
            <a:ext cx="502649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D65F6AA-6533-F46C-3C4C-611B1258D853}"/>
              </a:ext>
            </a:extLst>
          </p:cNvPr>
          <p:cNvCxnSpPr>
            <a:cxnSpLocks/>
          </p:cNvCxnSpPr>
          <p:nvPr/>
        </p:nvCxnSpPr>
        <p:spPr>
          <a:xfrm>
            <a:off x="945931" y="3657600"/>
            <a:ext cx="1021605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5DEB6FB-B47B-1907-239B-17C1008FD089}"/>
              </a:ext>
            </a:extLst>
          </p:cNvPr>
          <p:cNvSpPr/>
          <p:nvPr/>
        </p:nvSpPr>
        <p:spPr>
          <a:xfrm>
            <a:off x="6295697" y="4517696"/>
            <a:ext cx="4347698" cy="197517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419860-5482-B777-7035-C5BBEA091C92}"/>
                  </a:ext>
                </a:extLst>
              </p:cNvPr>
              <p:cNvSpPr txBox="1"/>
              <p:nvPr/>
            </p:nvSpPr>
            <p:spPr>
              <a:xfrm>
                <a:off x="6760965" y="1680153"/>
                <a:ext cx="4432429" cy="169982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sz="2200" dirty="0"/>
                  <a:t>to be estimated:</a:t>
                </a:r>
                <a:endParaRPr lang="en-DE" sz="2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</m:oMath>
                </a14:m>
                <a:endParaRPr lang="en-US" sz="22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Font typeface="Wingdings" pitchFamily="2" charset="2"/>
                  <a:buChar char="à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DE" sz="2200" dirty="0"/>
              </a:p>
              <a:p>
                <a:r>
                  <a:rPr lang="en-GB" sz="2200" dirty="0"/>
                  <a:t>(approximating assumed true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22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GB" sz="22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GB" sz="2200" dirty="0"/>
                  <a:t>)</a:t>
                </a:r>
                <a:endParaRPr lang="en-US" sz="22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419860-5482-B777-7035-C5BBEA091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0965" y="1680153"/>
                <a:ext cx="4432429" cy="1699824"/>
              </a:xfrm>
              <a:prstGeom prst="rect">
                <a:avLst/>
              </a:prstGeom>
              <a:blipFill>
                <a:blip r:embed="rId5"/>
                <a:stretch>
                  <a:fillRect l="-1714" t="-2239" r="-1429" b="-2388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9DD7B28-CE14-4C1B-B872-A7597123200F}"/>
                  </a:ext>
                </a:extLst>
              </p:cNvPr>
              <p:cNvSpPr txBox="1"/>
              <p:nvPr/>
            </p:nvSpPr>
            <p:spPr>
              <a:xfrm>
                <a:off x="3035256" y="1692334"/>
                <a:ext cx="785080" cy="482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acc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9DD7B28-CE14-4C1B-B872-A75971232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56" y="1692334"/>
                <a:ext cx="785080" cy="482440"/>
              </a:xfrm>
              <a:prstGeom prst="rect">
                <a:avLst/>
              </a:prstGeom>
              <a:blipFill>
                <a:blip r:embed="rId6"/>
                <a:stretch>
                  <a:fillRect l="-8065" t="-10256" b="-1538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096BDB-09D9-9EE3-E3D6-B2EEC9E7EF73}"/>
                  </a:ext>
                </a:extLst>
              </p:cNvPr>
              <p:cNvSpPr txBox="1"/>
              <p:nvPr/>
            </p:nvSpPr>
            <p:spPr>
              <a:xfrm>
                <a:off x="1909687" y="2420121"/>
                <a:ext cx="2975059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096BDB-09D9-9EE3-E3D6-B2EEC9E7E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9687" y="2420121"/>
                <a:ext cx="2975059" cy="1050031"/>
              </a:xfrm>
              <a:prstGeom prst="rect">
                <a:avLst/>
              </a:prstGeom>
              <a:blipFill>
                <a:blip r:embed="rId7"/>
                <a:stretch>
                  <a:fillRect l="-3404" t="-115476" r="-1702" b="-16904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Left Brace 6">
            <a:extLst>
              <a:ext uri="{FF2B5EF4-FFF2-40B4-BE49-F238E27FC236}">
                <a16:creationId xmlns:a16="http://schemas.microsoft.com/office/drawing/2014/main" id="{909162B7-0D31-C430-BD91-F12EF578C7A3}"/>
              </a:ext>
            </a:extLst>
          </p:cNvPr>
          <p:cNvSpPr/>
          <p:nvPr/>
        </p:nvSpPr>
        <p:spPr>
          <a:xfrm rot="5400000">
            <a:off x="3224279" y="1532417"/>
            <a:ext cx="407035" cy="176288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848574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A4B70-15DD-5722-547E-874B03C5D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Model Ingredients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8B7FB3-4A13-98A5-3761-DD13C6E729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</a:t>
                </a:r>
                <a:r>
                  <a:rPr lang="en-DE" dirty="0"/>
                  <a:t>nderlying probability distribution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dirty="0"/>
              </a:p>
              <a:p>
                <a:r>
                  <a:rPr lang="en-GB" dirty="0"/>
                  <a:t>approximated f</a:t>
                </a:r>
                <a:r>
                  <a:rPr lang="en-DE" dirty="0"/>
                  <a:t>unctional form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DE" dirty="0"/>
                  <a:t> </a:t>
                </a:r>
                <a:r>
                  <a:rPr lang="en-DE" dirty="0">
                    <a:sym typeface="Wingdings" pitchFamily="2" charset="2"/>
                  </a:rPr>
                  <a:t> depends on used ML algorithm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8B7FB3-4A13-98A5-3761-DD13C6E729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08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B565A-8627-456A-43D4-98D2CBDEB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39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DFED72-624D-2D60-087F-FED373DD0089}"/>
                  </a:ext>
                </a:extLst>
              </p:cNvPr>
              <p:cNvSpPr txBox="1"/>
              <p:nvPr/>
            </p:nvSpPr>
            <p:spPr>
              <a:xfrm>
                <a:off x="3889806" y="3429000"/>
                <a:ext cx="4412387" cy="5820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PDF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…</m:t>
                          </m:r>
                        </m:e>
                      </m:d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DFED72-624D-2D60-087F-FED373DD0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806" y="3429000"/>
                <a:ext cx="4412387" cy="582019"/>
              </a:xfrm>
              <a:prstGeom prst="rect">
                <a:avLst/>
              </a:prstGeom>
              <a:blipFill>
                <a:blip r:embed="rId3"/>
                <a:stretch>
                  <a:fillRect l="-287" t="-8696" b="-1304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79D6F47E-6115-B718-DD98-D9507D5B9282}"/>
              </a:ext>
            </a:extLst>
          </p:cNvPr>
          <p:cNvSpPr txBox="1"/>
          <p:nvPr/>
        </p:nvSpPr>
        <p:spPr>
          <a:xfrm>
            <a:off x="1187669" y="4683488"/>
            <a:ext cx="34473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400" dirty="0"/>
              <a:t>assumed Probability Density Function of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3617A5-BAF4-FAC9-D253-535E09A8FFD5}"/>
                  </a:ext>
                </a:extLst>
              </p:cNvPr>
              <p:cNvSpPr txBox="1"/>
              <p:nvPr/>
            </p:nvSpPr>
            <p:spPr>
              <a:xfrm>
                <a:off x="5076499" y="4683488"/>
                <a:ext cx="2942897" cy="8517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acc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DE" sz="2400" dirty="0"/>
                  <a:t> often estimation of location parameter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3617A5-BAF4-FAC9-D253-535E09A8FF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499" y="4683488"/>
                <a:ext cx="2942897" cy="851772"/>
              </a:xfrm>
              <a:prstGeom prst="rect">
                <a:avLst/>
              </a:prstGeom>
              <a:blipFill>
                <a:blip r:embed="rId4"/>
                <a:stretch>
                  <a:fillRect l="-3004" t="-5882" r="-4292" b="-1470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A07D295-C017-CAAA-32D0-D6340165CACD}"/>
              </a:ext>
            </a:extLst>
          </p:cNvPr>
          <p:cNvSpPr txBox="1"/>
          <p:nvPr/>
        </p:nvSpPr>
        <p:spPr>
          <a:xfrm>
            <a:off x="8460833" y="4683488"/>
            <a:ext cx="3026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o</a:t>
            </a:r>
            <a:r>
              <a:rPr lang="en-DE" sz="2400" dirty="0"/>
              <a:t>ther parameters (e.g., scale parameter) often not predicted per sample (assume </a:t>
            </a:r>
            <a:r>
              <a:rPr lang="en-GB" sz="2400" dirty="0"/>
              <a:t>homoscedasticity</a:t>
            </a:r>
            <a:r>
              <a:rPr lang="en-DE" sz="2400" dirty="0"/>
              <a:t>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D727816-256B-5F48-80A2-392753C7DA24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2911366" y="3955179"/>
            <a:ext cx="2690648" cy="728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3E6EFC-3413-B6EC-4B88-64FDE320826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6547948" y="4011019"/>
            <a:ext cx="283776" cy="672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D18D338-13F0-2737-73D7-DFE0B143D6FD}"/>
              </a:ext>
            </a:extLst>
          </p:cNvPr>
          <p:cNvCxnSpPr>
            <a:stCxn id="8" idx="0"/>
          </p:cNvCxnSpPr>
          <p:nvPr/>
        </p:nvCxnSpPr>
        <p:spPr>
          <a:xfrm flipH="1" flipV="1">
            <a:off x="7840717" y="3955179"/>
            <a:ext cx="2133604" cy="728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02047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CE12C-73E0-45FE-1424-8C5A6F31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Principle of Maximum 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9D4E2C-8FF1-17C9-6854-D170A4EF9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DE" sz="2600" dirty="0"/>
                  <a:t>How to choose the right model, i.e., the assumed underlying probability distribution of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sz="2600" dirty="0"/>
                  <a:t> generating the observed data?</a:t>
                </a:r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en-DE" sz="2600" dirty="0"/>
                  <a:t>Occam’s razor: pick </a:t>
                </a:r>
                <a:r>
                  <a:rPr lang="en-GB" sz="2600" dirty="0"/>
                  <a:t>distribution with fewest assumptions</a:t>
                </a:r>
              </a:p>
              <a:p>
                <a:pPr marL="0" indent="0">
                  <a:buNone/>
                </a:pPr>
                <a:r>
                  <a:rPr lang="en-GB" sz="2600" dirty="0">
                    <a:sym typeface="Wingdings" pitchFamily="2" charset="2"/>
                  </a:rPr>
                  <a:t> distribution with </a:t>
                </a:r>
                <a:r>
                  <a:rPr lang="en-GB" sz="2600" dirty="0"/>
                  <a:t>maximum entropy under given range and moment constraints</a:t>
                </a:r>
              </a:p>
              <a:p>
                <a:pPr marL="0" indent="0">
                  <a:buNone/>
                </a:pPr>
                <a:r>
                  <a:rPr lang="en-GB" sz="2600" dirty="0"/>
                  <a:t>discrete: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func>
                          <m:func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6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func>
                      </m:e>
                    </m:nary>
                  </m:oMath>
                </a14:m>
                <a:r>
                  <a:rPr lang="en-GB" sz="2600" dirty="0"/>
                  <a:t>, continuous: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func>
                          <m:func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6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e>
                        </m:func>
                      </m:e>
                    </m:nary>
                  </m:oMath>
                </a14:m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(</a:t>
                </a:r>
                <a:r>
                  <a:rPr lang="en-GB" sz="2600" dirty="0">
                    <a:sym typeface="Wingdings" pitchFamily="2" charset="2"/>
                  </a:rPr>
                  <a:t> </a:t>
                </a:r>
                <a:r>
                  <a:rPr lang="en-GB" sz="2600" dirty="0"/>
                  <a:t>bulk of entropy from tails of distributions)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examples for maximum entropy distributions:</a:t>
                </a:r>
              </a:p>
              <a:p>
                <a:r>
                  <a:rPr lang="en-GB" sz="2600" dirty="0"/>
                  <a:t>normal distribution: continuous 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∞,∞</m:t>
                        </m:r>
                      </m:e>
                    </m:d>
                  </m:oMath>
                </a14:m>
                <a:r>
                  <a:rPr lang="en-GB" sz="2600" dirty="0"/>
                  <a:t> with particular mean and variance</a:t>
                </a:r>
              </a:p>
              <a:p>
                <a:r>
                  <a:rPr lang="en-GB" sz="2600" dirty="0"/>
                  <a:t>Poisson distribution: discrete on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"/>
                        <m:ctrlPr>
                          <a:rPr lang="en-GB" sz="26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0,</m:t>
                        </m:r>
                        <m:d>
                          <m:dPr>
                            <m:begChr m:val="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2600" dirty="0"/>
                  <a:t> with particular mean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9D4E2C-8FF1-17C9-6854-D170A4EF9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b="-1511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3886A-7B91-CE92-1A97-B9CBAE0C5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40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944916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1631</Words>
  <Application>Microsoft Macintosh PowerPoint</Application>
  <PresentationFormat>Breitbild</PresentationFormat>
  <Paragraphs>278</Paragraphs>
  <Slides>40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40</vt:i4>
      </vt:variant>
    </vt:vector>
  </HeadingPairs>
  <TitlesOfParts>
    <vt:vector size="49" baseType="lpstr">
      <vt:lpstr>Aptos</vt:lpstr>
      <vt:lpstr>Aptos Display</vt:lpstr>
      <vt:lpstr>Arial</vt:lpstr>
      <vt:lpstr>Calibri</vt:lpstr>
      <vt:lpstr>Calibri Light</vt:lpstr>
      <vt:lpstr>Cambria Math</vt:lpstr>
      <vt:lpstr>Wingdings</vt:lpstr>
      <vt:lpstr>Office Theme</vt:lpstr>
      <vt:lpstr>1_Office Theme</vt:lpstr>
      <vt:lpstr>Statistical Inference</vt:lpstr>
      <vt:lpstr>Course Schedule</vt:lpstr>
      <vt:lpstr>Statistical Inference</vt:lpstr>
      <vt:lpstr>What Is Statistical Inference?</vt:lpstr>
      <vt:lpstr>Estimation vs Prediction</vt:lpstr>
      <vt:lpstr>Parameter Estimation</vt:lpstr>
      <vt:lpstr>Least Squares Estimation</vt:lpstr>
      <vt:lpstr>Loss Functions and Optimization</vt:lpstr>
      <vt:lpstr>Loss Function</vt:lpstr>
      <vt:lpstr>Cost Function</vt:lpstr>
      <vt:lpstr>Cost Minimization</vt:lpstr>
      <vt:lpstr>Ordinary Least Squares</vt:lpstr>
      <vt:lpstr>Gradient Descent</vt:lpstr>
      <vt:lpstr>Learning Rate</vt:lpstr>
      <vt:lpstr>Batch and Stochastic Gradient Descent</vt:lpstr>
      <vt:lpstr>Mini Batches</vt:lpstr>
      <vt:lpstr>Gradient Descent with Momentum</vt:lpstr>
      <vt:lpstr>Maximum Likelihood Estimation (MLE)</vt:lpstr>
      <vt:lpstr>Likelihood</vt:lpstr>
      <vt:lpstr>Independence Assumption</vt:lpstr>
      <vt:lpstr>Negative Log-Likelihood</vt:lpstr>
      <vt:lpstr>Maximum Likelihood</vt:lpstr>
      <vt:lpstr>Interpretation of Maximum Likelihood</vt:lpstr>
      <vt:lpstr>Properties of MLE</vt:lpstr>
      <vt:lpstr>Maximum A Posteriori (MAP) Estimation</vt:lpstr>
      <vt:lpstr>Maximum a Posteriori Estimation</vt:lpstr>
      <vt:lpstr>Confidence Intervals</vt:lpstr>
      <vt:lpstr>Hypothesis Testing Framework</vt:lpstr>
      <vt:lpstr>Null and Alternative Hypotheses</vt:lpstr>
      <vt:lpstr>Test Statistics and p-Values</vt:lpstr>
      <vt:lpstr>Common Statistical Tests</vt:lpstr>
      <vt:lpstr>Multiple Testing Problem</vt:lpstr>
      <vt:lpstr>Introduction to statsmodels</vt:lpstr>
      <vt:lpstr>Linear Models in statsmodels</vt:lpstr>
      <vt:lpstr>Interpreting Statistical Output</vt:lpstr>
      <vt:lpstr>From Inference to Modeling</vt:lpstr>
      <vt:lpstr>Consider Supervised Learning Scenario</vt:lpstr>
      <vt:lpstr>Model in Linear Regression</vt:lpstr>
      <vt:lpstr>Model Ingredients</vt:lpstr>
      <vt:lpstr>Principle of Maximum Entropy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Statistical Learning</dc:title>
  <dc:creator>Felix Wick</dc:creator>
  <cp:lastModifiedBy>Felix Wick</cp:lastModifiedBy>
  <cp:revision>279</cp:revision>
  <dcterms:created xsi:type="dcterms:W3CDTF">2022-07-19T12:56:51Z</dcterms:created>
  <dcterms:modified xsi:type="dcterms:W3CDTF">2026-01-11T12:25:02Z</dcterms:modified>
</cp:coreProperties>
</file>