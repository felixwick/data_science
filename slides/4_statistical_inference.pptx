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  <p:sldMasterId id="2147483660" r:id="rId2"/>
  </p:sldMasterIdLst>
  <p:notesMasterIdLst>
    <p:notesMasterId r:id="rId30"/>
  </p:notesMasterIdLst>
  <p:sldIdLst>
    <p:sldId id="256" r:id="rId3"/>
    <p:sldId id="265" r:id="rId4"/>
    <p:sldId id="678" r:id="rId5"/>
    <p:sldId id="679" r:id="rId6"/>
    <p:sldId id="680" r:id="rId7"/>
    <p:sldId id="681" r:id="rId8"/>
    <p:sldId id="682" r:id="rId9"/>
    <p:sldId id="683" r:id="rId10"/>
    <p:sldId id="684" r:id="rId11"/>
    <p:sldId id="263" r:id="rId12"/>
    <p:sldId id="662" r:id="rId13"/>
    <p:sldId id="654" r:id="rId14"/>
    <p:sldId id="264" r:id="rId15"/>
    <p:sldId id="272" r:id="rId16"/>
    <p:sldId id="685" r:id="rId17"/>
    <p:sldId id="686" r:id="rId18"/>
    <p:sldId id="633" r:id="rId19"/>
    <p:sldId id="687" r:id="rId20"/>
    <p:sldId id="688" r:id="rId21"/>
    <p:sldId id="689" r:id="rId22"/>
    <p:sldId id="690" r:id="rId23"/>
    <p:sldId id="691" r:id="rId24"/>
    <p:sldId id="692" r:id="rId25"/>
    <p:sldId id="693" r:id="rId26"/>
    <p:sldId id="694" r:id="rId27"/>
    <p:sldId id="695" r:id="rId28"/>
    <p:sldId id="696" r:id="rId29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7C66C9-5AC4-D143-AC41-EFC203E0D535}" type="datetimeFigureOut">
              <a:rPr lang="en-DE" smtClean="0"/>
              <a:t>3/8/26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C7FF37-7D95-D74E-86BF-38AD4F48E8EF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4376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C0F51-BC67-2409-5F67-B90E1BB447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191858-70D0-583D-ED82-C3684708D6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A1CDB-6353-C385-5D49-78169BEEF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12DCE-6557-4F4C-9EF2-71954FC5C5C0}" type="datetime1">
              <a:rPr lang="de-DE" smtClean="0"/>
              <a:t>08.03.26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807C3-C7C3-F0DE-8EE3-EE1768468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78F38-7E07-8F40-0864-1E14DC528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960870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8ADF2-CDD1-B7BB-2C71-874A47856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C035BC-CF8A-41DD-0063-BFB41F3761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4FE1FA-E2C8-27BE-9FE6-067BEA50E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0C701-1A57-C948-B28D-AF931FF78AF3}" type="datetime1">
              <a:rPr lang="de-DE" smtClean="0"/>
              <a:t>08.03.26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375AA4-0BEE-D479-0FE0-0AFF82A6AC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F4274-8578-84D6-55CA-4BAC7E932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020363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63EC4-0F4F-8772-ABF8-AEF9376E3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BD8187-44EB-6A3A-46E2-3726C3ABEB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AC51F-AFB2-A90A-B5D7-FD81BFA16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BF2D68-AC2E-EA4A-974C-16395F5BD9DD}" type="datetime1">
              <a:rPr lang="de-DE" smtClean="0"/>
              <a:t>08.03.26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CABE97-82C1-E587-CBF8-F3C6EDA58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559A96-50D2-95E1-412B-F3BA70D12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510343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6FB11-A74C-2554-F62A-C5140CB12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AE2C16-F5D6-4105-C754-3C51965522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CC8314-2785-130B-7A97-591B06F79B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9E51AD-3153-BBAE-48D4-D1D442728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C9811-4ACB-234E-BFAA-6F05033E0D52}" type="datetime1">
              <a:rPr lang="de-DE" smtClean="0"/>
              <a:t>08.03.26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9CBD8-995A-2163-3652-468FB7730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3F39B2-F870-46EE-4D5D-ABC2DAEBC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736319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430C3-B001-38B8-EC6C-BF661EC1F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26E69B-F009-2D6E-3072-C41E82B3F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8A491E-2EF4-C732-7643-2047CCFC5B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E19183-8D77-ECBF-751F-495BF65075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F09BFA-480E-0759-3F2D-C88A6B9A4F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5B4074E-B383-D113-A345-F23714983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A557C-09A3-C548-BB01-1F0212DED143}" type="datetime1">
              <a:rPr lang="de-DE" smtClean="0"/>
              <a:t>08.03.26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F5375-5874-EB2B-20A6-016CD3A17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CD1E79-6EDD-DC9F-02F1-FBFDEA33D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3803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390DA-25AC-59F5-C616-595691E03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CF12C1-3A24-6170-EB04-5815F0ECB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86379-B67D-864C-959F-C9FC3FCCE377}" type="datetime1">
              <a:rPr lang="de-DE" smtClean="0"/>
              <a:t>08.03.26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BF9F80-9DD6-E3ED-15E3-6BA7D368D0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69ADA8-8EE0-D015-3CEC-4D82781EBB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75910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A67105-A324-0B93-5889-024E1CFC4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2DF66D-D36A-554E-ABAF-BAB3214E8E46}" type="datetime1">
              <a:rPr lang="de-DE" smtClean="0"/>
              <a:t>08.03.26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E4514B-14E9-EFC4-2808-F1B65C84D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21A3F3-E5F4-ACCB-AFDB-D84F6470A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54372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D27A54-D1EF-8939-7E48-301413EA9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36DA8C-F9F3-1A88-E1DE-A85EDD5398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5FE6A4-9C67-B29E-8A97-3B9A38EC9E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F80F4D-235A-CAE8-699E-CAE520958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488A7-13F1-C747-8421-8AD2AC70E301}" type="datetime1">
              <a:rPr lang="de-DE" smtClean="0"/>
              <a:t>08.03.26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102C4C-A238-472B-58D6-C028CD135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A31887-A193-67E1-2111-12DCE025C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698340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5B630-3DB7-FEE8-67EB-6F542F407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985760-D748-A4BE-014B-820E025F28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AE076-873D-6FDE-B1AA-DB1A13AE2B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7E7A09-2345-FC83-D197-4FF669D09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DFD949-D71E-274F-984C-986551850ABF}" type="datetime1">
              <a:rPr lang="de-DE" smtClean="0"/>
              <a:t>08.03.26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60718D-AB47-58BA-697D-8C65A6725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3EBED5-A0B1-61A8-3715-A1CA2E016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995645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40C68-A760-D8EA-6E64-E8A2199310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7F60652-B859-E333-FD28-424265CE3E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18ADFC-648E-8F24-7BE3-D1402F168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E0504E-081E-2244-82EF-59857EECA44C}" type="datetime1">
              <a:rPr lang="de-DE" smtClean="0"/>
              <a:t>08.03.26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53414B-460A-1653-67ED-E095393F9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0868E-8B04-29D5-843D-E5434A132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18355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BBE8B8-834E-7405-4978-B3D2E78927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C3733-D8F0-914A-8934-8848898495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D4AE9F-8C5D-B6C8-6A2E-F8D7A18AD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5F15A8-F6C0-3340-9E29-5B7EE8A425EE}" type="datetime1">
              <a:rPr lang="de-DE" smtClean="0"/>
              <a:t>08.03.26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465327-8235-7CF1-158B-E05AD3AB5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F33F68-6794-ECAB-FF79-0293F32BD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49944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08/03/2026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0641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08/03/2026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28714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08/03/2026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604004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08/03/2026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59746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08/03/2026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63492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08/03/2026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760301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08/03/2026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94221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08/03/2026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394506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08/03/2026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61950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08/03/2026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35266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08/03/2026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3786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7628460-306B-90BC-C78B-8E80BC880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5FD271-3E00-3A58-82FC-399E735F2D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EE739F-D39E-1065-6A79-A9A8348BFB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AC0196-C149-3543-A854-7AE4E991F7BB}" type="datetime1">
              <a:rPr lang="de-DE" smtClean="0"/>
              <a:t>08.03.26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042B9E-D9E9-C53B-C325-E1066A9DA1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09EC1-8370-9C52-D2A8-A7F2D3691A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E1BB0D-8AD4-A14C-8FD5-F1619D1A43A2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220464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08/03/2026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77917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0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Statistical Inference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12588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19F86A3F-863F-29A5-F8B5-213D64268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12B5ABE-485E-EDC2-E965-111CD51154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parameter</a:t>
            </a:r>
            <a:r>
              <a:rPr lang="de-DE" dirty="0"/>
              <a:t> </a:t>
            </a:r>
            <a:r>
              <a:rPr lang="de-DE" dirty="0" err="1"/>
              <a:t>estimation</a:t>
            </a:r>
            <a:r>
              <a:rPr lang="de-DE" dirty="0"/>
              <a:t>, least </a:t>
            </a:r>
            <a:r>
              <a:rPr lang="de-DE" dirty="0" err="1"/>
              <a:t>squares</a:t>
            </a:r>
            <a:endParaRPr lang="de-DE" dirty="0"/>
          </a:p>
          <a:p>
            <a:r>
              <a:rPr lang="de-DE" dirty="0"/>
              <a:t>maximum </a:t>
            </a:r>
            <a:r>
              <a:rPr lang="de-DE" dirty="0" err="1"/>
              <a:t>likelihood</a:t>
            </a:r>
            <a:r>
              <a:rPr lang="de-DE" dirty="0"/>
              <a:t> </a:t>
            </a:r>
            <a:r>
              <a:rPr lang="de-DE" dirty="0" err="1"/>
              <a:t>method</a:t>
            </a:r>
            <a:r>
              <a:rPr lang="de-DE" dirty="0"/>
              <a:t>, MAP</a:t>
            </a:r>
          </a:p>
          <a:p>
            <a:r>
              <a:rPr lang="de-DE" dirty="0" err="1"/>
              <a:t>hypothesis</a:t>
            </a:r>
            <a:r>
              <a:rPr lang="de-DE" dirty="0"/>
              <a:t> </a:t>
            </a:r>
            <a:r>
              <a:rPr lang="de-DE" dirty="0" err="1"/>
              <a:t>testing</a:t>
            </a:r>
            <a:endParaRPr lang="de-DE" dirty="0"/>
          </a:p>
          <a:p>
            <a:r>
              <a:rPr lang="de-DE" dirty="0" err="1"/>
              <a:t>statsmodels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8F3FC7B-F7BA-900D-038F-C269A44AF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09355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94800B-B9F7-36D5-E95C-BB85D5DF3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Statistical </a:t>
            </a:r>
            <a:r>
              <a:rPr lang="de-DE" dirty="0" err="1"/>
              <a:t>Inference</a:t>
            </a:r>
            <a:r>
              <a:rPr lang="de-DE" dirty="0"/>
              <a:t>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DF5A3A2-4EB9-E23C-C313-18AA7E3BD4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05A4913-51A4-7049-FF34-15DC1E845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9135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FAAF2FE-21B6-4D93-5A98-6C727A703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Estimation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Prediction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411D64C-EA57-1736-EB7D-B8741E2B0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2F29F84-CC6D-C552-0195-88DC1DF15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44150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7E0819-F09F-219D-494D-C0676A4AF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Parameter </a:t>
            </a:r>
            <a:r>
              <a:rPr lang="de-DE" dirty="0" err="1"/>
              <a:t>Estimation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E99F8A3-CB23-5AD0-E2C5-CA9C2CC58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A5C04F6-8F49-62DE-9D9D-CAFE55D47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2257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BD2DB9-A134-FF7E-C8BA-64FE53A5B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Least Squares </a:t>
            </a:r>
            <a:r>
              <a:rPr lang="de-DE" dirty="0" err="1"/>
              <a:t>Estimation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FD89AB-9049-BF80-08EB-4562A5C989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6B8C9E3-A4A1-62CE-7490-26C9E0C78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1966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CFD234-B2B0-8F19-1D5F-C84B9BF98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Loss </a:t>
            </a:r>
            <a:r>
              <a:rPr lang="de-DE" dirty="0" err="1"/>
              <a:t>Functions</a:t>
            </a:r>
            <a:r>
              <a:rPr lang="de-DE" dirty="0"/>
              <a:t> and </a:t>
            </a:r>
            <a:r>
              <a:rPr lang="de-DE" dirty="0" err="1"/>
              <a:t>Optimization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FB1DE5-55FB-B039-D4C1-82720EF560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4EBBF11-72D6-A819-6FEA-934A8EAAA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5409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4D96D1-0DFD-CDA0-2D1A-1A4269EE6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Maximum </a:t>
            </a:r>
            <a:r>
              <a:rPr lang="de-DE" dirty="0" err="1"/>
              <a:t>Likelihood</a:t>
            </a:r>
            <a:r>
              <a:rPr lang="de-DE" dirty="0"/>
              <a:t> </a:t>
            </a:r>
            <a:r>
              <a:rPr lang="de-DE" dirty="0" err="1"/>
              <a:t>Estimation</a:t>
            </a:r>
            <a:r>
              <a:rPr lang="de-DE" dirty="0"/>
              <a:t> (MLE)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956010-9C28-F9EE-4A46-5F8A3B30F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7E4D77-FE8D-127B-EEEF-939F25A12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55158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90FB9-91D6-8173-1C05-1E9C1494A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Likelihood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1C44CC-E2D9-26AA-724C-69454C0871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special objective function: likelihood function </a:t>
                </a:r>
                <a14:m>
                  <m:oMath xmlns:m="http://schemas.openxmlformats.org/officeDocument/2006/math">
                    <m:r>
                      <a:rPr lang="en-GB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endParaRPr lang="en-GB" sz="2600" dirty="0"/>
              </a:p>
              <a:p>
                <a:r>
                  <a:rPr lang="en-GB" sz="2600" dirty="0"/>
                  <a:t>value of predicted probability density function (model) at observed target</a:t>
                </a:r>
              </a:p>
              <a:p>
                <a:r>
                  <a:rPr lang="en-GB" sz="2600" dirty="0"/>
                  <a:t>as function of model parameters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endParaRPr lang="en-GB" sz="2600" dirty="0"/>
              </a:p>
              <a:p>
                <a:pPr marL="0" indent="0">
                  <a:buNone/>
                </a:pPr>
                <a:endParaRPr lang="en-US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2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GB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GB" sz="26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2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6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2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6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6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600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acc>
                            <m:accPr>
                              <m:chr m:val="̂"/>
                              <m:ctrlPr>
                                <a:rPr lang="en-US" sz="26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6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GB" sz="2600" dirty="0"/>
              </a:p>
              <a:p>
                <a:pPr marL="0" indent="0">
                  <a:buNone/>
                </a:pPr>
                <a:endParaRPr lang="en-GB" sz="2600" dirty="0"/>
              </a:p>
              <a:p>
                <a:pPr marL="0" indent="0">
                  <a:buNone/>
                </a:pPr>
                <a:r>
                  <a:rPr lang="en-GB" sz="2600" dirty="0"/>
                  <a:t>a little bit confusing:</a:t>
                </a:r>
                <a:endParaRPr lang="en-US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600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600" b="0" i="1">
                            <a:latin typeface="Cambria Math" panose="02040503050406030204" pitchFamily="18" charset="0"/>
                          </a:rPr>
                          <m:t>;</m:t>
                        </m:r>
                        <m:acc>
                          <m:accPr>
                            <m:chr m:val="̂"/>
                            <m:ctrlPr>
                              <a:rPr lang="en-US" sz="2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2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e>
                    </m:d>
                  </m:oMath>
                </a14:m>
                <a:r>
                  <a:rPr lang="en-GB" sz="2600" dirty="0"/>
                  <a:t> is conditional density function if function of data 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en-GB" sz="2600" dirty="0"/>
                  <a:t> fixed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600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600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600" b="0" i="1">
                            <a:latin typeface="Cambria Math" panose="02040503050406030204" pitchFamily="18" charset="0"/>
                          </a:rPr>
                          <m:t>;</m:t>
                        </m:r>
                        <m:acc>
                          <m:accPr>
                            <m:chr m:val="̂"/>
                            <m:ctrlPr>
                              <a:rPr lang="en-US" sz="26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26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e>
                    </m:d>
                  </m:oMath>
                </a14:m>
                <a:r>
                  <a:rPr lang="en-GB" sz="2600" dirty="0"/>
                  <a:t> is conditional likelihood function if function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en-GB" sz="2600" dirty="0"/>
                  <a:t> with data fixed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41C44CC-E2D9-26AA-724C-69454C0871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 b="-32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B7468D-B2C2-583F-71EF-170C4D7F2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57448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C8190-0F29-736C-02B0-E67BDDE58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Independence Assumption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FDDA55-280D-23EA-F172-A72AACD4FB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200" dirty="0">
                    <a:sym typeface="Wingdings" pitchFamily="2" charset="2"/>
                  </a:rPr>
                  <a:t>c</a:t>
                </a:r>
                <a:r>
                  <a:rPr lang="en-DE" sz="2200" dirty="0">
                    <a:sym typeface="Wingdings" pitchFamily="2" charset="2"/>
                  </a:rPr>
                  <a:t>onsider training data set (of size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𝑛</m:t>
                    </m:r>
                  </m:oMath>
                </a14:m>
                <a:r>
                  <a:rPr lang="en-DE" sz="2200" dirty="0">
                    <a:sym typeface="Wingdings" pitchFamily="2" charset="2"/>
                  </a:rPr>
                  <a:t>) as one sample from unknown joint probability distribution of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  <a:sym typeface="Wingdings" pitchFamily="2" charset="2"/>
                      </a:rPr>
                      <m:t>𝑛</m:t>
                    </m:r>
                    <m:r>
                      <a:rPr lang="en-US" sz="2200" i="1">
                        <a:latin typeface="Cambria Math" panose="02040503050406030204" pitchFamily="18" charset="0"/>
                        <a:sym typeface="Wingdings" pitchFamily="2" charset="2"/>
                      </a:rPr>
                      <m:t> </m:t>
                    </m:r>
                  </m:oMath>
                </a14:m>
                <a:r>
                  <a:rPr lang="en-DE" sz="2200" dirty="0">
                    <a:sym typeface="Wingdings" pitchFamily="2" charset="2"/>
                  </a:rPr>
                  <a:t>independent </a:t>
                </a:r>
                <a:r>
                  <a:rPr lang="en-DE" sz="2200" dirty="0"/>
                  <a:t>(i.i.d.) </a:t>
                </a:r>
                <a:r>
                  <a:rPr lang="en-DE" sz="2200" dirty="0">
                    <a:sym typeface="Wingdings" pitchFamily="2" charset="2"/>
                  </a:rPr>
                  <a:t>sets of random variables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DE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DE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en-US" sz="2200" b="1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𝑿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200" i="1">
                        <a:latin typeface="Cambria Math" panose="02040503050406030204" pitchFamily="18" charset="0"/>
                        <a:sym typeface="Wingdings" pitchFamily="2" charset="2"/>
                      </a:rPr>
                      <m:t>,</m:t>
                    </m:r>
                    <m:d>
                      <m:dPr>
                        <m:ctrlPr>
                          <a:rPr lang="en-DE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DE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2</m:t>
                            </m:r>
                          </m:sub>
                        </m:sSub>
                        <m:r>
                          <a:rPr lang="en-US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en-US" sz="2200" b="1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𝑿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sz="2200" i="1">
                        <a:latin typeface="Cambria Math" panose="02040503050406030204" pitchFamily="18" charset="0"/>
                        <a:sym typeface="Wingdings" pitchFamily="2" charset="2"/>
                      </a:rPr>
                      <m:t>,…, </m:t>
                    </m:r>
                    <m:d>
                      <m:dPr>
                        <m:ctrlPr>
                          <a:rPr lang="en-DE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DE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en-US" sz="2200" b="1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𝑿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  <a:sym typeface="Wingdings" pitchFamily="2" charset="2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DE" sz="22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DE" sz="2200" dirty="0">
                    <a:sym typeface="Wingdings" pitchFamily="2" charset="2"/>
                  </a:rPr>
                  <a:t>(same thing as random sampling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  <a:sym typeface="Wingdings" pitchFamily="2" charset="2"/>
                      </a:rPr>
                      <m:t>𝑛</m:t>
                    </m:r>
                  </m:oMath>
                </a14:m>
                <a:r>
                  <a:rPr lang="en-DE" sz="2200" dirty="0">
                    <a:sym typeface="Wingdings" pitchFamily="2" charset="2"/>
                  </a:rPr>
                  <a:t> times from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𝑌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,</m:t>
                        </m:r>
                        <m:r>
                          <a:rPr lang="en-US" sz="2200" b="1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𝑿</m:t>
                        </m:r>
                      </m:e>
                    </m:d>
                  </m:oMath>
                </a14:m>
                <a:r>
                  <a:rPr lang="en-DE" sz="2200" dirty="0">
                    <a:sym typeface="Wingdings" pitchFamily="2" charset="2"/>
                  </a:rPr>
                  <a:t>)</a:t>
                </a:r>
              </a:p>
              <a:p>
                <a:pPr marL="0" indent="0">
                  <a:buNone/>
                </a:pPr>
                <a:endParaRPr lang="en-DE" sz="22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DE" sz="2200" dirty="0">
                    <a:sym typeface="Wingdings" pitchFamily="2" charset="2"/>
                  </a:rPr>
                  <a:t> </a:t>
                </a:r>
                <a:r>
                  <a:rPr lang="en-GB" sz="2200" dirty="0">
                    <a:sym typeface="Wingdings" pitchFamily="2" charset="2"/>
                  </a:rPr>
                  <a:t>l</a:t>
                </a:r>
                <a:r>
                  <a:rPr lang="en-DE" sz="2200" dirty="0">
                    <a:sym typeface="Wingdings" pitchFamily="2" charset="2"/>
                  </a:rPr>
                  <a:t>ikelihood as product of univariate probability density functions:</a:t>
                </a:r>
              </a:p>
              <a:p>
                <a:pPr marL="0" indent="0">
                  <a:buNone/>
                </a:pPr>
                <a:endParaRPr lang="en-DE" sz="22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GB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GB" sz="22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2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200" b="0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2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</m:e>
                          </m:d>
                        </m:e>
                      </m:nary>
                    </m:oMath>
                  </m:oMathPara>
                </a14:m>
                <a:endParaRPr lang="en-DE" sz="2200" dirty="0"/>
              </a:p>
              <a:p>
                <a:pPr marL="0" indent="0">
                  <a:buNone/>
                </a:pPr>
                <a:endParaRPr lang="en-DE" sz="2200" dirty="0"/>
              </a:p>
              <a:p>
                <a:pPr marL="0" indent="0">
                  <a:buNone/>
                </a:pPr>
                <a:r>
                  <a:rPr lang="en-DE" sz="2200" dirty="0"/>
                  <a:t>… to be maximized according to estimated model parameters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2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2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endParaRPr lang="en-US" sz="2200" b="1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DE" sz="2200" dirty="0"/>
                  <a:t>(known as maximum likelihood estimation)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2FDDA55-280D-23EA-F172-A72AACD4FB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744" b="-1279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1884E-FC06-2625-8D8E-4C79602F8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238270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78DBC-7181-EA20-D228-B57BD1EB6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Negative Log-Likelihood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50BE1-6E3C-96FF-14B6-FBB141E405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GB" sz="2400" dirty="0"/>
                  <a:t>logarithmic transformation of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GB" sz="2400" dirty="0">
                    <a:sym typeface="Wingdings" pitchFamily="2" charset="2"/>
                  </a:rPr>
                  <a:t>: </a:t>
                </a:r>
                <a:r>
                  <a:rPr lang="en-GB" sz="2400" dirty="0"/>
                  <a:t>log-likelihood function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d>
                        <m:dPr>
                          <m:ctrlPr>
                            <a:rPr lang="en-GB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GB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  <m:d>
                            <m:dPr>
                              <m:ctrlP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GB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sz="2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</m:t>
                              </m:r>
                              <m:r>
                                <a:rPr lang="en-US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sSub>
                                        <m:sSubPr>
                                          <m:ctrlPr>
                                            <a:rPr lang="en-US" sz="24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4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;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400" b="1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GB" sz="24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en-GB" sz="2400" dirty="0"/>
              </a:p>
              <a:p>
                <a:pPr marL="0" indent="0">
                  <a:buNone/>
                </a:pPr>
                <a:endParaRPr lang="en-GB" sz="2400" dirty="0"/>
              </a:p>
              <a:p>
                <a:r>
                  <a:rPr lang="en-GB" sz="2400" dirty="0"/>
                  <a:t>logarithm monotonic function </a:t>
                </a:r>
                <a:r>
                  <a:rPr lang="en-GB" sz="2400" dirty="0">
                    <a:sym typeface="Wingdings" pitchFamily="2" charset="2"/>
                  </a:rPr>
                  <a:t> maximum of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GB" sz="2400" dirty="0">
                    <a:sym typeface="Wingdings" pitchFamily="2" charset="2"/>
                  </a:rPr>
                  <a:t> and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r>
                  <a:rPr lang="en-GB" sz="2400" dirty="0">
                    <a:sym typeface="Wingdings" pitchFamily="2" charset="2"/>
                  </a:rPr>
                  <a:t> at same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en-GB" sz="2400" dirty="0"/>
                  <a:t> values</a:t>
                </a:r>
              </a:p>
              <a:p>
                <a:r>
                  <a:rPr lang="en-GB" sz="2400" dirty="0"/>
                  <a:t>most probability distributions (e.g., exponential family) only logarithmically concave (important for optimization)</a:t>
                </a:r>
              </a:p>
              <a:p>
                <a:r>
                  <a:rPr lang="en-GB" sz="2400" dirty="0"/>
                  <a:t>sum computationally more convenient than product</a:t>
                </a:r>
              </a:p>
              <a:p>
                <a:pPr marL="0" indent="0">
                  <a:buNone/>
                </a:pPr>
                <a:endParaRPr lang="en-GB" sz="2400" dirty="0"/>
              </a:p>
              <a:p>
                <a:pPr marL="0" indent="0">
                  <a:buNone/>
                </a:pPr>
                <a:r>
                  <a:rPr lang="en-DE" sz="2400" dirty="0"/>
                  <a:t>negative log-likelihood:</a:t>
                </a:r>
                <a:r>
                  <a:rPr lang="en-DE" sz="2400" dirty="0">
                    <a:sym typeface="Wingdings" pitchFamily="2" charset="2"/>
                  </a:rPr>
                  <a:t> minimization instead of maximization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d>
                        <m:dPr>
                          <m:ctrlP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GB" sz="24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4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</m:t>
                          </m:r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  <m:d>
                            <m:dPr>
                              <m:ctrlPr>
                                <a:rPr lang="en-GB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sz="24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</m:t>
                              </m:r>
                              <m:r>
                                <a:rPr lang="en-US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|</m:t>
                              </m:r>
                              <m:r>
                                <a:rPr lang="en-US" sz="24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D50BE1-6E3C-96FF-14B6-FBB141E405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9884" b="-291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33ABB5-C09F-871F-F43B-E53B1C04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12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F247870-2EBE-384D-F1E4-36BA1902C127}"/>
                  </a:ext>
                </a:extLst>
              </p:cNvPr>
              <p:cNvSpPr txBox="1"/>
              <p:nvPr/>
            </p:nvSpPr>
            <p:spPr>
              <a:xfrm>
                <a:off x="8610600" y="681037"/>
                <a:ext cx="3390243" cy="1250855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txBody>
              <a:bodyPr wrap="square">
                <a:spAutoFit/>
              </a:bodyPr>
              <a:lstStyle/>
              <a:p>
                <a:r>
                  <a:rPr lang="en-GB" dirty="0"/>
                  <a:t>m</a:t>
                </a:r>
                <a:r>
                  <a:rPr lang="en-DE" dirty="0"/>
                  <a:t>odel, e.g., for linear regression: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acc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acc>
                            <m:accPr>
                              <m:chr m:val="̂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𝜷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DE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dirty="0"/>
                  <a:t>with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𝐗</m:t>
                    </m:r>
                  </m:oMath>
                </a14:m>
                <a:r>
                  <a:rPr lang="en-GB" dirty="0"/>
                  <a:t> g</a:t>
                </a:r>
                <a:r>
                  <a:rPr lang="en-DE" dirty="0"/>
                  <a:t>iven in training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=(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</m:acc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DE" dirty="0"/>
                  <a:t> to be estimated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F247870-2EBE-384D-F1E4-36BA1902C1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681037"/>
                <a:ext cx="3390243" cy="1250855"/>
              </a:xfrm>
              <a:prstGeom prst="rect">
                <a:avLst/>
              </a:prstGeom>
              <a:blipFill>
                <a:blip r:embed="rId3"/>
                <a:stretch>
                  <a:fillRect l="-1866" t="-2000" b="-700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2BCCAE4-34C0-7788-FA9B-023B1837371A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7767145" y="1306465"/>
            <a:ext cx="843455" cy="13736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6626CA9-DB03-94F8-2BE7-F9F356C1A3AA}"/>
              </a:ext>
            </a:extLst>
          </p:cNvPr>
          <p:cNvSpPr txBox="1"/>
          <p:nvPr/>
        </p:nvSpPr>
        <p:spPr>
          <a:xfrm>
            <a:off x="4736758" y="6352143"/>
            <a:ext cx="1881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objective function</a:t>
            </a:r>
          </a:p>
        </p:txBody>
      </p:sp>
      <p:sp>
        <p:nvSpPr>
          <p:cNvPr id="8" name="Right Brace 7">
            <a:extLst>
              <a:ext uri="{FF2B5EF4-FFF2-40B4-BE49-F238E27FC236}">
                <a16:creationId xmlns:a16="http://schemas.microsoft.com/office/drawing/2014/main" id="{A44FF520-3933-7B9D-E850-6817B769D990}"/>
              </a:ext>
            </a:extLst>
          </p:cNvPr>
          <p:cNvSpPr/>
          <p:nvPr/>
        </p:nvSpPr>
        <p:spPr>
          <a:xfrm rot="5400000">
            <a:off x="5457502" y="5586047"/>
            <a:ext cx="197837" cy="134276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59393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7A19B-C77D-9FE4-9FA2-370D078E5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Maximum Likelihood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7CCC17-C9FA-518B-332B-7CA39C1D67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ea typeface="Cambria Math" panose="02040503050406030204" pitchFamily="18" charset="0"/>
                  </a:rPr>
                  <a:t>estimate parameters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b="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>
                    <a:ea typeface="Cambria Math" panose="02040503050406030204" pitchFamily="18" charset="0"/>
                  </a:rPr>
                  <a:t> solving</a:t>
                </a:r>
              </a:p>
              <a:p>
                <a:pPr marL="0" indent="0">
                  <a:buNone/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  <m: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en-US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  <m:d>
                      <m:dPr>
                        <m:ctrlPr>
                          <a:rPr lang="en-GB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̂"/>
                            <m:ctrlPr>
                              <a:rPr lang="en-GB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;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𝒚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|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DE" sz="2400" dirty="0"/>
              </a:p>
              <a:p>
                <a:pPr marL="0" indent="0">
                  <a:buNone/>
                </a:pPr>
                <a:endParaRPr lang="en-DE" sz="2400" dirty="0"/>
              </a:p>
              <a:p>
                <a:pPr>
                  <a:buFont typeface="Wingdings" pitchFamily="2" charset="2"/>
                  <a:buChar char="à"/>
                </a:pPr>
                <a:r>
                  <a:rPr lang="en-DE" sz="2400" dirty="0"/>
                  <a:t> likelihood equations (if </a:t>
                </a:r>
                <a14:m>
                  <m:oMath xmlns:m="http://schemas.openxmlformats.org/officeDocument/2006/math">
                    <m:r>
                      <a:rPr lang="en-GB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DE" sz="2400" dirty="0"/>
                  <a:t> differentiable in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GB" sz="24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GB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acc>
                  </m:oMath>
                </a14:m>
                <a:r>
                  <a:rPr lang="en-DE" sz="2400" dirty="0"/>
                  <a:t>):</a:t>
                </a:r>
                <a:endParaRPr lang="en-GB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2400" i="1" dirty="0">
                    <a:latin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24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GB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ℓ</m:t>
                        </m:r>
                      </m:num>
                      <m:den>
                        <m:r>
                          <a:rPr lang="en-GB" sz="24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GB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GB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=0,  </m:t>
                    </m:r>
                    <m:f>
                      <m:f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GB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ℓ</m:t>
                        </m:r>
                      </m:num>
                      <m:den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  </m:t>
                    </m:r>
                    <m:f>
                      <m:fPr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GB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ℓ</m:t>
                        </m:r>
                      </m:num>
                      <m:den>
                        <m:r>
                          <a:rPr lang="en-GB" sz="2400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GB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GB" sz="2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GB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en-US" sz="24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DE" sz="2400" dirty="0"/>
                  <a:t>		(in short: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acc>
                          <m:accPr>
                            <m:chr m:val="̂"/>
                            <m:ctrlPr>
                              <a:rPr lang="en-GB" sz="2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GB" sz="2400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𝜽</m:t>
                            </m:r>
                          </m:e>
                        </m:acc>
                      </m:sub>
                    </m:sSub>
                    <m:r>
                      <a:rPr lang="en-US" sz="24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GB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ℓ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DE" sz="2400" dirty="0"/>
                  <a:t>)</a:t>
                </a:r>
              </a:p>
              <a:p>
                <a:pPr marL="0" indent="0">
                  <a:buNone/>
                </a:pPr>
                <a:endParaRPr lang="en-DE" sz="2400" dirty="0"/>
              </a:p>
              <a:p>
                <a:pPr marL="0" indent="0">
                  <a:buNone/>
                </a:pPr>
                <a:r>
                  <a:rPr lang="en-GB" sz="2400" dirty="0"/>
                  <a:t>can be solved explicitly for some cases</a:t>
                </a:r>
                <a:r>
                  <a:rPr lang="en-DE" sz="2400" dirty="0"/>
                  <a:t> (e.g., ordinary least squares for linear regression)</a:t>
                </a:r>
              </a:p>
              <a:p>
                <a:pPr marL="0" indent="0">
                  <a:buNone/>
                </a:pPr>
                <a:endParaRPr lang="en-DE" sz="2400" dirty="0"/>
              </a:p>
              <a:p>
                <a:pPr marL="0" indent="0">
                  <a:buNone/>
                </a:pPr>
                <a:r>
                  <a:rPr lang="en-GB" sz="2400" dirty="0"/>
                  <a:t>b</a:t>
                </a:r>
                <a:r>
                  <a:rPr lang="en-DE" sz="2400" dirty="0"/>
                  <a:t>ut usually no closed-form solution</a:t>
                </a:r>
              </a:p>
              <a:p>
                <a:pPr marL="0" indent="0">
                  <a:buNone/>
                </a:pPr>
                <a:r>
                  <a:rPr lang="en-DE" sz="2400" dirty="0">
                    <a:sym typeface="Wingdings" pitchFamily="2" charset="2"/>
                  </a:rPr>
                  <a:t> need for numerical optimization (e.g., gradient descent)</a:t>
                </a:r>
                <a:endParaRPr lang="en-DE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7CCC17-C9FA-518B-332B-7CA39C1D67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744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1667A3-D90F-DA12-4A27-3C00790B69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13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EBD3F00-9194-BD76-8255-E58E5C779207}"/>
                  </a:ext>
                </a:extLst>
              </p:cNvPr>
              <p:cNvSpPr txBox="1"/>
              <p:nvPr/>
            </p:nvSpPr>
            <p:spPr>
              <a:xfrm>
                <a:off x="8429297" y="1027906"/>
                <a:ext cx="3450020" cy="1656928"/>
              </a:xfrm>
              <a:prstGeom prst="rect">
                <a:avLst/>
              </a:prstGeom>
              <a:solidFill>
                <a:schemeClr val="bg2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GB" sz="2200" b="1" dirty="0"/>
                  <a:t>least squares method </a:t>
                </a:r>
                <a:r>
                  <a:rPr lang="en-GB" sz="2200" dirty="0"/>
                  <a:t>corresponds to maximum likelihood estimation with </a:t>
                </a:r>
                <a:r>
                  <a:rPr lang="en-GB" sz="2200" b="1" dirty="0"/>
                  <a:t>Gaussian model</a:t>
                </a:r>
                <a:r>
                  <a:rPr lang="en-GB" sz="2200" dirty="0"/>
                  <a:t>:</a:t>
                </a:r>
                <a:r>
                  <a:rPr lang="en-GB" sz="2200" b="1" dirty="0"/>
                  <a:t> </a:t>
                </a:r>
                <a14:m>
                  <m:oMath xmlns:m="http://schemas.openxmlformats.org/officeDocument/2006/math">
                    <m:r>
                      <a:rPr lang="en-GB" sz="2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en-GB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sSup>
                          <m:sSup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−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num>
                                  <m:den>
                                    <m:acc>
                                      <m:accPr>
                                        <m:chr m:val="̂"/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</m:acc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US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sup>
                    </m:sSup>
                  </m:oMath>
                </a14:m>
                <a:endParaRPr lang="en-GB" sz="2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EBD3F00-9194-BD76-8255-E58E5C7792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9297" y="1027906"/>
                <a:ext cx="3450020" cy="1656928"/>
              </a:xfrm>
              <a:prstGeom prst="rect">
                <a:avLst/>
              </a:prstGeom>
              <a:blipFill>
                <a:blip r:embed="rId3"/>
                <a:stretch>
                  <a:fillRect l="-2297" t="-2583" b="-664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6F883C3A-BB34-A49B-D00B-72B79FC95EE3}"/>
              </a:ext>
            </a:extLst>
          </p:cNvPr>
          <p:cNvSpPr txBox="1"/>
          <p:nvPr/>
        </p:nvSpPr>
        <p:spPr>
          <a:xfrm>
            <a:off x="5119817" y="2345510"/>
            <a:ext cx="195236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mode of likelihood as point estimate</a:t>
            </a:r>
          </a:p>
        </p:txBody>
      </p:sp>
    </p:spTree>
    <p:extLst>
      <p:ext uri="{BB962C8B-B14F-4D97-AF65-F5344CB8AC3E}">
        <p14:creationId xmlns:p14="http://schemas.microsoft.com/office/powerpoint/2010/main" val="11345750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6EAA7-0843-1BEC-9F15-A7E513868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Interpretation of Maximum Likelihood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27594E-9C2A-4D6C-2B14-A5F754A8628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GB" sz="2000" dirty="0"/>
                  <a:t>maximum likelihood estimation corresponds to minimization of </a:t>
                </a:r>
                <a:r>
                  <a:rPr lang="en-GB" sz="2000" dirty="0" err="1"/>
                  <a:t>Kullback-Leibler</a:t>
                </a:r>
                <a:r>
                  <a:rPr lang="en-GB" sz="2000" dirty="0"/>
                  <a:t> divergence (as well as cross entropy: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𝐾𝐿</m:t>
                        </m:r>
                      </m:sub>
                    </m:sSub>
                    <m:d>
                      <m:d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||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lang="en-GB" sz="2000" dirty="0"/>
                  <a:t>) between true data-generating probability distribution (manifested by empirical distribution of training data) and probability distribution of model:</a:t>
                </a:r>
              </a:p>
              <a:p>
                <a:pPr marL="0" indent="0">
                  <a:buNone/>
                </a:pPr>
                <a:endParaRPr lang="en-GB" sz="1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argmin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model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sz="2000" b="0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0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0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|| 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data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argmin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GB" sz="2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data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func>
                            <m:func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0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2000" i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data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𝑦</m:t>
                                      </m:r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r>
                                        <a:rPr lang="en-US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2000" i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model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𝑦</m:t>
                                      </m:r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r>
                                        <a:rPr lang="en-US" sz="20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;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00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0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</m:acc>
                                    </m:e>
                                  </m:d>
                                </m:den>
                              </m:f>
                            </m:e>
                          </m:func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𝑑𝑦</m:t>
                          </m:r>
                        </m:e>
                      </m:nary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argmin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0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2000" i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data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sSub>
                                        <m:sSubPr>
                                          <m:ctrlPr>
                                            <a:rPr lang="en-US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2000" i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model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sSub>
                                        <m:sSubPr>
                                          <m:ctrlPr>
                                            <a:rPr lang="en-US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;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00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0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</m:acc>
                                    </m:e>
                                  </m:d>
                                </m:den>
                              </m:f>
                            </m:e>
                          </m:func>
                        </m:e>
                      </m:nary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nary>
                        <m:naryPr>
                          <m:chr m:val="∑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func>
                            <m:funcPr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00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0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2000" i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model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</a:rPr>
                                        <m:t>|</m:t>
                                      </m:r>
                                      <m:sSub>
                                        <m:sSubPr>
                                          <m:ctrlPr>
                                            <a:rPr lang="en-US" sz="2000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20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  <m:sub>
                                          <m:r>
                                            <a:rPr lang="en-US" sz="20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2000" b="1" i="1">
                                          <a:latin typeface="Cambria Math" panose="02040503050406030204" pitchFamily="18" charset="0"/>
                                        </a:rPr>
                                        <m:t>;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2000" b="1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2000" b="1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𝜽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GB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ℓ</m:t>
                      </m:r>
                      <m:d>
                        <m:dPr>
                          <m:ctrlPr>
                            <a:rPr lang="en-GB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GB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;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</m:t>
                          </m:r>
                          <m:r>
                            <a:rPr lang="en-US" sz="20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US" sz="2000" b="1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r>
                  <a:rPr lang="en-GB" sz="2000" i="1" dirty="0"/>
                  <a:t>make the model distribution match the empirical distribution</a:t>
                </a:r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(mean squared error corresponds to cross-entropy between empirical distribution and Gaussian model)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27594E-9C2A-4D6C-2B14-A5F754A8628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t="-6395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EB3FE-E82D-CD71-129A-B09361242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14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C34609C-358B-617D-C169-BED96BCAEC49}"/>
                  </a:ext>
                </a:extLst>
              </p:cNvPr>
              <p:cNvSpPr txBox="1"/>
              <p:nvPr/>
            </p:nvSpPr>
            <p:spPr>
              <a:xfrm>
                <a:off x="3977309" y="4273591"/>
                <a:ext cx="2236831" cy="3231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1500" dirty="0"/>
                  <a:t>n</a:t>
                </a:r>
                <a:r>
                  <a:rPr lang="en-DE" sz="1500" dirty="0"/>
                  <a:t>o contribution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5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data</m:t>
                        </m:r>
                      </m:sub>
                    </m:sSub>
                  </m:oMath>
                </a14:m>
                <a:endParaRPr lang="en-DE" sz="15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C34609C-358B-617D-C169-BED96BCAEC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7309" y="4273591"/>
                <a:ext cx="2236831" cy="323165"/>
              </a:xfrm>
              <a:prstGeom prst="rect">
                <a:avLst/>
              </a:prstGeom>
              <a:blipFill>
                <a:blip r:embed="rId3"/>
                <a:stretch>
                  <a:fillRect l="-562" t="-3846" b="-23077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DE56F0D-43D7-83C2-E2B3-C994107EB71E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5095725" y="3920362"/>
            <a:ext cx="32861" cy="353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8871DEC-206F-1165-7BA7-1D503A90F78A}"/>
                  </a:ext>
                </a:extLst>
              </p:cNvPr>
              <p:cNvSpPr txBox="1"/>
              <p:nvPr/>
            </p:nvSpPr>
            <p:spPr>
              <a:xfrm>
                <a:off x="1142999" y="4273591"/>
                <a:ext cx="481990" cy="2308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5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en-DE" sz="15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8871DEC-206F-1165-7BA7-1D503A90F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999" y="4273591"/>
                <a:ext cx="481990" cy="230832"/>
              </a:xfrm>
              <a:prstGeom prst="rect">
                <a:avLst/>
              </a:prstGeom>
              <a:blipFill>
                <a:blip r:embed="rId4"/>
                <a:stretch>
                  <a:fillRect l="-7500" b="-5263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1A0D027-E70A-88AE-E7D3-FE30767CB2AF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1383994" y="3920362"/>
            <a:ext cx="0" cy="353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2B9A971F-7AC8-1FD5-899E-B0742FC7D2DA}"/>
              </a:ext>
            </a:extLst>
          </p:cNvPr>
          <p:cNvSpPr txBox="1"/>
          <p:nvPr/>
        </p:nvSpPr>
        <p:spPr>
          <a:xfrm>
            <a:off x="9827172" y="801994"/>
            <a:ext cx="216513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1600" dirty="0"/>
              <a:t>q</a:t>
            </a:r>
            <a:r>
              <a:rPr lang="en-DE" sz="1600" dirty="0"/>
              <a:t>uantification of difference between two probability distributions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6010764-EE49-2055-2DDB-CC8C3B8AD01D}"/>
              </a:ext>
            </a:extLst>
          </p:cNvPr>
          <p:cNvCxnSpPr>
            <a:stCxn id="5" idx="1"/>
          </p:cNvCxnSpPr>
          <p:nvPr/>
        </p:nvCxnSpPr>
        <p:spPr>
          <a:xfrm flipH="1">
            <a:off x="8755117" y="1217493"/>
            <a:ext cx="1072055" cy="608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41329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A0027E-BD58-51A0-07B6-8650B6348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Properties </a:t>
            </a:r>
            <a:r>
              <a:rPr lang="de-DE" dirty="0" err="1"/>
              <a:t>of</a:t>
            </a:r>
            <a:r>
              <a:rPr lang="de-DE" dirty="0"/>
              <a:t> MLE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4013623-9751-3A73-718B-D8B86CF56D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69368C-8B19-1116-E86A-4F23EA845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80157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5960BF-0696-F646-3D20-9C943273D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Maximum A Posteriori (MAP) </a:t>
            </a:r>
            <a:r>
              <a:rPr lang="de-DE" dirty="0" err="1"/>
              <a:t>Estimation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387CDE-B64C-E3C9-30E5-80EAB23FC9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6ACAD2C-B2CC-ABCA-436B-383FF917D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1823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360D385-E370-58B5-7B4B-6F581264FDB9}"/>
              </a:ext>
            </a:extLst>
          </p:cNvPr>
          <p:cNvSpPr/>
          <p:nvPr/>
        </p:nvSpPr>
        <p:spPr>
          <a:xfrm>
            <a:off x="2435190" y="3322966"/>
            <a:ext cx="7324825" cy="1154339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C0417B-6781-3415-D71A-B1EF18939A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sz="2200" dirty="0"/>
                  <a:t>frequentist maximum likelihood estimation: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MLE</m:t>
                              </m:r>
                            </m:sub>
                          </m:sSub>
                          <m:r>
                            <a:rPr lang="en-US" sz="2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sub>
                              <m:acc>
                                <m:accPr>
                                  <m:chr m:val="̂"/>
                                  <m:ctrlPr>
                                    <a:rPr lang="en-US" sz="2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</m:sub>
                          </m:s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  <m:d>
                            <m:dPr>
                              <m:ctrlPr>
                                <a:rPr lang="en-GB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GB" sz="2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;</m:t>
                              </m:r>
                              <m: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</m:e>
                          </m:d>
                          <m:r>
                            <a:rPr lang="en-US" sz="2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sz="2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;</m:t>
                          </m:r>
                          <m:acc>
                            <m:accPr>
                              <m:chr m:val="̂"/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GB" sz="2200" dirty="0"/>
              </a:p>
              <a:p>
                <a:pPr marL="0" indent="0">
                  <a:buNone/>
                </a:pPr>
                <a:endParaRPr lang="en-GB" sz="2200" dirty="0"/>
              </a:p>
              <a:p>
                <a:pPr marL="0" indent="0">
                  <a:buNone/>
                </a:pPr>
                <a:r>
                  <a:rPr lang="en-GB" sz="2200" dirty="0"/>
                  <a:t>maximum a posteriori estimation as alternative applying Bayes theorem: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GB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2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</m:t>
                              </m:r>
                              <m:r>
                                <m:rPr>
                                  <m:sty m:val="p"/>
                                </m:rPr>
                                <a:rPr lang="en-US" sz="22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AP</m:t>
                              </m:r>
                            </m:sub>
                          </m:sSub>
                          <m:r>
                            <a:rPr lang="en-US" sz="2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sz="2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2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US" sz="2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f>
                        <m:fPr>
                          <m:ctrlPr>
                            <a:rPr lang="en-GB" sz="2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2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acc>
                                <m:accPr>
                                  <m:chr m:val="̂"/>
                                  <m:ctrlPr>
                                    <a:rPr lang="en-US" sz="2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</m:e>
                          </m:d>
                          <m:r>
                            <a:rPr lang="en-US" sz="22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limLoc m:val="undOvr"/>
                              <m:subHide m:val="on"/>
                              <m:supHide m:val="on"/>
                              <m:ctrlPr>
                                <a:rPr lang="en-GB" sz="2200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b="1" i="1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r>
                                    <a:rPr lang="en-US" sz="22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r>
                                    <a:rPr lang="en-US" sz="2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𝝑</m:t>
                                  </m:r>
                                </m:e>
                              </m:d>
                              <m: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2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𝝑</m:t>
                                  </m:r>
                                </m:e>
                              </m:d>
                            </m:e>
                          </m:nary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2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𝝑</m:t>
                          </m:r>
                        </m:den>
                      </m:f>
                      <m:r>
                        <a:rPr lang="en-US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argmax</m:t>
                          </m:r>
                        </m:e>
                        <m:sub>
                          <m:acc>
                            <m:accPr>
                              <m:chr m:val="̂"/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200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;</m:t>
                          </m:r>
                          <m:acc>
                            <m:accPr>
                              <m:chr m:val="̂"/>
                              <m:ctrlPr>
                                <a:rPr lang="en-US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  <m:r>
                        <a:rPr lang="en-US" sz="2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en-US" sz="2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GB" sz="2200" dirty="0"/>
              </a:p>
              <a:p>
                <a:pPr marL="0" indent="0">
                  <a:buNone/>
                </a:pPr>
                <a:endParaRPr lang="en-GB" sz="2200" dirty="0"/>
              </a:p>
              <a:p>
                <a:pPr marL="0" indent="0">
                  <a:buNone/>
                </a:pPr>
                <a:endParaRPr lang="en-GB" sz="2200" dirty="0"/>
              </a:p>
              <a:p>
                <a:r>
                  <a:rPr lang="en-GB" sz="2200" dirty="0"/>
                  <a:t>approximation to Bayesian inference (using mode of posterior distribution)</a:t>
                </a:r>
              </a:p>
              <a:p>
                <a:r>
                  <a:rPr lang="en-GB" sz="2200" dirty="0"/>
                  <a:t>maximum likelihood special case of maximum a posteriori estimation with uniform prior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C0417B-6781-3415-D71A-B1EF18939A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1744" b="-3488"/>
                </a:stretch>
              </a:blipFill>
            </p:spPr>
            <p:txBody>
              <a:bodyPr/>
              <a:lstStyle/>
              <a:p>
                <a:r>
                  <a:rPr lang="en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A5FAEBE6-858F-A756-A947-07C5182A5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</a:t>
            </a:r>
            <a:r>
              <a:rPr lang="en-DE" dirty="0"/>
              <a:t>aximum a Posteriori Estimation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1F38A-BCE2-B8EE-627F-968762F8B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E1BB0D-8AD4-A14C-8FD5-F1619D1A43A2}" type="slidenum">
              <a:rPr lang="en-DE" smtClean="0"/>
              <a:t>17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B510C6-7C6F-3FCD-35FC-D4E1C7323FB4}"/>
              </a:ext>
            </a:extLst>
          </p:cNvPr>
          <p:cNvSpPr txBox="1"/>
          <p:nvPr/>
        </p:nvSpPr>
        <p:spPr>
          <a:xfrm>
            <a:off x="6798451" y="4698868"/>
            <a:ext cx="2130776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/>
              <a:t>p</a:t>
            </a:r>
            <a:r>
              <a:rPr lang="en-DE" sz="2200" dirty="0"/>
              <a:t>rior distribution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845B9D-D3B9-660E-11B8-82566C584F6A}"/>
              </a:ext>
            </a:extLst>
          </p:cNvPr>
          <p:cNvSpPr txBox="1"/>
          <p:nvPr/>
        </p:nvSpPr>
        <p:spPr>
          <a:xfrm>
            <a:off x="1485935" y="4698868"/>
            <a:ext cx="261994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200" dirty="0"/>
              <a:t>p</a:t>
            </a:r>
            <a:r>
              <a:rPr lang="en-DE" sz="2200" dirty="0"/>
              <a:t>osterior distribution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E7B0125-14CE-67A9-68AB-231D17BB3005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2795909" y="3936733"/>
            <a:ext cx="1809347" cy="7621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50A18A8-8E65-89FC-B7D3-9C9EAEC1B134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7421078" y="4520617"/>
            <a:ext cx="442761" cy="1782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36F56FE-2433-6CFB-5B96-47582FDFF757}"/>
              </a:ext>
            </a:extLst>
          </p:cNvPr>
          <p:cNvSpPr txBox="1"/>
          <p:nvPr/>
        </p:nvSpPr>
        <p:spPr>
          <a:xfrm>
            <a:off x="5218968" y="4698868"/>
            <a:ext cx="129445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sz="2200" dirty="0"/>
              <a:t>likelihood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0749784-4184-2032-3AF2-0822AC814CF7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5866197" y="4483424"/>
            <a:ext cx="101466" cy="2154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EB84F89-5FF0-36FD-E5EB-28CC45256527}"/>
              </a:ext>
            </a:extLst>
          </p:cNvPr>
          <p:cNvSpPr txBox="1"/>
          <p:nvPr/>
        </p:nvSpPr>
        <p:spPr>
          <a:xfrm>
            <a:off x="6865756" y="1484490"/>
            <a:ext cx="1881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objective function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3BB2BA8-C18D-23AA-2B95-9F93566488B7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7806559" y="1853822"/>
            <a:ext cx="147144" cy="332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94830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A6D956-3E5E-37E1-3B78-F5E866E45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Confidence </a:t>
            </a:r>
            <a:r>
              <a:rPr lang="de-DE" dirty="0" err="1"/>
              <a:t>Intervals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176BB4-916C-073F-7845-226577B31B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89043C9-882E-F87C-FBEE-6D0214214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07169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D64CC6-3F21-81E7-D70C-086C5BA6B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Hypothesis </a:t>
            </a:r>
            <a:r>
              <a:rPr lang="de-DE" dirty="0" err="1"/>
              <a:t>Testing</a:t>
            </a:r>
            <a:r>
              <a:rPr lang="de-DE" dirty="0"/>
              <a:t> Framework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4D66D5-120C-0371-AE51-2920254EA1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ED5D70-8F36-C6E3-87D3-94815044E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48815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8A0AE2-40C3-9643-C77F-4D83BC705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Null and Alternative </a:t>
            </a:r>
            <a:r>
              <a:rPr lang="de-DE" dirty="0" err="1"/>
              <a:t>Hypotheses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B8E5AA0-0F3D-29FA-6092-A7D2E8A253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D257153-961F-C25E-C102-89EACAE1B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82431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B14013-F14F-F867-B8E2-4B856E696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Test </a:t>
            </a:r>
            <a:r>
              <a:rPr lang="de-DE" dirty="0" err="1"/>
              <a:t>Statistics</a:t>
            </a:r>
            <a:r>
              <a:rPr lang="de-DE" dirty="0"/>
              <a:t> and p-Values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D1B14E-F8AC-42C0-5D94-BA99BBCC7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F99324-97D6-2AE9-DBF6-D24587921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57272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F8AD61-EBD3-10FE-91BC-085DA482E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Common Statistical Tests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572E253-636C-A81F-A67C-E190C569E6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96C048-BCC4-CE0C-225B-4FF4A8FDC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9931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0E4950-998E-0C4A-0899-E09ECE0AA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Multiple </a:t>
            </a:r>
            <a:r>
              <a:rPr lang="de-DE" dirty="0" err="1"/>
              <a:t>Testing</a:t>
            </a:r>
            <a:r>
              <a:rPr lang="de-DE" dirty="0"/>
              <a:t> Problem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1456CB-DA85-3C88-C519-B85CB2CA48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35AD544-A216-88A7-CCD9-7E684692A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03731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EF6B0E-748E-0880-8525-9D657C075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statsmodels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89C05E0-BB28-CDA4-FA7A-F3680EA2E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6482F9-135D-36BE-286D-CCF26BB39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694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6DEDC3-EB7D-D99E-1932-637E0645F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Models in </a:t>
            </a:r>
            <a:r>
              <a:rPr lang="de-DE" dirty="0" err="1"/>
              <a:t>statsmodels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B787FA-9090-8915-5CE1-332A4B3F1C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11EF5CC-3BAC-B082-7191-A8A5B9D58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984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C9EB93-7610-B16A-1031-FB86BF1C6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Interpreting</a:t>
            </a:r>
            <a:r>
              <a:rPr lang="de-DE" dirty="0"/>
              <a:t> Statistical Output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E1F2CE-8B9C-967D-E3F5-EBDEC26976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22B1CB0-D86C-BFCC-4CDA-7933DECEC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69444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C61DE6-6363-9CD9-0B0B-89983589A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Inference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Modeling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4B59C19-B77B-A1BD-C628-C37CE52CBC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FC690A-F9A9-DA4C-AC3C-1534B416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13472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656</Words>
  <Application>Microsoft Macintosh PowerPoint</Application>
  <PresentationFormat>Breitbild</PresentationFormat>
  <Paragraphs>145</Paragraphs>
  <Slides>27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2</vt:i4>
      </vt:variant>
      <vt:variant>
        <vt:lpstr>Folientitel</vt:lpstr>
      </vt:variant>
      <vt:variant>
        <vt:i4>27</vt:i4>
      </vt:variant>
    </vt:vector>
  </HeadingPairs>
  <TitlesOfParts>
    <vt:vector size="36" baseType="lpstr">
      <vt:lpstr>Aptos</vt:lpstr>
      <vt:lpstr>Aptos Display</vt:lpstr>
      <vt:lpstr>Arial</vt:lpstr>
      <vt:lpstr>Calibri</vt:lpstr>
      <vt:lpstr>Calibri Light</vt:lpstr>
      <vt:lpstr>Cambria Math</vt:lpstr>
      <vt:lpstr>Wingdings</vt:lpstr>
      <vt:lpstr>Office Theme</vt:lpstr>
      <vt:lpstr>1_Office Theme</vt:lpstr>
      <vt:lpstr>Statistical Inference</vt:lpstr>
      <vt:lpstr>Course Schedule</vt:lpstr>
      <vt:lpstr>Statistical Inference</vt:lpstr>
      <vt:lpstr>What Is Statistical Inference?</vt:lpstr>
      <vt:lpstr>Estimation vs Prediction</vt:lpstr>
      <vt:lpstr>Parameter Estimation</vt:lpstr>
      <vt:lpstr>Least Squares Estimation</vt:lpstr>
      <vt:lpstr>Loss Functions and Optimization</vt:lpstr>
      <vt:lpstr>Maximum Likelihood Estimation (MLE)</vt:lpstr>
      <vt:lpstr>Likelihood</vt:lpstr>
      <vt:lpstr>Independence Assumption</vt:lpstr>
      <vt:lpstr>Negative Log-Likelihood</vt:lpstr>
      <vt:lpstr>Maximum Likelihood</vt:lpstr>
      <vt:lpstr>Interpretation of Maximum Likelihood</vt:lpstr>
      <vt:lpstr>Properties of MLE</vt:lpstr>
      <vt:lpstr>Maximum A Posteriori (MAP) Estimation</vt:lpstr>
      <vt:lpstr>Maximum a Posteriori Estimation</vt:lpstr>
      <vt:lpstr>Confidence Intervals</vt:lpstr>
      <vt:lpstr>Hypothesis Testing Framework</vt:lpstr>
      <vt:lpstr>Null and Alternative Hypotheses</vt:lpstr>
      <vt:lpstr>Test Statistics and p-Values</vt:lpstr>
      <vt:lpstr>Common Statistical Tests</vt:lpstr>
      <vt:lpstr>Multiple Testing Problem</vt:lpstr>
      <vt:lpstr>Introduction to statsmodels</vt:lpstr>
      <vt:lpstr>Linear Models in statsmodels</vt:lpstr>
      <vt:lpstr>Interpreting Statistical Output</vt:lpstr>
      <vt:lpstr>From Inference to Modeling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Statistical Learning</dc:title>
  <dc:creator>Felix Wick</dc:creator>
  <cp:lastModifiedBy>Felix Wick</cp:lastModifiedBy>
  <cp:revision>280</cp:revision>
  <dcterms:created xsi:type="dcterms:W3CDTF">2022-07-19T12:56:51Z</dcterms:created>
  <dcterms:modified xsi:type="dcterms:W3CDTF">2026-03-08T17:00:54Z</dcterms:modified>
</cp:coreProperties>
</file>