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8"/>
  </p:notesMasterIdLst>
  <p:sldIdLst>
    <p:sldId id="256" r:id="rId2"/>
    <p:sldId id="774" r:id="rId3"/>
    <p:sldId id="773" r:id="rId4"/>
    <p:sldId id="792" r:id="rId5"/>
    <p:sldId id="791" r:id="rId6"/>
    <p:sldId id="257" r:id="rId7"/>
    <p:sldId id="790" r:id="rId8"/>
    <p:sldId id="637" r:id="rId9"/>
    <p:sldId id="261" r:id="rId10"/>
    <p:sldId id="796" r:id="rId11"/>
    <p:sldId id="639" r:id="rId12"/>
    <p:sldId id="644" r:id="rId13"/>
    <p:sldId id="688" r:id="rId14"/>
    <p:sldId id="262" r:id="rId15"/>
    <p:sldId id="295" r:id="rId16"/>
    <p:sldId id="304" r:id="rId17"/>
    <p:sldId id="793" r:id="rId18"/>
    <p:sldId id="794" r:id="rId19"/>
    <p:sldId id="784" r:id="rId20"/>
    <p:sldId id="636" r:id="rId21"/>
    <p:sldId id="770" r:id="rId22"/>
    <p:sldId id="648" r:id="rId23"/>
    <p:sldId id="771" r:id="rId24"/>
    <p:sldId id="772" r:id="rId25"/>
    <p:sldId id="677" r:id="rId26"/>
    <p:sldId id="678" r:id="rId27"/>
    <p:sldId id="679" r:id="rId28"/>
    <p:sldId id="270" r:id="rId29"/>
    <p:sldId id="282" r:id="rId30"/>
    <p:sldId id="642" r:id="rId31"/>
    <p:sldId id="281" r:id="rId32"/>
    <p:sldId id="280" r:id="rId33"/>
    <p:sldId id="283" r:id="rId34"/>
    <p:sldId id="775" r:id="rId35"/>
    <p:sldId id="306" r:id="rId36"/>
    <p:sldId id="284" r:id="rId37"/>
    <p:sldId id="305" r:id="rId38"/>
    <p:sldId id="693" r:id="rId39"/>
    <p:sldId id="694" r:id="rId40"/>
    <p:sldId id="695" r:id="rId41"/>
    <p:sldId id="307" r:id="rId42"/>
    <p:sldId id="294" r:id="rId43"/>
    <p:sldId id="309" r:id="rId44"/>
    <p:sldId id="720" r:id="rId45"/>
    <p:sldId id="797" r:id="rId46"/>
    <p:sldId id="780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34"/>
    <p:restoredTop sz="94694"/>
  </p:normalViewPr>
  <p:slideViewPr>
    <p:cSldViewPr snapToGrid="0">
      <p:cViewPr varScale="1">
        <p:scale>
          <a:sx n="121" d="100"/>
          <a:sy n="121" d="100"/>
        </p:scale>
        <p:origin x="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09/04/2026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466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7" Type="http://schemas.openxmlformats.org/officeDocument/2006/relationships/image" Target="../media/image24.sv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0.png"/><Relationship Id="rId5" Type="http://schemas.openxmlformats.org/officeDocument/2006/relationships/image" Target="../media/image181.png"/><Relationship Id="rId4" Type="http://schemas.openxmlformats.org/officeDocument/2006/relationships/image" Target="../media/image17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hyperlink" Target="https://allmodelsarewrong.github.io/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cyclicboosting.org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9200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09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6130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sz="2200" dirty="0"/>
                  <a:t>random variables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200" dirty="0"/>
                  <a:t>)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GB" sz="2200" dirty="0"/>
                  <a:t> usually high-dimensional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(e.g., 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conditional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17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6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474" y="3241273"/>
            <a:ext cx="1973985" cy="24872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223919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linear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4056" y="2789147"/>
            <a:ext cx="35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neural networks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4394000" y="1541888"/>
            <a:ext cx="2905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similarity-based learning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(analogies)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204420" y="5962157"/>
            <a:ext cx="3211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kernel machines</a:t>
            </a:r>
            <a:r>
              <a:rPr lang="en-GB" dirty="0"/>
              <a:t> (e.g., support-vector machines)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8629602" y="1541888"/>
            <a:ext cx="1786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37657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34850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77668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75725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19098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76554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75880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415504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414164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7572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82088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8107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82401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406973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4891753"/>
            <a:ext cx="3364315" cy="1324885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6A0BAD5-75B6-D644-4FE8-1E86B84B9009}"/>
              </a:ext>
            </a:extLst>
          </p:cNvPr>
          <p:cNvSpPr txBox="1"/>
          <p:nvPr/>
        </p:nvSpPr>
        <p:spPr>
          <a:xfrm>
            <a:off x="4204424" y="2611259"/>
            <a:ext cx="3211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nearest-neighbor-style/local methods</a:t>
            </a:r>
          </a:p>
        </p:txBody>
      </p:sp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indent="-342900"/>
                <a:r>
                  <a:rPr lang="en-DE" dirty="0"/>
                  <a:t>local method, instance-based learning</a:t>
                </a:r>
              </a:p>
              <a:p>
                <a:pPr marL="342900" indent="-342900"/>
                <a:r>
                  <a:rPr lang="en-DE" dirty="0"/>
                  <a:t>non-parametric</a:t>
                </a:r>
              </a:p>
              <a:p>
                <a:pPr marL="342900" indent="-342900"/>
                <a:r>
                  <a:rPr lang="en-GB" dirty="0"/>
                  <a:t>d</a:t>
                </a:r>
                <a:r>
                  <a:rPr lang="en-DE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dirty="0"/>
                  <a:t> (e.g., </a:t>
                </a:r>
                <a:r>
                  <a:rPr lang="en-DE"/>
                  <a:t>Euclidean)</a:t>
                </a:r>
                <a:endParaRPr lang="en-DE" dirty="0"/>
              </a:p>
            </p:txBody>
          </p:sp>
        </mc:Choice>
        <mc:Fallback xmlns="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  <a:blipFill>
                <a:blip r:embed="rId2"/>
                <a:stretch>
                  <a:fillRect l="-965" t="-11650" b="-485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262" y="3265043"/>
            <a:ext cx="2743200" cy="34564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085923" y="5463798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blipFill>
                <a:blip r:embed="rId4"/>
                <a:stretch>
                  <a:fillRect t="-93103" r="-8021" b="-1459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w</a:t>
                </a:r>
                <a:r>
                  <a:rPr lang="en-DE" sz="2200" dirty="0"/>
                  <a:t>ith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sz="2200" dirty="0"/>
                  <a:t> running over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blipFill>
                <a:blip r:embed="rId5"/>
                <a:stretch>
                  <a:fillRect l="-2299"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5139228" y="3940913"/>
            <a:ext cx="5653812" cy="1089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5139228" y="3374910"/>
            <a:ext cx="1534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r</a:t>
            </a:r>
            <a:r>
              <a:rPr lang="en-DE" sz="2200" dirty="0"/>
              <a:t>egression:</a:t>
            </a:r>
          </a:p>
        </p:txBody>
      </p:sp>
    </p:spTree>
    <p:extLst>
      <p:ext uri="{BB962C8B-B14F-4D97-AF65-F5344CB8AC3E}">
        <p14:creationId xmlns:p14="http://schemas.microsoft.com/office/powerpoint/2010/main" val="2361111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13</a:t>
            </a:fld>
            <a:endParaRPr lang="en-DE"/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8066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41C07-F7D0-E747-D10E-FE095CA9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50" y="2294623"/>
            <a:ext cx="6967238" cy="3882339"/>
          </a:xfrm>
        </p:spPr>
        <p:txBody>
          <a:bodyPr>
            <a:normAutofit/>
          </a:bodyPr>
          <a:lstStyle/>
          <a:p>
            <a:r>
              <a:rPr lang="en-GB" sz="2600" dirty="0">
                <a:sym typeface="Wingdings" pitchFamily="2" charset="2"/>
              </a:rPr>
              <a:t>non-parametric learning of simple decision rules</a:t>
            </a:r>
          </a:p>
          <a:p>
            <a:r>
              <a:rPr lang="en-GB" sz="2600" dirty="0">
                <a:sym typeface="Wingdings" pitchFamily="2" charset="2"/>
              </a:rPr>
              <a:t>u</a:t>
            </a:r>
            <a:r>
              <a:rPr lang="en-DE" sz="2600" dirty="0">
                <a:sym typeface="Wingdings" pitchFamily="2" charset="2"/>
              </a:rPr>
              <a:t>sually, binary trees</a:t>
            </a:r>
            <a:endParaRPr lang="en-DE" sz="2600" dirty="0"/>
          </a:p>
          <a:p>
            <a:r>
              <a:rPr lang="en-GB" sz="2600" dirty="0"/>
              <a:t>a</a:t>
            </a:r>
            <a:r>
              <a:rPr lang="en-DE" sz="2600" dirty="0"/>
              <a:t>xis-parallel decision boundaries (box-shaped regions in feature space)</a:t>
            </a:r>
          </a:p>
          <a:p>
            <a:r>
              <a:rPr lang="en-GB" sz="2600" dirty="0"/>
              <a:t>fit constant </a:t>
            </a:r>
            <a:r>
              <a:rPr lang="en-DE"/>
              <a:t>in </a:t>
            </a:r>
            <a:r>
              <a:rPr lang="en-DE" dirty="0"/>
              <a:t>each box</a:t>
            </a:r>
            <a:endParaRPr lang="en-GB" sz="2600" dirty="0"/>
          </a:p>
          <a:p>
            <a:pPr lvl="1"/>
            <a:r>
              <a:rPr lang="en-GB" sz="2200" dirty="0"/>
              <a:t>c</a:t>
            </a:r>
            <a:r>
              <a:rPr lang="en-DE" sz="2200" dirty="0"/>
              <a:t>lassification: majority class of target</a:t>
            </a:r>
          </a:p>
          <a:p>
            <a:pPr lvl="1"/>
            <a:r>
              <a:rPr lang="en-GB" sz="2200" dirty="0"/>
              <a:t>r</a:t>
            </a:r>
            <a:r>
              <a:rPr lang="en-DE" sz="2200" dirty="0"/>
              <a:t>egression: average of target</a:t>
            </a:r>
            <a:endParaRPr lang="en-GB" sz="2600" dirty="0"/>
          </a:p>
          <a:p>
            <a:r>
              <a:rPr lang="en-GB" sz="2600" dirty="0"/>
              <a:t>fully explainable models</a:t>
            </a:r>
          </a:p>
        </p:txBody>
      </p:sp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think of fitting ML algorithms as repeatable processes with different data sets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irreducible error (aka Bayes error):</a:t>
            </a:r>
          </a:p>
          <a:p>
            <a:pPr marL="0" indent="0">
              <a:buNone/>
            </a:pPr>
            <a:r>
              <a:rPr lang="en-GB" sz="2400" dirty="0"/>
              <a:t>inherent randomness (target generated from random variable)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>
                <a:sym typeface="Wingdings" pitchFamily="2" charset="2"/>
              </a:rPr>
              <a:t>limiting accuracy of ideal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727011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727011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14" y="2386580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478" y="2386579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16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17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27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18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core of ML: </a:t>
            </a:r>
            <a:r>
              <a:rPr lang="en-GB" b="1" dirty="0"/>
              <a:t>empirical risk minimization</a:t>
            </a:r>
            <a:r>
              <a:rPr lang="en-GB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1149037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3303-F387-3100-2E13-C3E6B6F31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9525" y="4088766"/>
            <a:ext cx="6452475" cy="226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52475" cy="4351338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data</a:t>
            </a:r>
            <a:r>
              <a:rPr lang="de-DE" b="1" dirty="0"/>
              <a:t> </a:t>
            </a:r>
            <a:r>
              <a:rPr lang="de-DE" b="1" dirty="0" err="1"/>
              <a:t>sparsity</a:t>
            </a:r>
            <a:r>
              <a:rPr lang="de-DE" b="1" dirty="0"/>
              <a:t>:</a:t>
            </a:r>
          </a:p>
          <a:p>
            <a:pPr marL="0" indent="0">
              <a:buNone/>
            </a:pPr>
            <a:r>
              <a:rPr lang="de-DE" dirty="0" err="1"/>
              <a:t>dimensions</a:t>
            </a:r>
            <a:r>
              <a:rPr lang="de-DE" dirty="0"/>
              <a:t> (i.e., </a:t>
            </a:r>
            <a:r>
              <a:rPr lang="de-DE" dirty="0" err="1"/>
              <a:t>features</a:t>
            </a:r>
            <a:r>
              <a:rPr lang="de-DE" dirty="0"/>
              <a:t>) </a:t>
            </a:r>
            <a:r>
              <a:rPr lang="de-DE" dirty="0" err="1"/>
              <a:t>increase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rapidly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isolated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difficult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(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proximity</a:t>
            </a:r>
            <a:r>
              <a:rPr lang="de-DE" dirty="0"/>
              <a:t> </a:t>
            </a:r>
            <a:r>
              <a:rPr lang="de-DE" dirty="0" err="1"/>
              <a:t>breaks</a:t>
            </a:r>
            <a:r>
              <a:rPr lang="de-DE" dirty="0"/>
              <a:t> down)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overfitting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exponential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 (i.e., </a:t>
            </a:r>
            <a:r>
              <a:rPr lang="de-DE" dirty="0" err="1">
                <a:sym typeface="Wingdings" pitchFamily="2" charset="2"/>
              </a:rPr>
              <a:t>samples</a:t>
            </a:r>
            <a:r>
              <a:rPr lang="de-DE" dirty="0">
                <a:sym typeface="Wingdings" pitchFamily="2" charset="2"/>
              </a:rPr>
              <a:t>) </a:t>
            </a:r>
            <a:r>
              <a:rPr lang="de-DE" dirty="0" err="1">
                <a:sym typeface="Wingdings" pitchFamily="2" charset="2"/>
              </a:rPr>
              <a:t>requirements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CEE24D-FABC-73A1-4C86-85F33A33E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668" y="365125"/>
            <a:ext cx="3843064" cy="323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D5D47CC-212D-1573-EBAD-14AB77F0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F43C-32C0-9639-7D7E-69562EF9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/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blipFill>
                <a:blip r:embed="rId2"/>
                <a:stretch>
                  <a:fillRect l="-1617" t="-115476" r="-138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807D22-10EB-7411-39A5-CBAE9350C90E}"/>
              </a:ext>
            </a:extLst>
          </p:cNvPr>
          <p:cNvSpPr txBox="1"/>
          <p:nvPr/>
        </p:nvSpPr>
        <p:spPr>
          <a:xfrm>
            <a:off x="962321" y="1714576"/>
            <a:ext cx="5918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f</a:t>
            </a:r>
            <a:r>
              <a:rPr lang="en-DE" sz="2800" dirty="0"/>
              <a:t>it: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C7172-D9FF-3066-8118-1EF8E9DEA952}"/>
              </a:ext>
            </a:extLst>
          </p:cNvPr>
          <p:cNvSpPr txBox="1"/>
          <p:nvPr/>
        </p:nvSpPr>
        <p:spPr>
          <a:xfrm>
            <a:off x="962321" y="3518325"/>
            <a:ext cx="13116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predict</a:t>
            </a:r>
            <a:r>
              <a:rPr lang="en-DE" sz="28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C8052-44C6-2DC2-BC6C-3FE6EFBDEF3B}"/>
              </a:ext>
            </a:extLst>
          </p:cNvPr>
          <p:cNvSpPr txBox="1"/>
          <p:nvPr/>
        </p:nvSpPr>
        <p:spPr>
          <a:xfrm>
            <a:off x="4400673" y="3233596"/>
            <a:ext cx="14959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Gaussian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2A7CF1-315F-9A3D-8A06-F17E6EBA73FB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996650" y="2971986"/>
            <a:ext cx="404023" cy="523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D33F7D-B514-5855-2972-1C37F5F76B8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1985020" y="3495206"/>
            <a:ext cx="2415653" cy="881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/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blipFill>
                <a:blip r:embed="rId3"/>
                <a:stretch>
                  <a:fillRect l="-6349" b="-135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e 12">
            <a:extLst>
              <a:ext uri="{FF2B5EF4-FFF2-40B4-BE49-F238E27FC236}">
                <a16:creationId xmlns:a16="http://schemas.microsoft.com/office/drawing/2014/main" id="{156E05BA-2090-BDF6-C08A-ED268D92F3D5}"/>
              </a:ext>
            </a:extLst>
          </p:cNvPr>
          <p:cNvSpPr/>
          <p:nvPr/>
        </p:nvSpPr>
        <p:spPr>
          <a:xfrm rot="5400000">
            <a:off x="2276913" y="1353158"/>
            <a:ext cx="407035" cy="17628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/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blipFill>
                <a:blip r:embed="rId4"/>
                <a:stretch>
                  <a:fillRect t="-4651" b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430F79-1678-B671-9EE4-E9EBC35274B6}"/>
              </a:ext>
            </a:extLst>
          </p:cNvPr>
          <p:cNvSpPr txBox="1"/>
          <p:nvPr/>
        </p:nvSpPr>
        <p:spPr>
          <a:xfrm>
            <a:off x="2439519" y="6203350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Gaussian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9A00E9-E9C4-3506-0745-721F4E65DB0B}"/>
              </a:ext>
            </a:extLst>
          </p:cNvPr>
          <p:cNvSpPr txBox="1"/>
          <p:nvPr/>
        </p:nvSpPr>
        <p:spPr>
          <a:xfrm>
            <a:off x="3879731" y="620335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D9990-6C10-6CBF-1B9A-3BF20759212E}"/>
              </a:ext>
            </a:extLst>
          </p:cNvPr>
          <p:cNvSpPr txBox="1"/>
          <p:nvPr/>
        </p:nvSpPr>
        <p:spPr>
          <a:xfrm>
            <a:off x="4872331" y="6203350"/>
            <a:ext cx="97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variance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144B7D-D4C8-28E7-3740-F29EB92877C5}"/>
              </a:ext>
            </a:extLst>
          </p:cNvPr>
          <p:cNvCxnSpPr>
            <a:stCxn id="15" idx="0"/>
          </p:cNvCxnSpPr>
          <p:nvPr/>
        </p:nvCxnSpPr>
        <p:spPr>
          <a:xfrm flipV="1">
            <a:off x="2953442" y="5835480"/>
            <a:ext cx="60812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50FED2-CD3F-9C34-C9CE-FE2DE31056D6}"/>
              </a:ext>
            </a:extLst>
          </p:cNvPr>
          <p:cNvCxnSpPr>
            <a:stCxn id="16" idx="0"/>
          </p:cNvCxnSpPr>
          <p:nvPr/>
        </p:nvCxnSpPr>
        <p:spPr>
          <a:xfrm flipV="1">
            <a:off x="4238163" y="5926944"/>
            <a:ext cx="174746" cy="276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6E63D73-D00E-67E7-F0DA-F37BE9810CCA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5012004" y="5835480"/>
            <a:ext cx="347704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/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blipFill>
                <a:blip r:embed="rId5"/>
                <a:stretch>
                  <a:fillRect l="-1224" t="-11547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/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200" dirty="0"/>
                  <a:t>parameters to be estimated: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blipFill>
                <a:blip r:embed="rId6"/>
                <a:stretch>
                  <a:fillRect l="-1630" t="-12162" b="-783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Graphic 22">
            <a:extLst>
              <a:ext uri="{FF2B5EF4-FFF2-40B4-BE49-F238E27FC236}">
                <a16:creationId xmlns:a16="http://schemas.microsoft.com/office/drawing/2014/main" id="{66E3DC08-C6A7-F262-8751-C586221451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75659" y="683063"/>
            <a:ext cx="4354020" cy="287365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E39FD2-583A-518B-9FC7-C31207B05787}"/>
              </a:ext>
            </a:extLst>
          </p:cNvPr>
          <p:cNvSpPr txBox="1"/>
          <p:nvPr/>
        </p:nvSpPr>
        <p:spPr>
          <a:xfrm>
            <a:off x="8312248" y="3618587"/>
            <a:ext cx="338547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parameter estimation:</a:t>
            </a:r>
          </a:p>
          <a:p>
            <a:r>
              <a:rPr lang="en-GB" sz="2600" dirty="0"/>
              <a:t>e.g., least squares</a:t>
            </a:r>
          </a:p>
        </p:txBody>
      </p:sp>
    </p:spTree>
    <p:extLst>
      <p:ext uri="{BB962C8B-B14F-4D97-AF65-F5344CB8AC3E}">
        <p14:creationId xmlns:p14="http://schemas.microsoft.com/office/powerpoint/2010/main" val="3655155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ML algorithm by combining: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General Recipe</a:t>
            </a:r>
            <a:r>
              <a:rPr lang="en-GB" dirty="0"/>
              <a:t> of Statistical Learning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CA8E-C03E-64F5-F46E-69F868D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8211-6E28-FC0A-BE28-FCA717898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/>
                  <a:t>eviation between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and target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</m:d>
                  </m:oMath>
                </a14:m>
                <a:endParaRPr lang="en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en-DE" sz="2600"/>
                  <a:t>with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600" dirty="0"/>
                  <a:t> corresponding to p</a:t>
                </a:r>
                <a:r>
                  <a:rPr lang="en-DE" sz="2600"/>
                  <a:t>arameters of </a:t>
                </a:r>
                <a:r>
                  <a:rPr lang="en-DE" sz="2600" dirty="0"/>
                  <a:t>model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de-DE" sz="2000" dirty="0"/>
                  <a:t>(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sake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clarity</a:t>
                </a:r>
                <a:r>
                  <a:rPr lang="de-DE" sz="2000" dirty="0"/>
                  <a:t>, </a:t>
                </a:r>
                <a:r>
                  <a:rPr lang="de-DE" sz="2000" dirty="0" err="1"/>
                  <a:t>include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bias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DE" sz="2000"/>
                  <a:t> in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2000" dirty="0"/>
                  <a:t>)</a:t>
                </a:r>
                <a:endParaRPr lang="en-DE" sz="2000" dirty="0"/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prime example: squared residuals for regression problems</a:t>
                </a:r>
                <a:endParaRPr lang="en-DE" sz="2600" dirty="0"/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E6745-8E61-0E4E-CBDB-9D3EC9CAB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171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</a:t>
                </a:r>
                <a:r>
                  <a:rPr lang="en-DE"/>
                  <a:t>over empirical </a:t>
                </a:r>
                <a:r>
                  <a:rPr lang="en-DE" dirty="0"/>
                  <a:t>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CF78-256C-97D1-B23F-ACF29DA6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0BE2-6879-4439-9C1B-73130756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sz="2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1C96-7E78-84A2-8507-DB47BC4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013094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typically</a:t>
                </a:r>
                <a:r>
                  <a:rPr lang="en-DE" sz="2400" dirty="0"/>
                  <a:t> no closed-form solution to minimization of cost function: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iteratively m</a:t>
                </a:r>
                <a:r>
                  <a:rPr lang="en-DE" sz="2400" dirty="0">
                    <a:sym typeface="Wingdings" pitchFamily="2" charset="2"/>
                  </a:rPr>
                  <a:t>oving in direction of steepest descent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en-DE" sz="2400" dirty="0">
                    <a:sym typeface="Wingdings" pitchFamily="2" charset="2"/>
                  </a:rPr>
                  <a:t>negative gradient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r>
                  <a:rPr lang="en-DE" sz="2400" dirty="0">
                    <a:sym typeface="Wingdings" pitchFamily="2" charset="2"/>
                  </a:rPr>
                  <a:t>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72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27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854739"/>
            <a:ext cx="3902037" cy="28819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2228193" y="4984252"/>
            <a:ext cx="1994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A43D22-2854-C14B-442A-518D57A8B47B}"/>
              </a:ext>
            </a:extLst>
          </p:cNvPr>
          <p:cNvCxnSpPr>
            <a:cxnSpLocks/>
          </p:cNvCxnSpPr>
          <p:nvPr/>
        </p:nvCxnSpPr>
        <p:spPr>
          <a:xfrm flipV="1">
            <a:off x="3563007" y="4572780"/>
            <a:ext cx="1145627" cy="509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8A98EB-F486-C2EB-9887-D220984E6A5F}"/>
              </a:ext>
            </a:extLst>
          </p:cNvPr>
          <p:cNvSpPr txBox="1"/>
          <p:nvPr/>
        </p:nvSpPr>
        <p:spPr>
          <a:xfrm>
            <a:off x="4413642" y="5040539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51CA1E-11C8-24C6-C49A-8958A2988C58}"/>
              </a:ext>
            </a:extLst>
          </p:cNvPr>
          <p:cNvCxnSpPr>
            <a:cxnSpLocks/>
          </p:cNvCxnSpPr>
          <p:nvPr/>
        </p:nvCxnSpPr>
        <p:spPr>
          <a:xfrm flipV="1">
            <a:off x="5014021" y="4677103"/>
            <a:ext cx="0" cy="405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5127544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28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747516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276193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4281-B504-483C-A85A-BE3BE45E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(GLMs)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BCA55-171D-59B1-FCAC-5D804621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31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/>
              <p:nvPr/>
            </p:nvSpPr>
            <p:spPr>
              <a:xfrm>
                <a:off x="838200" y="3329603"/>
                <a:ext cx="4301360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600" dirty="0"/>
                  <a:t>l</a:t>
                </a:r>
                <a:r>
                  <a:rPr lang="en-DE" sz="2600" dirty="0"/>
                  <a:t>ink </a:t>
                </a:r>
                <a:r>
                  <a:rPr lang="en-DE" sz="2600"/>
                  <a:t>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DE" sz="2600"/>
                  <a:t>:</a:t>
                </a:r>
                <a:endParaRPr lang="en-DE" sz="26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DE" sz="2600" dirty="0"/>
                  <a:t>linking range of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to linear predictor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600" dirty="0"/>
                  <a:t>c</a:t>
                </a:r>
                <a:r>
                  <a:rPr lang="en-DE" sz="2600" dirty="0"/>
                  <a:t>anonical forms for different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distributions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for Poisson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DE" sz="2600"/>
                  <a:t>identity </a:t>
                </a:r>
                <a:r>
                  <a:rPr lang="en-DE" sz="2600" dirty="0"/>
                  <a:t>for Gaussian </a:t>
                </a:r>
                <a:r>
                  <a:rPr lang="en-DE" sz="2600" dirty="0">
                    <a:sym typeface="Wingdings" pitchFamily="2" charset="2"/>
                  </a:rPr>
                  <a:t> linear </a:t>
                </a:r>
                <a:r>
                  <a:rPr lang="en-DE" sz="2600">
                    <a:sym typeface="Wingdings" pitchFamily="2" charset="2"/>
                  </a:rPr>
                  <a:t>regression</a:t>
                </a:r>
                <a:r>
                  <a:rPr lang="en-DE" sz="2600"/>
                  <a:t>)</a:t>
                </a:r>
                <a:endParaRPr lang="en-DE" sz="2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29603"/>
                <a:ext cx="4301360" cy="3293209"/>
              </a:xfrm>
              <a:prstGeom prst="rect">
                <a:avLst/>
              </a:prstGeom>
              <a:blipFill>
                <a:blip r:embed="rId2"/>
                <a:stretch>
                  <a:fillRect l="-2655" t="-1923" r="-3835" b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829B18-8482-459B-14EB-217152DEE90B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2988880" y="2707059"/>
            <a:ext cx="163568" cy="622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B82FA6-C31C-EAED-7999-1CD63230F622}"/>
                  </a:ext>
                </a:extLst>
              </p:cNvPr>
              <p:cNvSpPr txBox="1"/>
              <p:nvPr/>
            </p:nvSpPr>
            <p:spPr>
              <a:xfrm>
                <a:off x="6279602" y="3576145"/>
                <a:ext cx="5519901" cy="1313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sz="2600" dirty="0"/>
                  <a:t> following probability distribution from exponential family (e.g., Poisson or Gaussian)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B82FA6-C31C-EAED-7999-1CD63230F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9602" y="3576145"/>
                <a:ext cx="5519901" cy="1313501"/>
              </a:xfrm>
              <a:prstGeom prst="rect">
                <a:avLst/>
              </a:prstGeom>
              <a:blipFill>
                <a:blip r:embed="rId3"/>
                <a:stretch>
                  <a:fillRect l="-2064" t="-4808" r="-2523" b="-96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C20F7E-3D8A-813D-EA54-8155F52DC914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3993931" y="2707059"/>
            <a:ext cx="2285671" cy="1525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/>
              <p:nvPr/>
            </p:nvSpPr>
            <p:spPr>
              <a:xfrm>
                <a:off x="2222608" y="1862793"/>
                <a:ext cx="6147237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608" y="1862793"/>
                <a:ext cx="6147237" cy="1137491"/>
              </a:xfrm>
              <a:prstGeom prst="rect">
                <a:avLst/>
              </a:prstGeom>
              <a:blipFill>
                <a:blip r:embed="rId4"/>
                <a:stretch>
                  <a:fillRect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18370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32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0" y="445660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77429" y="423424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455" y="4152368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455" y="1314065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685910"/>
            <a:ext cx="2666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632566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33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10246423" y="788661"/>
            <a:ext cx="176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en-GB" sz="1800" dirty="0">
                <a:hlinkClick r:id="rId4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5"/>
                <a:stretch>
                  <a:fillRect l="-2145"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(GAMs)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 </a:t>
                </a:r>
                <a:r>
                  <a:rPr lang="en-DE"/>
                  <a:t>instead of squared error loss</a:t>
                </a:r>
                <a:r>
                  <a:rPr lang="en-GB" dirty="0"/>
                  <a:t> (choice of loss function defines point estimate)</a:t>
                </a:r>
                <a:r>
                  <a:rPr lang="en-GB" sz="2800" dirty="0"/>
                  <a:t>:</a:t>
                </a:r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GB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  <m:sup/>
                          <m:e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different options for prediction of full probability distribution:</a:t>
                </a:r>
              </a:p>
              <a:p>
                <a:r>
                  <a:rPr lang="en-GB" dirty="0"/>
                  <a:t>approximate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sz="2800" dirty="0"/>
              </a:p>
              <a:p>
                <a:r>
                  <a:rPr lang="en-GB" dirty="0"/>
                  <a:t>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32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 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</a:t>
            </a:r>
            <a:r>
              <a:rPr lang="en-DE"/>
              <a:t>of ensemble</a:t>
            </a:r>
            <a:r>
              <a:rPr lang="de-DE" dirty="0"/>
              <a:t> </a:t>
            </a:r>
            <a:r>
              <a:rPr lang="en-DE"/>
              <a:t>on random subsets </a:t>
            </a:r>
            <a:r>
              <a:rPr lang="en-DE" dirty="0"/>
              <a:t>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36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</a:t>
            </a:r>
            <a:r>
              <a:rPr lang="en-DE"/>
              <a:t>of models</a:t>
            </a:r>
            <a:r>
              <a:rPr lang="de-DE" dirty="0"/>
              <a:t>:</a:t>
            </a:r>
            <a:endParaRPr lang="en-DE" dirty="0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boosting can be understood as fitting an additive expansion in a set of basis functions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(e.g., decision trees):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loss minimization of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400" dirty="0"/>
                  <a:t> computationally expensive </a:t>
                </a:r>
                <a:r>
                  <a:rPr lang="en-GB" sz="2400" dirty="0">
                    <a:sym typeface="Wingdings" pitchFamily="2" charset="2"/>
                  </a:rPr>
                  <a:t> sequentially add and fit individual basis functions without changing already fitted ones</a:t>
                </a: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boosting algorithm</a:t>
                </a:r>
                <a:r>
                  <a:rPr lang="de-DE" sz="2400" dirty="0">
                    <a:sym typeface="Wingdings" pitchFamily="2" charset="2"/>
                  </a:rPr>
                  <a:t>:</a:t>
                </a:r>
                <a:endParaRPr lang="de-DE" sz="2400" b="0" dirty="0"/>
              </a:p>
              <a:p>
                <a:pPr marL="0" indent="0">
                  <a:buNone/>
                </a:pPr>
                <a:r>
                  <a:rPr lang="en-GB" sz="2400" dirty="0"/>
                  <a:t>f</a:t>
                </a:r>
                <a:r>
                  <a:rPr lang="en-DE" sz="2400" dirty="0"/>
                  <a:t>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400" dirty="0"/>
                  <a:t>:</a:t>
                </a:r>
                <a:endParaRPr lang="en-DE" sz="24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c</a:t>
                </a:r>
                <a:r>
                  <a:rPr lang="en-DE" sz="2400"/>
                  <a:t>ompute</a:t>
                </a:r>
                <a:r>
                  <a:rPr lang="en-DE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en-GB" sz="2400" dirty="0"/>
                  <a:t>	</a:t>
                </a:r>
                <a:r>
                  <a:rPr lang="en-GB" sz="1500" dirty="0"/>
                  <a:t>(</a:t>
                </a:r>
                <a:r>
                  <a:rPr lang="en-GB" sz="1500" dirty="0" err="1"/>
                  <a:t>i</a:t>
                </a:r>
                <a:r>
                  <a:rPr lang="en-DE" sz="1500"/>
                  <a:t>nitialize</a:t>
                </a:r>
                <a:r>
                  <a:rPr lang="de-DE" sz="1500" dirty="0"/>
                  <a:t>d </a:t>
                </a:r>
                <a:r>
                  <a:rPr lang="de-DE" sz="1500" dirty="0" err="1"/>
                  <a:t>with</a:t>
                </a:r>
                <a:r>
                  <a:rPr lang="en-DE" sz="15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500" dirty="0"/>
                  <a:t>)</a:t>
                </a:r>
                <a:endParaRPr lang="en-DE" sz="1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s</a:t>
                </a:r>
                <a:r>
                  <a:rPr lang="en-DE" sz="24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6686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Diagram&#10;&#10;Description automatically generated">
            <a:extLst>
              <a:ext uri="{FF2B5EF4-FFF2-40B4-BE49-F238E27FC236}">
                <a16:creationId xmlns:a16="http://schemas.microsoft.com/office/drawing/2014/main" id="{0CA3AFA3-F6B8-B56D-8021-7C316ACB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718" y="1206282"/>
            <a:ext cx="4813167" cy="52865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7F7E3-45DB-77D2-615D-DE71E947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weak</a:t>
            </a:r>
            <a:r>
              <a:rPr lang="de-DE" dirty="0"/>
              <a:t> </a:t>
            </a:r>
            <a:r>
              <a:rPr lang="de-DE" dirty="0" err="1"/>
              <a:t>classifiers</a:t>
            </a:r>
            <a:r>
              <a:rPr lang="de-DE" dirty="0"/>
              <a:t> on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emphasizing</a:t>
            </a:r>
            <a:r>
              <a:rPr lang="de-DE" dirty="0"/>
              <a:t> </a:t>
            </a:r>
            <a:r>
              <a:rPr lang="de-DE" dirty="0" err="1"/>
              <a:t>misclassified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(</a:t>
            </a:r>
            <a:r>
              <a:rPr lang="en-GB" dirty="0"/>
              <a:t>weights increased for incorrect predictions, decreased for correct ones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vote (</a:t>
            </a:r>
            <a:r>
              <a:rPr lang="en-GB" dirty="0"/>
              <a:t>forward stagewise additive </a:t>
            </a:r>
            <a:r>
              <a:rPr lang="en-GB" dirty="0" err="1"/>
              <a:t>modeling</a:t>
            </a:r>
            <a:r>
              <a:rPr lang="en-GB" dirty="0"/>
              <a:t> )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in f</a:t>
                </a:r>
                <a:r>
                  <a:rPr lang="en-DE" sz="2000"/>
                  <a:t>orward </a:t>
                </a:r>
                <a:r>
                  <a:rPr lang="de-DE" sz="2000" dirty="0"/>
                  <a:t>s</a:t>
                </a:r>
                <a:r>
                  <a:rPr lang="en-DE" sz="2000"/>
                  <a:t>tagewise </a:t>
                </a:r>
                <a:r>
                  <a:rPr lang="de-DE" sz="2000" dirty="0"/>
                  <a:t>a</a:t>
                </a:r>
                <a:r>
                  <a:rPr lang="en-DE" sz="2000"/>
                  <a:t>dditive </a:t>
                </a:r>
                <a:r>
                  <a:rPr lang="de-DE" sz="2000" dirty="0"/>
                  <a:t>m</a:t>
                </a:r>
                <a:r>
                  <a:rPr lang="en-DE" sz="2000"/>
                  <a:t>odeling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:r>
                  <a:rPr lang="de-DE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de-DE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de-DE" sz="2000" dirty="0"/>
                  <a:t>	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each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stage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en-DE" sz="2000"/>
                  <a:t>can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en-DE" sz="2000"/>
                  <a:t>hard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solve</a:t>
                </a:r>
                <a:r>
                  <a:rPr lang="de-DE" sz="2000" dirty="0"/>
                  <a:t> </a:t>
                </a:r>
                <a:r>
                  <a:rPr lang="en-DE" sz="2000"/>
                  <a:t>for general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loss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function</a:t>
                </a:r>
                <a:r>
                  <a:rPr lang="en-DE" sz="200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idea: approximation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000" dirty="0"/>
                  <a:t> by its </a:t>
                </a:r>
                <a:r>
                  <a:rPr lang="de-DE" sz="2000" dirty="0"/>
                  <a:t>Taylor </a:t>
                </a:r>
                <a:r>
                  <a:rPr lang="de-DE" sz="2000" dirty="0" err="1"/>
                  <a:t>expansion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endParaRPr lang="en-US" sz="20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decreased by going a step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>
                    <a:sym typeface="Wingdings" pitchFamily="2" charset="2"/>
                  </a:rPr>
                  <a:t> (potentially optimized via line search) in the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fName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</m:func>
                  </m:oMath>
                </a14:m>
                <a:r>
                  <a:rPr lang="en-GB" sz="2000" dirty="0">
                    <a:sym typeface="Wingdings" pitchFamily="2" charset="2"/>
                  </a:rPr>
                  <a:t> (functional gradient descent)</a:t>
                </a:r>
              </a:p>
              <a:p>
                <a:pPr marL="0" indent="0">
                  <a:buNone/>
                </a:pPr>
                <a:r>
                  <a:rPr lang="en-GB" sz="2000" dirty="0">
                    <a:sym typeface="Wingdings" pitchFamily="2" charset="2"/>
                  </a:rPr>
                  <a:t>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000" dirty="0">
                    <a:sym typeface="Wingdings" pitchFamily="2" charset="2"/>
                  </a:rPr>
                  <a:t> by fitting a </a:t>
                </a:r>
                <a:r>
                  <a:rPr lang="en-GB" sz="2000" dirty="0"/>
                  <a:t>regression model with targets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GB" sz="2000" dirty="0"/>
                  <a:t> </a:t>
                </a:r>
                <a:r>
                  <a:rPr lang="en-GB" sz="2000" dirty="0">
                    <a:sym typeface="Wingdings" pitchFamily="2" charset="2"/>
                  </a:rPr>
                  <a:t>(typically </a:t>
                </a:r>
                <a:r>
                  <a:rPr lang="en-DE" sz="2000"/>
                  <a:t>decision </a:t>
                </a:r>
                <a:r>
                  <a:rPr lang="en-DE" sz="2000" dirty="0"/>
                  <a:t>tree regressors of </a:t>
                </a:r>
                <a:r>
                  <a:rPr lang="en-DE" sz="2000"/>
                  <a:t>fixed size</a:t>
                </a:r>
                <a:r>
                  <a:rPr lang="de-DE" sz="2000" dirty="0"/>
                  <a:t>: </a:t>
                </a:r>
                <a:r>
                  <a:rPr lang="en-GB" sz="2000" dirty="0"/>
                  <a:t>gradient-boosted decision trees</a:t>
                </a:r>
                <a:r>
                  <a:rPr lang="en-DE" sz="2000" dirty="0"/>
                  <a:t>)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w</a:t>
                </a:r>
                <a:r>
                  <a:rPr lang="en-DE" sz="2000" dirty="0"/>
                  <a:t>orks like this for both regression </a:t>
                </a:r>
                <a:r>
                  <a:rPr lang="en-DE" sz="2000"/>
                  <a:t>and classification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tasks</a:t>
                </a:r>
                <a:r>
                  <a:rPr lang="en-DE" sz="2000"/>
                  <a:t> </a:t>
                </a:r>
                <a:r>
                  <a:rPr lang="en-DE" sz="2000" dirty="0"/>
                  <a:t>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724" t="-2168" b="-86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42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/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ea typeface="Cambria Math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blipFill>
                <a:blip r:embed="rId4"/>
                <a:stretch>
                  <a:fillRect l="-1126" t="-97222" b="-15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E9C6EC-A585-71C6-D6FD-2A0CD4FF4AE6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771697" y="1640510"/>
            <a:ext cx="1797269" cy="95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/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000" dirty="0"/>
                  <a:t>gradient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e-DE" sz="200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000" dirty="0"/>
                  <a:t>:</a:t>
                </a:r>
              </a:p>
              <a:p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iteration</a:t>
                </a:r>
                <a:endParaRPr lang="de-DE" sz="20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blipFill>
                <a:blip r:embed="rId5"/>
                <a:stretch>
                  <a:fillRect l="-2137" t="-3571" r="-1282" b="-160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293591-13EF-0C1F-C260-9369E23A1F7C}"/>
              </a:ext>
            </a:extLst>
          </p:cNvPr>
          <p:cNvCxnSpPr>
            <a:cxnSpLocks/>
          </p:cNvCxnSpPr>
          <p:nvPr/>
        </p:nvCxnSpPr>
        <p:spPr>
          <a:xfrm flipH="1">
            <a:off x="6726621" y="3675177"/>
            <a:ext cx="1069557" cy="44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D83760D-ACB1-7FAB-563C-59DF7F5C33B8}"/>
              </a:ext>
            </a:extLst>
          </p:cNvPr>
          <p:cNvCxnSpPr>
            <a:cxnSpLocks/>
          </p:cNvCxnSpPr>
          <p:nvPr/>
        </p:nvCxnSpPr>
        <p:spPr>
          <a:xfrm flipH="1">
            <a:off x="7136524" y="4013734"/>
            <a:ext cx="659654" cy="379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5532263-AF15-A425-9ADC-76B73390B499}"/>
              </a:ext>
            </a:extLst>
          </p:cNvPr>
          <p:cNvSpPr txBox="1"/>
          <p:nvPr/>
        </p:nvSpPr>
        <p:spPr>
          <a:xfrm>
            <a:off x="6568966" y="364227"/>
            <a:ext cx="1494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38AA2D-9D8B-E8FF-B0F8-CF83F5004309}"/>
              </a:ext>
            </a:extLst>
          </p:cNvPr>
          <p:cNvSpPr txBox="1"/>
          <p:nvPr/>
        </p:nvSpPr>
        <p:spPr>
          <a:xfrm>
            <a:off x="8973534" y="364227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4DCEC0-4205-9188-B99D-A2D8C465B561}"/>
              </a:ext>
            </a:extLst>
          </p:cNvPr>
          <p:cNvCxnSpPr>
            <a:stCxn id="6" idx="2"/>
          </p:cNvCxnSpPr>
          <p:nvPr/>
        </p:nvCxnSpPr>
        <p:spPr>
          <a:xfrm flipH="1">
            <a:off x="9059917" y="733559"/>
            <a:ext cx="64875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C5BE8B-AC41-4946-2525-C1D8E0EE29C5}"/>
              </a:ext>
            </a:extLst>
          </p:cNvPr>
          <p:cNvCxnSpPr>
            <a:stCxn id="5" idx="2"/>
          </p:cNvCxnSpPr>
          <p:nvPr/>
        </p:nvCxnSpPr>
        <p:spPr>
          <a:xfrm>
            <a:off x="7316254" y="733559"/>
            <a:ext cx="23017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44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CFFBB3C-E644-5CCC-EE94-753135AA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45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6EBFF2-C98B-0A52-F138-90B17F07C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38068"/>
            <a:ext cx="8421689" cy="5981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DFF0631-77D5-95C3-D2D8-C28CB7E6DD12}"/>
              </a:ext>
            </a:extLst>
          </p:cNvPr>
          <p:cNvSpPr txBox="1"/>
          <p:nvPr/>
        </p:nvSpPr>
        <p:spPr>
          <a:xfrm>
            <a:off x="8460829" y="847150"/>
            <a:ext cx="3731172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b="1" dirty="0" err="1"/>
              <a:t>no</a:t>
            </a:r>
            <a:r>
              <a:rPr lang="de-DE" sz="2200" b="1" dirty="0"/>
              <a:t> </a:t>
            </a:r>
            <a:r>
              <a:rPr lang="de-DE" sz="2200" b="1" dirty="0" err="1"/>
              <a:t>universally</a:t>
            </a:r>
            <a:r>
              <a:rPr lang="de-DE" sz="2200" b="1" dirty="0"/>
              <a:t> </a:t>
            </a:r>
            <a:r>
              <a:rPr lang="de-DE" sz="2200" b="1" dirty="0" err="1"/>
              <a:t>best</a:t>
            </a:r>
            <a:r>
              <a:rPr lang="de-DE" sz="2200" b="1" dirty="0"/>
              <a:t> </a:t>
            </a:r>
            <a:r>
              <a:rPr lang="de-DE" sz="2200" b="1" dirty="0" err="1"/>
              <a:t>model</a:t>
            </a:r>
            <a:endParaRPr lang="de-DE" sz="2200" b="1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choice</a:t>
            </a:r>
            <a:r>
              <a:rPr lang="de-DE" sz="2200" dirty="0"/>
              <a:t> </a:t>
            </a:r>
            <a:r>
              <a:rPr lang="de-DE" sz="2200" dirty="0" err="1"/>
              <a:t>depends</a:t>
            </a:r>
            <a:r>
              <a:rPr lang="de-DE" sz="2200" dirty="0"/>
              <a:t>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characteristics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problem</a:t>
            </a:r>
            <a:r>
              <a:rPr lang="de-DE" sz="2200" dirty="0"/>
              <a:t> </a:t>
            </a:r>
            <a:r>
              <a:rPr lang="de-DE" sz="2200" dirty="0" err="1"/>
              <a:t>requirements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needs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computational</a:t>
            </a:r>
            <a:r>
              <a:rPr lang="de-DE" sz="2200" dirty="0"/>
              <a:t> </a:t>
            </a:r>
            <a:r>
              <a:rPr lang="de-DE" sz="2200" dirty="0" err="1"/>
              <a:t>constraints</a:t>
            </a: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rule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thumb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unstructured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(</a:t>
            </a:r>
            <a:r>
              <a:rPr lang="de-DE" sz="2200" dirty="0" err="1"/>
              <a:t>text</a:t>
            </a:r>
            <a:r>
              <a:rPr lang="de-DE" sz="2200" dirty="0"/>
              <a:t>, </a:t>
            </a:r>
            <a:r>
              <a:rPr lang="de-DE" sz="2200" dirty="0" err="1"/>
              <a:t>images</a:t>
            </a:r>
            <a:r>
              <a:rPr lang="de-DE" sz="2200" dirty="0"/>
              <a:t>/</a:t>
            </a:r>
            <a:r>
              <a:rPr lang="de-DE" sz="2200" dirty="0" err="1"/>
              <a:t>video</a:t>
            </a:r>
            <a:r>
              <a:rPr lang="de-DE" sz="2200" dirty="0"/>
              <a:t>, </a:t>
            </a:r>
            <a:r>
              <a:rPr lang="de-DE" sz="2200" dirty="0" err="1"/>
              <a:t>audio</a:t>
            </a:r>
            <a:r>
              <a:rPr lang="de-DE" sz="2200" dirty="0"/>
              <a:t>)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/>
              <a:t>deep</a:t>
            </a:r>
            <a:r>
              <a:rPr lang="de-DE" sz="2200" dirty="0"/>
              <a:t> </a:t>
            </a:r>
            <a:r>
              <a:rPr lang="de-DE" sz="2200" dirty="0" err="1"/>
              <a:t>learning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tabular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tree-based</a:t>
            </a:r>
            <a:r>
              <a:rPr lang="de-DE" sz="2200" dirty="0"/>
              <a:t> </a:t>
            </a:r>
            <a:r>
              <a:rPr lang="de-DE" sz="2200" dirty="0" err="1"/>
              <a:t>ensembles</a:t>
            </a:r>
            <a:r>
              <a:rPr lang="de-DE" sz="2200" dirty="0"/>
              <a:t> (</a:t>
            </a:r>
            <a:r>
              <a:rPr lang="de-DE" sz="2200" dirty="0" err="1"/>
              <a:t>gradient</a:t>
            </a:r>
            <a:r>
              <a:rPr lang="de-DE" sz="2200" dirty="0"/>
              <a:t> </a:t>
            </a:r>
            <a:r>
              <a:rPr lang="de-DE" sz="2200" dirty="0" err="1"/>
              <a:t>boosting</a:t>
            </a:r>
            <a:r>
              <a:rPr lang="de-DE" sz="2200" dirty="0"/>
              <a:t>, </a:t>
            </a:r>
            <a:r>
              <a:rPr lang="de-DE" sz="2200" dirty="0" err="1"/>
              <a:t>random</a:t>
            </a:r>
            <a:r>
              <a:rPr lang="de-DE" sz="2200" dirty="0"/>
              <a:t> </a:t>
            </a:r>
            <a:r>
              <a:rPr lang="de-DE" sz="2200" dirty="0" err="1"/>
              <a:t>forests</a:t>
            </a:r>
            <a:r>
              <a:rPr lang="de-DE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14362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r>
              <a:rPr lang="de-DE" dirty="0">
                <a:hlinkClick r:id="" action="ppaction://noaction"/>
              </a:rPr>
              <a:t>Kaggle competition: Spaceship Titanic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2596</Words>
  <Application>Microsoft Macintosh PowerPoint</Application>
  <PresentationFormat>Breitbild</PresentationFormat>
  <Paragraphs>470</Paragraphs>
  <Slides>46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46</vt:i4>
      </vt:variant>
    </vt:vector>
  </HeadingPairs>
  <TitlesOfParts>
    <vt:vector size="54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Machine Learning</vt:lpstr>
      <vt:lpstr>Course Schedule</vt:lpstr>
      <vt:lpstr>Machine Learning</vt:lpstr>
      <vt:lpstr>What Is Machine Learning?</vt:lpstr>
      <vt:lpstr>PowerPoint-Präsentation</vt:lpstr>
      <vt:lpstr>Supervised Learning</vt:lpstr>
      <vt:lpstr>Supervised Learning in Mathematical Terms</vt:lpstr>
      <vt:lpstr>Example: Image Classification</vt:lpstr>
      <vt:lpstr>Algorithmic Families of Supervised Learning</vt:lpstr>
      <vt:lpstr>k-Nearest Neighbors (kNN)</vt:lpstr>
      <vt:lpstr>Image Classification with kNN</vt:lpstr>
      <vt:lpstr>Image Classification with kNN</vt:lpstr>
      <vt:lpstr>Decision Trees</vt:lpstr>
      <vt:lpstr>Under- and Over-Fitting</vt:lpstr>
      <vt:lpstr>Bias, Variance, Irreducible Error</vt:lpstr>
      <vt:lpstr>Bias-Variance Tradeoff</vt:lpstr>
      <vt:lpstr>Hyperparameters</vt:lpstr>
      <vt:lpstr>Generalization</vt:lpstr>
      <vt:lpstr>Curse of Dimensionality</vt:lpstr>
      <vt:lpstr>Manifold Hypothesis</vt:lpstr>
      <vt:lpstr>Linear Regression</vt:lpstr>
      <vt:lpstr>General Recipe of Statistical Learning</vt:lpstr>
      <vt:lpstr>Linear Model</vt:lpstr>
      <vt:lpstr>Loss Function</vt:lpstr>
      <vt:lpstr>Cost Function</vt:lpstr>
      <vt:lpstr>Cost Minimization</vt:lpstr>
      <vt:lpstr>Gradient Descent</vt:lpstr>
      <vt:lpstr>L^2 Regularization (Ridge Regression)</vt:lpstr>
      <vt:lpstr>Classification: Logistic Regression</vt:lpstr>
      <vt:lpstr>Multi-Classification: Softmax</vt:lpstr>
      <vt:lpstr>Generalized Linear Models (GLMs)</vt:lpstr>
      <vt:lpstr>Multiplicative Model</vt:lpstr>
      <vt:lpstr>Generalized Additive Models (GAMs)</vt:lpstr>
      <vt:lpstr>Quantile Regression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AdaBoost (Adaptive Boosting)</vt:lpstr>
      <vt:lpstr>Gradient Boosting</vt:lpstr>
      <vt:lpstr>Decision Tree Sizes for Boosting</vt:lpstr>
      <vt:lpstr>PowerPoint-Präsentation</vt:lpstr>
      <vt:lpstr>PowerPoint-Präsentation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69</cp:revision>
  <dcterms:created xsi:type="dcterms:W3CDTF">2025-01-09T11:24:27Z</dcterms:created>
  <dcterms:modified xsi:type="dcterms:W3CDTF">2026-04-09T19:41:08Z</dcterms:modified>
</cp:coreProperties>
</file>