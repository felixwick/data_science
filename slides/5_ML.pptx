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sldIdLst>
    <p:sldId id="256" r:id="rId2"/>
    <p:sldId id="774" r:id="rId3"/>
    <p:sldId id="773" r:id="rId4"/>
    <p:sldId id="777" r:id="rId5"/>
    <p:sldId id="258" r:id="rId6"/>
    <p:sldId id="257" r:id="rId7"/>
    <p:sldId id="259" r:id="rId8"/>
    <p:sldId id="637" r:id="rId9"/>
    <p:sldId id="262" r:id="rId10"/>
    <p:sldId id="632" r:id="rId11"/>
    <p:sldId id="295" r:id="rId12"/>
    <p:sldId id="304" r:id="rId13"/>
    <p:sldId id="302" r:id="rId14"/>
    <p:sldId id="636" r:id="rId15"/>
    <p:sldId id="648" r:id="rId16"/>
    <p:sldId id="770" r:id="rId17"/>
    <p:sldId id="771" r:id="rId18"/>
    <p:sldId id="772" r:id="rId19"/>
    <p:sldId id="677" r:id="rId20"/>
    <p:sldId id="678" r:id="rId21"/>
    <p:sldId id="679" r:id="rId22"/>
    <p:sldId id="270" r:id="rId23"/>
    <p:sldId id="282" r:id="rId24"/>
    <p:sldId id="642" r:id="rId25"/>
    <p:sldId id="640" r:id="rId26"/>
    <p:sldId id="749" r:id="rId27"/>
    <p:sldId id="643" r:id="rId28"/>
    <p:sldId id="781" r:id="rId29"/>
    <p:sldId id="782" r:id="rId30"/>
    <p:sldId id="783" r:id="rId31"/>
    <p:sldId id="280" r:id="rId32"/>
    <p:sldId id="775" r:id="rId33"/>
    <p:sldId id="283" r:id="rId34"/>
    <p:sldId id="780" r:id="rId35"/>
    <p:sldId id="263" r:id="rId36"/>
    <p:sldId id="639" r:id="rId37"/>
    <p:sldId id="644" r:id="rId38"/>
    <p:sldId id="784" r:id="rId39"/>
    <p:sldId id="688" r:id="rId40"/>
    <p:sldId id="306" r:id="rId41"/>
    <p:sldId id="284" r:id="rId42"/>
    <p:sldId id="305" r:id="rId43"/>
    <p:sldId id="693" r:id="rId44"/>
    <p:sldId id="694" r:id="rId45"/>
    <p:sldId id="695" r:id="rId46"/>
    <p:sldId id="720" r:id="rId47"/>
    <p:sldId id="307" r:id="rId48"/>
    <p:sldId id="294" r:id="rId49"/>
    <p:sldId id="309" r:id="rId50"/>
    <p:sldId id="261" r:id="rId51"/>
    <p:sldId id="778" r:id="rId52"/>
    <p:sldId id="789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102.10717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90.png"/><Relationship Id="rId7" Type="http://schemas.openxmlformats.org/officeDocument/2006/relationships/image" Target="../media/image1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10.png"/><Relationship Id="rId5" Type="http://schemas.openxmlformats.org/officeDocument/2006/relationships/image" Target="../media/image130.png"/><Relationship Id="rId4" Type="http://schemas.openxmlformats.org/officeDocument/2006/relationships/image" Target="../media/image10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hyperlink" Target="https://allmodelsarewrong.github.io/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6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cyclicboosting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2500.png"/><Relationship Id="rId2" Type="http://schemas.openxmlformats.org/officeDocument/2006/relationships/image" Target="../media/image32.tif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35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20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tiff"/><Relationship Id="rId2" Type="http://schemas.openxmlformats.org/officeDocument/2006/relationships/image" Target="../media/image32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9200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/>
              <a:t>ML: </a:t>
            </a: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mainly 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(e.g., future) data (compare with human reasoning by </a:t>
            </a:r>
            <a:r>
              <a:rPr lang="en-GB" dirty="0">
                <a:hlinkClick r:id="rId2"/>
              </a:rPr>
              <a:t>analogies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 (usually offline optimization):</a:t>
            </a:r>
          </a:p>
          <a:p>
            <a:pPr marL="0" indent="0">
              <a:buNone/>
            </a:pPr>
            <a:r>
              <a:rPr lang="en-DE" b="1" dirty="0"/>
              <a:t>ML algorithm + data = explicit algorithm</a:t>
            </a:r>
            <a:r>
              <a:rPr lang="en-GB" dirty="0"/>
              <a:t> (to be used at inference time)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29371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4C13FEC-ECD5-AC00-B8E2-8D8BC7A67351}"/>
              </a:ext>
            </a:extLst>
          </p:cNvPr>
          <p:cNvSpPr txBox="1"/>
          <p:nvPr/>
        </p:nvSpPr>
        <p:spPr>
          <a:xfrm>
            <a:off x="5289232" y="6125944"/>
            <a:ext cx="48313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unsupervised and reinforcement learning can both be cast as supervised-learning setup</a:t>
            </a:r>
          </a:p>
        </p:txBody>
      </p: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estimated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en-GB" sz="2200" dirty="0"/>
                  <a:t>random variables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200" dirty="0"/>
                  <a:t>)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GB" sz="2200" dirty="0"/>
                  <a:t> usually high-dimensional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conditional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28" t="-18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545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79602-3A23-DF1C-2DD8-AA0A9DA80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Training, Validation, and Test Sets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7DA75-F6B9-5ED2-CA9C-64B87F48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10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1FD57-A9F0-4C89-D153-ACC0A3BFF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14" y="2176167"/>
            <a:ext cx="8656372" cy="4180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96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think of fitting ML algorithms as repeatable processes with different data sets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irreducible error (aka Bayes error):</a:t>
            </a:r>
          </a:p>
          <a:p>
            <a:pPr marL="0" indent="0">
              <a:buNone/>
            </a:pPr>
            <a:r>
              <a:rPr lang="en-GB" sz="2400" dirty="0"/>
              <a:t>inherent randomness (target generated from random variable)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>
                <a:sym typeface="Wingdings" pitchFamily="2" charset="2"/>
              </a:rPr>
              <a:t>limiting accuracy of ideal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727011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727011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14" y="2386580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478" y="2386579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12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13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600" dirty="0"/>
              <a:t>core of ML: </a:t>
            </a:r>
            <a:r>
              <a:rPr lang="en-GB" sz="2600" b="1" dirty="0"/>
              <a:t>empirical risk minimization</a:t>
            </a:r>
            <a:r>
              <a:rPr lang="en-GB" sz="2600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2783926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ML algorithm by combining: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General Recipe</a:t>
            </a:r>
            <a:r>
              <a:rPr lang="en-GB" dirty="0"/>
              <a:t> of Statistical Learning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D5D47CC-212D-1573-EBAD-14AB77F0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 Revisited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F43C-32C0-9639-7D7E-69562EF9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/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807D22-10EB-7411-39A5-CBAE9350C90E}"/>
              </a:ext>
            </a:extLst>
          </p:cNvPr>
          <p:cNvSpPr txBox="1"/>
          <p:nvPr/>
        </p:nvSpPr>
        <p:spPr>
          <a:xfrm>
            <a:off x="962321" y="1714576"/>
            <a:ext cx="5918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f</a:t>
            </a:r>
            <a:r>
              <a:rPr lang="en-DE" sz="2800" dirty="0"/>
              <a:t>it: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C7172-D9FF-3066-8118-1EF8E9DEA952}"/>
              </a:ext>
            </a:extLst>
          </p:cNvPr>
          <p:cNvSpPr txBox="1"/>
          <p:nvPr/>
        </p:nvSpPr>
        <p:spPr>
          <a:xfrm>
            <a:off x="962321" y="3518325"/>
            <a:ext cx="13116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predict</a:t>
            </a:r>
            <a:r>
              <a:rPr lang="en-DE" sz="28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C8052-44C6-2DC2-BC6C-3FE6EFBDEF3B}"/>
              </a:ext>
            </a:extLst>
          </p:cNvPr>
          <p:cNvSpPr txBox="1"/>
          <p:nvPr/>
        </p:nvSpPr>
        <p:spPr>
          <a:xfrm>
            <a:off x="4400673" y="3233596"/>
            <a:ext cx="14959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Gaussian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2A7CF1-315F-9A3D-8A06-F17E6EBA73FB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996650" y="2971986"/>
            <a:ext cx="404023" cy="523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D33F7D-B514-5855-2972-1C37F5F76B8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1985020" y="3495206"/>
            <a:ext cx="2415653" cy="881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/>
              <p:nvPr/>
            </p:nvSpPr>
            <p:spPr>
              <a:xfrm>
                <a:off x="2087890" y="1513075"/>
                <a:ext cx="785080" cy="482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90" y="1513075"/>
                <a:ext cx="785080" cy="482440"/>
              </a:xfrm>
              <a:prstGeom prst="rect">
                <a:avLst/>
              </a:prstGeom>
              <a:blipFill>
                <a:blip r:embed="rId3"/>
                <a:stretch>
                  <a:fillRect l="-7031" t="-10127" b="-164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e 12">
            <a:extLst>
              <a:ext uri="{FF2B5EF4-FFF2-40B4-BE49-F238E27FC236}">
                <a16:creationId xmlns:a16="http://schemas.microsoft.com/office/drawing/2014/main" id="{156E05BA-2090-BDF6-C08A-ED268D92F3D5}"/>
              </a:ext>
            </a:extLst>
          </p:cNvPr>
          <p:cNvSpPr/>
          <p:nvPr/>
        </p:nvSpPr>
        <p:spPr>
          <a:xfrm rot="5400000">
            <a:off x="2276913" y="1353158"/>
            <a:ext cx="407035" cy="17628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/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430F79-1678-B671-9EE4-E9EBC35274B6}"/>
              </a:ext>
            </a:extLst>
          </p:cNvPr>
          <p:cNvSpPr txBox="1"/>
          <p:nvPr/>
        </p:nvSpPr>
        <p:spPr>
          <a:xfrm>
            <a:off x="2439519" y="6203350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Gaussian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9A00E9-E9C4-3506-0745-721F4E65DB0B}"/>
              </a:ext>
            </a:extLst>
          </p:cNvPr>
          <p:cNvSpPr txBox="1"/>
          <p:nvPr/>
        </p:nvSpPr>
        <p:spPr>
          <a:xfrm>
            <a:off x="3879731" y="620335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D9990-6C10-6CBF-1B9A-3BF20759212E}"/>
              </a:ext>
            </a:extLst>
          </p:cNvPr>
          <p:cNvSpPr txBox="1"/>
          <p:nvPr/>
        </p:nvSpPr>
        <p:spPr>
          <a:xfrm>
            <a:off x="4872331" y="6203350"/>
            <a:ext cx="97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variance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144B7D-D4C8-28E7-3740-F29EB92877C5}"/>
              </a:ext>
            </a:extLst>
          </p:cNvPr>
          <p:cNvCxnSpPr>
            <a:stCxn id="15" idx="0"/>
          </p:cNvCxnSpPr>
          <p:nvPr/>
        </p:nvCxnSpPr>
        <p:spPr>
          <a:xfrm flipV="1">
            <a:off x="2953442" y="5835480"/>
            <a:ext cx="60812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50FED2-CD3F-9C34-C9CE-FE2DE31056D6}"/>
              </a:ext>
            </a:extLst>
          </p:cNvPr>
          <p:cNvCxnSpPr>
            <a:stCxn id="16" idx="0"/>
          </p:cNvCxnSpPr>
          <p:nvPr/>
        </p:nvCxnSpPr>
        <p:spPr>
          <a:xfrm flipV="1">
            <a:off x="4238163" y="5926944"/>
            <a:ext cx="174746" cy="276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6E63D73-D00E-67E7-F0DA-F37BE9810CCA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5012004" y="5835480"/>
            <a:ext cx="347704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/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/>
              <p:nvPr/>
            </p:nvSpPr>
            <p:spPr>
              <a:xfrm>
                <a:off x="7198814" y="4506875"/>
                <a:ext cx="4655782" cy="1361142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200" dirty="0"/>
                  <a:t>parameters to be estimated: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acc>
                  </m:oMath>
                </a14:m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DE" sz="2200" dirty="0"/>
              </a:p>
              <a:p>
                <a:r>
                  <a:rPr lang="en-GB" sz="2200" dirty="0"/>
                  <a:t>(approximating assumed true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de-DE" sz="2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2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GB" sz="2200" dirty="0"/>
                  <a:t>)</a:t>
                </a:r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8814" y="4506875"/>
                <a:ext cx="4655782" cy="1361142"/>
              </a:xfrm>
              <a:prstGeom prst="rect">
                <a:avLst/>
              </a:prstGeom>
              <a:blipFill>
                <a:blip r:embed="rId6"/>
                <a:stretch>
                  <a:fillRect l="-1702" t="-2232" r="-1047" b="-84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Graphic 22">
            <a:extLst>
              <a:ext uri="{FF2B5EF4-FFF2-40B4-BE49-F238E27FC236}">
                <a16:creationId xmlns:a16="http://schemas.microsoft.com/office/drawing/2014/main" id="{66E3DC08-C6A7-F262-8751-C586221451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75659" y="136525"/>
            <a:ext cx="4354020" cy="287365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E39FD2-583A-518B-9FC7-C31207B05787}"/>
              </a:ext>
            </a:extLst>
          </p:cNvPr>
          <p:cNvSpPr txBox="1"/>
          <p:nvPr/>
        </p:nvSpPr>
        <p:spPr>
          <a:xfrm>
            <a:off x="8312248" y="3072049"/>
            <a:ext cx="338547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parameter estimation:</a:t>
            </a:r>
          </a:p>
          <a:p>
            <a:r>
              <a:rPr lang="en-GB" sz="2600" dirty="0"/>
              <a:t>e.g., least squares</a:t>
            </a:r>
          </a:p>
        </p:txBody>
      </p:sp>
    </p:spTree>
    <p:extLst>
      <p:ext uri="{BB962C8B-B14F-4D97-AF65-F5344CB8AC3E}">
        <p14:creationId xmlns:p14="http://schemas.microsoft.com/office/powerpoint/2010/main" val="365515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Brief Notation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D47A0B9-735C-801C-A5AA-8D25FD4BF6F4}"/>
              </a:ext>
            </a:extLst>
          </p:cNvPr>
          <p:cNvSpPr txBox="1"/>
          <p:nvPr/>
        </p:nvSpPr>
        <p:spPr>
          <a:xfrm>
            <a:off x="2253973" y="6008601"/>
            <a:ext cx="741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simplicity of notation, dropping the hats of estimated parameters 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CA8E-C03E-64F5-F46E-69F868D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8211-6E28-FC0A-BE28-FCA717898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 dirty="0"/>
                  <a:t>eviation between prediction and target</a:t>
                </a:r>
              </a:p>
              <a:p>
                <a:pPr marL="0" indent="0">
                  <a:buNone/>
                </a:pP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DE" sz="2600" dirty="0"/>
              </a:p>
              <a:p>
                <a:pPr marL="0" indent="0">
                  <a:buNone/>
                </a:pPr>
                <a:r>
                  <a:rPr lang="en-DE" sz="2600" dirty="0"/>
                  <a:t>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corresponding to p</a:t>
                </a:r>
                <a:r>
                  <a:rPr lang="en-DE" sz="2600" dirty="0"/>
                  <a:t>arameters of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en-DE" sz="2600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l-GR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acc>
                  </m:oMath>
                </a14:m>
                <a:r>
                  <a:rPr lang="en-DE" sz="2600" dirty="0"/>
                  <a:t> in linear regression</a:t>
                </a: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prime example: squared residuals for regression problems</a:t>
                </a:r>
                <a:endParaRPr lang="en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600" b="1" i="1" smtClean="0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6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E6745-8E61-0E4E-CBDB-9D3EC9CAB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171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over (empirical) 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E9058-D0AB-1DE1-CF86-2659E7CBC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CF78-256C-97D1-B23F-ACF29DA6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0BE2-6879-4439-9C1B-73130756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𝜽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DAF90-4B2C-FC3F-B0AA-AE51B887F7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2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1C96-7E78-84A2-8507-DB47BC4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013094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typically</a:t>
                </a:r>
                <a:r>
                  <a:rPr lang="en-DE" sz="2400" dirty="0"/>
                  <a:t> no closed-form solution to minimization of cost function: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iteratively m</a:t>
                </a:r>
                <a:r>
                  <a:rPr lang="en-DE" sz="2400" dirty="0">
                    <a:sym typeface="Wingdings" pitchFamily="2" charset="2"/>
                  </a:rPr>
                  <a:t>oving in direction of steepest descent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en-DE" sz="2400" dirty="0">
                    <a:sym typeface="Wingdings" pitchFamily="2" charset="2"/>
                  </a:rPr>
                  <a:t>negative gradient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r>
                  <a:rPr lang="en-DE" sz="2400" dirty="0">
                    <a:sym typeface="Wingdings" pitchFamily="2" charset="2"/>
                  </a:rPr>
                  <a:t>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B557F4-9C97-2AC4-733C-57EE31ED2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19" t="-18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21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854739"/>
            <a:ext cx="3902037" cy="28819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2718383" y="4886975"/>
            <a:ext cx="1601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tep size (</a:t>
            </a:r>
            <a:r>
              <a:rPr lang="en-GB" dirty="0"/>
              <a:t>l</a:t>
            </a:r>
            <a:r>
              <a:rPr lang="en-DE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A43D22-2854-C14B-442A-518D57A8B47B}"/>
              </a:ext>
            </a:extLst>
          </p:cNvPr>
          <p:cNvCxnSpPr>
            <a:cxnSpLocks/>
          </p:cNvCxnSpPr>
          <p:nvPr/>
        </p:nvCxnSpPr>
        <p:spPr>
          <a:xfrm flipV="1">
            <a:off x="3716869" y="4754164"/>
            <a:ext cx="903890" cy="311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8A98EB-F486-C2EB-9887-D220984E6A5F}"/>
              </a:ext>
            </a:extLst>
          </p:cNvPr>
          <p:cNvSpPr txBox="1"/>
          <p:nvPr/>
        </p:nvSpPr>
        <p:spPr>
          <a:xfrm>
            <a:off x="4382112" y="5040539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51CA1E-11C8-24C6-C49A-8958A2988C58}"/>
              </a:ext>
            </a:extLst>
          </p:cNvPr>
          <p:cNvCxnSpPr>
            <a:cxnSpLocks/>
          </p:cNvCxnSpPr>
          <p:nvPr/>
        </p:nvCxnSpPr>
        <p:spPr>
          <a:xfrm flipH="1" flipV="1">
            <a:off x="4971978" y="4771096"/>
            <a:ext cx="73573" cy="311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4896317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16" t="-1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22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747516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122333" y="2586035"/>
            <a:ext cx="1625183" cy="4581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single column&#10;&#10;AI-generated content may be incorrect.">
            <a:extLst>
              <a:ext uri="{FF2B5EF4-FFF2-40B4-BE49-F238E27FC236}">
                <a16:creationId xmlns:a16="http://schemas.microsoft.com/office/drawing/2014/main" id="{BC116EF6-8361-256F-3C88-DB74586C60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596" y="2389538"/>
            <a:ext cx="8119890" cy="30106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441EAD-D722-0E92-F37F-500D79A9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Linear Regression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51BD0-9AE2-F01C-7910-250A7774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32EDC7-9D5E-6A14-55FD-6E109CF6BF29}"/>
              </a:ext>
            </a:extLst>
          </p:cNvPr>
          <p:cNvSpPr txBox="1"/>
          <p:nvPr/>
        </p:nvSpPr>
        <p:spPr>
          <a:xfrm>
            <a:off x="4459444" y="5669427"/>
            <a:ext cx="19025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intensity values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676A3A0-F7C7-F970-FE1C-2680B35965E5}"/>
              </a:ext>
            </a:extLst>
          </p:cNvPr>
          <p:cNvCxnSpPr>
            <a:cxnSpLocks/>
          </p:cNvCxnSpPr>
          <p:nvPr/>
        </p:nvCxnSpPr>
        <p:spPr>
          <a:xfrm flipV="1">
            <a:off x="5369520" y="4919015"/>
            <a:ext cx="708210" cy="806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7087094-D4B4-3E9B-B2E8-C26237C18259}"/>
              </a:ext>
            </a:extLst>
          </p:cNvPr>
          <p:cNvSpPr txBox="1"/>
          <p:nvPr/>
        </p:nvSpPr>
        <p:spPr>
          <a:xfrm>
            <a:off x="3411568" y="5325381"/>
            <a:ext cx="8813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matrix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607F4B-6641-68AA-3634-B4BF368A1716}"/>
              </a:ext>
            </a:extLst>
          </p:cNvPr>
          <p:cNvCxnSpPr/>
          <p:nvPr/>
        </p:nvCxnSpPr>
        <p:spPr>
          <a:xfrm flipV="1">
            <a:off x="4148667" y="4876795"/>
            <a:ext cx="524933" cy="50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27BC398-6BDF-2B36-F8C7-BE04CA04BEC0}"/>
              </a:ext>
            </a:extLst>
          </p:cNvPr>
          <p:cNvSpPr txBox="1"/>
          <p:nvPr/>
        </p:nvSpPr>
        <p:spPr>
          <a:xfrm>
            <a:off x="2172888" y="1627459"/>
            <a:ext cx="647561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simplified example: 4-pixel image, 3 classes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14ADB8-0EBB-7174-F163-168F4C49F552}"/>
              </a:ext>
            </a:extLst>
          </p:cNvPr>
          <p:cNvSpPr txBox="1"/>
          <p:nvPr/>
        </p:nvSpPr>
        <p:spPr>
          <a:xfrm>
            <a:off x="838200" y="6370493"/>
            <a:ext cx="450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need for one common image size per model</a:t>
            </a:r>
          </a:p>
        </p:txBody>
      </p:sp>
    </p:spTree>
    <p:extLst>
      <p:ext uri="{BB962C8B-B14F-4D97-AF65-F5344CB8AC3E}">
        <p14:creationId xmlns:p14="http://schemas.microsoft.com/office/powerpoint/2010/main" val="3870313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FAAD-B42E-4B44-FF12-76678119F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Simplified Matrix Multiplication: Bias Trick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2EC48F-AD83-DCF3-EA5C-584266D83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  <p:pic>
        <p:nvPicPr>
          <p:cNvPr id="5" name="Picture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AA871468-4272-6CB3-BADF-9A1DCD012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69" y="2049768"/>
            <a:ext cx="11088061" cy="39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8575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060F8F-3A55-BAB2-6659-E9ADB4EDD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  <p:pic>
        <p:nvPicPr>
          <p:cNvPr id="7" name="Picture 6" descr="A group of different colored squares&#10;&#10;AI-generated content may be incorrect.">
            <a:extLst>
              <a:ext uri="{FF2B5EF4-FFF2-40B4-BE49-F238E27FC236}">
                <a16:creationId xmlns:a16="http://schemas.microsoft.com/office/drawing/2014/main" id="{8FB3FD85-8241-14AC-8F57-8A0F7A26D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8560" y="1416501"/>
            <a:ext cx="5227604" cy="2419287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001D14E-AD7E-3DF4-440D-8E16EF0D4329}"/>
              </a:ext>
            </a:extLst>
          </p:cNvPr>
          <p:cNvGrpSpPr/>
          <p:nvPr/>
        </p:nvGrpSpPr>
        <p:grpSpPr>
          <a:xfrm>
            <a:off x="1036042" y="1087438"/>
            <a:ext cx="4318000" cy="4232298"/>
            <a:chOff x="745067" y="1498600"/>
            <a:chExt cx="4318000" cy="4232298"/>
          </a:xfrm>
        </p:grpSpPr>
        <p:pic>
          <p:nvPicPr>
            <p:cNvPr id="5" name="Picture 4" descr="A diagram of different types of objects&#10;&#10;AI-generated content may be incorrect.">
              <a:extLst>
                <a:ext uri="{FF2B5EF4-FFF2-40B4-BE49-F238E27FC236}">
                  <a16:creationId xmlns:a16="http://schemas.microsoft.com/office/drawing/2014/main" id="{6CC5C394-23E4-5A1A-223A-063BA9FADA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7814" y="1587268"/>
              <a:ext cx="4155253" cy="414363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F6BA49-DFBC-7065-7BB8-E854392DA9C1}"/>
                </a:ext>
              </a:extLst>
            </p:cNvPr>
            <p:cNvSpPr/>
            <p:nvPr/>
          </p:nvSpPr>
          <p:spPr>
            <a:xfrm>
              <a:off x="745067" y="1498600"/>
              <a:ext cx="482600" cy="2514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A690B86-1298-15A5-1D12-2D0F24D064D5}"/>
              </a:ext>
            </a:extLst>
          </p:cNvPr>
          <p:cNvSpPr txBox="1"/>
          <p:nvPr/>
        </p:nvSpPr>
        <p:spPr>
          <a:xfrm>
            <a:off x="1188436" y="194886"/>
            <a:ext cx="3768980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geometric interpretation:</a:t>
            </a:r>
          </a:p>
          <a:p>
            <a:r>
              <a:rPr lang="en-GB" sz="2600" dirty="0"/>
              <a:t>separating hyperplanes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6F5EA9-329B-FF65-0938-EADF6C8FCE37}"/>
              </a:ext>
            </a:extLst>
          </p:cNvPr>
          <p:cNvSpPr txBox="1"/>
          <p:nvPr/>
        </p:nvSpPr>
        <p:spPr>
          <a:xfrm>
            <a:off x="6987872" y="194886"/>
            <a:ext cx="366427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matching interpretation:</a:t>
            </a:r>
          </a:p>
          <a:p>
            <a:r>
              <a:rPr lang="en-GB" sz="2600" dirty="0"/>
              <a:t>generic class templates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9D48BB-FA66-9107-9029-89941EF2D922}"/>
                  </a:ext>
                </a:extLst>
              </p:cNvPr>
              <p:cNvSpPr txBox="1"/>
              <p:nvPr/>
            </p:nvSpPr>
            <p:spPr>
              <a:xfrm>
                <a:off x="6258560" y="4348767"/>
                <a:ext cx="357200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different rows in matrix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9D48BB-FA66-9107-9029-89941EF2D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560" y="4348767"/>
                <a:ext cx="3572003" cy="461665"/>
              </a:xfrm>
              <a:prstGeom prst="rect">
                <a:avLst/>
              </a:prstGeom>
              <a:blipFill>
                <a:blip r:embed="rId4"/>
                <a:stretch>
                  <a:fillRect l="-2730" t="-10526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CD8C970-464D-3FE5-2D96-9B993C655B2D}"/>
              </a:ext>
            </a:extLst>
          </p:cNvPr>
          <p:cNvCxnSpPr>
            <a:stCxn id="12" idx="0"/>
          </p:cNvCxnSpPr>
          <p:nvPr/>
        </p:nvCxnSpPr>
        <p:spPr>
          <a:xfrm flipH="1" flipV="1">
            <a:off x="7095067" y="3835788"/>
            <a:ext cx="949495" cy="512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AC0840-61C9-C553-B37E-EE16D569B486}"/>
              </a:ext>
            </a:extLst>
          </p:cNvPr>
          <p:cNvCxnSpPr>
            <a:stCxn id="12" idx="0"/>
          </p:cNvCxnSpPr>
          <p:nvPr/>
        </p:nvCxnSpPr>
        <p:spPr>
          <a:xfrm flipH="1" flipV="1">
            <a:off x="7890933" y="3835788"/>
            <a:ext cx="153629" cy="512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B6BFF2-64E5-4AE4-4C1D-D9ED6C46B6FF}"/>
              </a:ext>
            </a:extLst>
          </p:cNvPr>
          <p:cNvCxnSpPr>
            <a:stCxn id="12" idx="0"/>
          </p:cNvCxnSpPr>
          <p:nvPr/>
        </p:nvCxnSpPr>
        <p:spPr>
          <a:xfrm flipV="1">
            <a:off x="8044562" y="3835788"/>
            <a:ext cx="676105" cy="512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DEC0078-A9F9-F1B1-AF50-7651EE4830CB}"/>
              </a:ext>
            </a:extLst>
          </p:cNvPr>
          <p:cNvSpPr txBox="1"/>
          <p:nvPr/>
        </p:nvSpPr>
        <p:spPr>
          <a:xfrm>
            <a:off x="1706786" y="5646592"/>
            <a:ext cx="7513417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raw-pixel images not linearly separable</a:t>
            </a:r>
          </a:p>
          <a:p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linear model has not enough representational power</a:t>
            </a:r>
          </a:p>
        </p:txBody>
      </p:sp>
      <p:pic>
        <p:nvPicPr>
          <p:cNvPr id="6" name="Picture 5" descr="A diagram of red and blue dots&#10;&#10;AI-generated content may be incorrect.">
            <a:extLst>
              <a:ext uri="{FF2B5EF4-FFF2-40B4-BE49-F238E27FC236}">
                <a16:creationId xmlns:a16="http://schemas.microsoft.com/office/drawing/2014/main" id="{A6DCF29A-72C4-2881-60E5-62443AECCA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8" y="5006053"/>
            <a:ext cx="1357491" cy="181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2345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686C39-9A29-E0B0-381E-C90F988A9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FF849-9525-3314-C587-AAECE755B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438BA12-BA11-232B-57B0-C736DE607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8102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390B5C-D6E1-5D01-B775-F73EC790F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(GLMs)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4CE4EA-9AC5-997B-BC3D-2315F0242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F4B30C-7777-C477-37CF-922DDB012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10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084D91-69A1-6767-B31A-00610A44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D4496D-B061-7156-C25C-3338F3B47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719B97-EB69-C2BA-7B93-AC8887CFA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34465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31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0" y="445660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77429" y="423424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28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r>
                  <a:rPr lang="en-DE" dirty="0"/>
                  <a:t>instead of squared error loss</a:t>
                </a:r>
                <a:r>
                  <a:rPr lang="en-GB" dirty="0"/>
                  <a:t> (choice of loss function defines point estimate)</a:t>
                </a:r>
                <a:endParaRPr lang="en-DE" dirty="0"/>
              </a:p>
              <a:p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r>
                  <a:rPr lang="en-GB" dirty="0"/>
                  <a:t>subsequently approximate full probability distribution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r>
                  <a:rPr lang="en-GB" dirty="0"/>
                  <a:t>alternative: 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19477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33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9939274" y="248325"/>
            <a:ext cx="1763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hlinkClick r:id="rId2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4"/>
                <a:stretch>
                  <a:fillRect l="-2145"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8455" y="3626852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8455" y="788549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160394"/>
            <a:ext cx="2504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107050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(GAMs)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CD6B24-1060-62B7-8970-18DF4B6DE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Effects</a:t>
            </a:r>
            <a:r>
              <a:rPr lang="de-DE" dirty="0"/>
              <a:t> and Smooth Terms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13963D-1D5C-01EB-F0D7-C6480319E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C99AB1-FA3A-152B-8795-DBA8ED7C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27802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35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677" y="3624313"/>
            <a:ext cx="2392733" cy="30148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766913" y="3679256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5FF8E0-7B79-68ED-1706-D129D71240B3}"/>
                  </a:ext>
                </a:extLst>
              </p:cNvPr>
              <p:cNvSpPr txBox="1"/>
              <p:nvPr/>
            </p:nvSpPr>
            <p:spPr>
              <a:xfrm>
                <a:off x="6164758" y="4771582"/>
                <a:ext cx="2964581" cy="9003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𝑏𝑖𝑎𝑠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 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5FF8E0-7B79-68ED-1706-D129D712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758" y="4771582"/>
                <a:ext cx="2964581" cy="9003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3D0E24-8B7A-6E9D-417D-FADEFF3C4722}"/>
                  </a:ext>
                </a:extLst>
              </p:cNvPr>
              <p:cNvSpPr txBox="1"/>
              <p:nvPr/>
            </p:nvSpPr>
            <p:spPr>
              <a:xfrm>
                <a:off x="6329815" y="5759212"/>
                <a:ext cx="1271916" cy="648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3D0E24-8B7A-6E9D-417D-FADEFF3C4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9815" y="5759212"/>
                <a:ext cx="1271916" cy="648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7039075" y="2357092"/>
                <a:ext cx="1960546" cy="9081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075" y="2357092"/>
                <a:ext cx="1960546" cy="9081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9052381" y="2488024"/>
                <a:ext cx="284444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w</a:t>
                </a:r>
                <a:r>
                  <a:rPr lang="en-DE" dirty="0"/>
                  <a:t>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dirty="0"/>
                  <a:t> running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2381" y="2488024"/>
                <a:ext cx="2844445" cy="646331"/>
              </a:xfrm>
              <a:prstGeom prst="rect">
                <a:avLst/>
              </a:prstGeom>
              <a:blipFill>
                <a:blip r:embed="rId6"/>
                <a:stretch>
                  <a:fillRect l="-1927" t="-3774" b="-150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7039075" y="2348826"/>
            <a:ext cx="4712658" cy="95264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7039075" y="1918933"/>
            <a:ext cx="121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</a:t>
            </a:r>
            <a:r>
              <a:rPr lang="en-DE" dirty="0"/>
              <a:t>egression: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07D7D3-36BC-899D-30C3-48A954927317}"/>
                  </a:ext>
                </a:extLst>
              </p:cNvPr>
              <p:cNvSpPr txBox="1"/>
              <p:nvPr/>
            </p:nvSpPr>
            <p:spPr>
              <a:xfrm>
                <a:off x="295174" y="1917375"/>
                <a:ext cx="6096000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DE" sz="2200" dirty="0"/>
                  <a:t>local method, instance-based learning</a:t>
                </a:r>
              </a:p>
              <a:p>
                <a:r>
                  <a:rPr lang="en-DE" sz="2200" dirty="0"/>
                  <a:t>non-parametric</a:t>
                </a:r>
              </a:p>
              <a:p>
                <a:r>
                  <a:rPr lang="en-GB" sz="2200" dirty="0"/>
                  <a:t>d</a:t>
                </a:r>
                <a:r>
                  <a:rPr lang="en-DE" sz="2200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sz="2200" dirty="0"/>
                  <a:t> (e.g., Euclidean)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07D7D3-36BC-899D-30C3-48A95492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74" y="1917375"/>
                <a:ext cx="6096000" cy="1107996"/>
              </a:xfrm>
              <a:prstGeom prst="rect">
                <a:avLst/>
              </a:prstGeom>
              <a:blipFill>
                <a:blip r:embed="rId7"/>
                <a:stretch>
                  <a:fillRect l="-1300" t="-3867" b="-110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22632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37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A6FDBE-7F83-BBAA-424E-25EE04431029}"/>
              </a:ext>
            </a:extLst>
          </p:cNvPr>
          <p:cNvSpPr txBox="1"/>
          <p:nvPr/>
        </p:nvSpPr>
        <p:spPr>
          <a:xfrm>
            <a:off x="9588141" y="2048402"/>
            <a:ext cx="7881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Hastie</a:t>
            </a:r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10342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041C07-F7D0-E747-D10E-FE095CA965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0950" y="2294623"/>
                <a:ext cx="6967238" cy="3882339"/>
              </a:xfrm>
            </p:spPr>
            <p:txBody>
              <a:bodyPr>
                <a:normAutofit/>
              </a:bodyPr>
              <a:lstStyle/>
              <a:p>
                <a:r>
                  <a:rPr lang="en-GB" sz="2600" dirty="0">
                    <a:sym typeface="Wingdings" pitchFamily="2" charset="2"/>
                  </a:rPr>
                  <a:t>non-parametric learning of simple decision rules</a:t>
                </a:r>
              </a:p>
              <a:p>
                <a:r>
                  <a:rPr lang="en-GB" sz="2600" dirty="0">
                    <a:sym typeface="Wingdings" pitchFamily="2" charset="2"/>
                  </a:rPr>
                  <a:t>u</a:t>
                </a:r>
                <a:r>
                  <a:rPr lang="en-DE" sz="2600" dirty="0">
                    <a:sym typeface="Wingdings" pitchFamily="2" charset="2"/>
                  </a:rPr>
                  <a:t>sually, binary trees</a:t>
                </a:r>
                <a:endParaRPr lang="en-DE" sz="2600" dirty="0"/>
              </a:p>
              <a:p>
                <a:r>
                  <a:rPr lang="en-GB" sz="2600" dirty="0"/>
                  <a:t>a</a:t>
                </a:r>
                <a:r>
                  <a:rPr lang="en-DE" sz="2600" dirty="0"/>
                  <a:t>xis-parallel decision boundaries (box-shaped regions in feature space)</a:t>
                </a:r>
              </a:p>
              <a:p>
                <a:r>
                  <a:rPr lang="en-GB" sz="2600" dirty="0"/>
                  <a:t>fit constant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</m:oMath>
                </a14:m>
                <a:r>
                  <a:rPr lang="en-DE" dirty="0"/>
                  <a:t> in each box</a:t>
                </a:r>
                <a:endParaRPr lang="en-GB" sz="2600" dirty="0"/>
              </a:p>
              <a:p>
                <a:pPr lvl="1"/>
                <a:r>
                  <a:rPr lang="en-GB" sz="2200" dirty="0"/>
                  <a:t>c</a:t>
                </a:r>
                <a:r>
                  <a:rPr lang="en-DE" sz="2200" dirty="0"/>
                  <a:t>lassification: majority class of target</a:t>
                </a:r>
              </a:p>
              <a:p>
                <a:pPr lvl="1"/>
                <a:r>
                  <a:rPr lang="en-GB" sz="2200" dirty="0"/>
                  <a:t>r</a:t>
                </a:r>
                <a:r>
                  <a:rPr lang="en-DE" sz="2200" dirty="0"/>
                  <a:t>egression: average of target</a:t>
                </a:r>
                <a:endParaRPr lang="en-GB" sz="2600" dirty="0"/>
              </a:p>
              <a:p>
                <a:r>
                  <a:rPr lang="en-GB" sz="2600" dirty="0"/>
                  <a:t>fully explainable models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041C07-F7D0-E747-D10E-FE095CA965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0950" y="2294623"/>
                <a:ext cx="6967238" cy="3882339"/>
              </a:xfrm>
              <a:blipFill>
                <a:blip r:embed="rId5"/>
                <a:stretch>
                  <a:fillRect l="-1312" t="-2355" r="-3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</a:t>
            </a:r>
          </a:p>
          <a:p>
            <a:pPr marL="0" indent="0">
              <a:buNone/>
            </a:pPr>
            <a:r>
              <a:rPr lang="en-GB" sz="2600" dirty="0"/>
              <a:t>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of ensemble method on random (sub)sets 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41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of models</a:t>
            </a:r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boosting can be understood as fitting an additive expansion in a set of basis functions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GB" sz="2200" dirty="0"/>
                  <a:t> (e.g., decision trees,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200" dirty="0"/>
                  <a:t> parametrizing splits):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loss minimization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computationally expensive </a:t>
                </a:r>
                <a:r>
                  <a:rPr lang="en-GB" sz="2200" dirty="0">
                    <a:sym typeface="Wingdings" pitchFamily="2" charset="2"/>
                  </a:rPr>
                  <a:t> boosting: sequentially add and fit individual basis functions without changing already fitted ones</a:t>
                </a: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boosting algorithm for sequential optimization using basis functions: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200" dirty="0" err="1"/>
                  <a:t>i</a:t>
                </a:r>
                <a:r>
                  <a:rPr lang="en-DE" sz="2200" dirty="0"/>
                  <a:t>nitialize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DE" sz="22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sz="2200" dirty="0"/>
                  <a:t>f</a:t>
                </a:r>
                <a:r>
                  <a:rPr lang="en-DE" sz="2200" dirty="0"/>
                  <a:t>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200" dirty="0"/>
                  <a:t> to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DE" sz="2200" dirty="0"/>
              </a:p>
              <a:p>
                <a:pPr marL="971550" lvl="1" indent="-514350">
                  <a:buFont typeface="+mj-lt"/>
                  <a:buAutoNum type="alphaLcParenR"/>
                </a:pPr>
                <a:r>
                  <a:rPr lang="en-GB" sz="2200" dirty="0"/>
                  <a:t>c</a:t>
                </a:r>
                <a:r>
                  <a:rPr lang="en-DE" sz="2200" dirty="0"/>
                  <a:t>ompute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DE" sz="2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𝛾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endParaRPr lang="en-DE" sz="2200" dirty="0"/>
              </a:p>
              <a:p>
                <a:pPr marL="971550" lvl="1" indent="-514350">
                  <a:buFont typeface="+mj-lt"/>
                  <a:buAutoNum type="alphaLcParenR"/>
                </a:pPr>
                <a:r>
                  <a:rPr lang="en-GB" sz="2200" dirty="0"/>
                  <a:t>s</a:t>
                </a:r>
                <a:r>
                  <a:rPr lang="en-DE" sz="22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5523" r="-362" b="-122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46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7F7E3-45DB-77D2-615D-DE71E947B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3385"/>
                <a:ext cx="7339418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in its simplest form: binary classification</a:t>
                </a:r>
              </a:p>
              <a:p>
                <a:pPr marL="0" indent="0">
                  <a:buNone/>
                </a:pPr>
                <a:r>
                  <a:rPr lang="en-GB" sz="2200" dirty="0"/>
                  <a:t>forward stagewise additive </a:t>
                </a:r>
                <a:r>
                  <a:rPr lang="en-GB" sz="2200" dirty="0" err="1"/>
                  <a:t>modeling</a:t>
                </a:r>
                <a:r>
                  <a:rPr lang="en-GB" sz="2200" dirty="0"/>
                  <a:t> with individual classifiers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200" dirty="0"/>
                  <a:t> and loss function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sup>
                    </m:sSup>
                  </m:oMath>
                </a14:m>
                <a:endParaRPr lang="en-GB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DE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DE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</m:acc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b="1" i="1" smtClean="0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p>
                              </m:sSup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b="1" i="1" smtClean="0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c</a:t>
                </a:r>
                <a:r>
                  <a:rPr lang="en-DE" sz="2200" dirty="0"/>
                  <a:t>orresponds to </a:t>
                </a:r>
                <a:r>
                  <a:rPr lang="en-GB" sz="2200" dirty="0"/>
                  <a:t>sample weights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200" dirty="0"/>
                  <a:t> (in the trainings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200" dirty="0"/>
                  <a:t>), reflecting accuracy of current ensemble </a:t>
                </a:r>
                <a:r>
                  <a:rPr lang="en-DE" sz="2200" dirty="0"/>
                  <a:t>at each successive iteration </a:t>
                </a:r>
                <a:r>
                  <a:rPr lang="en-GB" sz="2200" dirty="0"/>
                  <a:t>(weights increased for incorrect predictions, decreased for correct ones)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7F7E3-45DB-77D2-615D-DE71E947B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3385"/>
                <a:ext cx="7339418" cy="4351338"/>
              </a:xfrm>
              <a:blipFill>
                <a:blip r:embed="rId2"/>
                <a:stretch>
                  <a:fillRect l="-1038" t="-1744" r="-519" b="-2180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47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53A772A4-78FA-7E98-BEE7-3E943BA1E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7618" y="1847850"/>
            <a:ext cx="3961666" cy="43513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6978175-E5E1-AC14-3C40-A6F711734094}"/>
              </a:ext>
            </a:extLst>
          </p:cNvPr>
          <p:cNvSpPr txBox="1"/>
          <p:nvPr/>
        </p:nvSpPr>
        <p:spPr>
          <a:xfrm>
            <a:off x="9764392" y="6356350"/>
            <a:ext cx="78811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Hastie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E8D76EC-7CA3-B81C-F658-E20C0F3C9DC3}"/>
              </a:ext>
            </a:extLst>
          </p:cNvPr>
          <p:cNvSpPr/>
          <p:nvPr/>
        </p:nvSpPr>
        <p:spPr>
          <a:xfrm rot="16200000">
            <a:off x="5123278" y="2726927"/>
            <a:ext cx="210208" cy="1356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7155F3-B87A-6F96-383E-D040C2ED631F}"/>
                  </a:ext>
                </a:extLst>
              </p:cNvPr>
              <p:cNvSpPr txBox="1"/>
              <p:nvPr/>
            </p:nvSpPr>
            <p:spPr>
              <a:xfrm>
                <a:off x="11137361" y="2840422"/>
                <a:ext cx="1009635" cy="2594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DE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DE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acc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=2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DE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7155F3-B87A-6F96-383E-D040C2ED6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7361" y="2840422"/>
                <a:ext cx="1009635" cy="259495"/>
              </a:xfrm>
              <a:prstGeom prst="rect">
                <a:avLst/>
              </a:prstGeom>
              <a:blipFill>
                <a:blip r:embed="rId4"/>
                <a:stretch>
                  <a:fillRect l="-1235" t="-18182" b="-3181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3E56B0-6071-9480-FE9D-9BAECB0BE085}"/>
              </a:ext>
            </a:extLst>
          </p:cNvPr>
          <p:cNvCxnSpPr>
            <a:stCxn id="13" idx="0"/>
          </p:cNvCxnSpPr>
          <p:nvPr/>
        </p:nvCxnSpPr>
        <p:spPr>
          <a:xfrm flipH="1" flipV="1">
            <a:off x="11466786" y="2522483"/>
            <a:ext cx="175393" cy="3179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4344877-D4FD-B28D-3902-15432323AB76}"/>
                  </a:ext>
                </a:extLst>
              </p:cNvPr>
              <p:cNvSpPr txBox="1"/>
              <p:nvPr/>
            </p:nvSpPr>
            <p:spPr>
              <a:xfrm>
                <a:off x="5090713" y="4583563"/>
                <a:ext cx="2611805" cy="519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DE" dirty="0">
                    <a:sym typeface="Wingdings" pitchFamily="2" charset="2"/>
                  </a:rPr>
                  <a:t> (2):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err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err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endParaRPr lang="en-DE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4344877-D4FD-B28D-3902-15432323A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713" y="4583563"/>
                <a:ext cx="2611805" cy="519181"/>
              </a:xfrm>
              <a:prstGeom prst="rect">
                <a:avLst/>
              </a:prstGeom>
              <a:blipFill>
                <a:blip r:embed="rId5"/>
                <a:stretch>
                  <a:fillRect l="-193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64A2F4-A108-E746-9B72-FDFE4A99089C}"/>
                  </a:ext>
                </a:extLst>
              </p:cNvPr>
              <p:cNvSpPr txBox="1"/>
              <p:nvPr/>
            </p:nvSpPr>
            <p:spPr>
              <a:xfrm>
                <a:off x="929993" y="3884077"/>
                <a:ext cx="4106124" cy="14702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two steps:</a:t>
                </a:r>
              </a:p>
              <a:p>
                <a:r>
                  <a:rPr lang="en-GB" dirty="0"/>
                  <a:t>(1): w</a:t>
                </a:r>
                <a:r>
                  <a:rPr lang="en-DE" dirty="0"/>
                  <a:t>eighted error rate minimized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err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𝐺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64A2F4-A108-E746-9B72-FDFE4A990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3" y="3884077"/>
                <a:ext cx="4106124" cy="1470211"/>
              </a:xfrm>
              <a:prstGeom prst="rect">
                <a:avLst/>
              </a:prstGeom>
              <a:blipFill>
                <a:blip r:embed="rId6"/>
                <a:stretch>
                  <a:fillRect l="-1235" t="-1709" r="-309" b="-401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03BDE2-652D-7ED7-B30D-96C89DF1314E}"/>
                  </a:ext>
                </a:extLst>
              </p:cNvPr>
              <p:cNvSpPr txBox="1"/>
              <p:nvPr/>
            </p:nvSpPr>
            <p:spPr>
              <a:xfrm>
                <a:off x="4660566" y="3479094"/>
                <a:ext cx="1135632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03BDE2-652D-7ED7-B30D-96C89DF131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566" y="3479094"/>
                <a:ext cx="1135632" cy="404983"/>
              </a:xfrm>
              <a:prstGeom prst="rect">
                <a:avLst/>
              </a:prstGeom>
              <a:blipFill>
                <a:blip r:embed="rId7"/>
                <a:stretch>
                  <a:fillRect r="-4444" b="-625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0422F06-9D30-4BC9-BAD6-43656163A84D}"/>
              </a:ext>
            </a:extLst>
          </p:cNvPr>
          <p:cNvCxnSpPr/>
          <p:nvPr/>
        </p:nvCxnSpPr>
        <p:spPr>
          <a:xfrm flipV="1">
            <a:off x="1460938" y="3405358"/>
            <a:ext cx="725214" cy="478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approximation of f</a:t>
                </a:r>
                <a:r>
                  <a:rPr lang="en-DE" sz="2200" dirty="0"/>
                  <a:t>orward stagewise additive modeling (solution can be hard for general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DE" sz="2200" dirty="0"/>
                  <a:t>):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b="1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sz="2000" dirty="0"/>
                  <a:t>	by successively solving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DE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endParaRPr lang="en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DE" sz="200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0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DE" sz="2000" dirty="0"/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𝑖𝑚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200" dirty="0"/>
                  <a:t> fitted to predict negative gradients of samples at each iteration (regression model), corresponding to</a:t>
                </a:r>
                <a:r>
                  <a:rPr lang="en-GB" sz="2200" dirty="0">
                    <a:sym typeface="Wingdings" pitchFamily="2" charset="2"/>
                  </a:rPr>
                  <a:t> gradient descent in functional space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DE" sz="2200" dirty="0"/>
                  <a:t>: usually, decision tree regressors of fixed size (</a:t>
                </a:r>
                <a:r>
                  <a:rPr lang="en-GB" sz="2200" dirty="0"/>
                  <a:t>gradient-boosted decision trees</a:t>
                </a:r>
                <a:r>
                  <a:rPr lang="en-DE" sz="2200" dirty="0"/>
                  <a:t>)</a:t>
                </a:r>
              </a:p>
              <a:p>
                <a:r>
                  <a:rPr lang="en-GB" sz="2200" dirty="0"/>
                  <a:t>w</a:t>
                </a:r>
                <a:r>
                  <a:rPr lang="en-DE" sz="2200" dirty="0"/>
                  <a:t>orks like this for both regression and classification 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r="-48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48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DE45B79-BC7A-6987-E0DA-9A0626121094}"/>
                  </a:ext>
                </a:extLst>
              </p:cNvPr>
              <p:cNvSpPr txBox="1"/>
              <p:nvPr/>
            </p:nvSpPr>
            <p:spPr>
              <a:xfrm>
                <a:off x="6526924" y="3828589"/>
                <a:ext cx="5150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𝑖𝑚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DE45B79-BC7A-6987-E0DA-9A0626121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6924" y="3828589"/>
                <a:ext cx="51500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e 7">
            <a:extLst>
              <a:ext uri="{FF2B5EF4-FFF2-40B4-BE49-F238E27FC236}">
                <a16:creationId xmlns:a16="http://schemas.microsoft.com/office/drawing/2014/main" id="{F0B32388-4D72-58C6-149D-F6C5F5DFC8AC}"/>
              </a:ext>
            </a:extLst>
          </p:cNvPr>
          <p:cNvSpPr/>
          <p:nvPr/>
        </p:nvSpPr>
        <p:spPr>
          <a:xfrm rot="16200000">
            <a:off x="6671993" y="2604490"/>
            <a:ext cx="224870" cy="234380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DE630C-11ED-E73E-3B5B-F89B76A80F57}"/>
              </a:ext>
            </a:extLst>
          </p:cNvPr>
          <p:cNvCxnSpPr/>
          <p:nvPr/>
        </p:nvCxnSpPr>
        <p:spPr>
          <a:xfrm flipH="1">
            <a:off x="7956331" y="2133600"/>
            <a:ext cx="388883" cy="189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r>
                  <a:rPr lang="en-DE" sz="2600" dirty="0"/>
                  <a:t> (see </a:t>
                </a:r>
                <a:r>
                  <a:rPr lang="en-GB" sz="2600" dirty="0"/>
                  <a:t>ANOVA expansion)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50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511" y="2551676"/>
            <a:ext cx="2392733" cy="3014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371063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linear regression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9272" y="2683889"/>
            <a:ext cx="35038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neural networks</a:t>
            </a:r>
            <a:r>
              <a:rPr lang="en-GB" sz="1400" dirty="0"/>
              <a:t>: many linear models, non-linear by means of activation functions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3971925" y="1541888"/>
            <a:ext cx="37719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 neighbors (local methods, instance-based learning):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192910" y="5834051"/>
            <a:ext cx="340373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kernel/support-vector machines</a:t>
            </a:r>
            <a:r>
              <a:rPr lang="en-GB" sz="1400" dirty="0"/>
              <a:t>: linear model (maximum-margin hyperplane) with kernel trick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7890997" y="1541888"/>
            <a:ext cx="3857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20841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18034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60852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58909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02282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59738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59064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398688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397348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58909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65272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64259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65585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390157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5038897"/>
            <a:ext cx="3364315" cy="132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51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73193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5D598B-E0AB-147C-3EDA-887876761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BCD732-0F1B-C810-78CE-EA8148AF0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85C28-C98E-02FA-EBAF-45FE80B0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62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2636</Words>
  <Application>Microsoft Macintosh PowerPoint</Application>
  <PresentationFormat>Breitbild</PresentationFormat>
  <Paragraphs>472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60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Machine Learning</vt:lpstr>
      <vt:lpstr>Course Schedule</vt:lpstr>
      <vt:lpstr>Machine Learning</vt:lpstr>
      <vt:lpstr>What Is Machine Learning?</vt:lpstr>
      <vt:lpstr>PowerPoint-Präsentation</vt:lpstr>
      <vt:lpstr>Supervised Learning</vt:lpstr>
      <vt:lpstr>Supervised Learning in Mathematical Terms</vt:lpstr>
      <vt:lpstr>Example: Image Classification</vt:lpstr>
      <vt:lpstr>Under- and Over-Fitting</vt:lpstr>
      <vt:lpstr>Training, Validation, and Test Sets</vt:lpstr>
      <vt:lpstr>Bias, Variance, Irreducible Error</vt:lpstr>
      <vt:lpstr>Bias-Variance Tradeoff</vt:lpstr>
      <vt:lpstr>Generalization</vt:lpstr>
      <vt:lpstr>Manifold Hypothesis</vt:lpstr>
      <vt:lpstr>General Recipe of Statistical Learning</vt:lpstr>
      <vt:lpstr>Linear Regression Revisited</vt:lpstr>
      <vt:lpstr>Brief Notation</vt:lpstr>
      <vt:lpstr>Loss Function</vt:lpstr>
      <vt:lpstr>Cost Function</vt:lpstr>
      <vt:lpstr>Cost Minimization</vt:lpstr>
      <vt:lpstr>Gradient Descent</vt:lpstr>
      <vt:lpstr>L^2 Regularization (Ridge Regression)</vt:lpstr>
      <vt:lpstr>Classification: Logistic Regression</vt:lpstr>
      <vt:lpstr>Multi-Classification: Softmax</vt:lpstr>
      <vt:lpstr>Image Classification with Linear Regression</vt:lpstr>
      <vt:lpstr>Simplified Matrix Multiplication: Bias Trick</vt:lpstr>
      <vt:lpstr>PowerPoint-Präsentation</vt:lpstr>
      <vt:lpstr>Classification Metrics</vt:lpstr>
      <vt:lpstr>Generalized Linear Models (GLMs)</vt:lpstr>
      <vt:lpstr>Link Functions</vt:lpstr>
      <vt:lpstr>Multiplicative Model</vt:lpstr>
      <vt:lpstr>Quantile Regression</vt:lpstr>
      <vt:lpstr>Generalized Additive Models (GAMs)</vt:lpstr>
      <vt:lpstr>Nonlinear Effects and Smooth Terms</vt:lpstr>
      <vt:lpstr>k-Nearest Neighbors (kNN)</vt:lpstr>
      <vt:lpstr>Image Classification with kNN</vt:lpstr>
      <vt:lpstr>Image Classification with kNN</vt:lpstr>
      <vt:lpstr>Curse of Dimensionality</vt:lpstr>
      <vt:lpstr>Decision Trees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PowerPoint-Präsentation</vt:lpstr>
      <vt:lpstr>AdaBoost (Adaptive Boosting)</vt:lpstr>
      <vt:lpstr>Gradient Boosting</vt:lpstr>
      <vt:lpstr>Decision Tree Sizes for Boosting</vt:lpstr>
      <vt:lpstr>Algorithmic Families of Supervised Learning</vt:lpstr>
      <vt:lpstr>Hyperparameters</vt:lpstr>
      <vt:lpstr>Model Selection Overview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53</cp:revision>
  <dcterms:created xsi:type="dcterms:W3CDTF">2025-01-09T11:24:27Z</dcterms:created>
  <dcterms:modified xsi:type="dcterms:W3CDTF">2026-01-11T17:27:01Z</dcterms:modified>
</cp:coreProperties>
</file>