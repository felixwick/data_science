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0"/>
  </p:notesMasterIdLst>
  <p:sldIdLst>
    <p:sldId id="256" r:id="rId2"/>
    <p:sldId id="774" r:id="rId3"/>
    <p:sldId id="773" r:id="rId4"/>
    <p:sldId id="792" r:id="rId5"/>
    <p:sldId id="791" r:id="rId6"/>
    <p:sldId id="257" r:id="rId7"/>
    <p:sldId id="790" r:id="rId8"/>
    <p:sldId id="637" r:id="rId9"/>
    <p:sldId id="261" r:id="rId10"/>
    <p:sldId id="796" r:id="rId11"/>
    <p:sldId id="639" r:id="rId12"/>
    <p:sldId id="644" r:id="rId13"/>
    <p:sldId id="688" r:id="rId14"/>
    <p:sldId id="303" r:id="rId15"/>
    <p:sldId id="798" r:id="rId16"/>
    <p:sldId id="262" r:id="rId17"/>
    <p:sldId id="295" r:id="rId18"/>
    <p:sldId id="304" r:id="rId19"/>
    <p:sldId id="793" r:id="rId20"/>
    <p:sldId id="794" r:id="rId21"/>
    <p:sldId id="784" r:id="rId22"/>
    <p:sldId id="636" r:id="rId23"/>
    <p:sldId id="770" r:id="rId24"/>
    <p:sldId id="648" r:id="rId25"/>
    <p:sldId id="771" r:id="rId26"/>
    <p:sldId id="772" r:id="rId27"/>
    <p:sldId id="677" r:id="rId28"/>
    <p:sldId id="678" r:id="rId29"/>
    <p:sldId id="679" r:id="rId30"/>
    <p:sldId id="270" r:id="rId31"/>
    <p:sldId id="282" r:id="rId32"/>
    <p:sldId id="642" r:id="rId33"/>
    <p:sldId id="281" r:id="rId34"/>
    <p:sldId id="280" r:id="rId35"/>
    <p:sldId id="283" r:id="rId36"/>
    <p:sldId id="775" r:id="rId37"/>
    <p:sldId id="306" r:id="rId38"/>
    <p:sldId id="284" r:id="rId39"/>
    <p:sldId id="305" r:id="rId40"/>
    <p:sldId id="693" r:id="rId41"/>
    <p:sldId id="694" r:id="rId42"/>
    <p:sldId id="695" r:id="rId43"/>
    <p:sldId id="307" r:id="rId44"/>
    <p:sldId id="294" r:id="rId45"/>
    <p:sldId id="309" r:id="rId46"/>
    <p:sldId id="720" r:id="rId47"/>
    <p:sldId id="797" r:id="rId48"/>
    <p:sldId id="780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39"/>
    <p:restoredTop sz="94694"/>
  </p:normalViewPr>
  <p:slideViewPr>
    <p:cSldViewPr snapToGrid="0">
      <p:cViewPr varScale="1">
        <p:scale>
          <a:sx n="121" d="100"/>
          <a:sy n="121" d="100"/>
        </p:scale>
        <p:origin x="6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7BB845-5EDE-4644-BE7F-B673B342B3A7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466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11/04/2026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11/04/2026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11/04/2026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11/04/2026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tiff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0.png"/><Relationship Id="rId4" Type="http://schemas.openxmlformats.org/officeDocument/2006/relationships/image" Target="../media/image2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auto_examples/tree/plot_tree_regression.html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7" Type="http://schemas.openxmlformats.org/officeDocument/2006/relationships/image" Target="../media/image26.sv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0.png"/><Relationship Id="rId5" Type="http://schemas.openxmlformats.org/officeDocument/2006/relationships/image" Target="../media/image181.png"/><Relationship Id="rId4" Type="http://schemas.openxmlformats.org/officeDocument/2006/relationships/image" Target="../media/image17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eeplearningbook.org/contents/numerical.html" TargetMode="External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svg"/><Relationship Id="rId4" Type="http://schemas.openxmlformats.org/officeDocument/2006/relationships/hyperlink" Target="https://allmodelsarewrong.github.io/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251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0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hyperlink" Target="https://cyclicboosting.org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hyperlink" Target="https://repositories.lib.utexas.edu/bitstream/handle/2152/63037/HADLOCK-DISSERTATION-2017.pdf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allmodelsarewrong.github.io/forest.html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1.png"/><Relationship Id="rId4" Type="http://schemas.openxmlformats.org/officeDocument/2006/relationships/image" Target="../media/image310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Machine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89200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A91DF71-F48F-35B4-16D1-D9C43B208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87F1207-8DF8-5FD4-4583-F7C3978FD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linear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training</a:t>
            </a:r>
            <a:endParaRPr lang="de-DE" dirty="0"/>
          </a:p>
          <a:p>
            <a:r>
              <a:rPr lang="de-DE" dirty="0" err="1"/>
              <a:t>logistic</a:t>
            </a:r>
            <a:r>
              <a:rPr lang="de-DE" dirty="0"/>
              <a:t>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Generalized</a:t>
            </a:r>
            <a:r>
              <a:rPr lang="de-DE" dirty="0"/>
              <a:t> Linear Models</a:t>
            </a:r>
          </a:p>
          <a:p>
            <a:r>
              <a:rPr lang="de-DE" dirty="0" err="1"/>
              <a:t>quantile</a:t>
            </a:r>
            <a:r>
              <a:rPr lang="de-DE" dirty="0"/>
              <a:t>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Generalized</a:t>
            </a:r>
            <a:r>
              <a:rPr lang="de-DE" dirty="0"/>
              <a:t> Additive Models</a:t>
            </a:r>
          </a:p>
          <a:p>
            <a:r>
              <a:rPr lang="de-DE" dirty="0" err="1"/>
              <a:t>k-Nearest</a:t>
            </a:r>
            <a:r>
              <a:rPr lang="de-DE" dirty="0"/>
              <a:t> </a:t>
            </a:r>
            <a:r>
              <a:rPr lang="de-DE" dirty="0" err="1"/>
              <a:t>Neighbors</a:t>
            </a:r>
            <a:endParaRPr lang="de-DE" dirty="0"/>
          </a:p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trees</a:t>
            </a:r>
            <a:r>
              <a:rPr lang="de-DE" dirty="0"/>
              <a:t> and </a:t>
            </a:r>
            <a:r>
              <a:rPr lang="de-DE" dirty="0" err="1"/>
              <a:t>ensemble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BDC808-B76D-D833-E67A-AE00811D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2595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AC1E4-6AD7-8D09-5D38-21375316B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Machine</a:t>
            </a:r>
            <a:r>
              <a:rPr lang="de-DE" dirty="0"/>
              <a:t> Learning?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9B1B0-1661-F50C-4ACA-6DE3D65E4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l</a:t>
            </a:r>
            <a:r>
              <a:rPr lang="en-DE"/>
              <a:t>earning from </a:t>
            </a:r>
            <a:r>
              <a:rPr lang="de-DE" dirty="0" err="1"/>
              <a:t>e</a:t>
            </a:r>
            <a:r>
              <a:rPr lang="en-DE"/>
              <a:t>xperience/</a:t>
            </a:r>
            <a:r>
              <a:rPr lang="de-DE" dirty="0"/>
              <a:t>d</a:t>
            </a:r>
            <a:r>
              <a:rPr lang="en-DE"/>
              <a:t>ata</a:t>
            </a:r>
            <a:r>
              <a:rPr lang="de-DE" dirty="0"/>
              <a:t>: </a:t>
            </a:r>
            <a:r>
              <a:rPr lang="en-GB" dirty="0"/>
              <a:t>exploiting statistical dependencies with the aim of </a:t>
            </a:r>
            <a:r>
              <a:rPr lang="en-GB" b="1" dirty="0"/>
              <a:t>generalization </a:t>
            </a:r>
            <a:r>
              <a:rPr lang="en-GB" dirty="0"/>
              <a:t>to new data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training: </a:t>
            </a:r>
            <a:r>
              <a:rPr lang="en-DE" b="1"/>
              <a:t>ML </a:t>
            </a:r>
            <a:r>
              <a:rPr lang="en-DE" b="1" dirty="0"/>
              <a:t>algorithm + data = explicit algorithm</a:t>
            </a:r>
            <a:r>
              <a:rPr lang="en-GB" dirty="0"/>
              <a:t> (to be used later)</a:t>
            </a:r>
            <a:endParaRPr lang="en-DE" dirty="0"/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eduction of complexity and much better generalizability compared to handcrafted algorithms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a</a:t>
            </a:r>
            <a:r>
              <a:rPr lang="en-DE" dirty="0">
                <a:sym typeface="Wingdings" pitchFamily="2" charset="2"/>
              </a:rPr>
              <a:t>nalogy: </a:t>
            </a:r>
            <a:r>
              <a:rPr lang="en-GB" dirty="0"/>
              <a:t>Humans do not hit the ground running (storage capacity of DNA limited) but have learning capabilities.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A252D-C08C-169A-2929-AD29EAD77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53091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6130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F4BCAF0-0279-CF76-75E5-335A1CCBA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ED9B-DCB2-71E2-2E4D-F9BA5C5A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BE29654-4CEA-778A-6D2C-A36510E39CE1}"/>
              </a:ext>
            </a:extLst>
          </p:cNvPr>
          <p:cNvSpPr/>
          <p:nvPr/>
        </p:nvSpPr>
        <p:spPr>
          <a:xfrm>
            <a:off x="440024" y="1892974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E633E2-31DD-26F1-2171-B10983A1AF11}"/>
              </a:ext>
            </a:extLst>
          </p:cNvPr>
          <p:cNvSpPr/>
          <p:nvPr/>
        </p:nvSpPr>
        <p:spPr>
          <a:xfrm>
            <a:off x="5743658" y="1888233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930439F-732D-A050-F112-B89DAAF7482F}"/>
              </a:ext>
            </a:extLst>
          </p:cNvPr>
          <p:cNvSpPr/>
          <p:nvPr/>
        </p:nvSpPr>
        <p:spPr>
          <a:xfrm>
            <a:off x="657738" y="1694854"/>
            <a:ext cx="2367029" cy="487680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Target Quantity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C5A28B-6CB2-3EFB-BFDD-D29B4F561BC5}"/>
              </a:ext>
            </a:extLst>
          </p:cNvPr>
          <p:cNvSpPr txBox="1"/>
          <p:nvPr/>
        </p:nvSpPr>
        <p:spPr>
          <a:xfrm>
            <a:off x="440024" y="2308294"/>
            <a:ext cx="44875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b="1" dirty="0"/>
              <a:t>known in training</a:t>
            </a:r>
            <a:r>
              <a:rPr lang="en-GB" sz="2000" dirty="0"/>
              <a:t>: labeled samples or observations from past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to be </a:t>
            </a:r>
            <a:r>
              <a:rPr lang="en-GB" sz="2000" b="1" dirty="0"/>
              <a:t>predicted</a:t>
            </a:r>
            <a:r>
              <a:rPr lang="en-GB" sz="2000" dirty="0"/>
              <a:t> for unknown cases (e.g., future values)</a:t>
            </a:r>
            <a:endParaRPr lang="en-US" sz="20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945479-8ABF-B513-1072-9DB906CB5498}"/>
              </a:ext>
            </a:extLst>
          </p:cNvPr>
          <p:cNvSpPr/>
          <p:nvPr/>
        </p:nvSpPr>
        <p:spPr>
          <a:xfrm>
            <a:off x="5965726" y="1690688"/>
            <a:ext cx="2367029" cy="487680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Features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81EB55-0D1C-D3C2-EFBA-68AAD01E2FAC}"/>
              </a:ext>
            </a:extLst>
          </p:cNvPr>
          <p:cNvSpPr txBox="1"/>
          <p:nvPr/>
        </p:nvSpPr>
        <p:spPr>
          <a:xfrm>
            <a:off x="5743659" y="2322303"/>
            <a:ext cx="41888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(prepared) input information that is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correlated to target quantity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known at prediction time</a:t>
            </a:r>
          </a:p>
        </p:txBody>
      </p:sp>
      <p:pic>
        <p:nvPicPr>
          <p:cNvPr id="17" name="Picture 16" descr="A picture containing letter&#10;&#10;Description automatically generated">
            <a:extLst>
              <a:ext uri="{FF2B5EF4-FFF2-40B4-BE49-F238E27FC236}">
                <a16:creationId xmlns:a16="http://schemas.microsoft.com/office/drawing/2014/main" id="{57C91173-6B41-A004-0793-FD56A7D5502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1951" y="4594699"/>
            <a:ext cx="2712816" cy="180854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BCC3403-11F9-12E9-BB00-17BD2E0585C0}"/>
              </a:ext>
            </a:extLst>
          </p:cNvPr>
          <p:cNvSpPr txBox="1"/>
          <p:nvPr/>
        </p:nvSpPr>
        <p:spPr>
          <a:xfrm>
            <a:off x="3239946" y="4250260"/>
            <a:ext cx="418881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Example: Spam Filtering</a:t>
            </a:r>
          </a:p>
          <a:p>
            <a:r>
              <a:rPr lang="en-US" i="1" dirty="0">
                <a:solidFill>
                  <a:schemeClr val="accent1">
                    <a:lumMod val="50000"/>
                  </a:schemeClr>
                </a:solidFill>
              </a:rPr>
              <a:t>classify emails as spam or no spam</a:t>
            </a:r>
          </a:p>
        </p:txBody>
      </p:sp>
      <p:sp>
        <p:nvSpPr>
          <p:cNvPr id="20" name="Rectangle: Rounded Corners 26">
            <a:extLst>
              <a:ext uri="{FF2B5EF4-FFF2-40B4-BE49-F238E27FC236}">
                <a16:creationId xmlns:a16="http://schemas.microsoft.com/office/drawing/2014/main" id="{BFA8F20B-1C26-C84B-3151-366D1D2D94EB}"/>
              </a:ext>
            </a:extLst>
          </p:cNvPr>
          <p:cNvSpPr/>
          <p:nvPr/>
        </p:nvSpPr>
        <p:spPr>
          <a:xfrm>
            <a:off x="3322683" y="507887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A6F309-49B9-A8E9-71F9-A6E1DCD55622}"/>
              </a:ext>
            </a:extLst>
          </p:cNvPr>
          <p:cNvSpPr txBox="1"/>
          <p:nvPr/>
        </p:nvSpPr>
        <p:spPr>
          <a:xfrm>
            <a:off x="3371664" y="5316067"/>
            <a:ext cx="2371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i="1" dirty="0"/>
              <a:t>use accordingly </a:t>
            </a:r>
            <a:r>
              <a:rPr lang="en-GB" sz="1600" b="1" i="1" dirty="0"/>
              <a:t>labeled emails as training set</a:t>
            </a:r>
          </a:p>
        </p:txBody>
      </p:sp>
      <p:sp>
        <p:nvSpPr>
          <p:cNvPr id="22" name="Rectangle: Rounded Corners 28">
            <a:extLst>
              <a:ext uri="{FF2B5EF4-FFF2-40B4-BE49-F238E27FC236}">
                <a16:creationId xmlns:a16="http://schemas.microsoft.com/office/drawing/2014/main" id="{CBA6CAB8-1E9D-E6BA-555C-631834EB6B63}"/>
              </a:ext>
            </a:extLst>
          </p:cNvPr>
          <p:cNvSpPr/>
          <p:nvPr/>
        </p:nvSpPr>
        <p:spPr>
          <a:xfrm>
            <a:off x="5974443" y="507060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B045D5-1844-8139-A08C-AF18A8FD1AD5}"/>
              </a:ext>
            </a:extLst>
          </p:cNvPr>
          <p:cNvSpPr txBox="1"/>
          <p:nvPr/>
        </p:nvSpPr>
        <p:spPr>
          <a:xfrm>
            <a:off x="5974442" y="5110022"/>
            <a:ext cx="242097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use information like occurrence of specific words or email length as </a:t>
            </a:r>
            <a:r>
              <a:rPr lang="en-GB" sz="1600" b="1" dirty="0"/>
              <a:t>features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873D9E-8D81-CD2B-5699-91DFC0C32674}"/>
              </a:ext>
            </a:extLst>
          </p:cNvPr>
          <p:cNvGrpSpPr/>
          <p:nvPr/>
        </p:nvGrpSpPr>
        <p:grpSpPr>
          <a:xfrm>
            <a:off x="8509246" y="4157854"/>
            <a:ext cx="2442727" cy="2066108"/>
            <a:chOff x="9123943" y="5414911"/>
            <a:chExt cx="1737346" cy="1387231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CE38CB2-2382-0404-1DCA-6C55779B81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667" t="32140" r="31968" b="9384"/>
            <a:stretch/>
          </p:blipFill>
          <p:spPr>
            <a:xfrm>
              <a:off x="9123943" y="5414911"/>
              <a:ext cx="1737346" cy="1387231"/>
            </a:xfrm>
            <a:prstGeom prst="rect">
              <a:avLst/>
            </a:prstGeom>
          </p:spPr>
        </p:pic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0EAA3D5-3D8F-1552-6F2D-E124F7562E3E}"/>
                </a:ext>
              </a:extLst>
            </p:cNvPr>
            <p:cNvSpPr/>
            <p:nvPr/>
          </p:nvSpPr>
          <p:spPr>
            <a:xfrm>
              <a:off x="9511990" y="5414911"/>
              <a:ext cx="947854" cy="2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sp>
        <p:nvSpPr>
          <p:cNvPr id="24" name="Rectangle: Rounded Corners 32">
            <a:extLst>
              <a:ext uri="{FF2B5EF4-FFF2-40B4-BE49-F238E27FC236}">
                <a16:creationId xmlns:a16="http://schemas.microsoft.com/office/drawing/2014/main" id="{2A91D2D4-5C6D-E9BD-8BEE-8373E038057C}"/>
              </a:ext>
            </a:extLst>
          </p:cNvPr>
          <p:cNvSpPr/>
          <p:nvPr/>
        </p:nvSpPr>
        <p:spPr>
          <a:xfrm>
            <a:off x="9821826" y="3696598"/>
            <a:ext cx="2346099" cy="1143206"/>
          </a:xfrm>
          <a:prstGeom prst="roundRect">
            <a:avLst>
              <a:gd name="adj" fmla="val 5316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features x1 and x2 </a:t>
            </a:r>
            <a:r>
              <a:rPr lang="en-GB" dirty="0">
                <a:solidFill>
                  <a:srgbClr val="C00000"/>
                </a:solidFill>
              </a:rPr>
              <a:t>spam</a:t>
            </a:r>
            <a:r>
              <a:rPr lang="en-GB" dirty="0">
                <a:solidFill>
                  <a:schemeClr val="tx1"/>
                </a:solidFill>
              </a:rPr>
              <a:t>,</a:t>
            </a:r>
            <a:r>
              <a:rPr lang="en-GB" dirty="0"/>
              <a:t> </a:t>
            </a:r>
            <a:r>
              <a:rPr lang="en-GB" dirty="0">
                <a:solidFill>
                  <a:srgbClr val="002060"/>
                </a:solidFill>
              </a:rPr>
              <a:t>no spam</a:t>
            </a:r>
          </a:p>
          <a:p>
            <a:pPr algn="ctr"/>
            <a:r>
              <a:rPr lang="en-GB" dirty="0">
                <a:solidFill>
                  <a:srgbClr val="00B050"/>
                </a:solidFill>
              </a:rPr>
              <a:t>decision boundary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246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14EC7F-499E-E9F9-A62F-19F4A6D4F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 in Mathematical Terms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638B7D9-B37C-4258-6CD7-2536492A7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map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en-GB" sz="2200" dirty="0"/>
                  <a:t>random variables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200" dirty="0"/>
                  <a:t>) </a:t>
                </a:r>
                <a14:m>
                  <m:oMath xmlns:m="http://schemas.openxmlformats.org/officeDocument/2006/math">
                    <m:r>
                      <a:rPr lang="en-GB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GB" sz="2200" dirty="0"/>
                  <a:t> usually high-dimensional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training (e.g., c</a:t>
                </a:r>
                <a:r>
                  <a:rPr lang="en-DE" dirty="0"/>
                  <a:t>urve fitting / parameter estimation</a:t>
                </a:r>
                <a:r>
                  <a:rPr lang="en-GB" dirty="0"/>
                  <a:t>)</a:t>
                </a:r>
                <a:r>
                  <a:rPr lang="en-DE" dirty="0"/>
                  <a:t>:</a:t>
                </a:r>
              </a:p>
              <a:p>
                <a:pPr marL="0" indent="0">
                  <a:buNone/>
                </a:pPr>
                <a:r>
                  <a:rPr lang="en-GB" dirty="0"/>
                  <a:t>fit data set of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) pairs </a:t>
                </a:r>
                <a:r>
                  <a:rPr lang="en-GB" dirty="0">
                    <a:sym typeface="Wingdings" pitchFamily="2" charset="2"/>
                  </a:rPr>
                  <a:t> m</a:t>
                </a:r>
                <a:r>
                  <a:rPr lang="en-GB" dirty="0"/>
                  <a:t>inimize deviations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d</a:t>
                </a:r>
                <a:r>
                  <a:rPr lang="en-DE" dirty="0"/>
                  <a:t>iscriminative models:</a:t>
                </a:r>
                <a:r>
                  <a:rPr lang="de-DE" dirty="0"/>
                  <a:t> </a:t>
                </a:r>
                <a:r>
                  <a:rPr lang="en-DE" dirty="0"/>
                  <a:t>predict conditional density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r>
                  <a:rPr lang="en-DE" sz="2200" dirty="0"/>
                  <a:t>as opposed to generative models</a:t>
                </a:r>
                <a:r>
                  <a:rPr lang="de-DE" sz="2200" dirty="0"/>
                  <a:t>:</a:t>
                </a:r>
                <a:r>
                  <a:rPr lang="en-DE" sz="2200" dirty="0"/>
                  <a:t> predic</a:t>
                </a:r>
                <a:r>
                  <a:rPr lang="de-DE" sz="2200" dirty="0"/>
                  <a:t>t</a:t>
                </a:r>
                <a:r>
                  <a:rPr lang="en-DE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/>
                  <a:t> (or just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) 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 not given, more difficult</a:t>
                </a:r>
                <a:endParaRPr lang="en-DE" sz="22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638B7D9-B37C-4258-6CD7-2536492A7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0" cy="4351338"/>
              </a:xfrm>
              <a:blipFill>
                <a:blip r:embed="rId2"/>
                <a:stretch>
                  <a:fillRect l="-1117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9B085-B887-C4B6-2F15-CF8C95B25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60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DD73E-3081-3D14-70D6-AFC0A992A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Example: Image Classification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FA4F8-6AB7-8224-589C-693EE7EB6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 descr="A collage of different mugs&#10;&#10;AI-generated content may be incorrect.">
            <a:extLst>
              <a:ext uri="{FF2B5EF4-FFF2-40B4-BE49-F238E27FC236}">
                <a16:creationId xmlns:a16="http://schemas.microsoft.com/office/drawing/2014/main" id="{02B31845-7645-8954-121A-3F0BE6E768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125" y="2844812"/>
            <a:ext cx="6728335" cy="3040623"/>
          </a:xfrm>
          <a:prstGeom prst="rect">
            <a:avLst/>
          </a:prstGeom>
        </p:spPr>
      </p:pic>
      <p:pic>
        <p:nvPicPr>
          <p:cNvPr id="9" name="Picture 8" descr="A cat and dog with lines and symbols&#10;&#10;AI-generated content may be incorrect.">
            <a:extLst>
              <a:ext uri="{FF2B5EF4-FFF2-40B4-BE49-F238E27FC236}">
                <a16:creationId xmlns:a16="http://schemas.microsoft.com/office/drawing/2014/main" id="{400EB2C6-9A9E-8FDF-855F-6BA5B5E0A1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2003" y="2843699"/>
            <a:ext cx="3823812" cy="23369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3C5160-1A56-C485-58C2-E716FD0AA2D8}"/>
              </a:ext>
            </a:extLst>
          </p:cNvPr>
          <p:cNvSpPr txBox="1"/>
          <p:nvPr/>
        </p:nvSpPr>
        <p:spPr>
          <a:xfrm>
            <a:off x="2931015" y="2052305"/>
            <a:ext cx="2396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training data set: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1DC0A-0A51-1A85-091D-E1FDE24B145C}"/>
              </a:ext>
            </a:extLst>
          </p:cNvPr>
          <p:cNvSpPr txBox="1"/>
          <p:nvPr/>
        </p:nvSpPr>
        <p:spPr>
          <a:xfrm>
            <a:off x="7535819" y="2052306"/>
            <a:ext cx="46561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test data with learned classifier: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39CEAA-C60F-FD6F-4775-A10C1A255AC8}"/>
              </a:ext>
            </a:extLst>
          </p:cNvPr>
          <p:cNvSpPr txBox="1"/>
          <p:nvPr/>
        </p:nvSpPr>
        <p:spPr>
          <a:xfrm>
            <a:off x="0" y="2859531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labels:</a:t>
            </a:r>
          </a:p>
        </p:txBody>
      </p:sp>
    </p:spTree>
    <p:extLst>
      <p:ext uri="{BB962C8B-B14F-4D97-AF65-F5344CB8AC3E}">
        <p14:creationId xmlns:p14="http://schemas.microsoft.com/office/powerpoint/2010/main" val="22991623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F8F3D-8B26-DFA4-ED36-999D789B0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Algorithmic Families of Supervised Learning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C5A838-EA25-1D32-FEDB-4B77AFE2B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D511CA-D7D4-A704-6DD9-4F45DD50D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474" y="3241273"/>
            <a:ext cx="1973985" cy="24872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1FE58F-8AD6-036D-E5AF-EA6AC8312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29" y="3223919"/>
            <a:ext cx="3149516" cy="1428647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7DCD84-AF1E-D22E-40A5-ACA36BE7860B}"/>
              </a:ext>
            </a:extLst>
          </p:cNvPr>
          <p:cNvCxnSpPr/>
          <p:nvPr/>
        </p:nvCxnSpPr>
        <p:spPr>
          <a:xfrm>
            <a:off x="3971925" y="1716786"/>
            <a:ext cx="0" cy="494356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0C9EE6-F0A7-A823-0E46-C14649B142EF}"/>
              </a:ext>
            </a:extLst>
          </p:cNvPr>
          <p:cNvSpPr txBox="1"/>
          <p:nvPr/>
        </p:nvSpPr>
        <p:spPr>
          <a:xfrm>
            <a:off x="585487" y="1624387"/>
            <a:ext cx="3216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parametric models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F20216-D37C-DBD0-B4BF-A74B91D0FC58}"/>
              </a:ext>
            </a:extLst>
          </p:cNvPr>
          <p:cNvSpPr txBox="1"/>
          <p:nvPr/>
        </p:nvSpPr>
        <p:spPr>
          <a:xfrm>
            <a:off x="337706" y="2225652"/>
            <a:ext cx="2739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linear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7ECB51-2F13-B284-0C64-9EDCCA1ECDA9}"/>
              </a:ext>
            </a:extLst>
          </p:cNvPr>
          <p:cNvSpPr txBox="1"/>
          <p:nvPr/>
        </p:nvSpPr>
        <p:spPr>
          <a:xfrm>
            <a:off x="334056" y="2789147"/>
            <a:ext cx="350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neural networks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4B02CE-3709-001F-6583-1BA30EC5AA35}"/>
              </a:ext>
            </a:extLst>
          </p:cNvPr>
          <p:cNvSpPr txBox="1"/>
          <p:nvPr/>
        </p:nvSpPr>
        <p:spPr>
          <a:xfrm>
            <a:off x="4394000" y="1541888"/>
            <a:ext cx="29051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non-parametric models: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similarity-based learning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(analogies)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8BA60-8A50-ECAA-890F-F65332494957}"/>
              </a:ext>
            </a:extLst>
          </p:cNvPr>
          <p:cNvSpPr txBox="1"/>
          <p:nvPr/>
        </p:nvSpPr>
        <p:spPr>
          <a:xfrm>
            <a:off x="4204420" y="5962157"/>
            <a:ext cx="32119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kernel machines</a:t>
            </a:r>
            <a:r>
              <a:rPr lang="en-GB" dirty="0"/>
              <a:t> (e.g., support-vector machines)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630F17-EDC3-AC58-07E5-B61B294CBE9D}"/>
              </a:ext>
            </a:extLst>
          </p:cNvPr>
          <p:cNvCxnSpPr/>
          <p:nvPr/>
        </p:nvCxnSpPr>
        <p:spPr>
          <a:xfrm>
            <a:off x="7743825" y="1716786"/>
            <a:ext cx="0" cy="494356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C8A778F-E7C1-5C1A-A8D6-5795856867E3}"/>
              </a:ext>
            </a:extLst>
          </p:cNvPr>
          <p:cNvSpPr txBox="1"/>
          <p:nvPr/>
        </p:nvSpPr>
        <p:spPr>
          <a:xfrm>
            <a:off x="8629602" y="1541888"/>
            <a:ext cx="1786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decision trees: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rule learning</a:t>
            </a:r>
          </a:p>
        </p:txBody>
      </p:sp>
      <p:sp>
        <p:nvSpPr>
          <p:cNvPr id="14" name="Rectangle: Rounded Corners 22">
            <a:extLst>
              <a:ext uri="{FF2B5EF4-FFF2-40B4-BE49-F238E27FC236}">
                <a16:creationId xmlns:a16="http://schemas.microsoft.com/office/drawing/2014/main" id="{E4A89677-941C-3DF6-FF9A-1A7E9E6339E1}"/>
              </a:ext>
            </a:extLst>
          </p:cNvPr>
          <p:cNvSpPr/>
          <p:nvPr/>
        </p:nvSpPr>
        <p:spPr>
          <a:xfrm>
            <a:off x="9298940" y="2376579"/>
            <a:ext cx="819162" cy="400110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Day</a:t>
            </a:r>
          </a:p>
        </p:txBody>
      </p:sp>
      <p:sp>
        <p:nvSpPr>
          <p:cNvPr id="15" name="Rectangle: Rounded Corners 47">
            <a:extLst>
              <a:ext uri="{FF2B5EF4-FFF2-40B4-BE49-F238E27FC236}">
                <a16:creationId xmlns:a16="http://schemas.microsoft.com/office/drawing/2014/main" id="{27F6B6F5-F6DD-9471-117D-7A3A0E3A3525}"/>
              </a:ext>
            </a:extLst>
          </p:cNvPr>
          <p:cNvSpPr/>
          <p:nvPr/>
        </p:nvSpPr>
        <p:spPr>
          <a:xfrm>
            <a:off x="10048039" y="3348503"/>
            <a:ext cx="886649" cy="400110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Promo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CAB621-3AE6-A37C-456B-193C56F69F30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9708521" y="2776689"/>
            <a:ext cx="782843" cy="57181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7AD2E92-096B-3EAF-7D3F-B7A6127A7E63}"/>
              </a:ext>
            </a:extLst>
          </p:cNvPr>
          <p:cNvCxnSpPr>
            <a:cxnSpLocks/>
          </p:cNvCxnSpPr>
          <p:nvPr/>
        </p:nvCxnSpPr>
        <p:spPr>
          <a:xfrm flipH="1">
            <a:off x="9066442" y="2757252"/>
            <a:ext cx="644523" cy="58487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826D791-8CCD-F41E-C00B-795EFF48E90E}"/>
              </a:ext>
            </a:extLst>
          </p:cNvPr>
          <p:cNvSpPr/>
          <p:nvPr/>
        </p:nvSpPr>
        <p:spPr>
          <a:xfrm>
            <a:off x="8831500" y="3190982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A9BB62E-84B5-C5AA-B6C6-5F72EAB526BE}"/>
              </a:ext>
            </a:extLst>
          </p:cNvPr>
          <p:cNvCxnSpPr/>
          <p:nvPr/>
        </p:nvCxnSpPr>
        <p:spPr>
          <a:xfrm>
            <a:off x="10532462" y="3765544"/>
            <a:ext cx="782843" cy="57181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776055-87C1-5B32-F83A-8273EAC0F8EF}"/>
              </a:ext>
            </a:extLst>
          </p:cNvPr>
          <p:cNvCxnSpPr>
            <a:cxnSpLocks/>
          </p:cNvCxnSpPr>
          <p:nvPr/>
        </p:nvCxnSpPr>
        <p:spPr>
          <a:xfrm flipH="1">
            <a:off x="9877683" y="3758807"/>
            <a:ext cx="644523" cy="58487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C3CBB110-6931-9DF2-6A6B-B8B5283010F0}"/>
              </a:ext>
            </a:extLst>
          </p:cNvPr>
          <p:cNvSpPr/>
          <p:nvPr/>
        </p:nvSpPr>
        <p:spPr>
          <a:xfrm>
            <a:off x="9677628" y="4155043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1DCFE70-42A0-1EB7-AFB4-C34614E22748}"/>
              </a:ext>
            </a:extLst>
          </p:cNvPr>
          <p:cNvSpPr/>
          <p:nvPr/>
        </p:nvSpPr>
        <p:spPr>
          <a:xfrm>
            <a:off x="11064432" y="4141644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B621D-67A9-2B1F-11FF-0F4D4FBC45D5}"/>
              </a:ext>
            </a:extLst>
          </p:cNvPr>
          <p:cNvSpPr txBox="1"/>
          <p:nvPr/>
        </p:nvSpPr>
        <p:spPr>
          <a:xfrm>
            <a:off x="8428061" y="2757252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Weekday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C11F0D-511A-2D1C-CA46-B04565FFFA41}"/>
              </a:ext>
            </a:extLst>
          </p:cNvPr>
          <p:cNvSpPr txBox="1"/>
          <p:nvPr/>
        </p:nvSpPr>
        <p:spPr>
          <a:xfrm>
            <a:off x="10234153" y="2820884"/>
            <a:ext cx="967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Weekend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D636DF-BB9C-58F9-206B-9C2651B87813}"/>
              </a:ext>
            </a:extLst>
          </p:cNvPr>
          <p:cNvSpPr txBox="1"/>
          <p:nvPr/>
        </p:nvSpPr>
        <p:spPr>
          <a:xfrm>
            <a:off x="9290252" y="3810752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No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FC666E-CECA-7DF9-70F5-5C469081AD71}"/>
              </a:ext>
            </a:extLst>
          </p:cNvPr>
          <p:cNvSpPr txBox="1"/>
          <p:nvPr/>
        </p:nvSpPr>
        <p:spPr>
          <a:xfrm>
            <a:off x="10998661" y="3824017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Yes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35B641-7D2E-9E10-BEB5-487C25F483B0}"/>
              </a:ext>
            </a:extLst>
          </p:cNvPr>
          <p:cNvSpPr txBox="1"/>
          <p:nvPr/>
        </p:nvSpPr>
        <p:spPr>
          <a:xfrm>
            <a:off x="7667829" y="4069733"/>
            <a:ext cx="1923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demand prediction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C9AC7E-49F7-809D-9DEB-11AB8944C311}"/>
              </a:ext>
            </a:extLst>
          </p:cNvPr>
          <p:cNvSpPr txBox="1"/>
          <p:nvPr/>
        </p:nvSpPr>
        <p:spPr>
          <a:xfrm>
            <a:off x="8082839" y="5141118"/>
            <a:ext cx="36658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often used in ensemble methods</a:t>
            </a:r>
          </a:p>
          <a:p>
            <a:pPr marL="514350" lvl="1" indent="-171450">
              <a:buFont typeface="Arial" panose="020B0604020202020204" pitchFamily="34" charset="0"/>
              <a:buChar char="•"/>
            </a:pPr>
            <a:r>
              <a:rPr lang="en-GB" dirty="0"/>
              <a:t>bagging: random forests</a:t>
            </a:r>
          </a:p>
          <a:p>
            <a:pPr marL="514350" lvl="1" indent="-171450">
              <a:buFont typeface="Arial" panose="020B0604020202020204" pitchFamily="34" charset="0"/>
              <a:buChar char="•"/>
            </a:pPr>
            <a:r>
              <a:rPr lang="en-GB" dirty="0"/>
              <a:t>boosting: gradient boosting</a:t>
            </a:r>
          </a:p>
        </p:txBody>
      </p:sp>
      <p:pic>
        <p:nvPicPr>
          <p:cNvPr id="29" name="Picture 28" descr="Icon&#10;&#10;Description automatically generated">
            <a:extLst>
              <a:ext uri="{FF2B5EF4-FFF2-40B4-BE49-F238E27FC236}">
                <a16:creationId xmlns:a16="http://schemas.microsoft.com/office/drawing/2014/main" id="{9C0CC018-4E48-22B2-E64C-58078DA26A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298" y="4891753"/>
            <a:ext cx="3364315" cy="1324885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D6A0BAD5-75B6-D644-4FE8-1E86B84B9009}"/>
              </a:ext>
            </a:extLst>
          </p:cNvPr>
          <p:cNvSpPr txBox="1"/>
          <p:nvPr/>
        </p:nvSpPr>
        <p:spPr>
          <a:xfrm>
            <a:off x="4204424" y="2611259"/>
            <a:ext cx="32118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nearest-neighbor-style/local methods</a:t>
            </a:r>
          </a:p>
        </p:txBody>
      </p:sp>
    </p:spTree>
    <p:extLst>
      <p:ext uri="{BB962C8B-B14F-4D97-AF65-F5344CB8AC3E}">
        <p14:creationId xmlns:p14="http://schemas.microsoft.com/office/powerpoint/2010/main" val="526823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1001D-3CA9-6B3B-47C1-E02457E0B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en-DE" dirty="0"/>
              <a:t>-Nearest Neighbors</a:t>
            </a:r>
            <a:r>
              <a:rPr lang="de-DE" dirty="0"/>
              <a:t> (kNN)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Inhaltsplatzhalter 11">
                <a:extLst>
                  <a:ext uri="{FF2B5EF4-FFF2-40B4-BE49-F238E27FC236}">
                    <a16:creationId xmlns:a16="http://schemas.microsoft.com/office/drawing/2014/main" id="{39890740-5163-33FA-65B6-E6D2CBD101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297575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indent="-342900"/>
                <a:r>
                  <a:rPr lang="en-DE" dirty="0"/>
                  <a:t>local method, instance-based learning</a:t>
                </a:r>
              </a:p>
              <a:p>
                <a:pPr marL="342900" indent="-342900"/>
                <a:r>
                  <a:rPr lang="en-DE" dirty="0"/>
                  <a:t>non-parametric</a:t>
                </a:r>
              </a:p>
              <a:p>
                <a:pPr marL="342900" indent="-342900"/>
                <a:r>
                  <a:rPr lang="en-GB" dirty="0"/>
                  <a:t>d</a:t>
                </a:r>
                <a:r>
                  <a:rPr lang="en-DE" dirty="0"/>
                  <a:t>istance defined by metric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DE" dirty="0"/>
                  <a:t> (e.g., </a:t>
                </a:r>
                <a:r>
                  <a:rPr lang="en-DE"/>
                  <a:t>Euclidean)</a:t>
                </a:r>
                <a:endParaRPr lang="en-DE" dirty="0"/>
              </a:p>
            </p:txBody>
          </p:sp>
        </mc:Choice>
        <mc:Fallback xmlns="">
          <p:sp>
            <p:nvSpPr>
              <p:cNvPr id="12" name="Inhaltsplatzhalter 11">
                <a:extLst>
                  <a:ext uri="{FF2B5EF4-FFF2-40B4-BE49-F238E27FC236}">
                    <a16:creationId xmlns:a16="http://schemas.microsoft.com/office/drawing/2014/main" id="{39890740-5163-33FA-65B6-E6D2CBD101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297575"/>
              </a:xfrm>
              <a:blipFill>
                <a:blip r:embed="rId2"/>
                <a:stretch>
                  <a:fillRect l="-965" t="-11650" b="-485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23F438-3E9F-7B93-FC97-4849D1872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10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07276C-CF35-D92F-8AD6-15CA36507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262" y="3265043"/>
            <a:ext cx="2743200" cy="34564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B71E11-5E87-7351-9709-647F01123120}"/>
              </a:ext>
            </a:extLst>
          </p:cNvPr>
          <p:cNvSpPr txBox="1"/>
          <p:nvPr/>
        </p:nvSpPr>
        <p:spPr>
          <a:xfrm>
            <a:off x="5085923" y="5463798"/>
            <a:ext cx="4896277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low k: low bias but high variance</a:t>
            </a:r>
          </a:p>
          <a:p>
            <a:r>
              <a:rPr lang="en-GB" sz="2600" dirty="0"/>
              <a:t>high k: low variance but high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3E8D849-28A4-1FE7-0ACA-FBE8E879F2D9}"/>
                  </a:ext>
                </a:extLst>
              </p:cNvPr>
              <p:cNvSpPr txBox="1"/>
              <p:nvPr/>
            </p:nvSpPr>
            <p:spPr>
              <a:xfrm>
                <a:off x="5085923" y="3907244"/>
                <a:ext cx="2356874" cy="10894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3E8D849-28A4-1FE7-0ACA-FBE8E879F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923" y="3907244"/>
                <a:ext cx="2356874" cy="1089401"/>
              </a:xfrm>
              <a:prstGeom prst="rect">
                <a:avLst/>
              </a:prstGeom>
              <a:blipFill>
                <a:blip r:embed="rId4"/>
                <a:stretch>
                  <a:fillRect t="-93103" r="-8021" b="-14597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23BED15-CB22-F5F2-421F-2B8E16E03A10}"/>
                  </a:ext>
                </a:extLst>
              </p:cNvPr>
              <p:cNvSpPr txBox="1"/>
              <p:nvPr/>
            </p:nvSpPr>
            <p:spPr>
              <a:xfrm>
                <a:off x="7495557" y="4038176"/>
                <a:ext cx="32974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200" dirty="0"/>
                  <a:t>w</a:t>
                </a:r>
                <a:r>
                  <a:rPr lang="en-DE" sz="2200" dirty="0"/>
                  <a:t>ith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DE" sz="2200" dirty="0"/>
                  <a:t> running over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200" dirty="0"/>
                  <a:t>nearest neighbors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DE" sz="2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23BED15-CB22-F5F2-421F-2B8E16E03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557" y="4038176"/>
                <a:ext cx="3297483" cy="769441"/>
              </a:xfrm>
              <a:prstGeom prst="rect">
                <a:avLst/>
              </a:prstGeom>
              <a:blipFill>
                <a:blip r:embed="rId5"/>
                <a:stretch>
                  <a:fillRect l="-2299" t="-4839" b="-145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12">
            <a:extLst>
              <a:ext uri="{FF2B5EF4-FFF2-40B4-BE49-F238E27FC236}">
                <a16:creationId xmlns:a16="http://schemas.microsoft.com/office/drawing/2014/main" id="{B9014DB4-2077-5ACB-AF8D-59CC3237C8CE}"/>
              </a:ext>
            </a:extLst>
          </p:cNvPr>
          <p:cNvSpPr/>
          <p:nvPr/>
        </p:nvSpPr>
        <p:spPr>
          <a:xfrm>
            <a:off x="5139228" y="3940913"/>
            <a:ext cx="5653812" cy="108940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2D728-D8B2-B661-6601-96307E0AD75D}"/>
              </a:ext>
            </a:extLst>
          </p:cNvPr>
          <p:cNvSpPr txBox="1"/>
          <p:nvPr/>
        </p:nvSpPr>
        <p:spPr>
          <a:xfrm>
            <a:off x="5139228" y="3374910"/>
            <a:ext cx="153471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r</a:t>
            </a:r>
            <a:r>
              <a:rPr lang="en-DE" sz="2200" dirty="0"/>
              <a:t>egression:</a:t>
            </a:r>
          </a:p>
        </p:txBody>
      </p:sp>
    </p:spTree>
    <p:extLst>
      <p:ext uri="{BB962C8B-B14F-4D97-AF65-F5344CB8AC3E}">
        <p14:creationId xmlns:p14="http://schemas.microsoft.com/office/powerpoint/2010/main" val="2361111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id of numbers and equal to the number&#10;&#10;AI-generated content may be incorrect.">
            <a:extLst>
              <a:ext uri="{FF2B5EF4-FFF2-40B4-BE49-F238E27FC236}">
                <a16:creationId xmlns:a16="http://schemas.microsoft.com/office/drawing/2014/main" id="{FBBA1BD9-B2F2-6741-3D5F-2C7D83B49F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04" y="3438666"/>
            <a:ext cx="11209991" cy="32997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03BBD8-8765-F982-4F56-8FAC481D0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kNN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3E205D-9D96-1A11-C2CD-A634E9B5CE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choose an image distance, e.g., L1 distance: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3E205D-9D96-1A11-C2CD-A634E9B5CE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24CFF2-D089-C4C1-E1FB-1B7824AFB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831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B38D2-D541-5B9E-6D51-D8F5B747B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52F6A-082D-F062-6A7E-186021B6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kNN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BD973A-B76F-568A-A2E3-4717A9B60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12</a:t>
            </a:fld>
            <a:endParaRPr lang="en-GB"/>
          </a:p>
        </p:txBody>
      </p:sp>
      <p:pic>
        <p:nvPicPr>
          <p:cNvPr id="6" name="Picture 5" descr="A collage of different images&#10;&#10;AI-generated content may be incorrect.">
            <a:extLst>
              <a:ext uri="{FF2B5EF4-FFF2-40B4-BE49-F238E27FC236}">
                <a16:creationId xmlns:a16="http://schemas.microsoft.com/office/drawing/2014/main" id="{967E1670-181A-2B55-75DB-A2C2B516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707" y="2280319"/>
            <a:ext cx="8928586" cy="348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34405BB-4AE6-3DE0-4435-2BA14D5E5E77}"/>
              </a:ext>
            </a:extLst>
          </p:cNvPr>
          <p:cNvSpPr txBox="1"/>
          <p:nvPr/>
        </p:nvSpPr>
        <p:spPr>
          <a:xfrm>
            <a:off x="6343465" y="1910987"/>
            <a:ext cx="4309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 nearest </a:t>
            </a:r>
            <a:r>
              <a:rPr lang="en-GB" dirty="0" err="1"/>
              <a:t>neighbors</a:t>
            </a:r>
            <a:r>
              <a:rPr lang="en-GB" dirty="0"/>
              <a:t> to some test images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FD6788-AB58-0F4E-35CD-B90D5B84217D}"/>
              </a:ext>
            </a:extLst>
          </p:cNvPr>
          <p:cNvSpPr txBox="1"/>
          <p:nvPr/>
        </p:nvSpPr>
        <p:spPr>
          <a:xfrm>
            <a:off x="1972733" y="1910987"/>
            <a:ext cx="3778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training examples CIFAR-10 data 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652AAD-4C2D-6DDD-623F-1D148E35CDFB}"/>
              </a:ext>
            </a:extLst>
          </p:cNvPr>
          <p:cNvSpPr txBox="1"/>
          <p:nvPr/>
        </p:nvSpPr>
        <p:spPr>
          <a:xfrm>
            <a:off x="139022" y="3838853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 classes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4ED28BA-EA2E-6F0F-A0FC-98B49E1CB8F2}"/>
              </a:ext>
            </a:extLst>
          </p:cNvPr>
          <p:cNvSpPr/>
          <p:nvPr/>
        </p:nvSpPr>
        <p:spPr>
          <a:xfrm>
            <a:off x="1380067" y="2438400"/>
            <a:ext cx="338666" cy="321733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B342E7-CBD6-EC0F-8583-E99C7A785980}"/>
              </a:ext>
            </a:extLst>
          </p:cNvPr>
          <p:cNvSpPr txBox="1"/>
          <p:nvPr/>
        </p:nvSpPr>
        <p:spPr>
          <a:xfrm>
            <a:off x="6265333" y="5876868"/>
            <a:ext cx="5856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better than random guessing, but also not very impressive</a:t>
            </a:r>
          </a:p>
        </p:txBody>
      </p:sp>
    </p:spTree>
    <p:extLst>
      <p:ext uri="{BB962C8B-B14F-4D97-AF65-F5344CB8AC3E}">
        <p14:creationId xmlns:p14="http://schemas.microsoft.com/office/powerpoint/2010/main" val="3959565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DABEF-B812-C664-447A-B3DA59B38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</a:t>
            </a:r>
            <a:endParaRPr lang="en-DE" dirty="0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BCB602CC-265E-1940-BCB3-8C532B94B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5999" cy="245178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064B7-EEBF-AE1A-4F6D-331E07A30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13</a:t>
            </a:fld>
            <a:endParaRPr lang="en-DE"/>
          </a:p>
        </p:txBody>
      </p:sp>
      <p:pic>
        <p:nvPicPr>
          <p:cNvPr id="13" name="Picture 12" descr="Chart&#10;&#10;Description automatically generated">
            <a:extLst>
              <a:ext uri="{FF2B5EF4-FFF2-40B4-BE49-F238E27FC236}">
                <a16:creationId xmlns:a16="http://schemas.microsoft.com/office/drawing/2014/main" id="{AA8E8A1B-B8ED-50A4-D2CB-E5339C70B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188" y="2708225"/>
            <a:ext cx="4769625" cy="357721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A54C233-9F06-39AB-63B9-4A54CE4A1A72}"/>
              </a:ext>
            </a:extLst>
          </p:cNvPr>
          <p:cNvSpPr txBox="1"/>
          <p:nvPr/>
        </p:nvSpPr>
        <p:spPr>
          <a:xfrm>
            <a:off x="10237077" y="2548713"/>
            <a:ext cx="1770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E32039-99A9-ECDD-3D82-1D32F38B24BF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1122573" y="2918045"/>
            <a:ext cx="138551" cy="419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211FFDD-CE16-9704-0AED-CE0DFEC030E3}"/>
              </a:ext>
            </a:extLst>
          </p:cNvPr>
          <p:cNvSpPr txBox="1"/>
          <p:nvPr/>
        </p:nvSpPr>
        <p:spPr>
          <a:xfrm>
            <a:off x="10736793" y="6158384"/>
            <a:ext cx="80663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scikit-learn</a:t>
            </a:r>
            <a:endParaRPr lang="de-DE" sz="1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41C07-F7D0-E747-D10E-FE095CA96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950" y="2294623"/>
            <a:ext cx="6967238" cy="3882339"/>
          </a:xfrm>
        </p:spPr>
        <p:txBody>
          <a:bodyPr>
            <a:normAutofit/>
          </a:bodyPr>
          <a:lstStyle/>
          <a:p>
            <a:r>
              <a:rPr lang="en-GB" sz="2600" dirty="0">
                <a:sym typeface="Wingdings" pitchFamily="2" charset="2"/>
              </a:rPr>
              <a:t>non-parametric learning of simple decision rules</a:t>
            </a:r>
          </a:p>
          <a:p>
            <a:r>
              <a:rPr lang="en-GB" sz="2600" dirty="0">
                <a:sym typeface="Wingdings" pitchFamily="2" charset="2"/>
              </a:rPr>
              <a:t>u</a:t>
            </a:r>
            <a:r>
              <a:rPr lang="en-DE" sz="2600" dirty="0">
                <a:sym typeface="Wingdings" pitchFamily="2" charset="2"/>
              </a:rPr>
              <a:t>sually, binary trees</a:t>
            </a:r>
            <a:endParaRPr lang="en-DE" sz="2600" dirty="0"/>
          </a:p>
          <a:p>
            <a:r>
              <a:rPr lang="en-GB" sz="2600" dirty="0"/>
              <a:t>a</a:t>
            </a:r>
            <a:r>
              <a:rPr lang="en-DE" sz="2600" dirty="0"/>
              <a:t>xis-parallel decision boundaries (box-shaped regions in feature space)</a:t>
            </a:r>
          </a:p>
          <a:p>
            <a:r>
              <a:rPr lang="en-GB" sz="2600" dirty="0"/>
              <a:t>fit constant </a:t>
            </a:r>
            <a:r>
              <a:rPr lang="en-DE"/>
              <a:t>in </a:t>
            </a:r>
            <a:r>
              <a:rPr lang="en-DE" dirty="0"/>
              <a:t>each box</a:t>
            </a:r>
            <a:endParaRPr lang="en-GB" sz="2600" dirty="0"/>
          </a:p>
          <a:p>
            <a:pPr lvl="1"/>
            <a:r>
              <a:rPr lang="en-GB" sz="2200" dirty="0"/>
              <a:t>c</a:t>
            </a:r>
            <a:r>
              <a:rPr lang="en-DE" sz="2200" dirty="0"/>
              <a:t>lassification: majority class of target</a:t>
            </a:r>
          </a:p>
          <a:p>
            <a:pPr lvl="1"/>
            <a:r>
              <a:rPr lang="en-GB" sz="2200" dirty="0"/>
              <a:t>r</a:t>
            </a:r>
            <a:r>
              <a:rPr lang="en-DE" sz="2200" dirty="0"/>
              <a:t>egression: average of target</a:t>
            </a:r>
            <a:endParaRPr lang="en-GB" sz="2600" dirty="0"/>
          </a:p>
          <a:p>
            <a:r>
              <a:rPr lang="en-GB" sz="2600" dirty="0"/>
              <a:t>fully explainable models</a:t>
            </a:r>
          </a:p>
        </p:txBody>
      </p:sp>
    </p:spTree>
    <p:extLst>
      <p:ext uri="{BB962C8B-B14F-4D97-AF65-F5344CB8AC3E}">
        <p14:creationId xmlns:p14="http://schemas.microsoft.com/office/powerpoint/2010/main" val="131745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B6E30-0BE3-BCB8-4BEF-62A5C8B21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Decision Tree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8FF15-BA84-C03E-85E1-68C16FEBE3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Autofit/>
              </a:bodyPr>
              <a:lstStyle/>
              <a:p>
                <a:r>
                  <a:rPr lang="en-GB" sz="2400" dirty="0">
                    <a:sym typeface="Wingdings" pitchFamily="2" charset="2"/>
                  </a:rPr>
                  <a:t>finding optimal partitions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𝑅</m:t>
                    </m:r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by overall loss minimization computationally infeasible  </a:t>
                </a:r>
                <a:r>
                  <a:rPr lang="en-GB" sz="2400" dirty="0"/>
                  <a:t>r</a:t>
                </a:r>
                <a:r>
                  <a:rPr lang="en-DE" sz="2400" dirty="0"/>
                  <a:t>ecursive partitioning of data </a:t>
                </a:r>
                <a:r>
                  <a:rPr lang="en-DE" sz="2400" dirty="0">
                    <a:sym typeface="Wingdings" pitchFamily="2" charset="2"/>
                  </a:rPr>
                  <a:t>(greedy </a:t>
                </a:r>
                <a:r>
                  <a:rPr lang="en-DE" sz="2400">
                    <a:sym typeface="Wingdings" pitchFamily="2" charset="2"/>
                  </a:rPr>
                  <a:t>algorithm)</a:t>
                </a:r>
                <a:endParaRPr lang="en-GB" sz="2400" dirty="0">
                  <a:sym typeface="Wingdings" pitchFamily="2" charset="2"/>
                </a:endParaRPr>
              </a:p>
              <a:p>
                <a:r>
                  <a:rPr lang="en-GB" sz="2400" dirty="0">
                    <a:sym typeface="Wingdings" pitchFamily="2" charset="2"/>
                  </a:rPr>
                  <a:t>for each binary partition into regions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400" dirty="0">
                    <a:sym typeface="Wingdings" pitchFamily="2" charset="2"/>
                  </a:rPr>
                  <a:t>, decisions on splitting variable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𝑗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and split point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𝑠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by minimizing </a:t>
                </a:r>
                <a:r>
                  <a:rPr lang="en-GB" sz="2400" dirty="0" err="1">
                    <a:sym typeface="Wingdings" pitchFamily="2" charset="2"/>
                  </a:rPr>
                  <a:t>i</a:t>
                </a:r>
                <a:r>
                  <a:rPr lang="en-DE" sz="2400" dirty="0">
                    <a:sym typeface="Wingdings" pitchFamily="2" charset="2"/>
                  </a:rPr>
                  <a:t>mpurity functions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𝐼</m:t>
                    </m:r>
                  </m:oMath>
                </a14:m>
                <a:r>
                  <a:rPr lang="en-DE" sz="2400" dirty="0">
                    <a:sym typeface="Wingdings" pitchFamily="2" charset="2"/>
                  </a:rPr>
                  <a:t> (</a:t>
                </a:r>
                <a:r>
                  <a:rPr lang="en-GB" sz="2400" dirty="0"/>
                  <a:t>w</a:t>
                </a:r>
                <a:r>
                  <a:rPr lang="en-DE" sz="2400" dirty="0"/>
                  <a:t>eighted by number of observations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𝑁</m:t>
                    </m:r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en-DE" sz="2400" dirty="0"/>
                  <a:t>in child nodes):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DE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𝑗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𝒙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  <m: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,    </m:t>
                    </m:r>
                    <m:sSub>
                      <m:sSubPr>
                        <m:ctrlPr>
                          <a:rPr lang="en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𝒙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𝑗</m:t>
                            </m:r>
                          </m:sub>
                        </m:sSub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&gt;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</m:oMath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argmin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𝑗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,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𝑠</m:t>
                            </m:r>
                          </m:sub>
                        </m:sSub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𝑁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</m:sSub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𝑁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𝐼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1</m:t>
                                    </m:r>
                                  </m:sub>
                                </m:sSub>
                              </m:sub>
                            </m:sSub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𝑁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sub>
                                </m:sSub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𝑁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𝐼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en-GB" sz="2400" dirty="0">
                  <a:sym typeface="Wingdings" pitchFamily="2" charset="2"/>
                </a:endParaRPr>
              </a:p>
              <a:p>
                <a:r>
                  <a:rPr lang="en-GB" sz="2400" dirty="0">
                    <a:sym typeface="Wingdings" pitchFamily="2" charset="2"/>
                  </a:rPr>
                  <a:t>typical strategy: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GB" sz="2000" dirty="0">
                    <a:sym typeface="Wingdings" pitchFamily="2" charset="2"/>
                  </a:rPr>
                  <a:t>g</a:t>
                </a:r>
                <a:r>
                  <a:rPr lang="en-DE" sz="2000">
                    <a:sym typeface="Wingdings" pitchFamily="2" charset="2"/>
                  </a:rPr>
                  <a:t>row </a:t>
                </a:r>
                <a:r>
                  <a:rPr lang="en-DE" sz="2000" dirty="0">
                    <a:sym typeface="Wingdings" pitchFamily="2" charset="2"/>
                  </a:rPr>
                  <a:t>large tree down to minimum node size (hyperparameter)  </a:t>
                </a:r>
                <a:r>
                  <a:rPr lang="en-DE" sz="2000">
                    <a:sym typeface="Wingdings" pitchFamily="2" charset="2"/>
                  </a:rPr>
                  <a:t>low bias</a:t>
                </a:r>
                <a:endParaRPr lang="de-DE" sz="2000" dirty="0">
                  <a:sym typeface="Wingdings" pitchFamily="2" charset="2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DE" sz="2000">
                    <a:sym typeface="Wingdings" pitchFamily="2" charset="2"/>
                  </a:rPr>
                  <a:t>subsequent </a:t>
                </a:r>
                <a:r>
                  <a:rPr lang="en-DE" sz="2000" dirty="0">
                    <a:sym typeface="Wingdings" pitchFamily="2" charset="2"/>
                  </a:rPr>
                  <a:t>pruning by controlling the number of </a:t>
                </a:r>
                <a:r>
                  <a:rPr lang="en-DE" sz="2000">
                    <a:sym typeface="Wingdings" pitchFamily="2" charset="2"/>
                  </a:rPr>
                  <a:t>terminal nodes</a:t>
                </a:r>
                <a:r>
                  <a:rPr lang="de-DE" sz="2000" dirty="0">
                    <a:sym typeface="Wingdings" pitchFamily="2" charset="2"/>
                  </a:rPr>
                  <a:t>  </a:t>
                </a:r>
                <a:r>
                  <a:rPr lang="en-GB" sz="2000" dirty="0">
                    <a:sym typeface="Wingdings" pitchFamily="2" charset="2"/>
                  </a:rPr>
                  <a:t>a</a:t>
                </a:r>
                <a:r>
                  <a:rPr lang="en-DE" sz="2000">
                    <a:sym typeface="Wingdings" pitchFamily="2" charset="2"/>
                  </a:rPr>
                  <a:t>void overfitting</a:t>
                </a:r>
                <a:endParaRPr lang="en-DE" sz="2000" dirty="0">
                  <a:sym typeface="Wingdings" pitchFamily="2" charset="2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8FF15-BA84-C03E-85E1-68C16FEBE3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844" t="-19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CED70-D1A6-24A3-6F3D-E3B9D69BA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14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9658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43EE9-1AAC-0E36-955B-EB74B2493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Impurity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en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2C5C7-D72E-E136-79AB-ABAE4EBCB9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goal: </a:t>
                </a:r>
                <a:r>
                  <a:rPr lang="de-DE" sz="2600" dirty="0" err="1"/>
                  <a:t>maximize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homogeneity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subsets</a:t>
                </a:r>
                <a:r>
                  <a:rPr lang="de-DE" sz="2600" dirty="0"/>
                  <a:t> (i.e., </a:t>
                </a:r>
                <a:r>
                  <a:rPr lang="de-DE" sz="2600" dirty="0" err="1"/>
                  <a:t>making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subsets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data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points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same </a:t>
                </a:r>
                <a:r>
                  <a:rPr lang="de-DE" sz="2600" dirty="0" err="1"/>
                  <a:t>class</a:t>
                </a:r>
                <a:r>
                  <a:rPr lang="de-DE" sz="2600" dirty="0"/>
                  <a:t>)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minimize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impurity</a:t>
                </a:r>
                <a:endParaRPr lang="de-DE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mean squared error for regression trees :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GB" sz="2600" dirty="0"/>
              </a:p>
              <a:p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different </a:t>
                </a:r>
                <a:r>
                  <a:rPr lang="en-DE" sz="2600"/>
                  <a:t>possibilities for </a:t>
                </a:r>
                <a:r>
                  <a:rPr lang="en-GB" sz="2600" dirty="0"/>
                  <a:t>classification trees</a:t>
                </a:r>
                <a:r>
                  <a:rPr lang="de-DE" sz="2600" dirty="0"/>
                  <a:t>:</a:t>
                </a:r>
                <a:endParaRPr lang="en-DE" sz="2600" dirty="0"/>
              </a:p>
              <a:p>
                <a:pPr lvl="1"/>
                <a:r>
                  <a:rPr lang="en-DE" sz="2600"/>
                  <a:t>Gini </a:t>
                </a:r>
                <a:r>
                  <a:rPr lang="de-DE" sz="2600" dirty="0" err="1"/>
                  <a:t>impurity</a:t>
                </a:r>
                <a:r>
                  <a:rPr lang="en-DE" sz="2600"/>
                  <a:t> </a:t>
                </a:r>
                <a:r>
                  <a:rPr lang="en-DE" sz="2600" dirty="0"/>
                  <a:t>(used </a:t>
                </a:r>
                <a:r>
                  <a:rPr lang="en-DE" sz="2600"/>
                  <a:t>in CART):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de-DE" sz="2600" dirty="0"/>
              </a:p>
              <a:p>
                <a:pPr lvl="1"/>
                <a:r>
                  <a:rPr lang="en-GB" sz="2600" dirty="0"/>
                  <a:t>maximizing </a:t>
                </a:r>
                <a:r>
                  <a:rPr lang="en-GB" sz="2600" dirty="0" err="1"/>
                  <a:t>i</a:t>
                </a:r>
                <a:r>
                  <a:rPr lang="en-DE" sz="2600"/>
                  <a:t>nformation gain (used in C4.5)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entropy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parent</a:t>
                </a:r>
                <a:r>
                  <a:rPr lang="de-DE" sz="2600" dirty="0"/>
                  <a:t> minus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entropies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child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nodes</a:t>
                </a:r>
                <a:endParaRPr lang="de-DE" sz="26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2C5C7-D72E-E136-79AB-ABAE4EBCB9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1086" t="-1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A928C-7CCC-5BE6-4270-0A981E69F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041715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44285-326E-05EB-679D-92CBB7B53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Under- and Over-Fitting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B33F1-438B-FFF0-237F-0FEAD6955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6CDC9D-CDDF-09FA-247E-8BE3B9BED5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32" y="3113805"/>
            <a:ext cx="9489135" cy="36902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107935-CF21-1409-450A-CD09FBE7C001}"/>
              </a:ext>
            </a:extLst>
          </p:cNvPr>
          <p:cNvSpPr txBox="1"/>
          <p:nvPr/>
        </p:nvSpPr>
        <p:spPr>
          <a:xfrm>
            <a:off x="838200" y="2501214"/>
            <a:ext cx="30249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d</a:t>
            </a:r>
            <a:r>
              <a:rPr lang="en-DE" sz="2000" dirty="0"/>
              <a:t>egree of fitted polynomial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639664-56BD-AC8F-58F0-9F9C5ED3D66F}"/>
              </a:ext>
            </a:extLst>
          </p:cNvPr>
          <p:cNvCxnSpPr>
            <a:stCxn id="5" idx="2"/>
          </p:cNvCxnSpPr>
          <p:nvPr/>
        </p:nvCxnSpPr>
        <p:spPr>
          <a:xfrm flipH="1">
            <a:off x="2079057" y="2901324"/>
            <a:ext cx="271641" cy="46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198EF64-E297-D175-91B9-1946B3E43248}"/>
              </a:ext>
            </a:extLst>
          </p:cNvPr>
          <p:cNvSpPr txBox="1"/>
          <p:nvPr/>
        </p:nvSpPr>
        <p:spPr>
          <a:xfrm>
            <a:off x="838200" y="1690688"/>
            <a:ext cx="3790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e</a:t>
            </a:r>
            <a:r>
              <a:rPr lang="en-DE" sz="2800" dirty="0"/>
              <a:t>xample: </a:t>
            </a:r>
            <a:r>
              <a:rPr lang="en-GB" sz="2800" dirty="0"/>
              <a:t>polynomial fit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52B056-E419-3CD7-5411-E5693AE46182}"/>
              </a:ext>
            </a:extLst>
          </p:cNvPr>
          <p:cNvSpPr txBox="1"/>
          <p:nvPr/>
        </p:nvSpPr>
        <p:spPr>
          <a:xfrm>
            <a:off x="7137401" y="1757862"/>
            <a:ext cx="458433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need to predict new samples (not in training data set): interpolation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D5C54F-F3C1-8BA4-E120-D3295F4C1AE4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6723017" y="2588859"/>
            <a:ext cx="2706552" cy="3629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4E0062-1914-3C2E-9793-3186C4CCB974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9429569" y="2588859"/>
            <a:ext cx="228237" cy="3629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4248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9F5-EE18-E148-A680-E3CCB7C2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Bias, Variance, Irreducible Error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4D080-C343-7746-B3C2-41F8EBCD3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think of fitting ML algorithms as repeatable processes with different data sets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irreducible error (aka Bayes error):</a:t>
            </a:r>
          </a:p>
          <a:p>
            <a:pPr marL="0" indent="0">
              <a:buNone/>
            </a:pPr>
            <a:r>
              <a:rPr lang="en-GB" sz="2400" dirty="0"/>
              <a:t>inherent randomness (target generated from random variable)</a:t>
            </a:r>
          </a:p>
          <a:p>
            <a:pPr>
              <a:buFont typeface="Wingdings" pitchFamily="2" charset="2"/>
              <a:buChar char="à"/>
            </a:pPr>
            <a:r>
              <a:rPr lang="en-GB" sz="2400" dirty="0">
                <a:sym typeface="Wingdings" pitchFamily="2" charset="2"/>
              </a:rPr>
              <a:t>limiting accuracy of ideal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090458-5222-1941-8793-A34C83CF5076}"/>
              </a:ext>
            </a:extLst>
          </p:cNvPr>
          <p:cNvSpPr txBox="1"/>
          <p:nvPr/>
        </p:nvSpPr>
        <p:spPr>
          <a:xfrm>
            <a:off x="2394506" y="2727011"/>
            <a:ext cx="34201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bias</a:t>
            </a:r>
            <a:endParaRPr lang="en-GB" dirty="0"/>
          </a:p>
          <a:p>
            <a:r>
              <a:rPr lang="en-GB" dirty="0"/>
              <a:t>due to too simplistic model (same for all training data sets)</a:t>
            </a:r>
          </a:p>
          <a:p>
            <a:r>
              <a:rPr lang="en-GB" sz="2400" dirty="0"/>
              <a:t>“underfitting”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FBD89-D45A-1445-B0D0-F64BB370BF93}"/>
              </a:ext>
            </a:extLst>
          </p:cNvPr>
          <p:cNvSpPr txBox="1"/>
          <p:nvPr/>
        </p:nvSpPr>
        <p:spPr>
          <a:xfrm>
            <a:off x="7603975" y="2727011"/>
            <a:ext cx="379771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variance</a:t>
            </a:r>
            <a:endParaRPr lang="en-GB" dirty="0"/>
          </a:p>
          <a:p>
            <a:r>
              <a:rPr lang="en-GB" dirty="0"/>
              <a:t>due to sensitivity to specifics (noise) of different training data sets</a:t>
            </a:r>
          </a:p>
          <a:p>
            <a:r>
              <a:rPr lang="en-GB" sz="2400" dirty="0"/>
              <a:t>“overfitting”</a:t>
            </a:r>
          </a:p>
        </p:txBody>
      </p:sp>
      <p:pic>
        <p:nvPicPr>
          <p:cNvPr id="13" name="Picture 12" descr="Shape, circle&#10;&#10;Description automatically generated">
            <a:extLst>
              <a:ext uri="{FF2B5EF4-FFF2-40B4-BE49-F238E27FC236}">
                <a16:creationId xmlns:a16="http://schemas.microsoft.com/office/drawing/2014/main" id="{41ECBFB3-644D-CF4A-A080-0D01BE318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14" y="2386580"/>
            <a:ext cx="1604191" cy="1604191"/>
          </a:xfrm>
          <a:prstGeom prst="rect">
            <a:avLst/>
          </a:prstGeom>
        </p:spPr>
      </p:pic>
      <p:pic>
        <p:nvPicPr>
          <p:cNvPr id="15" name="Picture 14" descr="Engineering drawing&#10;&#10;Description automatically generated">
            <a:extLst>
              <a:ext uri="{FF2B5EF4-FFF2-40B4-BE49-F238E27FC236}">
                <a16:creationId xmlns:a16="http://schemas.microsoft.com/office/drawing/2014/main" id="{ED23A19D-EE63-8B42-83DD-3674895DE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478" y="2386579"/>
            <a:ext cx="1624497" cy="16041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90475-00CC-EF48-96AB-C7031A336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78886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B5971-ED29-8C4C-BE8A-7EED9D3B4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Bias-Variance </a:t>
            </a:r>
            <a:r>
              <a:rPr lang="en-GB" dirty="0" err="1"/>
              <a:t>Tradeoff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7E309-547C-0348-8F2F-1DE00DC02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133" y="3201001"/>
            <a:ext cx="7102325" cy="32918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generalization error follows U-shaped curve: overfitting once model complexity (number of parameters) passes certain threshold</a:t>
            </a:r>
          </a:p>
          <a:p>
            <a:pPr marL="0" indent="0">
              <a:buNone/>
            </a:pPr>
            <a:r>
              <a:rPr lang="en-GB" sz="2400" dirty="0"/>
              <a:t>overfitting: variance term dominating test error</a:t>
            </a:r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 </a:t>
            </a:r>
            <a:r>
              <a:rPr lang="en-GB" sz="2400" dirty="0"/>
              <a:t>increasing model complexity increases test error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but beware: training error keeps decreasing with more complex model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FFF4B6-67D9-E940-A6CB-70C55533E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18</a:t>
            </a:fld>
            <a:endParaRPr lang="en-DE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2A66421-89E3-75A9-4DCF-F02108DB866A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37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models of higher complexity have lower bias but higher variance</a:t>
            </a:r>
          </a:p>
          <a:p>
            <a:pPr marL="0" indent="0">
              <a:buNone/>
            </a:pPr>
            <a:r>
              <a:rPr lang="en-GB" sz="2400" dirty="0"/>
              <a:t>(given the same number of training examples)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03ED01CC-EC7A-D792-11FD-E6168F661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702" y="3201001"/>
            <a:ext cx="4697346" cy="3030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156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E8BD-0CB0-BFBA-3A0A-3351335C5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486BA-860D-4969-12D7-9F5E6F0B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Hyperparameters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20BA8-F0C4-B96F-1EFA-041961F6E2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5" y="1834092"/>
                <a:ext cx="4715933" cy="452225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model complexity often controlled via hyperparameters (parameters not fitted but set in advance)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examples:</a:t>
                </a:r>
              </a:p>
              <a:p>
                <a:r>
                  <a:rPr lang="en-GB" sz="2400" dirty="0"/>
                  <a:t>d</a:t>
                </a:r>
                <a:r>
                  <a:rPr lang="en-DE" sz="2400" dirty="0"/>
                  <a:t>egree of fitted polynomial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DE" sz="2400" dirty="0"/>
              </a:p>
              <a:p>
                <a:r>
                  <a:rPr lang="en-DE" sz="2400" dirty="0"/>
                  <a:t>number of considered nearest neighbors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DE" sz="2400" dirty="0"/>
              </a:p>
              <a:p>
                <a:r>
                  <a:rPr lang="en-GB" sz="2400" dirty="0"/>
                  <a:t>maximum d</a:t>
                </a:r>
                <a:r>
                  <a:rPr lang="en-DE" sz="2400" dirty="0"/>
                  <a:t>epth of decision tree</a:t>
                </a:r>
              </a:p>
              <a:p>
                <a:r>
                  <a:rPr lang="en-GB" sz="2400" dirty="0"/>
                  <a:t>number of hidden nodes in neural network layer</a:t>
                </a:r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20BA8-F0C4-B96F-1EFA-041961F6E2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5" y="1834092"/>
                <a:ext cx="4715933" cy="4522258"/>
              </a:xfrm>
              <a:blipFill>
                <a:blip r:embed="rId2"/>
                <a:stretch>
                  <a:fillRect l="-2151" t="-1961" r="-2688" b="-22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CC188-1AA1-0961-6B5F-C9EC027B8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19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AF8CD4-C41A-5A7D-D065-616D97A60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0856" y="2685518"/>
            <a:ext cx="6822478" cy="32945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5580BB-C3A0-C0B5-D564-55C0814F3606}"/>
              </a:ext>
            </a:extLst>
          </p:cNvPr>
          <p:cNvSpPr txBox="1"/>
          <p:nvPr/>
        </p:nvSpPr>
        <p:spPr>
          <a:xfrm>
            <a:off x="9120099" y="1738366"/>
            <a:ext cx="2368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</a:t>
            </a:r>
            <a:r>
              <a:rPr lang="en-DE" dirty="0"/>
              <a:t>yperparameter tuning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7A200EC-646D-644A-0B69-B592AECFAE63}"/>
              </a:ext>
            </a:extLst>
          </p:cNvPr>
          <p:cNvCxnSpPr>
            <a:stCxn id="6" idx="2"/>
          </p:cNvCxnSpPr>
          <p:nvPr/>
        </p:nvCxnSpPr>
        <p:spPr>
          <a:xfrm flipH="1">
            <a:off x="9837018" y="2107698"/>
            <a:ext cx="467092" cy="5778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274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9F5-EE18-E148-A680-E3CCB7C2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Generalization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4D080-C343-7746-B3C2-41F8EBCD3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3429000"/>
            <a:ext cx="10715368" cy="29887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600" dirty="0"/>
              <a:t>generalization gap: difference between test and training error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curse of dimensionality: typically, many features (dimensions)</a:t>
            </a:r>
          </a:p>
          <a:p>
            <a:pPr marL="0" indent="0">
              <a:buNone/>
            </a:pPr>
            <a:r>
              <a:rPr lang="en-GB" sz="2600" dirty="0">
                <a:sym typeface="Wingdings" panose="05000000000000000000" pitchFamily="2" charset="2"/>
              </a:rPr>
              <a:t> </a:t>
            </a:r>
            <a:r>
              <a:rPr lang="en-GB" sz="2600" dirty="0"/>
              <a:t>lots of data needed to densely sample volume</a:t>
            </a:r>
            <a:endParaRPr lang="en-GB" sz="2600" dirty="0">
              <a:sym typeface="Wingdings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44CF9A-8599-874C-B8DB-72A32F5EF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20</a:t>
            </a:fld>
            <a:endParaRPr lang="en-DE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2AA4B8D-555A-2D6B-FD2B-CC021E6DA531}"/>
              </a:ext>
            </a:extLst>
          </p:cNvPr>
          <p:cNvSpPr txBox="1">
            <a:spLocks/>
          </p:cNvSpPr>
          <p:nvPr/>
        </p:nvSpPr>
        <p:spPr>
          <a:xfrm>
            <a:off x="990600" y="2060940"/>
            <a:ext cx="10515600" cy="8150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core of ML: </a:t>
            </a:r>
            <a:r>
              <a:rPr lang="en-GB" b="1" dirty="0"/>
              <a:t>empirical risk minimization</a:t>
            </a:r>
            <a:r>
              <a:rPr lang="en-GB" dirty="0"/>
              <a:t> (training error) as proxy for minimizing unknown population risk (test error)</a:t>
            </a:r>
          </a:p>
        </p:txBody>
      </p:sp>
    </p:spTree>
    <p:extLst>
      <p:ext uri="{BB962C8B-B14F-4D97-AF65-F5344CB8AC3E}">
        <p14:creationId xmlns:p14="http://schemas.microsoft.com/office/powerpoint/2010/main" val="11490370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E483303-F387-3100-2E13-C3E6B6F31C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9525" y="4088766"/>
            <a:ext cx="6452475" cy="2267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F58D71E-684F-2EF4-8393-2ACD20762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Dimensionality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0C1A1C-254C-68CB-4065-ACE902F6D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52475" cy="4351338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data</a:t>
            </a:r>
            <a:r>
              <a:rPr lang="de-DE" b="1" dirty="0"/>
              <a:t> </a:t>
            </a:r>
            <a:r>
              <a:rPr lang="de-DE" b="1" dirty="0" err="1"/>
              <a:t>sparsity</a:t>
            </a:r>
            <a:r>
              <a:rPr lang="de-DE" b="1" dirty="0"/>
              <a:t>:</a:t>
            </a:r>
          </a:p>
          <a:p>
            <a:pPr marL="0" indent="0">
              <a:buNone/>
            </a:pPr>
            <a:r>
              <a:rPr lang="de-DE" dirty="0" err="1"/>
              <a:t>dimensions</a:t>
            </a:r>
            <a:r>
              <a:rPr lang="de-DE" dirty="0"/>
              <a:t> (i.e., </a:t>
            </a:r>
            <a:r>
              <a:rPr lang="de-DE" dirty="0" err="1"/>
              <a:t>features</a:t>
            </a:r>
            <a:r>
              <a:rPr lang="de-DE" dirty="0"/>
              <a:t>) </a:t>
            </a:r>
            <a:r>
              <a:rPr lang="de-DE" dirty="0" err="1"/>
              <a:t>increase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volume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rapidly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become</a:t>
            </a:r>
            <a:r>
              <a:rPr lang="de-DE" dirty="0"/>
              <a:t> </a:t>
            </a:r>
            <a:r>
              <a:rPr lang="de-DE" dirty="0" err="1"/>
              <a:t>isolated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difficult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find </a:t>
            </a:r>
            <a:r>
              <a:rPr lang="de-DE" dirty="0" err="1"/>
              <a:t>meaningful</a:t>
            </a:r>
            <a:r>
              <a:rPr lang="de-DE" dirty="0"/>
              <a:t> </a:t>
            </a:r>
            <a:r>
              <a:rPr lang="de-DE" dirty="0" err="1"/>
              <a:t>patterns</a:t>
            </a:r>
            <a:r>
              <a:rPr lang="de-DE" dirty="0"/>
              <a:t> (</a:t>
            </a:r>
            <a:r>
              <a:rPr lang="de-DE" dirty="0" err="1"/>
              <a:t>concept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proximity</a:t>
            </a:r>
            <a:r>
              <a:rPr lang="de-DE" dirty="0"/>
              <a:t> </a:t>
            </a:r>
            <a:r>
              <a:rPr lang="de-DE" dirty="0" err="1"/>
              <a:t>breaks</a:t>
            </a:r>
            <a:r>
              <a:rPr lang="de-DE" dirty="0"/>
              <a:t> down)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overfitting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exponential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data</a:t>
            </a:r>
            <a:r>
              <a:rPr lang="de-DE" dirty="0">
                <a:sym typeface="Wingdings" pitchFamily="2" charset="2"/>
              </a:rPr>
              <a:t> (i.e., </a:t>
            </a:r>
            <a:r>
              <a:rPr lang="de-DE" dirty="0" err="1">
                <a:sym typeface="Wingdings" pitchFamily="2" charset="2"/>
              </a:rPr>
              <a:t>samples</a:t>
            </a:r>
            <a:r>
              <a:rPr lang="de-DE" dirty="0">
                <a:sym typeface="Wingdings" pitchFamily="2" charset="2"/>
              </a:rPr>
              <a:t>) </a:t>
            </a:r>
            <a:r>
              <a:rPr lang="de-DE" dirty="0" err="1">
                <a:sym typeface="Wingdings" pitchFamily="2" charset="2"/>
              </a:rPr>
              <a:t>requirements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D025BE-1DB9-D1A4-498A-173D67E2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21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1CEE24D-FABC-73A1-4C86-85F33A33E2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0668" y="365125"/>
            <a:ext cx="3843064" cy="3232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6341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ython Matplotlib: Ultimate Guide to Beautiful Plots! | GoLinuxCloud">
            <a:extLst>
              <a:ext uri="{FF2B5EF4-FFF2-40B4-BE49-F238E27FC236}">
                <a16:creationId xmlns:a16="http://schemas.microsoft.com/office/drawing/2014/main" id="{22F05D9D-E68B-42FD-61F5-76A96BC78C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671762"/>
            <a:ext cx="4781550" cy="386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group of cats on a grid&#10;&#10;AI-generated content may be incorrect.">
            <a:extLst>
              <a:ext uri="{FF2B5EF4-FFF2-40B4-BE49-F238E27FC236}">
                <a16:creationId xmlns:a16="http://schemas.microsoft.com/office/drawing/2014/main" id="{19719576-94A4-32DC-8678-41623AE1D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1496" y="2935947"/>
            <a:ext cx="7750504" cy="37855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71E236-FA0D-F89B-836B-D3E1A9C12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itchFamily="2" charset="2"/>
              </a:rPr>
              <a:t>M</a:t>
            </a:r>
            <a:r>
              <a:rPr lang="en-GB" sz="4400" dirty="0">
                <a:sym typeface="Wingdings" pitchFamily="2" charset="2"/>
              </a:rPr>
              <a:t>anifold </a:t>
            </a:r>
            <a:r>
              <a:rPr lang="en-GB" dirty="0">
                <a:sym typeface="Wingdings" pitchFamily="2" charset="2"/>
              </a:rPr>
              <a:t>H</a:t>
            </a:r>
            <a:r>
              <a:rPr lang="en-GB" sz="4400" dirty="0">
                <a:sym typeface="Wingdings" pitchFamily="2" charset="2"/>
              </a:rPr>
              <a:t>ypothesis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CB5CF-1A0F-3C85-74D2-9AD280390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l</a:t>
            </a:r>
            <a:r>
              <a:rPr lang="en-GB" sz="2800" dirty="0">
                <a:sym typeface="Wingdings" pitchFamily="2" charset="2"/>
              </a:rPr>
              <a:t>uckil</a:t>
            </a:r>
            <a:r>
              <a:rPr lang="en-GB" dirty="0">
                <a:sym typeface="Wingdings" pitchFamily="2" charset="2"/>
              </a:rPr>
              <a:t>y, </a:t>
            </a:r>
            <a:r>
              <a:rPr lang="en-GB" sz="2800" dirty="0">
                <a:sym typeface="Wingdings" pitchFamily="2" charset="2"/>
              </a:rPr>
              <a:t>reality is friendly: most high-dimensional data sets reside on lower-dimensional manifolds  enabling effectiveness of ML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C9A59-5ECC-7D6E-5745-AFF23B75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4711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D5D47CC-212D-1573-EBAD-14AB77F02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Regression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2F43C-32C0-9639-7D7E-69562EF9A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F6B8A9-8955-9F5F-7F49-C65125D12F15}"/>
                  </a:ext>
                </a:extLst>
              </p:cNvPr>
              <p:cNvSpPr txBox="1"/>
              <p:nvPr/>
            </p:nvSpPr>
            <p:spPr>
              <a:xfrm>
                <a:off x="962321" y="4045232"/>
                <a:ext cx="5481300" cy="10500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400" baseline="-25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F6B8A9-8955-9F5F-7F49-C65125D12F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321" y="4045232"/>
                <a:ext cx="5481300" cy="1050031"/>
              </a:xfrm>
              <a:prstGeom prst="rect">
                <a:avLst/>
              </a:prstGeom>
              <a:blipFill>
                <a:blip r:embed="rId2"/>
                <a:stretch>
                  <a:fillRect l="-1617" t="-115476" r="-1386" b="-16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68807D22-10EB-7411-39A5-CBAE9350C90E}"/>
              </a:ext>
            </a:extLst>
          </p:cNvPr>
          <p:cNvSpPr txBox="1"/>
          <p:nvPr/>
        </p:nvSpPr>
        <p:spPr>
          <a:xfrm>
            <a:off x="962321" y="1714576"/>
            <a:ext cx="5918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f</a:t>
            </a:r>
            <a:r>
              <a:rPr lang="en-DE" sz="2800" dirty="0"/>
              <a:t>it: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EC7172-D9FF-3066-8118-1EF8E9DEA952}"/>
              </a:ext>
            </a:extLst>
          </p:cNvPr>
          <p:cNvSpPr txBox="1"/>
          <p:nvPr/>
        </p:nvSpPr>
        <p:spPr>
          <a:xfrm>
            <a:off x="962321" y="3518325"/>
            <a:ext cx="13116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predict</a:t>
            </a:r>
            <a:r>
              <a:rPr lang="en-DE" sz="2800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C8052-44C6-2DC2-BC6C-3FE6EFBDEF3B}"/>
              </a:ext>
            </a:extLst>
          </p:cNvPr>
          <p:cNvSpPr txBox="1"/>
          <p:nvPr/>
        </p:nvSpPr>
        <p:spPr>
          <a:xfrm>
            <a:off x="4400673" y="3233596"/>
            <a:ext cx="14959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800" dirty="0"/>
              <a:t>Gaussian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22A7CF1-315F-9A3D-8A06-F17E6EBA73FB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3996650" y="2971986"/>
            <a:ext cx="404023" cy="5232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D33F7D-B514-5855-2972-1C37F5F76B87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1985020" y="3495206"/>
            <a:ext cx="2415653" cy="881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CED2DB-0D9A-CF37-A710-533FE6BE457E}"/>
                  </a:ext>
                </a:extLst>
              </p:cNvPr>
              <p:cNvSpPr txBox="1"/>
              <p:nvPr/>
            </p:nvSpPr>
            <p:spPr>
              <a:xfrm>
                <a:off x="2087890" y="1513075"/>
                <a:ext cx="7850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CED2DB-0D9A-CF37-A710-533FE6BE4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7890" y="1513075"/>
                <a:ext cx="785080" cy="461665"/>
              </a:xfrm>
              <a:prstGeom prst="rect">
                <a:avLst/>
              </a:prstGeom>
              <a:blipFill>
                <a:blip r:embed="rId3"/>
                <a:stretch>
                  <a:fillRect l="-6349" b="-135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Left Brace 12">
            <a:extLst>
              <a:ext uri="{FF2B5EF4-FFF2-40B4-BE49-F238E27FC236}">
                <a16:creationId xmlns:a16="http://schemas.microsoft.com/office/drawing/2014/main" id="{156E05BA-2090-BDF6-C08A-ED268D92F3D5}"/>
              </a:ext>
            </a:extLst>
          </p:cNvPr>
          <p:cNvSpPr/>
          <p:nvPr/>
        </p:nvSpPr>
        <p:spPr>
          <a:xfrm rot="5400000">
            <a:off x="2276913" y="1353158"/>
            <a:ext cx="407035" cy="176288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3F19ED-299C-95B0-AED4-97F099F1366A}"/>
                  </a:ext>
                </a:extLst>
              </p:cNvPr>
              <p:cNvSpPr txBox="1"/>
              <p:nvPr/>
            </p:nvSpPr>
            <p:spPr>
              <a:xfrm>
                <a:off x="1711095" y="5344925"/>
                <a:ext cx="40372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DE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3F19ED-299C-95B0-AED4-97F099F13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1095" y="5344925"/>
                <a:ext cx="4037286" cy="523220"/>
              </a:xfrm>
              <a:prstGeom prst="rect">
                <a:avLst/>
              </a:prstGeom>
              <a:blipFill>
                <a:blip r:embed="rId4"/>
                <a:stretch>
                  <a:fillRect t="-4651" b="-1627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A7430F79-1678-B671-9EE4-E9EBC35274B6}"/>
              </a:ext>
            </a:extLst>
          </p:cNvPr>
          <p:cNvSpPr txBox="1"/>
          <p:nvPr/>
        </p:nvSpPr>
        <p:spPr>
          <a:xfrm>
            <a:off x="2439519" y="6203350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Gaussian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9A00E9-E9C4-3506-0745-721F4E65DB0B}"/>
              </a:ext>
            </a:extLst>
          </p:cNvPr>
          <p:cNvSpPr txBox="1"/>
          <p:nvPr/>
        </p:nvSpPr>
        <p:spPr>
          <a:xfrm>
            <a:off x="3879731" y="6203350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mean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BD9990-6C10-6CBF-1B9A-3BF20759212E}"/>
              </a:ext>
            </a:extLst>
          </p:cNvPr>
          <p:cNvSpPr txBox="1"/>
          <p:nvPr/>
        </p:nvSpPr>
        <p:spPr>
          <a:xfrm>
            <a:off x="4872331" y="6203350"/>
            <a:ext cx="974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variance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5144B7D-D4C8-28E7-3740-F29EB92877C5}"/>
              </a:ext>
            </a:extLst>
          </p:cNvPr>
          <p:cNvCxnSpPr>
            <a:stCxn id="15" idx="0"/>
          </p:cNvCxnSpPr>
          <p:nvPr/>
        </p:nvCxnSpPr>
        <p:spPr>
          <a:xfrm flipV="1">
            <a:off x="2953442" y="5835480"/>
            <a:ext cx="608129" cy="367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750FED2-CD3F-9C34-C9CE-FE2DE31056D6}"/>
              </a:ext>
            </a:extLst>
          </p:cNvPr>
          <p:cNvCxnSpPr>
            <a:stCxn id="16" idx="0"/>
          </p:cNvCxnSpPr>
          <p:nvPr/>
        </p:nvCxnSpPr>
        <p:spPr>
          <a:xfrm flipV="1">
            <a:off x="4238163" y="5926944"/>
            <a:ext cx="174746" cy="276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6E63D73-D00E-67E7-F0DA-F37BE9810CCA}"/>
              </a:ext>
            </a:extLst>
          </p:cNvPr>
          <p:cNvCxnSpPr>
            <a:stCxn id="17" idx="0"/>
          </p:cNvCxnSpPr>
          <p:nvPr/>
        </p:nvCxnSpPr>
        <p:spPr>
          <a:xfrm flipH="1" flipV="1">
            <a:off x="5012004" y="5835480"/>
            <a:ext cx="347704" cy="367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E35A02E-55E9-78F6-9EA0-63E6DBFC78A7}"/>
                  </a:ext>
                </a:extLst>
              </p:cNvPr>
              <p:cNvSpPr txBox="1"/>
              <p:nvPr/>
            </p:nvSpPr>
            <p:spPr>
              <a:xfrm>
                <a:off x="897470" y="2240862"/>
                <a:ext cx="3099180" cy="10500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2400" baseline="-25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E35A02E-55E9-78F6-9EA0-63E6DBFC7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470" y="2240862"/>
                <a:ext cx="3099180" cy="1050031"/>
              </a:xfrm>
              <a:prstGeom prst="rect">
                <a:avLst/>
              </a:prstGeom>
              <a:blipFill>
                <a:blip r:embed="rId5"/>
                <a:stretch>
                  <a:fillRect l="-1224" t="-115476" b="-16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B81B8D-7DC3-74E4-E25A-86543403925D}"/>
                  </a:ext>
                </a:extLst>
              </p:cNvPr>
              <p:cNvSpPr txBox="1"/>
              <p:nvPr/>
            </p:nvSpPr>
            <p:spPr>
              <a:xfrm>
                <a:off x="7041945" y="5179846"/>
                <a:ext cx="4655782" cy="93384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en-GB" sz="2200" dirty="0"/>
                  <a:t>parameters to be estimated: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sz="2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endParaRPr lang="en-US" sz="22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Font typeface="Wingdings" pitchFamily="2" charset="2"/>
                  <a:buChar char="à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2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DE" sz="22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B81B8D-7DC3-74E4-E25A-865434039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1945" y="5179846"/>
                <a:ext cx="4655782" cy="933845"/>
              </a:xfrm>
              <a:prstGeom prst="rect">
                <a:avLst/>
              </a:prstGeom>
              <a:blipFill>
                <a:blip r:embed="rId6"/>
                <a:stretch>
                  <a:fillRect l="-1630" t="-12162" b="-783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Graphic 22">
            <a:extLst>
              <a:ext uri="{FF2B5EF4-FFF2-40B4-BE49-F238E27FC236}">
                <a16:creationId xmlns:a16="http://schemas.microsoft.com/office/drawing/2014/main" id="{66E3DC08-C6A7-F262-8751-C586221451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75659" y="683063"/>
            <a:ext cx="4354020" cy="287365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0E39FD2-583A-518B-9FC7-C31207B05787}"/>
              </a:ext>
            </a:extLst>
          </p:cNvPr>
          <p:cNvSpPr txBox="1"/>
          <p:nvPr/>
        </p:nvSpPr>
        <p:spPr>
          <a:xfrm>
            <a:off x="8312248" y="3618587"/>
            <a:ext cx="3385479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parameter estimation:</a:t>
            </a:r>
          </a:p>
          <a:p>
            <a:r>
              <a:rPr lang="en-GB" sz="2600" dirty="0"/>
              <a:t>e.g., least squares</a:t>
            </a:r>
          </a:p>
        </p:txBody>
      </p:sp>
    </p:spTree>
    <p:extLst>
      <p:ext uri="{BB962C8B-B14F-4D97-AF65-F5344CB8AC3E}">
        <p14:creationId xmlns:p14="http://schemas.microsoft.com/office/powerpoint/2010/main" val="3655155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90111-D58E-0B4D-939E-305F3D3D2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5CC49E-F2CE-6500-BDF9-A55D38C57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ML algorithm by combining: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model</a:t>
            </a:r>
            <a:r>
              <a:rPr lang="en-GB" dirty="0"/>
              <a:t> </a:t>
            </a:r>
            <a:r>
              <a:rPr lang="en-GB" b="0" dirty="0"/>
              <a:t>(e.g., linear function &amp; Gaussian distribution)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objective function</a:t>
            </a:r>
            <a:r>
              <a:rPr lang="en-GB" dirty="0"/>
              <a:t> </a:t>
            </a:r>
            <a:r>
              <a:rPr lang="en-GB" b="0" dirty="0"/>
              <a:t>(e.g., squared residuals)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optimization algorithm</a:t>
            </a:r>
            <a:r>
              <a:rPr lang="en-GB" dirty="0"/>
              <a:t> </a:t>
            </a:r>
            <a:r>
              <a:rPr lang="en-GB" b="0" dirty="0"/>
              <a:t>(e.g., gradient descent)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regularization</a:t>
            </a:r>
            <a:r>
              <a:rPr lang="en-GB" dirty="0"/>
              <a:t> (e.g., L2, dropout)</a:t>
            </a:r>
            <a:endParaRPr lang="en-DE" b="1" dirty="0"/>
          </a:p>
          <a:p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25157C-A49D-E247-7350-BA66D82CC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General Recipe</a:t>
            </a:r>
            <a:r>
              <a:rPr lang="en-GB" dirty="0"/>
              <a:t> of Statistical Learning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46776-1BE2-20B5-C4C5-4122077E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77017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3EC65-4EF0-A0AE-5028-2BE1A88B1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Model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B5D667-7189-6C64-C27C-DFCC3ACA8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/>
              <p:nvPr/>
            </p:nvSpPr>
            <p:spPr>
              <a:xfrm>
                <a:off x="4216399" y="3105834"/>
                <a:ext cx="3759199" cy="6463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399" y="3105834"/>
                <a:ext cx="3759199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/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data: vector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different feature values for this example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4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blipFill>
                <a:blip r:embed="rId3"/>
                <a:stretch>
                  <a:fillRect l="-2080" t="-5882" b="-16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B378655-C947-C913-AEB0-AF68A96A2E52}"/>
              </a:ext>
            </a:extLst>
          </p:cNvPr>
          <p:cNvCxnSpPr>
            <a:cxnSpLocks/>
          </p:cNvCxnSpPr>
          <p:nvPr/>
        </p:nvCxnSpPr>
        <p:spPr>
          <a:xfrm flipH="1">
            <a:off x="6822625" y="2653288"/>
            <a:ext cx="308279" cy="646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7A8D171-393C-A8EE-07DD-37F62BA9AE69}"/>
              </a:ext>
            </a:extLst>
          </p:cNvPr>
          <p:cNvSpPr txBox="1"/>
          <p:nvPr/>
        </p:nvSpPr>
        <p:spPr>
          <a:xfrm>
            <a:off x="8046811" y="4288751"/>
            <a:ext cx="29090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single intercept parameter, aka bias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B204A23-CD5B-9576-6FFD-D25F5BFC0684}"/>
              </a:ext>
            </a:extLst>
          </p:cNvPr>
          <p:cNvCxnSpPr>
            <a:cxnSpLocks/>
          </p:cNvCxnSpPr>
          <p:nvPr/>
        </p:nvCxnSpPr>
        <p:spPr>
          <a:xfrm flipH="1" flipV="1">
            <a:off x="7738533" y="3606798"/>
            <a:ext cx="618067" cy="7281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/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vector with slope parameters (one for each of the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features, but identical for all examples), aka weights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blipFill>
                <a:blip r:embed="rId4"/>
                <a:stretch>
                  <a:fillRect l="-1928" t="-4061" r="-3012" b="-106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A799CA-9800-4737-A656-E9792250826A}"/>
              </a:ext>
            </a:extLst>
          </p:cNvPr>
          <p:cNvCxnSpPr>
            <a:cxnSpLocks/>
          </p:cNvCxnSpPr>
          <p:nvPr/>
        </p:nvCxnSpPr>
        <p:spPr>
          <a:xfrm flipV="1">
            <a:off x="5054600" y="3606798"/>
            <a:ext cx="905933" cy="795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6688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CA8E-C03E-64F5-F46E-69F868D24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E8211-6E28-FC0A-BE28-FCA717898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Loss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BBF559-6F44-8DE4-35FB-FB8AF281CC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DE" sz="2600" dirty="0"/>
                  <a:t>loss function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GB" sz="2600" dirty="0"/>
                  <a:t>: expressing d</a:t>
                </a:r>
                <a:r>
                  <a:rPr lang="en-DE" sz="2600"/>
                  <a:t>eviation between prediction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de-DE" sz="2600" dirty="0"/>
                  <a:t> </a:t>
                </a:r>
                <a:r>
                  <a:rPr lang="en-DE" sz="2600"/>
                  <a:t>and target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600" dirty="0"/>
                  <a:t>	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de-DE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e>
                    </m:d>
                  </m:oMath>
                </a14:m>
                <a:endParaRPr lang="en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en-DE" sz="2600"/>
                  <a:t>with </a:t>
                </a:r>
                <a14:m>
                  <m:oMath xmlns:m="http://schemas.openxmlformats.org/officeDocument/2006/math"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GB" sz="2600" dirty="0"/>
                  <a:t> corresponding to p</a:t>
                </a:r>
                <a:r>
                  <a:rPr lang="en-DE" sz="2600"/>
                  <a:t>arameters of </a:t>
                </a:r>
                <a:r>
                  <a:rPr lang="en-DE" sz="2600" dirty="0"/>
                  <a:t>model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2600" b="1" dirty="0"/>
              </a:p>
              <a:p>
                <a:pPr marL="0" indent="0">
                  <a:buNone/>
                </a:pPr>
                <a:r>
                  <a:rPr lang="de-DE" sz="2000" dirty="0"/>
                  <a:t>(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sake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clarity</a:t>
                </a:r>
                <a:r>
                  <a:rPr lang="de-DE" sz="2000" dirty="0"/>
                  <a:t>, </a:t>
                </a:r>
                <a:r>
                  <a:rPr lang="de-DE" sz="2000" dirty="0" err="1"/>
                  <a:t>include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bias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DE" sz="2000"/>
                  <a:t> in </a:t>
                </a:r>
                <a14:m>
                  <m:oMath xmlns:m="http://schemas.openxmlformats.org/officeDocument/2006/math"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de-DE" sz="2000" dirty="0"/>
                  <a:t>)</a:t>
                </a:r>
                <a:endParaRPr lang="en-DE" sz="2000" dirty="0"/>
              </a:p>
              <a:p>
                <a:pPr marL="0" indent="0">
                  <a:buNone/>
                </a:pPr>
                <a:endParaRPr lang="en-DE" sz="2600" dirty="0"/>
              </a:p>
              <a:p>
                <a:pPr marL="0" indent="0">
                  <a:buNone/>
                </a:pPr>
                <a:r>
                  <a:rPr lang="de-DE" sz="2600" dirty="0"/>
                  <a:t>prime example: squared residuals for regression problems</a:t>
                </a:r>
                <a:endParaRPr lang="en-DE" sz="2600" dirty="0"/>
              </a:p>
              <a:p>
                <a:pPr marL="0" indent="0">
                  <a:buNone/>
                </a:pPr>
                <a:r>
                  <a:rPr lang="en-US" sz="2600" dirty="0"/>
                  <a:t>	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BBF559-6F44-8DE4-35FB-FB8AF281CC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E6745-8E61-0E4E-CBDB-9D3EC9CAB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361716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AEA11-22CD-E386-94C6-DAB4CB196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49369-FB6B-41DF-A9C7-977BF7B3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a</a:t>
                </a:r>
                <a:r>
                  <a:rPr lang="en-DE" dirty="0"/>
                  <a:t>veraging losses </a:t>
                </a:r>
                <a:r>
                  <a:rPr lang="en-DE"/>
                  <a:t>over empirical </a:t>
                </a:r>
                <a:r>
                  <a:rPr lang="en-DE" dirty="0"/>
                  <a:t>training data set: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de-DE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c</a:t>
                </a:r>
                <a:r>
                  <a:rPr lang="en-DE" dirty="0"/>
                  <a:t>ost function to be minimized according to model parameters </a:t>
                </a:r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endParaRPr lang="en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dirty="0">
                    <a:sym typeface="Wingdings" pitchFamily="2" charset="2"/>
                  </a:rPr>
                  <a:t> objective function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1CB90B-B030-56D5-18F0-E79822C1A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359442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8CF78-256C-97D1-B23F-ACF29DA65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90BE2-6879-4439-9C1B-73130756F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Minimization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A7C25D-7433-AF3A-BB24-51178956E5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m</a:t>
                </a:r>
                <a:r>
                  <a:rPr lang="en-DE" sz="2600" dirty="0"/>
                  <a:t>inimize training costs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DE" sz="2600" dirty="0"/>
                  <a:t> according to model parameters </a:t>
                </a:r>
                <a14:m>
                  <m:oMath xmlns:m="http://schemas.openxmlformats.org/officeDocument/2006/math"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DE" sz="2600" dirty="0"/>
                  <a:t>:</a:t>
                </a:r>
                <a:endParaRPr lang="en-DE" sz="1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2600" dirty="0"/>
                  <a:t>	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f</a:t>
                </a:r>
                <a:r>
                  <a:rPr lang="en-DE" sz="2600" dirty="0"/>
                  <a:t>or mean squared error</a:t>
                </a:r>
                <a:r>
                  <a:rPr lang="en-GB" sz="2600" dirty="0"/>
                  <a:t> (aka least squares method)</a:t>
                </a:r>
                <a:r>
                  <a:rPr lang="en-DE" sz="2600" dirty="0"/>
                  <a:t>:</a:t>
                </a:r>
                <a:endParaRPr lang="en-DE" sz="1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6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6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de-DE" sz="2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DE" sz="2600" dirty="0"/>
                  <a:t>	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A7C25D-7433-AF3A-BB24-51178956E5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31C96-7E78-84A2-8507-DB47BC4F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013094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E414F-11C2-BCCE-F387-4D57F2D85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C5CD2-2C81-0690-1A89-81D61EC3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Descent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39819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typically</a:t>
                </a:r>
                <a:r>
                  <a:rPr lang="en-DE" sz="2400" dirty="0"/>
                  <a:t> no closed-form solution to minimization of cost function: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GB" sz="2400" dirty="0">
                  <a:sym typeface="Wingdings" pitchFamily="2" charset="2"/>
                </a:endParaRPr>
              </a:p>
              <a:p>
                <a:pPr>
                  <a:buFont typeface="Wingdings" pitchFamily="2" charset="2"/>
                  <a:buChar char="à"/>
                </a:pPr>
                <a:r>
                  <a:rPr lang="en-DE" sz="2400" dirty="0">
                    <a:sym typeface="Wingdings" pitchFamily="2" charset="2"/>
                  </a:rPr>
                  <a:t> need for numerical methods</a:t>
                </a: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400" dirty="0">
                    <a:sym typeface="Wingdings" pitchFamily="2" charset="2"/>
                  </a:rPr>
                  <a:t>popular choice: </a:t>
                </a:r>
                <a:r>
                  <a:rPr lang="en-GB" sz="2400" dirty="0">
                    <a:sym typeface="Wingdings" pitchFamily="2" charset="2"/>
                  </a:rPr>
                  <a:t>g</a:t>
                </a:r>
                <a:r>
                  <a:rPr lang="en-DE" sz="2400" dirty="0">
                    <a:sym typeface="Wingdings" pitchFamily="2" charset="2"/>
                  </a:rPr>
                  <a:t>radient descent</a:t>
                </a:r>
              </a:p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iteratively m</a:t>
                </a:r>
                <a:r>
                  <a:rPr lang="en-DE" sz="2400" dirty="0">
                    <a:sym typeface="Wingdings" pitchFamily="2" charset="2"/>
                  </a:rPr>
                  <a:t>oving in direction of steepest descent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en-DE" sz="2400" dirty="0">
                    <a:sym typeface="Wingdings" pitchFamily="2" charset="2"/>
                  </a:rPr>
                  <a:t>negative gradient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  <a:r>
                  <a:rPr lang="en-DE" sz="2400" dirty="0">
                    <a:sym typeface="Wingdings" pitchFamily="2" charset="2"/>
                  </a:rPr>
                  <a:t>: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398193" cy="4351338"/>
              </a:xfrm>
              <a:blipFill>
                <a:blip r:embed="rId2"/>
                <a:stretch>
                  <a:fillRect l="-1372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11602-9C3D-A071-FD1B-23D2C0BF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29</a:t>
            </a:fld>
            <a:endParaRPr lang="en-DE"/>
          </a:p>
        </p:txBody>
      </p:sp>
      <p:pic>
        <p:nvPicPr>
          <p:cNvPr id="7" name="Picture 6" descr="Chart, surface chart&#10;&#10;Description automatically generated">
            <a:extLst>
              <a:ext uri="{FF2B5EF4-FFF2-40B4-BE49-F238E27FC236}">
                <a16:creationId xmlns:a16="http://schemas.microsoft.com/office/drawing/2014/main" id="{A381A97C-0D9F-1233-3FBE-C1BC7F100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8388343" y="3890455"/>
            <a:ext cx="3750087" cy="2545491"/>
          </a:xfrm>
          <a:prstGeom prst="rect">
            <a:avLst/>
          </a:prstGeom>
        </p:spPr>
      </p:pic>
      <p:pic>
        <p:nvPicPr>
          <p:cNvPr id="9" name="Picture 8" descr="A picture containing diagram&#10;&#10;Description automatically generated">
            <a:extLst>
              <a:ext uri="{FF2B5EF4-FFF2-40B4-BE49-F238E27FC236}">
                <a16:creationId xmlns:a16="http://schemas.microsoft.com/office/drawing/2014/main" id="{E1A38A98-0CED-BDB4-C0E4-F0398663E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393" y="854739"/>
            <a:ext cx="3902037" cy="288197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4C82B48-760E-C7A2-0E3D-AD57903A0580}"/>
              </a:ext>
            </a:extLst>
          </p:cNvPr>
          <p:cNvSpPr txBox="1"/>
          <p:nvPr/>
        </p:nvSpPr>
        <p:spPr>
          <a:xfrm>
            <a:off x="2228193" y="4984252"/>
            <a:ext cx="19947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</a:t>
            </a:r>
            <a:r>
              <a:rPr lang="en-DE" sz="2400" dirty="0"/>
              <a:t>tep size (</a:t>
            </a:r>
            <a:r>
              <a:rPr lang="en-GB" sz="2400" dirty="0"/>
              <a:t>l</a:t>
            </a:r>
            <a:r>
              <a:rPr lang="en-DE" sz="2400" dirty="0"/>
              <a:t>earning rate)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5A43D22-2854-C14B-442A-518D57A8B47B}"/>
              </a:ext>
            </a:extLst>
          </p:cNvPr>
          <p:cNvCxnSpPr>
            <a:cxnSpLocks/>
          </p:cNvCxnSpPr>
          <p:nvPr/>
        </p:nvCxnSpPr>
        <p:spPr>
          <a:xfrm flipV="1">
            <a:off x="3563007" y="4572780"/>
            <a:ext cx="1145627" cy="5097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68A98EB-F486-C2EB-9887-D220984E6A5F}"/>
              </a:ext>
            </a:extLst>
          </p:cNvPr>
          <p:cNvSpPr txBox="1"/>
          <p:nvPr/>
        </p:nvSpPr>
        <p:spPr>
          <a:xfrm>
            <a:off x="4413642" y="5040539"/>
            <a:ext cx="3825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v</a:t>
            </a:r>
            <a:r>
              <a:rPr lang="en-DE" dirty="0"/>
              <a:t>ector containing all partial derivatives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51CA1E-11C8-24C6-C49A-8958A2988C58}"/>
              </a:ext>
            </a:extLst>
          </p:cNvPr>
          <p:cNvCxnSpPr>
            <a:cxnSpLocks/>
          </p:cNvCxnSpPr>
          <p:nvPr/>
        </p:nvCxnSpPr>
        <p:spPr>
          <a:xfrm flipV="1">
            <a:off x="5014021" y="4677103"/>
            <a:ext cx="0" cy="4054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6E224D5-1DEC-F2F7-1AE7-F20F8D01E5DA}"/>
              </a:ext>
            </a:extLst>
          </p:cNvPr>
          <p:cNvSpPr txBox="1"/>
          <p:nvPr/>
        </p:nvSpPr>
        <p:spPr>
          <a:xfrm>
            <a:off x="11458836" y="3665117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8A8E21-F4EB-12BE-70B8-4C89D90A0605}"/>
              </a:ext>
            </a:extLst>
          </p:cNvPr>
          <p:cNvSpPr txBox="1"/>
          <p:nvPr/>
        </p:nvSpPr>
        <p:spPr>
          <a:xfrm>
            <a:off x="7823525" y="4133318"/>
            <a:ext cx="157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</a:t>
            </a:r>
            <a:r>
              <a:rPr lang="en-DE" dirty="0"/>
              <a:t>ocal minimum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B37612-F7DC-6CE5-53D1-EFF3CBD90697}"/>
              </a:ext>
            </a:extLst>
          </p:cNvPr>
          <p:cNvSpPr txBox="1"/>
          <p:nvPr/>
        </p:nvSpPr>
        <p:spPr>
          <a:xfrm>
            <a:off x="10981267" y="4249615"/>
            <a:ext cx="1157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</a:t>
            </a:r>
            <a:r>
              <a:rPr lang="en-DE" dirty="0"/>
              <a:t>lobal minimum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A0A7BF8-C044-832F-CC75-16B8215D7377}"/>
              </a:ext>
            </a:extLst>
          </p:cNvPr>
          <p:cNvCxnSpPr/>
          <p:nvPr/>
        </p:nvCxnSpPr>
        <p:spPr>
          <a:xfrm>
            <a:off x="8610600" y="4572780"/>
            <a:ext cx="449940" cy="763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756089E-0DC2-5014-297C-211945C8714F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10899890" y="4895946"/>
            <a:ext cx="659959" cy="804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6398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6F16FEB-005B-4365-D67C-8FB7C804F3D6}"/>
              </a:ext>
            </a:extLst>
          </p:cNvPr>
          <p:cNvSpPr/>
          <p:nvPr/>
        </p:nvSpPr>
        <p:spPr>
          <a:xfrm>
            <a:off x="5127544" y="2281980"/>
            <a:ext cx="1072683" cy="42351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DE" sz="2400" dirty="0"/>
                  <a:t>add </a:t>
                </a:r>
                <a:r>
                  <a:rPr lang="en-DE" sz="2400" b="1" dirty="0"/>
                  <a:t>penalty term</a:t>
                </a:r>
                <a:r>
                  <a:rPr lang="en-DE" sz="24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norm to cost function</a:t>
                </a:r>
                <a:endParaRPr lang="en-GB" sz="24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</m:acc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GB" sz="2400" dirty="0"/>
                  <a:t>	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aka </a:t>
                </a:r>
                <a:r>
                  <a:rPr lang="en-GB" sz="2400" b="1" dirty="0"/>
                  <a:t>w</a:t>
                </a:r>
                <a:r>
                  <a:rPr lang="en-DE" sz="2400" b="1" dirty="0"/>
                  <a:t>eight decay</a:t>
                </a:r>
                <a:r>
                  <a:rPr lang="en-DE" sz="2400" dirty="0"/>
                  <a:t> </a:t>
                </a:r>
                <a:r>
                  <a:rPr lang="en-GB" sz="2400" dirty="0"/>
                  <a:t>in </a:t>
                </a:r>
                <a:r>
                  <a:rPr lang="en-DE" sz="2400" dirty="0"/>
                  <a:t>neural networks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sz="24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400" dirty="0"/>
                  <a:t>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goal: reduce overfitting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  <a:blipFill>
                <a:blip r:embed="rId2"/>
                <a:stretch>
                  <a:fillRect l="-1266" t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D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DE" dirty="0"/>
                  <a:t> Regularization (Ridge Regression)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E6C35-9946-346B-1491-7CF0F93B7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30</a:t>
            </a:fld>
            <a:endParaRPr lang="en-D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607F70-DB94-E3A4-9C21-845042D375B6}"/>
              </a:ext>
            </a:extLst>
          </p:cNvPr>
          <p:cNvSpPr txBox="1"/>
          <p:nvPr/>
        </p:nvSpPr>
        <p:spPr>
          <a:xfrm>
            <a:off x="6747516" y="2720972"/>
            <a:ext cx="2971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 controlling strength of regularization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915AF1-2E35-7C0C-1A2A-6AE6979D378E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5276193" y="2617076"/>
            <a:ext cx="1471323" cy="427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92BE184-17EE-226A-FC0B-C92B251C851C}"/>
              </a:ext>
            </a:extLst>
          </p:cNvPr>
          <p:cNvSpPr txBox="1"/>
          <p:nvPr/>
        </p:nvSpPr>
        <p:spPr>
          <a:xfrm>
            <a:off x="10821282" y="588362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59BDF090-ED9E-25B6-9B10-AA53CEE3B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10600" y="3347586"/>
            <a:ext cx="3386010" cy="2830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9771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A8612-70FA-5E78-3E4E-A564628B9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Classification: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5011B8-5EEE-3602-A460-9F29BB6C20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binary classification: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anose="05000000000000000000" pitchFamily="2" charset="2"/>
                  </a:rPr>
                  <a:t> </a:t>
                </a:r>
                <a:r>
                  <a:rPr lang="de-DE" dirty="0"/>
                  <a:t>predict probabilities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en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GB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</a:t>
                </a:r>
                <a:r>
                  <a:rPr lang="en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ogit</a:t>
                </a:r>
                <a:r>
                  <a:rPr lang="en-DE" dirty="0"/>
                  <a:t> (log-odds)</a:t>
                </a:r>
                <a:r>
                  <a:rPr lang="en-GB" dirty="0"/>
                  <a:t> as link function</a:t>
                </a:r>
                <a:endParaRPr lang="en-DE" i="1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following Bernoulli distribution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logit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28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DE" sz="2800" baseline="-25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5011B8-5EEE-3602-A460-9F29BB6C20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5D652-7C68-6754-9D60-DFB308E9A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334698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F66D1-339D-CD20-AF3A-1A820DB02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Multi-Classification: </a:t>
            </a:r>
            <a:r>
              <a:rPr lang="en-GB" dirty="0" err="1"/>
              <a:t>Softmax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B9C67-823D-7EB6-C7C1-F9A4A736E7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for </a:t>
                </a:r>
                <a:r>
                  <a:rPr lang="en-GB" sz="2800" dirty="0"/>
                  <a:t>classification 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sz="2800" dirty="0"/>
                  <a:t> categories: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r>
                  <a:rPr lang="en-GB" dirty="0"/>
                  <a:t>u</a:t>
                </a:r>
                <a:r>
                  <a:rPr lang="en-GB" sz="2800" dirty="0"/>
                  <a:t>se “score” function with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sz="2800" dirty="0"/>
                  <a:t> outputs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GB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and convert into probabilities by means of</a:t>
                </a:r>
                <a:r>
                  <a:rPr lang="en-GB" sz="2800" dirty="0"/>
                  <a:t> </a:t>
                </a:r>
                <a:r>
                  <a:rPr lang="en-GB" sz="2800" dirty="0" err="1"/>
                  <a:t>softmax</a:t>
                </a:r>
                <a:r>
                  <a:rPr lang="en-GB" sz="2800" dirty="0"/>
                  <a:t> function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8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nary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B9C67-823D-7EB6-C7C1-F9A4A736E7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FA36C-2F2D-D995-3157-3F6288222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7065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24281-B504-483C-A85A-BE3BE45E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Generalized</a:t>
            </a:r>
            <a:r>
              <a:rPr lang="de-DE" dirty="0"/>
              <a:t> Linear Models (GLMs)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BCA55-171D-59B1-FCAC-5D8046218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33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931139-ABF1-8948-B63C-A4426FDCA857}"/>
                  </a:ext>
                </a:extLst>
              </p:cNvPr>
              <p:cNvSpPr txBox="1"/>
              <p:nvPr/>
            </p:nvSpPr>
            <p:spPr>
              <a:xfrm>
                <a:off x="838200" y="3329603"/>
                <a:ext cx="4301360" cy="32932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600" dirty="0"/>
                  <a:t>l</a:t>
                </a:r>
                <a:r>
                  <a:rPr lang="en-DE" sz="2600" dirty="0"/>
                  <a:t>ink </a:t>
                </a:r>
                <a:r>
                  <a:rPr lang="en-DE" sz="2600"/>
                  <a:t>function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DE" sz="2600"/>
                  <a:t>:</a:t>
                </a:r>
                <a:endParaRPr lang="en-DE" sz="26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DE" sz="2600" dirty="0"/>
                  <a:t>linking range of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sz="2600" dirty="0"/>
                  <a:t> </a:t>
                </a:r>
                <a:r>
                  <a:rPr lang="en-DE" sz="2600" dirty="0"/>
                  <a:t>to linear predictor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sz="2600" dirty="0"/>
                  <a:t>c</a:t>
                </a:r>
                <a:r>
                  <a:rPr lang="en-DE" sz="2600" dirty="0"/>
                  <a:t>anonical forms for different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sz="2600" dirty="0"/>
                  <a:t> </a:t>
                </a:r>
                <a:r>
                  <a:rPr lang="en-DE" sz="2600" dirty="0"/>
                  <a:t>distributions</a:t>
                </a:r>
                <a:endParaRPr lang="de-DE" sz="26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log</m:t>
                    </m:r>
                  </m:oMath>
                </a14:m>
                <a:r>
                  <a:rPr lang="de-DE" sz="2600" dirty="0"/>
                  <a:t> </a:t>
                </a:r>
                <a:r>
                  <a:rPr lang="en-DE" sz="2600"/>
                  <a:t>for Poisson</a:t>
                </a:r>
                <a:endParaRPr lang="de-DE" sz="26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:r>
                  <a:rPr lang="en-DE" sz="2600"/>
                  <a:t>identity </a:t>
                </a:r>
                <a:r>
                  <a:rPr lang="en-DE" sz="2600" dirty="0"/>
                  <a:t>for Gaussian </a:t>
                </a:r>
                <a:r>
                  <a:rPr lang="en-DE" sz="2600" dirty="0">
                    <a:sym typeface="Wingdings" pitchFamily="2" charset="2"/>
                  </a:rPr>
                  <a:t> linear </a:t>
                </a:r>
                <a:r>
                  <a:rPr lang="en-DE" sz="2600">
                    <a:sym typeface="Wingdings" pitchFamily="2" charset="2"/>
                  </a:rPr>
                  <a:t>regression</a:t>
                </a:r>
                <a:r>
                  <a:rPr lang="en-DE" sz="2600"/>
                  <a:t>)</a:t>
                </a:r>
                <a:endParaRPr lang="en-DE" sz="2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931139-ABF1-8948-B63C-A4426FDCA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29603"/>
                <a:ext cx="4301360" cy="3293209"/>
              </a:xfrm>
              <a:prstGeom prst="rect">
                <a:avLst/>
              </a:prstGeom>
              <a:blipFill>
                <a:blip r:embed="rId2"/>
                <a:stretch>
                  <a:fillRect l="-2655" t="-1923" r="-3835" b="-38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5829B18-8482-459B-14EB-217152DEE90B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2988880" y="2707059"/>
            <a:ext cx="163568" cy="622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B82FA6-C31C-EAED-7999-1CD63230F622}"/>
                  </a:ext>
                </a:extLst>
              </p:cNvPr>
              <p:cNvSpPr txBox="1"/>
              <p:nvPr/>
            </p:nvSpPr>
            <p:spPr>
              <a:xfrm>
                <a:off x="6279602" y="3576145"/>
                <a:ext cx="5519901" cy="13135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sz="2600" dirty="0"/>
                  <a:t> following probability distribution from exponential family (e.g., Poisson or Gaussian)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B82FA6-C31C-EAED-7999-1CD63230F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9602" y="3576145"/>
                <a:ext cx="5519901" cy="1313501"/>
              </a:xfrm>
              <a:prstGeom prst="rect">
                <a:avLst/>
              </a:prstGeom>
              <a:blipFill>
                <a:blip r:embed="rId3"/>
                <a:stretch>
                  <a:fillRect l="-2064" t="-4808" r="-2523" b="-961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C20F7E-3D8A-813D-EA54-8155F52DC914}"/>
              </a:ext>
            </a:extLst>
          </p:cNvPr>
          <p:cNvCxnSpPr>
            <a:cxnSpLocks/>
            <a:stCxn id="16" idx="1"/>
          </p:cNvCxnSpPr>
          <p:nvPr/>
        </p:nvCxnSpPr>
        <p:spPr>
          <a:xfrm flipH="1" flipV="1">
            <a:off x="3993931" y="2707059"/>
            <a:ext cx="2285671" cy="15258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C9B1086-EC58-AE9B-C0AD-81F07DEBC880}"/>
                  </a:ext>
                </a:extLst>
              </p:cNvPr>
              <p:cNvSpPr txBox="1"/>
              <p:nvPr/>
            </p:nvSpPr>
            <p:spPr>
              <a:xfrm>
                <a:off x="2222608" y="1862793"/>
                <a:ext cx="6147237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6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C9B1086-EC58-AE9B-C0AD-81F07DEBC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608" y="1862793"/>
                <a:ext cx="6147237" cy="1137491"/>
              </a:xfrm>
              <a:prstGeom prst="rect">
                <a:avLst/>
              </a:prstGeom>
              <a:blipFill>
                <a:blip r:embed="rId4"/>
                <a:stretch>
                  <a:fillRect t="-115385" b="-17033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18370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25619-F36C-BFC3-9B56-E97A05DA1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Multiplicative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0AFF89D-7A09-049B-5C40-9BB5A322C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DE" dirty="0"/>
                  <a:t>count data: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m:rPr>
                        <m:nor/>
                      </m:rPr>
                      <a:rPr lang="de-DE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[0, ∞)</m:t>
                    </m:r>
                  </m:oMath>
                </a14:m>
                <a:endParaRPr lang="en-DE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follows Poisson (or negative binomial / Poisson-gamma) distribution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</a:t>
                </a:r>
                <a:r>
                  <a:rPr lang="en-DE" dirty="0"/>
                  <a:t>og-linear model (Gaussian errors in fit, Poisson with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dirty="0"/>
                  <a:t> predicted):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f</a:t>
                </a:r>
                <a:r>
                  <a:rPr lang="en-DE" dirty="0"/>
                  <a:t>urther advantage: usually multiplicative effects for count data, i.e.,</a:t>
                </a:r>
                <a:r>
                  <a:rPr lang="en-GB" dirty="0"/>
                  <a:t> variation</a:t>
                </a:r>
                <a:r>
                  <a:rPr lang="en-DE" dirty="0"/>
                  <a:t> proportional</a:t>
                </a:r>
                <a:r>
                  <a:rPr lang="en-GB" dirty="0"/>
                  <a:t> to level</a:t>
                </a:r>
                <a:r>
                  <a:rPr lang="en-DE" dirty="0"/>
                  <a:t> (small effects for small counts, large effects for large counts)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0AFF89D-7A09-049B-5C40-9BB5A322C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35A08-90EB-704E-4100-3BFB2DB1F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34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21F5FD-2F4D-072A-6A68-B57D207C4CF4}"/>
                  </a:ext>
                </a:extLst>
              </p:cNvPr>
              <p:cNvSpPr txBox="1"/>
              <p:nvPr/>
            </p:nvSpPr>
            <p:spPr>
              <a:xfrm>
                <a:off x="1469711" y="3604587"/>
                <a:ext cx="4721773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en-US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21F5FD-2F4D-072A-6A68-B57D207C4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711" y="3604587"/>
                <a:ext cx="4721773" cy="11374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7B4245-A2A2-D996-D240-B96F7E4F16CE}"/>
                  </a:ext>
                </a:extLst>
              </p:cNvPr>
              <p:cNvSpPr txBox="1"/>
              <p:nvPr/>
            </p:nvSpPr>
            <p:spPr>
              <a:xfrm>
                <a:off x="2632420" y="4481318"/>
                <a:ext cx="543033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7B4245-A2A2-D996-D240-B96F7E4F1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2420" y="4481318"/>
                <a:ext cx="543033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 Brace 4">
            <a:extLst>
              <a:ext uri="{FF2B5EF4-FFF2-40B4-BE49-F238E27FC236}">
                <a16:creationId xmlns:a16="http://schemas.microsoft.com/office/drawing/2014/main" id="{0FC17793-8D20-5843-4EAA-1EDC332053D8}"/>
              </a:ext>
            </a:extLst>
          </p:cNvPr>
          <p:cNvSpPr/>
          <p:nvPr/>
        </p:nvSpPr>
        <p:spPr>
          <a:xfrm rot="16200000">
            <a:off x="2788072" y="3550494"/>
            <a:ext cx="226469" cy="1816542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294BBD-CA3C-692B-2904-97A6E3B8E6E9}"/>
              </a:ext>
            </a:extLst>
          </p:cNvPr>
          <p:cNvSpPr txBox="1"/>
          <p:nvPr/>
        </p:nvSpPr>
        <p:spPr>
          <a:xfrm>
            <a:off x="7020913" y="3671392"/>
            <a:ext cx="1766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</a:t>
            </a:r>
            <a:r>
              <a:rPr lang="en-DE" dirty="0"/>
              <a:t>ingle parameter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452487-D7BA-A039-D5B7-5DC951310D64}"/>
              </a:ext>
            </a:extLst>
          </p:cNvPr>
          <p:cNvCxnSpPr/>
          <p:nvPr/>
        </p:nvCxnSpPr>
        <p:spPr>
          <a:xfrm flipH="1" flipV="1">
            <a:off x="7115503" y="3384325"/>
            <a:ext cx="105104" cy="3121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33307F-50CA-B249-33E2-4099E01921DF}"/>
              </a:ext>
            </a:extLst>
          </p:cNvPr>
          <p:cNvSpPr txBox="1"/>
          <p:nvPr/>
        </p:nvSpPr>
        <p:spPr>
          <a:xfrm>
            <a:off x="0" y="4456604"/>
            <a:ext cx="1354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link function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6A285AB-3F98-ED8D-AF23-F5F095F76A56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677429" y="4234248"/>
            <a:ext cx="677429" cy="22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0967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034219-2340-5C98-0D79-3D5E6A5AF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455" y="4152368"/>
            <a:ext cx="3681769" cy="26773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14EB37-B50A-058B-AD36-0B2118646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8455" y="1314065"/>
            <a:ext cx="3723896" cy="267260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93A1D2-34EB-5121-A580-28AD6BAF5875}"/>
              </a:ext>
            </a:extLst>
          </p:cNvPr>
          <p:cNvSpPr txBox="1"/>
          <p:nvPr/>
        </p:nvSpPr>
        <p:spPr>
          <a:xfrm>
            <a:off x="8687580" y="4685910"/>
            <a:ext cx="2666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monotonic requirements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7EAE46-31A5-00F3-BE59-376D8ED8A328}"/>
              </a:ext>
            </a:extLst>
          </p:cNvPr>
          <p:cNvSpPr txBox="1"/>
          <p:nvPr/>
        </p:nvSpPr>
        <p:spPr>
          <a:xfrm>
            <a:off x="9158016" y="1632566"/>
            <a:ext cx="23704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sinusoidal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0C52-BBD9-7EB8-8537-1B46C4C4B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6"/>
            <a:ext cx="5941541" cy="67021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DE" dirty="0"/>
              <a:t>blending of Generalized Linear Models and additive models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0A75A-BE5D-DDCF-0005-73B4261A3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35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F9EE4-A992-F276-B66F-9C66492BF2E7}"/>
              </a:ext>
            </a:extLst>
          </p:cNvPr>
          <p:cNvSpPr txBox="1"/>
          <p:nvPr/>
        </p:nvSpPr>
        <p:spPr>
          <a:xfrm>
            <a:off x="1008994" y="3961026"/>
            <a:ext cx="625677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2400" dirty="0"/>
              <a:t>smooth functions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p</a:t>
            </a:r>
            <a:r>
              <a:rPr lang="en-DE" sz="2400" dirty="0"/>
              <a:t>otentially non-parametric form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d</a:t>
            </a:r>
            <a:r>
              <a:rPr lang="en-DE" sz="2400" dirty="0"/>
              <a:t>escribe non-linear effects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estimated, e.g., via b</a:t>
            </a:r>
            <a:r>
              <a:rPr lang="en-DE" sz="2400" dirty="0"/>
              <a:t>ackfitting algorithm</a:t>
            </a:r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extension: a</a:t>
            </a:r>
            <a:r>
              <a:rPr lang="en-DE" sz="2400" dirty="0"/>
              <a:t>dd interaction terms between different features</a:t>
            </a:r>
            <a:r>
              <a:rPr lang="en-GB" sz="2400" dirty="0"/>
              <a:t> (</a:t>
            </a:r>
            <a:r>
              <a:rPr lang="en-DE" sz="2400" dirty="0"/>
              <a:t>e.g., different holiday effects for different products</a:t>
            </a:r>
            <a:r>
              <a:rPr lang="en-GB" sz="2400" dirty="0"/>
              <a:t>)</a:t>
            </a:r>
            <a:endParaRPr lang="en-DE" sz="2400" baseline="-25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E5AD5-F83B-7EE9-C3C6-186DFCD95A11}"/>
              </a:ext>
            </a:extLst>
          </p:cNvPr>
          <p:cNvSpPr txBox="1"/>
          <p:nvPr/>
        </p:nvSpPr>
        <p:spPr>
          <a:xfrm>
            <a:off x="10246423" y="788661"/>
            <a:ext cx="17638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plots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en-GB" sz="1800" dirty="0">
                <a:hlinkClick r:id="rId4"/>
              </a:rPr>
              <a:t>Cyclic Boosting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2FA456-364B-33E6-5DBD-F00AEA76016F}"/>
                  </a:ext>
                </a:extLst>
              </p:cNvPr>
              <p:cNvSpPr txBox="1"/>
              <p:nvPr/>
            </p:nvSpPr>
            <p:spPr>
              <a:xfrm>
                <a:off x="1008994" y="2444569"/>
                <a:ext cx="4719144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2FA456-364B-33E6-5DBD-F00AEA760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94" y="2444569"/>
                <a:ext cx="4719144" cy="1137491"/>
              </a:xfrm>
              <a:prstGeom prst="rect">
                <a:avLst/>
              </a:prstGeom>
              <a:blipFill>
                <a:blip r:embed="rId5"/>
                <a:stretch>
                  <a:fillRect l="-2145" t="-115385" b="-17033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735773-370E-74D3-3367-0349760DE89B}"/>
              </a:ext>
            </a:extLst>
          </p:cNvPr>
          <p:cNvCxnSpPr>
            <a:stCxn id="7" idx="0"/>
          </p:cNvCxnSpPr>
          <p:nvPr/>
        </p:nvCxnSpPr>
        <p:spPr>
          <a:xfrm flipV="1">
            <a:off x="4137384" y="3146854"/>
            <a:ext cx="681751" cy="8141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8CF522-99CA-DD1B-2D16-17D022D5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Generalized</a:t>
            </a:r>
            <a:r>
              <a:rPr lang="de-DE" dirty="0"/>
              <a:t> Additive Models (GAMs)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6310628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3E32B-B96C-8076-8FC4-C3BCCF27C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Quantile Regression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AD419-AC89-4051-EDB9-A898F5F5BC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DE" sz="2800"/>
                  <a:t>estimate </a:t>
                </a:r>
                <a:r>
                  <a:rPr lang="en-DE" sz="2800" dirty="0"/>
                  <a:t>quantile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DE" sz="2800" dirty="0"/>
                  <a:t> of distribution instead of conditional mean by </a:t>
                </a:r>
                <a:r>
                  <a:rPr lang="en-GB" sz="2800" dirty="0"/>
                  <a:t>minimizing pinball loss </a:t>
                </a:r>
                <a:r>
                  <a:rPr lang="en-DE"/>
                  <a:t>instead of squared error loss</a:t>
                </a:r>
                <a:r>
                  <a:rPr lang="en-GB" dirty="0"/>
                  <a:t> (choice of loss function defines point estimate)</a:t>
                </a:r>
                <a:r>
                  <a:rPr lang="en-GB" sz="2800" dirty="0"/>
                  <a:t>:</a:t>
                </a:r>
              </a:p>
              <a:p>
                <a:pPr marL="0" indent="0">
                  <a:buNone/>
                </a:pPr>
                <a:r>
                  <a:rPr lang="de-DE" sz="2800" dirty="0"/>
                  <a:t>	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DE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d>
                    <m:nary>
                      <m:naryPr>
                        <m:chr m:val="∑"/>
                        <m:supHide m:val="on"/>
                        <m:ctrlPr>
                          <a:rPr lang="en-DE" sz="28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80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  <m:sub>
                            <m:r>
                              <a:rPr lang="en-GB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  <m:sup/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80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GB" sz="280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sSub>
                              <m:sSub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  <m:sup/>
                          <m:e>
                            <m:d>
                              <m:d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GB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GB" sz="280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p</a:t>
                </a:r>
                <a:r>
                  <a:rPr lang="en-DE" dirty="0"/>
                  <a:t>ossible with various ML methods, including neural networks and tree-based methods (like random forests or gradient boosting)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different options for prediction of full probability distribution:</a:t>
                </a:r>
              </a:p>
              <a:p>
                <a:r>
                  <a:rPr lang="en-GB" dirty="0"/>
                  <a:t>approximate from a few predicted quantiles by fitting (assumed distribution or spline) or </a:t>
                </a:r>
                <a:r>
                  <a:rPr lang="en-GB" dirty="0">
                    <a:hlinkClick r:id="rId2"/>
                  </a:rPr>
                  <a:t>quantile-parameterized distributions</a:t>
                </a:r>
                <a:endParaRPr lang="en-DE" sz="2800" dirty="0"/>
              </a:p>
              <a:p>
                <a:r>
                  <a:rPr lang="en-GB" dirty="0"/>
                  <a:t>PDF assumption for model and e</a:t>
                </a:r>
                <a:r>
                  <a:rPr lang="en-DE" dirty="0"/>
                  <a:t>stimation o</a:t>
                </a:r>
                <a:r>
                  <a:rPr lang="en-GB" dirty="0"/>
                  <a:t>f its parameters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AD419-AC89-4051-EDB9-A898F5F5BC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3"/>
                <a:stretch>
                  <a:fillRect l="-1086" t="-32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AF8E7-FB35-347F-9A1E-3B9BF131E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36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480571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7CC2D-C814-B16B-84C3-4DABB9BC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Ensemble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7B5A5-82ED-1D02-930E-4F2601CE7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idea: combine several individual models (often of the same type) to form an ensemble model with better predictive performance than each of its constituents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</a:t>
            </a:r>
            <a:r>
              <a:rPr lang="en-GB" sz="2600" dirty="0"/>
              <a:t>learning in several different ways from the training data</a:t>
            </a:r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the trainings of the individual constituent models are (kind of) independent</a:t>
            </a:r>
          </a:p>
          <a:p>
            <a:r>
              <a:rPr lang="en-DE" sz="2600" dirty="0"/>
              <a:t>outputs of individual models are combined (e.g., averaged)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85B20-BA51-4038-7069-D42DBC761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319081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DA92C-9B6F-EACE-FBCB-0A34D2B69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Bagging (</a:t>
            </a:r>
            <a:r>
              <a:rPr lang="en-GB" dirty="0"/>
              <a:t>B</a:t>
            </a:r>
            <a:r>
              <a:rPr lang="en-DE" dirty="0"/>
              <a:t>ootstrap Aggregating)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C02DC-25CB-8047-6BEA-388E7D6AD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07760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 err="1"/>
              <a:t>i</a:t>
            </a:r>
            <a:r>
              <a:rPr lang="en-DE" dirty="0"/>
              <a:t>dea: </a:t>
            </a:r>
            <a:r>
              <a:rPr lang="en-GB" dirty="0"/>
              <a:t>t</a:t>
            </a:r>
            <a:r>
              <a:rPr lang="en-DE" dirty="0"/>
              <a:t>rain individual models </a:t>
            </a:r>
            <a:r>
              <a:rPr lang="en-DE"/>
              <a:t>of ensemble</a:t>
            </a:r>
            <a:r>
              <a:rPr lang="de-DE" dirty="0"/>
              <a:t> </a:t>
            </a:r>
            <a:r>
              <a:rPr lang="en-DE"/>
              <a:t>on random subsets </a:t>
            </a:r>
            <a:r>
              <a:rPr lang="en-DE" dirty="0"/>
              <a:t>of the training data (random sample with replacement)</a:t>
            </a:r>
          </a:p>
          <a:p>
            <a:r>
              <a:rPr lang="en-GB" dirty="0">
                <a:sym typeface="Wingdings" pitchFamily="2" charset="2"/>
              </a:rPr>
              <a:t>r</a:t>
            </a:r>
            <a:r>
              <a:rPr lang="en-DE" dirty="0">
                <a:sym typeface="Wingdings" pitchFamily="2" charset="2"/>
              </a:rPr>
              <a:t>educes variance of ensemble model compared to individual models</a:t>
            </a:r>
          </a:p>
          <a:p>
            <a:r>
              <a:rPr lang="en-DE" dirty="0">
                <a:sym typeface="Wingdings" pitchFamily="2" charset="2"/>
              </a:rPr>
              <a:t>but not bias  use low-bias base models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individual models c</a:t>
            </a:r>
            <a:r>
              <a:rPr lang="en-DE" dirty="0">
                <a:sym typeface="Wingdings" pitchFamily="2" charset="2"/>
              </a:rPr>
              <a:t>ombined by averaging (regression) or majority voting (classification)  committee of models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06D658F3-7E51-0D33-E43E-2712E69F2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079" y="2714917"/>
            <a:ext cx="5290881" cy="251923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A8862-7F8D-C5B7-3F2D-711218DDB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38</a:t>
            </a:fld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40354E-B0C7-7C26-FF19-1C5CFF8579F1}"/>
              </a:ext>
            </a:extLst>
          </p:cNvPr>
          <p:cNvSpPr txBox="1"/>
          <p:nvPr/>
        </p:nvSpPr>
        <p:spPr>
          <a:xfrm>
            <a:off x="8068940" y="2210648"/>
            <a:ext cx="2863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</a:t>
            </a:r>
            <a:r>
              <a:rPr lang="en-DE" dirty="0"/>
              <a:t>xample with decision trees: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40BE7-41B5-D8CF-5210-E512B79480F3}"/>
              </a:ext>
            </a:extLst>
          </p:cNvPr>
          <p:cNvSpPr txBox="1"/>
          <p:nvPr/>
        </p:nvSpPr>
        <p:spPr>
          <a:xfrm>
            <a:off x="11353800" y="535483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944071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668D-26E7-A583-5BDA-216C95A93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Random Subspace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C095A-B308-310C-26F0-9C804FE66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</a:t>
            </a:r>
            <a:r>
              <a:rPr lang="en-DE" dirty="0"/>
              <a:t>ka feature bagging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idea: t</a:t>
            </a:r>
            <a:r>
              <a:rPr lang="en-DE" dirty="0"/>
              <a:t>rain different members (models) of an ensemble method on random subsets of all features (random sample with replacement)</a:t>
            </a:r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educe correlation between ensemble members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individual models c</a:t>
            </a:r>
            <a:r>
              <a:rPr lang="en-DE" dirty="0">
                <a:sym typeface="Wingdings" pitchFamily="2" charset="2"/>
              </a:rPr>
              <a:t>ombined by averaging (regression) or majority voting (classification)  committee of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7E588-8252-FE67-38ED-5304C3CD0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746814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30C8C-7EC4-5627-3DF2-7D94C861A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Random Forest</a:t>
            </a:r>
            <a:r>
              <a:rPr lang="de-DE" dirty="0"/>
              <a:t>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CC7C9-6112-AE80-029C-4C71EC710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600" dirty="0"/>
              <a:t>ensemble method using</a:t>
            </a:r>
          </a:p>
          <a:p>
            <a:r>
              <a:rPr lang="en-GB" sz="2600" dirty="0"/>
              <a:t>d</a:t>
            </a:r>
            <a:r>
              <a:rPr lang="en-DE" sz="2600" dirty="0"/>
              <a:t>ecision trees as individual models (usually, rather large, low-bias decision trees)</a:t>
            </a:r>
          </a:p>
          <a:p>
            <a:r>
              <a:rPr lang="en-GB" sz="2600" dirty="0"/>
              <a:t>combination of b</a:t>
            </a:r>
            <a:r>
              <a:rPr lang="en-DE" sz="2600" dirty="0"/>
              <a:t>agging and </a:t>
            </a:r>
            <a:r>
              <a:rPr lang="en-GB" sz="2600" dirty="0"/>
              <a:t>r</a:t>
            </a:r>
            <a:r>
              <a:rPr lang="en-DE" sz="2600" dirty="0"/>
              <a:t>andom subspace method (features sampled at each node in the trees)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DE" sz="2600" dirty="0"/>
              <a:t>compared to individual decision trees, random forests</a:t>
            </a:r>
          </a:p>
          <a:p>
            <a:pPr>
              <a:buFont typeface="System Font Regular"/>
              <a:buChar char="+"/>
            </a:pPr>
            <a:r>
              <a:rPr lang="en-GB" sz="2600" dirty="0"/>
              <a:t>r</a:t>
            </a:r>
            <a:r>
              <a:rPr lang="en-DE" sz="2600" dirty="0"/>
              <a:t>educe variance </a:t>
            </a:r>
            <a:r>
              <a:rPr lang="en-DE" sz="2600" dirty="0">
                <a:sym typeface="Wingdings" pitchFamily="2" charset="2"/>
              </a:rPr>
              <a:t> improve accuracy</a:t>
            </a:r>
            <a:endParaRPr lang="en-DE" sz="2600" dirty="0"/>
          </a:p>
          <a:p>
            <a:pPr>
              <a:buFont typeface="System Font Regular"/>
              <a:buChar char="-"/>
            </a:pPr>
            <a:r>
              <a:rPr lang="en-DE" sz="2600" dirty="0"/>
              <a:t>lose explainability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one of the most popular o</a:t>
            </a:r>
            <a:r>
              <a:rPr lang="en-DE" sz="2600" dirty="0"/>
              <a:t>ff-the-shelf ML algorithms (often, good performance with little hyperparameter tuning and data preparation)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96B67-4F49-A270-7136-471B94959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33842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C2C1D-C9A7-FAD1-3988-6B2CA0701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Boosting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09707-E1B1-CACB-24E7-02F32336A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2896"/>
            <a:ext cx="10941908" cy="45934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idea: sequential</a:t>
            </a:r>
            <a:r>
              <a:rPr lang="en-DE" dirty="0"/>
              <a:t>ly learn and combine several “weak” learners (</a:t>
            </a:r>
            <a:r>
              <a:rPr lang="en-GB" dirty="0"/>
              <a:t>such as small decision trees, but in principle </a:t>
            </a:r>
            <a:r>
              <a:rPr lang="en-DE" dirty="0"/>
              <a:t>any ML algorithm) to construct a “strong” one</a:t>
            </a:r>
          </a:p>
          <a:p>
            <a:pPr marL="0" indent="0">
              <a:buNone/>
            </a:pPr>
            <a:r>
              <a:rPr lang="en-DE" dirty="0">
                <a:sym typeface="Wingdings" pitchFamily="2" charset="2"/>
              </a:rPr>
              <a:t> </a:t>
            </a:r>
            <a:r>
              <a:rPr lang="en-GB" dirty="0">
                <a:sym typeface="Wingdings" pitchFamily="2" charset="2"/>
              </a:rPr>
              <a:t>g</a:t>
            </a:r>
            <a:r>
              <a:rPr lang="en-DE" dirty="0">
                <a:sym typeface="Wingdings" pitchFamily="2" charset="2"/>
              </a:rPr>
              <a:t>radually (in a greedy fashion) </a:t>
            </a:r>
            <a:r>
              <a:rPr lang="en-GB" dirty="0">
                <a:sym typeface="Wingdings" pitchFamily="2" charset="2"/>
              </a:rPr>
              <a:t>r</a:t>
            </a:r>
            <a:r>
              <a:rPr lang="en-DE" dirty="0">
                <a:sym typeface="Wingdings" pitchFamily="2" charset="2"/>
              </a:rPr>
              <a:t>educing bias of ensemble model</a:t>
            </a: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i</a:t>
            </a:r>
            <a:r>
              <a:rPr lang="en-DE" dirty="0"/>
              <a:t>n simple terms:</a:t>
            </a:r>
          </a:p>
          <a:p>
            <a:pPr marL="0" indent="0">
              <a:buNone/>
            </a:pPr>
            <a:r>
              <a:rPr lang="en-GB" dirty="0"/>
              <a:t>building a model from the training data, then creating a second model that attempts to correct the errors from the first model, …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e</a:t>
            </a:r>
            <a:r>
              <a:rPr lang="en-GB" dirty="0"/>
              <a:t>ach subsequent weak learner is forced to concentrate on the examples that are missed by the previous ones in the sequence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n</a:t>
            </a:r>
            <a:r>
              <a:rPr lang="en-DE" dirty="0"/>
              <a:t>ot a committee </a:t>
            </a:r>
            <a:r>
              <a:rPr lang="en-DE"/>
              <a:t>of models</a:t>
            </a:r>
            <a:r>
              <a:rPr lang="de-DE" dirty="0"/>
              <a:t>:</a:t>
            </a:r>
            <a:endParaRPr lang="en-DE" dirty="0"/>
          </a:p>
          <a:p>
            <a:pPr marL="0" indent="0">
              <a:buNone/>
            </a:pPr>
            <a:r>
              <a:rPr lang="en-GB" dirty="0"/>
              <a:t>t</a:t>
            </a:r>
            <a:r>
              <a:rPr lang="en-DE" dirty="0"/>
              <a:t>ypically, use simple, high-bias methods as individual models</a:t>
            </a:r>
            <a:r>
              <a:rPr lang="en-GB" dirty="0"/>
              <a:t> (e.g., small decision trees)</a:t>
            </a:r>
          </a:p>
          <a:p>
            <a:pPr marL="0" indent="0">
              <a:buNone/>
            </a:pPr>
            <a:r>
              <a:rPr lang="en-GB" dirty="0"/>
              <a:t>most prominent: AdaBoost, Gradient Boosting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69EBD-1863-BDF6-A7ED-D9581267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359071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C7F1B-05DC-84C8-266E-003FBB0E6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Forward Stagewise Additive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3625D6-FD9E-F948-D1C3-0B35E62DB8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boosting can be understood as fitting an additive expansion in a set of basis functions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(e.g., decision trees):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nary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loss minimization of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400" dirty="0"/>
                  <a:t> computationally expensive </a:t>
                </a:r>
                <a:r>
                  <a:rPr lang="en-GB" sz="2400" dirty="0">
                    <a:sym typeface="Wingdings" pitchFamily="2" charset="2"/>
                  </a:rPr>
                  <a:t> sequentially add and fit individual basis functions without changing already fitted ones</a:t>
                </a: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boosting algorithm</a:t>
                </a:r>
                <a:r>
                  <a:rPr lang="de-DE" sz="2400" dirty="0">
                    <a:sym typeface="Wingdings" pitchFamily="2" charset="2"/>
                  </a:rPr>
                  <a:t>:</a:t>
                </a:r>
                <a:endParaRPr lang="de-DE" sz="2400" b="0" dirty="0"/>
              </a:p>
              <a:p>
                <a:pPr marL="0" indent="0">
                  <a:buNone/>
                </a:pPr>
                <a:r>
                  <a:rPr lang="en-GB" sz="2400" dirty="0"/>
                  <a:t>f</a:t>
                </a:r>
                <a:r>
                  <a:rPr lang="en-DE" sz="2400" dirty="0"/>
                  <a:t>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DE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sz="2400" dirty="0"/>
                  <a:t>:</a:t>
                </a:r>
                <a:endParaRPr lang="en-DE" sz="24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sz="2400" dirty="0"/>
                  <a:t>c</a:t>
                </a:r>
                <a:r>
                  <a:rPr lang="en-DE" sz="2400"/>
                  <a:t>ompute</a:t>
                </a:r>
                <a:r>
                  <a:rPr lang="en-DE" sz="2400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e>
                    </m:func>
                  </m:oMath>
                </a14:m>
                <a:r>
                  <a:rPr lang="en-GB" sz="2400" dirty="0"/>
                  <a:t>	</a:t>
                </a:r>
                <a:r>
                  <a:rPr lang="en-GB" sz="1500" dirty="0"/>
                  <a:t>(</a:t>
                </a:r>
                <a:r>
                  <a:rPr lang="en-GB" sz="1500" dirty="0" err="1"/>
                  <a:t>i</a:t>
                </a:r>
                <a:r>
                  <a:rPr lang="en-DE" sz="1500"/>
                  <a:t>nitialize</a:t>
                </a:r>
                <a:r>
                  <a:rPr lang="de-DE" sz="1500" dirty="0"/>
                  <a:t>d </a:t>
                </a:r>
                <a:r>
                  <a:rPr lang="de-DE" sz="1500" dirty="0" err="1"/>
                  <a:t>with</a:t>
                </a:r>
                <a:r>
                  <a:rPr lang="en-DE" sz="150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5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DE" sz="1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5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1500" dirty="0"/>
                  <a:t>)</a:t>
                </a:r>
                <a:endParaRPr lang="en-DE" sz="1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sz="2400" dirty="0"/>
                  <a:t>s</a:t>
                </a:r>
                <a:r>
                  <a:rPr lang="en-DE" sz="2400" dirty="0"/>
                  <a:t>et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3625D6-FD9E-F948-D1C3-0B35E62DB8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965" t="-6686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A6463-DD10-C212-4A85-931DE270D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904736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Diagram&#10;&#10;Description automatically generated">
            <a:extLst>
              <a:ext uri="{FF2B5EF4-FFF2-40B4-BE49-F238E27FC236}">
                <a16:creationId xmlns:a16="http://schemas.microsoft.com/office/drawing/2014/main" id="{0CA3AFA3-F6B8-B56D-8021-7C316ACB5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718" y="1206282"/>
            <a:ext cx="4813167" cy="52865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1601DD-6186-F43B-F104-1C68DC2C4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AdaBoost (</a:t>
            </a:r>
            <a:r>
              <a:rPr lang="en-GB" dirty="0"/>
              <a:t>Adaptive Boosting</a:t>
            </a:r>
            <a:r>
              <a:rPr lang="en-DE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7F7E3-45DB-77D2-615D-DE71E947B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Autofit/>
          </a:bodyPr>
          <a:lstStyle/>
          <a:p>
            <a:r>
              <a:rPr lang="de-DE" dirty="0" err="1"/>
              <a:t>iteratively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weak</a:t>
            </a:r>
            <a:r>
              <a:rPr lang="de-DE" dirty="0"/>
              <a:t> </a:t>
            </a:r>
            <a:r>
              <a:rPr lang="de-DE" dirty="0" err="1"/>
              <a:t>classifiers</a:t>
            </a:r>
            <a:r>
              <a:rPr lang="de-DE" dirty="0"/>
              <a:t> on </a:t>
            </a:r>
            <a:r>
              <a:rPr lang="de-DE" dirty="0" err="1"/>
              <a:t>weighted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emphasizing</a:t>
            </a:r>
            <a:r>
              <a:rPr lang="de-DE" dirty="0"/>
              <a:t> </a:t>
            </a:r>
            <a:r>
              <a:rPr lang="de-DE" dirty="0" err="1"/>
              <a:t>misclassified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(</a:t>
            </a:r>
            <a:r>
              <a:rPr lang="en-GB" dirty="0"/>
              <a:t>weights increased for incorrect predictions, decreased for correct ones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combine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weighted</a:t>
            </a:r>
            <a:r>
              <a:rPr lang="de-DE" dirty="0"/>
              <a:t> vote (</a:t>
            </a:r>
            <a:r>
              <a:rPr lang="en-GB" dirty="0"/>
              <a:t>forward stagewise additive </a:t>
            </a:r>
            <a:r>
              <a:rPr lang="en-GB" dirty="0" err="1"/>
              <a:t>modeling</a:t>
            </a:r>
            <a:r>
              <a:rPr lang="en-GB" dirty="0"/>
              <a:t> )</a:t>
            </a:r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528EF5-9B0D-7CE5-A7DC-34A33AB06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637201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EA104-F600-905B-30DA-DB4B45455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72DB91-E194-5D96-41E3-AA6D2A3518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000" dirty="0"/>
                  <a:t>in f</a:t>
                </a:r>
                <a:r>
                  <a:rPr lang="en-DE" sz="2000"/>
                  <a:t>orward </a:t>
                </a:r>
                <a:r>
                  <a:rPr lang="de-DE" sz="2000" dirty="0"/>
                  <a:t>s</a:t>
                </a:r>
                <a:r>
                  <a:rPr lang="en-DE" sz="2000"/>
                  <a:t>tagewise </a:t>
                </a:r>
                <a:r>
                  <a:rPr lang="de-DE" sz="2000" dirty="0"/>
                  <a:t>a</a:t>
                </a:r>
                <a:r>
                  <a:rPr lang="en-DE" sz="2000"/>
                  <a:t>dditive </a:t>
                </a:r>
                <a:r>
                  <a:rPr lang="de-DE" sz="2000" dirty="0"/>
                  <a:t>m</a:t>
                </a:r>
                <a:r>
                  <a:rPr lang="en-DE" sz="2000"/>
                  <a:t>odeling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:r>
                  <a:rPr lang="de-DE" sz="20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nary>
                  </m:oMath>
                </a14:m>
                <a:endParaRPr lang="de-DE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DE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e>
                    </m:func>
                  </m:oMath>
                </a14:m>
                <a:r>
                  <a:rPr lang="de-DE" sz="2000" dirty="0"/>
                  <a:t>	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each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stage</a:t>
                </a: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>
                    <a:sym typeface="Wingdings" pitchFamily="2" charset="2"/>
                  </a:rPr>
                  <a:t> </a:t>
                </a:r>
                <a:r>
                  <a:rPr lang="en-DE" sz="2000"/>
                  <a:t>can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en-DE" sz="2000"/>
                  <a:t>hard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solve</a:t>
                </a:r>
                <a:r>
                  <a:rPr lang="de-DE" sz="2000" dirty="0"/>
                  <a:t> </a:t>
                </a:r>
                <a:r>
                  <a:rPr lang="en-DE" sz="2000"/>
                  <a:t>for general</a:t>
                </a:r>
                <a:r>
                  <a:rPr lang="de-DE" sz="2000" dirty="0"/>
                  <a:t> </a:t>
                </a:r>
                <a:r>
                  <a:rPr lang="de-DE" sz="2000" dirty="0" err="1"/>
                  <a:t>loss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function</a:t>
                </a:r>
                <a:r>
                  <a:rPr lang="en-DE" sz="200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idea: approximation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sz="2000" dirty="0"/>
                  <a:t> by its </a:t>
                </a:r>
                <a:r>
                  <a:rPr lang="de-DE" sz="2000" dirty="0"/>
                  <a:t>Taylor </a:t>
                </a:r>
                <a:r>
                  <a:rPr lang="de-DE" sz="2000" dirty="0" err="1"/>
                  <a:t>expansion</a:t>
                </a:r>
                <a:endParaRPr lang="de-DE" sz="2000" dirty="0"/>
              </a:p>
              <a:p>
                <a:pPr marL="0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den>
                                </m:f>
                              </m:e>
                            </m:d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sub>
                        </m:sSub>
                      </m:e>
                    </m:nary>
                  </m:oMath>
                </a14:m>
                <a:endParaRPr lang="en-US" sz="20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US" sz="2000" dirty="0">
                    <a:sym typeface="Wingdings" pitchFamily="2" charset="2"/>
                  </a:rPr>
                  <a:t> decreased by going a step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2000" dirty="0">
                    <a:sym typeface="Wingdings" pitchFamily="2" charset="2"/>
                  </a:rPr>
                  <a:t> (potentially optimized via line search) in the direction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  <m:func>
                      <m:func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</m:t>
                        </m:r>
                      </m:fName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</m:e>
                    </m:func>
                  </m:oMath>
                </a14:m>
                <a:r>
                  <a:rPr lang="en-GB" sz="2000" dirty="0">
                    <a:sym typeface="Wingdings" pitchFamily="2" charset="2"/>
                  </a:rPr>
                  <a:t> (functional gradient descent)</a:t>
                </a:r>
              </a:p>
              <a:p>
                <a:pPr marL="0" indent="0">
                  <a:buNone/>
                </a:pPr>
                <a:r>
                  <a:rPr lang="en-GB" sz="2000" dirty="0">
                    <a:sym typeface="Wingdings" pitchFamily="2" charset="2"/>
                  </a:rPr>
                  <a:t>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sz="2000" dirty="0">
                    <a:sym typeface="Wingdings" pitchFamily="2" charset="2"/>
                  </a:rPr>
                  <a:t> by fitting a </a:t>
                </a:r>
                <a:r>
                  <a:rPr lang="en-GB" sz="2000" dirty="0"/>
                  <a:t>regression model with targets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GB" sz="2000" dirty="0"/>
                  <a:t> </a:t>
                </a:r>
                <a:r>
                  <a:rPr lang="en-GB" sz="2000" dirty="0">
                    <a:sym typeface="Wingdings" pitchFamily="2" charset="2"/>
                  </a:rPr>
                  <a:t>(typically </a:t>
                </a:r>
                <a:r>
                  <a:rPr lang="en-DE" sz="2000"/>
                  <a:t>decision </a:t>
                </a:r>
                <a:r>
                  <a:rPr lang="en-DE" sz="2000" dirty="0"/>
                  <a:t>tree regressors of </a:t>
                </a:r>
                <a:r>
                  <a:rPr lang="en-DE" sz="2000"/>
                  <a:t>fixed size</a:t>
                </a:r>
                <a:r>
                  <a:rPr lang="de-DE" sz="2000" dirty="0"/>
                  <a:t>: </a:t>
                </a:r>
                <a:r>
                  <a:rPr lang="en-GB" sz="2000" dirty="0"/>
                  <a:t>gradient-boosted decision trees</a:t>
                </a:r>
                <a:r>
                  <a:rPr lang="en-DE" sz="2000" dirty="0"/>
                  <a:t>)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w</a:t>
                </a:r>
                <a:r>
                  <a:rPr lang="en-DE" sz="2000" dirty="0"/>
                  <a:t>orks like this for both regression </a:t>
                </a:r>
                <a:r>
                  <a:rPr lang="en-DE" sz="2000"/>
                  <a:t>and classification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tasks</a:t>
                </a:r>
                <a:r>
                  <a:rPr lang="en-DE" sz="2000"/>
                  <a:t> </a:t>
                </a:r>
                <a:r>
                  <a:rPr lang="en-DE" sz="2000" dirty="0"/>
                  <a:t>(just different loss functions)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72DB91-E194-5D96-41E3-AA6D2A3518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3"/>
                <a:stretch>
                  <a:fillRect l="-724" t="-2168" b="-86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91D43-DB5D-A463-A3A7-1C6FBE98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44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0E70B24-B239-6B5A-4941-1C2E2A0D8A71}"/>
                  </a:ext>
                </a:extLst>
              </p:cNvPr>
              <p:cNvSpPr txBox="1"/>
              <p:nvPr/>
            </p:nvSpPr>
            <p:spPr>
              <a:xfrm>
                <a:off x="6568966" y="1420642"/>
                <a:ext cx="5623034" cy="4397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ea typeface="Cambria Math" panose="02040503050406030204" pitchFamily="18" charset="0"/>
                  </a:rPr>
                  <a:t>define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0E70B24-B239-6B5A-4941-1C2E2A0D8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8966" y="1420642"/>
                <a:ext cx="5623034" cy="439736"/>
              </a:xfrm>
              <a:prstGeom prst="rect">
                <a:avLst/>
              </a:prstGeom>
              <a:blipFill>
                <a:blip r:embed="rId4"/>
                <a:stretch>
                  <a:fillRect l="-1126" t="-97222" b="-158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BE9C6EC-A585-71C6-D6FD-2A0CD4FF4AE6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4771697" y="1640510"/>
            <a:ext cx="1797269" cy="955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8CA190C-8FF0-AC03-01B0-B6C4F9B37BC6}"/>
                  </a:ext>
                </a:extLst>
              </p:cNvPr>
              <p:cNvSpPr txBox="1"/>
              <p:nvPr/>
            </p:nvSpPr>
            <p:spPr>
              <a:xfrm>
                <a:off x="7796178" y="3418505"/>
                <a:ext cx="295536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000" dirty="0"/>
                  <a:t>gradient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de-DE" sz="200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sz="2000" dirty="0"/>
                  <a:t>:</a:t>
                </a:r>
              </a:p>
              <a:p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this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iteration</a:t>
                </a:r>
                <a:endParaRPr lang="de-DE" sz="20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8CA190C-8FF0-AC03-01B0-B6C4F9B37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178" y="3418505"/>
                <a:ext cx="2955361" cy="707886"/>
              </a:xfrm>
              <a:prstGeom prst="rect">
                <a:avLst/>
              </a:prstGeom>
              <a:blipFill>
                <a:blip r:embed="rId5"/>
                <a:stretch>
                  <a:fillRect l="-2137" t="-3571" r="-1282" b="-160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B293591-13EF-0C1F-C260-9369E23A1F7C}"/>
              </a:ext>
            </a:extLst>
          </p:cNvPr>
          <p:cNvCxnSpPr>
            <a:cxnSpLocks/>
          </p:cNvCxnSpPr>
          <p:nvPr/>
        </p:nvCxnSpPr>
        <p:spPr>
          <a:xfrm flipH="1">
            <a:off x="6726621" y="3675177"/>
            <a:ext cx="1069557" cy="444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D83760D-ACB1-7FAB-563C-59DF7F5C33B8}"/>
              </a:ext>
            </a:extLst>
          </p:cNvPr>
          <p:cNvCxnSpPr>
            <a:cxnSpLocks/>
          </p:cNvCxnSpPr>
          <p:nvPr/>
        </p:nvCxnSpPr>
        <p:spPr>
          <a:xfrm flipH="1">
            <a:off x="7136524" y="4013734"/>
            <a:ext cx="659654" cy="379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A5532263-AF15-A425-9ADC-76B73390B499}"/>
              </a:ext>
            </a:extLst>
          </p:cNvPr>
          <p:cNvSpPr txBox="1"/>
          <p:nvPr/>
        </p:nvSpPr>
        <p:spPr>
          <a:xfrm>
            <a:off x="6568966" y="364227"/>
            <a:ext cx="1494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38AA2D-9D8B-E8FF-B0F8-CF83F5004309}"/>
              </a:ext>
            </a:extLst>
          </p:cNvPr>
          <p:cNvSpPr txBox="1"/>
          <p:nvPr/>
        </p:nvSpPr>
        <p:spPr>
          <a:xfrm>
            <a:off x="8973534" y="364227"/>
            <a:ext cx="147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34DCEC0-4205-9188-B99D-A2D8C465B561}"/>
              </a:ext>
            </a:extLst>
          </p:cNvPr>
          <p:cNvCxnSpPr>
            <a:stCxn id="6" idx="2"/>
          </p:cNvCxnSpPr>
          <p:nvPr/>
        </p:nvCxnSpPr>
        <p:spPr>
          <a:xfrm flipH="1">
            <a:off x="9059917" y="733559"/>
            <a:ext cx="648754" cy="790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0C5BE8B-AC41-4946-2525-C1D8E0EE29C5}"/>
              </a:ext>
            </a:extLst>
          </p:cNvPr>
          <p:cNvCxnSpPr>
            <a:stCxn id="5" idx="2"/>
          </p:cNvCxnSpPr>
          <p:nvPr/>
        </p:nvCxnSpPr>
        <p:spPr>
          <a:xfrm>
            <a:off x="7316254" y="733559"/>
            <a:ext cx="230174" cy="790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8655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1F451-D21B-1A9B-3447-2818BB01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Decision Tree Sizes for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A78C-C002-A9EA-AA62-35ACC38C5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c</a:t>
                </a:r>
                <a:r>
                  <a:rPr lang="en-DE" sz="2600" dirty="0"/>
                  <a:t>onsider degree to which features interact with each other </a:t>
                </a:r>
                <a:r>
                  <a:rPr lang="en-GB" sz="2600" dirty="0"/>
                  <a:t>in given data set</a:t>
                </a:r>
                <a:endParaRPr lang="en-DE" sz="2600" dirty="0"/>
              </a:p>
              <a:p>
                <a:r>
                  <a:rPr lang="en-DE" sz="2600" dirty="0"/>
                  <a:t>decision trees with single split (aka decision stumps): covering no interaction effects, just main effects of individual features</a:t>
                </a:r>
              </a:p>
              <a:p>
                <a:r>
                  <a:rPr lang="en-DE" sz="2600" dirty="0"/>
                  <a:t>decision trees with two splits: covering </a:t>
                </a:r>
                <a:r>
                  <a:rPr lang="en-GB" sz="2600" dirty="0"/>
                  <a:t>second-order interactions</a:t>
                </a:r>
              </a:p>
              <a:p>
                <a:r>
                  <a:rPr lang="en-DE" sz="2600" dirty="0"/>
                  <a:t>decision trees with three splits: covering </a:t>
                </a:r>
                <a:r>
                  <a:rPr lang="en-GB" sz="2600" dirty="0"/>
                  <a:t>third-order interactions</a:t>
                </a:r>
              </a:p>
              <a:p>
                <a:pPr marL="0" indent="0">
                  <a:buNone/>
                </a:pPr>
                <a:r>
                  <a:rPr lang="en-GB" sz="2600" dirty="0"/>
                  <a:t>(usually, interaction order not much higher than </a:t>
                </a:r>
                <a14:m>
                  <m:oMath xmlns:m="http://schemas.openxmlformats.org/officeDocument/2006/math">
                    <m:r>
                      <a:rPr lang="en-GB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sz="2600" dirty="0"/>
                  <a:t>5 in real-world data sets)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why boosting often works better than single large, low-bias model: uncorrelated learners, each focusing on a specific aspect of the data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A78C-C002-A9EA-AA62-35ACC38C5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1B1F2-8772-13C6-B4B9-FC78BDA93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983731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1AED6-5238-21B7-B855-D44901871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46</a:t>
            </a:fld>
            <a:endParaRPr lang="en-DE"/>
          </a:p>
        </p:txBody>
      </p:sp>
      <p:pic>
        <p:nvPicPr>
          <p:cNvPr id="1026" name="Picture 2" descr="Ensemble Learning: Bagging &amp; Boosting | by Fernando López | Towards ...">
            <a:extLst>
              <a:ext uri="{FF2B5EF4-FFF2-40B4-BE49-F238E27FC236}">
                <a16:creationId xmlns:a16="http://schemas.microsoft.com/office/drawing/2014/main" id="{185C8C33-5975-C3CD-7DBE-9F6CC059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40636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CFFBB3C-E644-5CCC-EE94-753135AAA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47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56EBFF2-C98B-0A52-F138-90B17F07C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38068"/>
            <a:ext cx="8421689" cy="5981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DFF0631-77D5-95C3-D2D8-C28CB7E6DD12}"/>
              </a:ext>
            </a:extLst>
          </p:cNvPr>
          <p:cNvSpPr txBox="1"/>
          <p:nvPr/>
        </p:nvSpPr>
        <p:spPr>
          <a:xfrm>
            <a:off x="8460829" y="847150"/>
            <a:ext cx="3731172" cy="584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b="1" dirty="0" err="1"/>
              <a:t>no</a:t>
            </a:r>
            <a:r>
              <a:rPr lang="de-DE" sz="2200" b="1" dirty="0"/>
              <a:t> </a:t>
            </a:r>
            <a:r>
              <a:rPr lang="de-DE" sz="2200" b="1" dirty="0" err="1"/>
              <a:t>universally</a:t>
            </a:r>
            <a:r>
              <a:rPr lang="de-DE" sz="2200" b="1" dirty="0"/>
              <a:t> </a:t>
            </a:r>
            <a:r>
              <a:rPr lang="de-DE" sz="2200" b="1" dirty="0" err="1"/>
              <a:t>best</a:t>
            </a:r>
            <a:r>
              <a:rPr lang="de-DE" sz="2200" b="1" dirty="0"/>
              <a:t> </a:t>
            </a:r>
            <a:r>
              <a:rPr lang="de-DE" sz="2200" b="1" dirty="0" err="1"/>
              <a:t>model</a:t>
            </a:r>
            <a:endParaRPr lang="de-DE" sz="2200" b="1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r>
              <a:rPr lang="de-DE" sz="2200" dirty="0" err="1"/>
              <a:t>choice</a:t>
            </a:r>
            <a:r>
              <a:rPr lang="de-DE" sz="2200" dirty="0"/>
              <a:t> </a:t>
            </a:r>
            <a:r>
              <a:rPr lang="de-DE" sz="2200" dirty="0" err="1"/>
              <a:t>depends</a:t>
            </a:r>
            <a:r>
              <a:rPr lang="de-DE" sz="2200" dirty="0"/>
              <a:t> 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 err="1"/>
              <a:t>characteristics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problem</a:t>
            </a:r>
            <a:r>
              <a:rPr lang="de-DE" sz="2200" dirty="0"/>
              <a:t> </a:t>
            </a:r>
            <a:r>
              <a:rPr lang="de-DE" sz="2200" dirty="0" err="1"/>
              <a:t>requirements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interpretability</a:t>
            </a:r>
            <a:r>
              <a:rPr lang="de-DE" sz="2200" dirty="0"/>
              <a:t> </a:t>
            </a:r>
            <a:r>
              <a:rPr lang="de-DE" sz="2200" dirty="0" err="1"/>
              <a:t>needs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computational</a:t>
            </a:r>
            <a:r>
              <a:rPr lang="de-DE" sz="2200" dirty="0"/>
              <a:t> </a:t>
            </a:r>
            <a:r>
              <a:rPr lang="de-DE" sz="2200" dirty="0" err="1"/>
              <a:t>constraints</a:t>
            </a:r>
            <a:endParaRPr lang="de-DE" sz="2200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r>
              <a:rPr lang="de-DE" sz="2200" dirty="0" err="1"/>
              <a:t>rule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thumb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unstructured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 (</a:t>
            </a:r>
            <a:r>
              <a:rPr lang="de-DE" sz="2200" dirty="0" err="1"/>
              <a:t>text</a:t>
            </a:r>
            <a:r>
              <a:rPr lang="de-DE" sz="2200" dirty="0"/>
              <a:t>, </a:t>
            </a:r>
            <a:r>
              <a:rPr lang="de-DE" sz="2200" dirty="0" err="1"/>
              <a:t>images</a:t>
            </a:r>
            <a:r>
              <a:rPr lang="de-DE" sz="2200" dirty="0"/>
              <a:t>/</a:t>
            </a:r>
            <a:r>
              <a:rPr lang="de-DE" sz="2200" dirty="0" err="1"/>
              <a:t>video</a:t>
            </a:r>
            <a:r>
              <a:rPr lang="de-DE" sz="2200" dirty="0"/>
              <a:t>, </a:t>
            </a:r>
            <a:r>
              <a:rPr lang="de-DE" sz="2200" dirty="0" err="1"/>
              <a:t>audio</a:t>
            </a:r>
            <a:r>
              <a:rPr lang="de-DE" sz="2200" dirty="0"/>
              <a:t>)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/>
              <a:t>deep</a:t>
            </a:r>
            <a:r>
              <a:rPr lang="de-DE" sz="2200" dirty="0"/>
              <a:t> </a:t>
            </a:r>
            <a:r>
              <a:rPr lang="de-DE" sz="2200" dirty="0" err="1"/>
              <a:t>learning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tabular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</a:t>
            </a:r>
            <a:r>
              <a:rPr lang="de-DE" sz="2200" dirty="0"/>
              <a:t> </a:t>
            </a:r>
            <a:r>
              <a:rPr lang="de-DE" sz="2200" dirty="0" err="1"/>
              <a:t>tree-based</a:t>
            </a:r>
            <a:r>
              <a:rPr lang="de-DE" sz="2200" dirty="0"/>
              <a:t> </a:t>
            </a:r>
            <a:r>
              <a:rPr lang="de-DE" sz="2200" dirty="0" err="1"/>
              <a:t>ensembles</a:t>
            </a:r>
            <a:r>
              <a:rPr lang="de-DE" sz="2200" dirty="0"/>
              <a:t> (</a:t>
            </a:r>
            <a:r>
              <a:rPr lang="de-DE" sz="2200" dirty="0" err="1"/>
              <a:t>gradient</a:t>
            </a:r>
            <a:r>
              <a:rPr lang="de-DE" sz="2200" dirty="0"/>
              <a:t> </a:t>
            </a:r>
            <a:r>
              <a:rPr lang="de-DE" sz="2200" dirty="0" err="1"/>
              <a:t>boosting</a:t>
            </a:r>
            <a:r>
              <a:rPr lang="de-DE" sz="2200" dirty="0"/>
              <a:t>, </a:t>
            </a:r>
            <a:r>
              <a:rPr lang="de-DE" sz="2200" dirty="0" err="1"/>
              <a:t>random</a:t>
            </a:r>
            <a:r>
              <a:rPr lang="de-DE" sz="2200" dirty="0"/>
              <a:t> </a:t>
            </a:r>
            <a:r>
              <a:rPr lang="de-DE" sz="2200" dirty="0" err="1"/>
              <a:t>forests</a:t>
            </a:r>
            <a:r>
              <a:rPr lang="de-DE" sz="2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214362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7675B1F-E173-98A4-AD50-0B743B2D6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4DD3C46-343C-0713-2B34-80AA55504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>
              <a:hlinkClick r:id="" action="ppaction://noaction"/>
            </a:endParaRPr>
          </a:p>
          <a:p>
            <a:pPr marL="0" indent="0">
              <a:buNone/>
            </a:pPr>
            <a:endParaRPr lang="de-DE" dirty="0">
              <a:hlinkClick r:id="" action="ppaction://noaction"/>
            </a:endParaRPr>
          </a:p>
          <a:p>
            <a:pPr marL="0" indent="0">
              <a:buNone/>
            </a:pPr>
            <a:r>
              <a:rPr lang="de-DE" dirty="0">
                <a:hlinkClick r:id="" action="ppaction://noaction"/>
              </a:rPr>
              <a:t>Kaggle competition: Spaceship Titanic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4AD244A2-3D2F-65EC-08C2-585F58E4A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41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2781</Words>
  <Application>Microsoft Macintosh PowerPoint</Application>
  <PresentationFormat>Breitbild</PresentationFormat>
  <Paragraphs>488</Paragraphs>
  <Slides>48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48</vt:i4>
      </vt:variant>
    </vt:vector>
  </HeadingPairs>
  <TitlesOfParts>
    <vt:vector size="56" baseType="lpstr">
      <vt:lpstr>AccordAlternate</vt:lpstr>
      <vt:lpstr>Aptos</vt:lpstr>
      <vt:lpstr>Aptos Display</vt:lpstr>
      <vt:lpstr>Arial</vt:lpstr>
      <vt:lpstr>Cambria Math</vt:lpstr>
      <vt:lpstr>System Font Regular</vt:lpstr>
      <vt:lpstr>Wingdings</vt:lpstr>
      <vt:lpstr>Office Theme</vt:lpstr>
      <vt:lpstr>Machine Learning</vt:lpstr>
      <vt:lpstr>Course Schedule</vt:lpstr>
      <vt:lpstr>Machine Learning</vt:lpstr>
      <vt:lpstr>What Is Machine Learning?</vt:lpstr>
      <vt:lpstr>PowerPoint-Präsentation</vt:lpstr>
      <vt:lpstr>Supervised Learning</vt:lpstr>
      <vt:lpstr>Supervised Learning in Mathematical Terms</vt:lpstr>
      <vt:lpstr>Example: Image Classification</vt:lpstr>
      <vt:lpstr>Algorithmic Families of Supervised Learning</vt:lpstr>
      <vt:lpstr>k-Nearest Neighbors (kNN)</vt:lpstr>
      <vt:lpstr>Image Classification with kNN</vt:lpstr>
      <vt:lpstr>Image Classification with kNN</vt:lpstr>
      <vt:lpstr>Decision Trees</vt:lpstr>
      <vt:lpstr>Decision Tree Learning</vt:lpstr>
      <vt:lpstr>Impurity Functions</vt:lpstr>
      <vt:lpstr>Under- and Over-Fitting</vt:lpstr>
      <vt:lpstr>Bias, Variance, Irreducible Error</vt:lpstr>
      <vt:lpstr>Bias-Variance Tradeoff</vt:lpstr>
      <vt:lpstr>Hyperparameters</vt:lpstr>
      <vt:lpstr>Generalization</vt:lpstr>
      <vt:lpstr>Curse of Dimensionality</vt:lpstr>
      <vt:lpstr>Manifold Hypothesis</vt:lpstr>
      <vt:lpstr>Linear Regression</vt:lpstr>
      <vt:lpstr>General Recipe of Statistical Learning</vt:lpstr>
      <vt:lpstr>Linear Model</vt:lpstr>
      <vt:lpstr>Loss Function</vt:lpstr>
      <vt:lpstr>Cost Function</vt:lpstr>
      <vt:lpstr>Cost Minimization</vt:lpstr>
      <vt:lpstr>Gradient Descent</vt:lpstr>
      <vt:lpstr>L^2 Regularization (Ridge Regression)</vt:lpstr>
      <vt:lpstr>Classification: Logistic Regression</vt:lpstr>
      <vt:lpstr>Multi-Classification: Softmax</vt:lpstr>
      <vt:lpstr>Generalized Linear Models (GLMs)</vt:lpstr>
      <vt:lpstr>Multiplicative Model</vt:lpstr>
      <vt:lpstr>Generalized Additive Models (GAMs)</vt:lpstr>
      <vt:lpstr>Quantile Regression</vt:lpstr>
      <vt:lpstr>Ensemble Learning</vt:lpstr>
      <vt:lpstr>Bagging (Bootstrap Aggregating)</vt:lpstr>
      <vt:lpstr>Random Subspace Method</vt:lpstr>
      <vt:lpstr>Random Forests</vt:lpstr>
      <vt:lpstr>Boosting</vt:lpstr>
      <vt:lpstr>Forward Stagewise Additive Modeling</vt:lpstr>
      <vt:lpstr>AdaBoost (Adaptive Boosting)</vt:lpstr>
      <vt:lpstr>Gradient Boosting</vt:lpstr>
      <vt:lpstr>Decision Tree Sizes for Boosting</vt:lpstr>
      <vt:lpstr>PowerPoint-Präsentation</vt:lpstr>
      <vt:lpstr>PowerPoint-Präsentation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84</cp:revision>
  <dcterms:created xsi:type="dcterms:W3CDTF">2025-01-09T11:24:27Z</dcterms:created>
  <dcterms:modified xsi:type="dcterms:W3CDTF">2026-04-11T22:11:54Z</dcterms:modified>
</cp:coreProperties>
</file>