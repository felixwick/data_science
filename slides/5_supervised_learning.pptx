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773" r:id="rId3"/>
    <p:sldId id="792" r:id="rId4"/>
    <p:sldId id="791" r:id="rId5"/>
    <p:sldId id="257" r:id="rId6"/>
    <p:sldId id="261" r:id="rId7"/>
    <p:sldId id="790" r:id="rId8"/>
    <p:sldId id="637" r:id="rId9"/>
    <p:sldId id="799" r:id="rId10"/>
    <p:sldId id="648" r:id="rId11"/>
    <p:sldId id="262" r:id="rId12"/>
    <p:sldId id="295" r:id="rId13"/>
    <p:sldId id="304" r:id="rId14"/>
    <p:sldId id="276" r:id="rId15"/>
    <p:sldId id="793" r:id="rId16"/>
    <p:sldId id="794" r:id="rId17"/>
    <p:sldId id="784" r:id="rId18"/>
    <p:sldId id="636" r:id="rId19"/>
    <p:sldId id="771" r:id="rId20"/>
    <p:sldId id="280" r:id="rId21"/>
    <p:sldId id="282" r:id="rId22"/>
    <p:sldId id="642" r:id="rId23"/>
    <p:sldId id="281" r:id="rId24"/>
    <p:sldId id="283" r:id="rId25"/>
    <p:sldId id="775" r:id="rId26"/>
    <p:sldId id="796" r:id="rId27"/>
    <p:sldId id="639" r:id="rId28"/>
    <p:sldId id="644" r:id="rId29"/>
    <p:sldId id="688" r:id="rId30"/>
    <p:sldId id="303" r:id="rId31"/>
    <p:sldId id="798" r:id="rId32"/>
    <p:sldId id="306" r:id="rId33"/>
    <p:sldId id="284" r:id="rId34"/>
    <p:sldId id="305" r:id="rId35"/>
    <p:sldId id="693" r:id="rId36"/>
    <p:sldId id="694" r:id="rId37"/>
    <p:sldId id="695" r:id="rId38"/>
    <p:sldId id="307" r:id="rId39"/>
    <p:sldId id="294" r:id="rId40"/>
    <p:sldId id="309" r:id="rId41"/>
    <p:sldId id="720" r:id="rId42"/>
    <p:sldId id="797" r:id="rId43"/>
    <p:sldId id="78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94"/>
  </p:normalViewPr>
  <p:slideViewPr>
    <p:cSldViewPr snapToGrid="0">
      <p:cViewPr varScale="1">
        <p:scale>
          <a:sx n="121" d="100"/>
          <a:sy n="121" d="100"/>
        </p:scale>
        <p:origin x="5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18/04/2026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466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18/04/2026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18/04/2026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18/04/2026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hyperlink" Target="https://cyclicboosting.org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Supervised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selection</a:t>
            </a:r>
            <a:endParaRPr lang="de-DE" dirty="0"/>
          </a:p>
          <a:p>
            <a:r>
              <a:rPr lang="de-DE" dirty="0"/>
              <a:t>linear &amp; </a:t>
            </a:r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091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61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474" y="3241273"/>
            <a:ext cx="1973985" cy="24872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223919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linear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4056" y="2789147"/>
            <a:ext cx="35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neural networks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4394000" y="1541888"/>
            <a:ext cx="2905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similarity-based learning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(analogies)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204420" y="5962157"/>
            <a:ext cx="3211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kernel machines</a:t>
            </a:r>
            <a:r>
              <a:rPr lang="en-GB" dirty="0"/>
              <a:t> (e.g., support-vector machines)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8629602" y="1541888"/>
            <a:ext cx="1786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37657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34850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77668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75725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19098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76554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75880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415504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414164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7572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82088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8107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82401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406973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4891753"/>
            <a:ext cx="3364315" cy="1324885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6A0BAD5-75B6-D644-4FE8-1E86B84B9009}"/>
              </a:ext>
            </a:extLst>
          </p:cNvPr>
          <p:cNvSpPr txBox="1"/>
          <p:nvPr/>
        </p:nvSpPr>
        <p:spPr>
          <a:xfrm>
            <a:off x="4204424" y="2611259"/>
            <a:ext cx="3211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nearest-neighbor-style/local methods</a:t>
            </a:r>
          </a:p>
        </p:txBody>
      </p:sp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(e.g., 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</a:t>
                </a:r>
                <a:r>
                  <a:rPr lang="en-DE"/>
                  <a:t>conditional d</a:t>
                </a:r>
                <a:r>
                  <a:rPr lang="de-DE" dirty="0" err="1"/>
                  <a:t>istributions</a:t>
                </a:r>
                <a:r>
                  <a:rPr lang="en-DE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17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799413-CA2F-07CE-86AC-4679A518E876}"/>
              </a:ext>
            </a:extLst>
          </p:cNvPr>
          <p:cNvSpPr txBox="1"/>
          <p:nvPr/>
        </p:nvSpPr>
        <p:spPr>
          <a:xfrm>
            <a:off x="6096000" y="2153885"/>
            <a:ext cx="35104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usually high-dimensional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279E467-CDFE-FB87-1FD5-429DE65BA67A}"/>
              </a:ext>
            </a:extLst>
          </p:cNvPr>
          <p:cNvCxnSpPr/>
          <p:nvPr/>
        </p:nvCxnSpPr>
        <p:spPr>
          <a:xfrm flipH="1" flipV="1">
            <a:off x="5349766" y="2091559"/>
            <a:ext cx="746234" cy="294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46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04D75F-E405-263F-EA1A-315E894EF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Learning </a:t>
            </a:r>
            <a:r>
              <a:rPr lang="de-DE" dirty="0" err="1"/>
              <a:t>Objective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8B5DA39-CB95-23D7-C08F-45AAE6FF0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</a:t>
                </a:r>
                <a:r>
                  <a:rPr lang="de-DE" dirty="0" err="1"/>
                  <a:t>oal</a:t>
                </a:r>
                <a:r>
                  <a:rPr lang="de-DE" dirty="0"/>
                  <a:t>: find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best</a:t>
                </a:r>
                <a:r>
                  <a:rPr lang="de-DE" dirty="0"/>
                  <a:t> </a:t>
                </a:r>
                <a:r>
                  <a:rPr lang="de-DE" dirty="0" err="1"/>
                  <a:t>predicts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from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</a:t>
                </a:r>
                <a:r>
                  <a:rPr lang="de-DE" dirty="0" err="1"/>
                  <a:t>parametric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select</a:t>
                </a:r>
                <a:r>
                  <a:rPr lang="de-DE" dirty="0"/>
                  <a:t> a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class</a:t>
                </a:r>
                <a:r>
                  <a:rPr lang="de-DE" dirty="0"/>
                  <a:t> (e.g., linear, </a:t>
                </a:r>
                <a:r>
                  <a:rPr lang="de-DE" dirty="0" err="1"/>
                  <a:t>quadratic</a:t>
                </a:r>
                <a:r>
                  <a:rPr lang="de-DE" dirty="0"/>
                  <a:t>, </a:t>
                </a:r>
                <a:r>
                  <a:rPr lang="de-DE" dirty="0" err="1"/>
                  <a:t>neural</a:t>
                </a:r>
                <a:r>
                  <a:rPr lang="de-DE" dirty="0"/>
                  <a:t> network)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within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class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training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parameter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 = </a:t>
                </a:r>
                <a:r>
                  <a:rPr lang="de-DE" dirty="0" err="1"/>
                  <a:t>finding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best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fixed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form</a:t>
                </a:r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subtask</a:t>
                </a:r>
                <a:r>
                  <a:rPr lang="de-DE" dirty="0"/>
                  <a:t> </a:t>
                </a:r>
                <a:r>
                  <a:rPr lang="de-DE" dirty="0" err="1"/>
                  <a:t>within</a:t>
                </a:r>
                <a:r>
                  <a:rPr lang="de-DE" dirty="0"/>
                  <a:t> </a:t>
                </a:r>
                <a:r>
                  <a:rPr lang="de-DE" dirty="0" err="1"/>
                  <a:t>supervised</a:t>
                </a:r>
                <a:r>
                  <a:rPr lang="de-DE" dirty="0"/>
                  <a:t> </a:t>
                </a:r>
                <a:r>
                  <a:rPr lang="de-DE" dirty="0" err="1"/>
                  <a:t>learning</a:t>
                </a:r>
                <a:r>
                  <a:rPr lang="de-DE" dirty="0"/>
                  <a:t>, not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full</a:t>
                </a:r>
                <a:r>
                  <a:rPr lang="de-DE" dirty="0"/>
                  <a:t> </a:t>
                </a:r>
                <a:r>
                  <a:rPr lang="de-DE" dirty="0" err="1"/>
                  <a:t>objective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8B5DA39-CB95-23D7-C08F-45AAE6FF0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32C684-EB42-D347-8DA7-9C769E2AE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447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combine: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</a:t>
            </a:r>
            <a:r>
              <a:rPr lang="en-DE"/>
              <a:t> Recipe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Selection: 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think of fitting ML algorithms as repeatable processes with different data sets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irreducible error (aka Bayes error):</a:t>
            </a:r>
          </a:p>
          <a:p>
            <a:pPr marL="0" indent="0">
              <a:buNone/>
            </a:pPr>
            <a:r>
              <a:rPr lang="en-GB" sz="2400" dirty="0"/>
              <a:t>inherent randomness (target generated from random variable)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>
                <a:sym typeface="Wingdings" pitchFamily="2" charset="2"/>
              </a:rPr>
              <a:t>limiting accuracy of ideal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727011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727011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14" y="2386580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478" y="2386579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13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FF5D6-0FCB-1A64-D8A4-EF19A04A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Cross-Validation (CV)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2C0B87-A83F-A198-A1CB-7CCC17142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99539" cy="48958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</a:t>
            </a:r>
            <a:r>
              <a:rPr lang="de-DE" sz="2600" dirty="0" err="1"/>
              <a:t>evaluate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on </a:t>
            </a:r>
            <a:r>
              <a:rPr lang="de-DE" sz="2600" dirty="0" err="1"/>
              <a:t>unseen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detect</a:t>
            </a:r>
            <a:r>
              <a:rPr lang="de-DE" sz="2600" dirty="0"/>
              <a:t> </a:t>
            </a:r>
            <a:r>
              <a:rPr lang="de-DE" sz="2600" dirty="0" err="1"/>
              <a:t>overfitting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basic</a:t>
            </a:r>
            <a:r>
              <a:rPr lang="de-DE" sz="2600" dirty="0"/>
              <a:t> </a:t>
            </a:r>
            <a:r>
              <a:rPr lang="de-DE" sz="2600" dirty="0" err="1"/>
              <a:t>idea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split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 err="1"/>
              <a:t>into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and </a:t>
            </a:r>
            <a:r>
              <a:rPr lang="de-DE" sz="2600" dirty="0" err="1"/>
              <a:t>validation</a:t>
            </a:r>
            <a:r>
              <a:rPr lang="de-DE" sz="2600" dirty="0"/>
              <a:t> </a:t>
            </a:r>
            <a:r>
              <a:rPr lang="de-DE" sz="2600" dirty="0" err="1"/>
              <a:t>parts</a:t>
            </a:r>
            <a:r>
              <a:rPr lang="de-DE" sz="2600" dirty="0"/>
              <a:t> multiple </a:t>
            </a:r>
            <a:r>
              <a:rPr lang="de-DE" sz="2600" dirty="0" err="1"/>
              <a:t>times</a:t>
            </a:r>
            <a:endParaRPr lang="de-DE" sz="2600" dirty="0"/>
          </a:p>
          <a:p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split</a:t>
            </a:r>
            <a:r>
              <a:rPr lang="de-DE" sz="2600" dirty="0"/>
              <a:t>, </a:t>
            </a:r>
            <a:r>
              <a:rPr lang="de-DE" sz="2600" dirty="0" err="1"/>
              <a:t>train</a:t>
            </a:r>
            <a:r>
              <a:rPr lang="de-DE" sz="2600" dirty="0"/>
              <a:t> on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part</a:t>
            </a:r>
            <a:r>
              <a:rPr lang="de-DE" sz="2600" dirty="0"/>
              <a:t> and </a:t>
            </a:r>
            <a:r>
              <a:rPr lang="de-DE" sz="2600" dirty="0" err="1"/>
              <a:t>test</a:t>
            </a:r>
            <a:r>
              <a:rPr lang="de-DE" sz="2600" dirty="0"/>
              <a:t> on </a:t>
            </a:r>
            <a:r>
              <a:rPr lang="de-DE" sz="2600" dirty="0" err="1"/>
              <a:t>validation</a:t>
            </a:r>
            <a:r>
              <a:rPr lang="de-DE" sz="2600" dirty="0"/>
              <a:t> </a:t>
            </a:r>
            <a:r>
              <a:rPr lang="de-DE" sz="2600" dirty="0" err="1"/>
              <a:t>part</a:t>
            </a:r>
            <a:endParaRPr lang="de-DE" sz="2600" dirty="0"/>
          </a:p>
          <a:p>
            <a:r>
              <a:rPr lang="de-DE" sz="2600" dirty="0" err="1"/>
              <a:t>average</a:t>
            </a:r>
            <a:r>
              <a:rPr lang="de-DE" sz="2600" dirty="0"/>
              <a:t> </a:t>
            </a:r>
            <a:r>
              <a:rPr lang="de-DE" sz="2600" dirty="0" err="1"/>
              <a:t>test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</a:t>
            </a:r>
            <a:r>
              <a:rPr lang="de-DE" sz="2600" dirty="0" err="1"/>
              <a:t>across</a:t>
            </a:r>
            <a:r>
              <a:rPr lang="de-DE" sz="2600" dirty="0"/>
              <a:t> </a:t>
            </a:r>
            <a:r>
              <a:rPr lang="de-DE" sz="2600" dirty="0" err="1"/>
              <a:t>splits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bias-variance</a:t>
            </a:r>
            <a:r>
              <a:rPr lang="de-DE" sz="2600" dirty="0"/>
              <a:t> trade-off in </a:t>
            </a:r>
            <a:r>
              <a:rPr lang="de-DE" sz="2600" dirty="0" err="1"/>
              <a:t>choosing</a:t>
            </a:r>
            <a:r>
              <a:rPr lang="de-DE" sz="2600" dirty="0"/>
              <a:t> </a:t>
            </a:r>
            <a:r>
              <a:rPr lang="de-DE" sz="2600" dirty="0" err="1"/>
              <a:t>k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F83C66-D41C-833C-B12E-291DA9CF4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024B4E-777B-E8C1-F970-DB2E1B3A04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1292" y="2042643"/>
            <a:ext cx="5655605" cy="3917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3214876-094B-F01B-B333-0810E37F5446}"/>
              </a:ext>
            </a:extLst>
          </p:cNvPr>
          <p:cNvSpPr txBox="1"/>
          <p:nvPr/>
        </p:nvSpPr>
        <p:spPr>
          <a:xfrm>
            <a:off x="8610600" y="1363960"/>
            <a:ext cx="14806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k-fold</a:t>
            </a:r>
            <a:r>
              <a:rPr lang="de-DE" sz="2400" dirty="0"/>
              <a:t> CV:</a:t>
            </a:r>
          </a:p>
        </p:txBody>
      </p:sp>
    </p:spTree>
    <p:extLst>
      <p:ext uri="{BB962C8B-B14F-4D97-AF65-F5344CB8AC3E}">
        <p14:creationId xmlns:p14="http://schemas.microsoft.com/office/powerpoint/2010/main" val="1284975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27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16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core of ML: </a:t>
            </a:r>
            <a:r>
              <a:rPr lang="en-GB" b="1" dirty="0"/>
              <a:t>empirical risk minimization</a:t>
            </a:r>
            <a:r>
              <a:rPr lang="en-GB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1149037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3303-F387-3100-2E13-C3E6B6F31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9525" y="4088766"/>
            <a:ext cx="6452475" cy="226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52475" cy="4351338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data</a:t>
            </a:r>
            <a:r>
              <a:rPr lang="de-DE" b="1" dirty="0"/>
              <a:t> </a:t>
            </a:r>
            <a:r>
              <a:rPr lang="de-DE" b="1" dirty="0" err="1"/>
              <a:t>sparsity</a:t>
            </a:r>
            <a:r>
              <a:rPr lang="de-DE" b="1" dirty="0"/>
              <a:t>:</a:t>
            </a:r>
          </a:p>
          <a:p>
            <a:pPr marL="0" indent="0">
              <a:buNone/>
            </a:pPr>
            <a:r>
              <a:rPr lang="de-DE" dirty="0" err="1"/>
              <a:t>dimensions</a:t>
            </a:r>
            <a:r>
              <a:rPr lang="de-DE" dirty="0"/>
              <a:t> (i.e., </a:t>
            </a:r>
            <a:r>
              <a:rPr lang="de-DE" dirty="0" err="1"/>
              <a:t>features</a:t>
            </a:r>
            <a:r>
              <a:rPr lang="de-DE" dirty="0"/>
              <a:t>) </a:t>
            </a:r>
            <a:r>
              <a:rPr lang="de-DE" dirty="0" err="1"/>
              <a:t>increase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rapidly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isolated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difficult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(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proximity</a:t>
            </a:r>
            <a:r>
              <a:rPr lang="de-DE" dirty="0"/>
              <a:t> </a:t>
            </a:r>
            <a:r>
              <a:rPr lang="de-DE" dirty="0" err="1"/>
              <a:t>breaks</a:t>
            </a:r>
            <a:r>
              <a:rPr lang="de-DE" dirty="0"/>
              <a:t> down)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overfitting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exponential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 (i.e., </a:t>
            </a:r>
            <a:r>
              <a:rPr lang="de-DE" dirty="0" err="1">
                <a:sym typeface="Wingdings" pitchFamily="2" charset="2"/>
              </a:rPr>
              <a:t>samples</a:t>
            </a:r>
            <a:r>
              <a:rPr lang="de-DE" dirty="0">
                <a:sym typeface="Wingdings" pitchFamily="2" charset="2"/>
              </a:rPr>
              <a:t>) </a:t>
            </a:r>
            <a:r>
              <a:rPr lang="de-DE" dirty="0" err="1">
                <a:sym typeface="Wingdings" pitchFamily="2" charset="2"/>
              </a:rPr>
              <a:t>requirements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CEE24D-FABC-73A1-4C86-85F33A33E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668" y="365125"/>
            <a:ext cx="3843064" cy="323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1233920" y="3105834"/>
                <a:ext cx="6739464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3600" b="1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de-DE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920" y="3105834"/>
                <a:ext cx="6739464" cy="646331"/>
              </a:xfrm>
              <a:prstGeom prst="rect">
                <a:avLst/>
              </a:prstGeom>
              <a:blipFill>
                <a:blip r:embed="rId2"/>
                <a:stretch>
                  <a:fillRect l="-564" r="-752" b="-192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015A3875-E01C-5C2E-486A-638AEF4D5FD0}"/>
              </a:ext>
            </a:extLst>
          </p:cNvPr>
          <p:cNvSpPr txBox="1"/>
          <p:nvPr/>
        </p:nvSpPr>
        <p:spPr>
          <a:xfrm>
            <a:off x="559770" y="2154964"/>
            <a:ext cx="42939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400"/>
              <a:t>following </a:t>
            </a:r>
            <a:r>
              <a:rPr lang="de-DE" sz="2400" dirty="0"/>
              <a:t>Gaussian</a:t>
            </a:r>
            <a:r>
              <a:rPr lang="en-DE" sz="2400"/>
              <a:t> distribution</a:t>
            </a:r>
            <a:endParaRPr lang="de-DE" sz="2400" dirty="0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BA42D332-B8E2-3DE4-EDF3-C5B4C19FCDCA}"/>
              </a:ext>
            </a:extLst>
          </p:cNvPr>
          <p:cNvSpPr/>
          <p:nvPr/>
        </p:nvSpPr>
        <p:spPr>
          <a:xfrm rot="5400000">
            <a:off x="2471760" y="1925377"/>
            <a:ext cx="415888" cy="18717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4174F5-A406-C8DD-7C8B-CA1461764539}"/>
              </a:ext>
            </a:extLst>
          </p:cNvPr>
          <p:cNvSpPr txBox="1"/>
          <p:nvPr/>
        </p:nvSpPr>
        <p:spPr>
          <a:xfrm>
            <a:off x="3508368" y="6108120"/>
            <a:ext cx="51752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>
                <a:sym typeface="Wingdings" pitchFamily="2" charset="2"/>
              </a:rPr>
              <a:t>training</a:t>
            </a:r>
            <a:r>
              <a:rPr lang="de-DE" sz="2800" dirty="0">
                <a:sym typeface="Wingdings" pitchFamily="2" charset="2"/>
              </a:rPr>
              <a:t>  </a:t>
            </a:r>
            <a:r>
              <a:rPr lang="de-DE" sz="2800" dirty="0" err="1">
                <a:sym typeface="Wingdings" pitchFamily="2" charset="2"/>
              </a:rPr>
              <a:t>parameter</a:t>
            </a:r>
            <a:r>
              <a:rPr lang="de-DE" sz="2800" dirty="0">
                <a:sym typeface="Wingdings" pitchFamily="2" charset="2"/>
              </a:rPr>
              <a:t> </a:t>
            </a:r>
            <a:r>
              <a:rPr lang="de-DE" sz="2800" dirty="0" err="1">
                <a:sym typeface="Wingdings" pitchFamily="2" charset="2"/>
              </a:rPr>
              <a:t>estimation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20</a:t>
            </a:fld>
            <a:endParaRPr lang="en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270013" y="3903873"/>
                <a:ext cx="4721773" cy="3908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600" baseline="-25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13" y="3903873"/>
                <a:ext cx="4721773" cy="390876"/>
              </a:xfrm>
              <a:prstGeom prst="rect">
                <a:avLst/>
              </a:prstGeom>
              <a:blipFill>
                <a:blip r:embed="rId3"/>
                <a:stretch>
                  <a:fillRect b="-37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84080" y="440405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61509" y="418169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4281-B504-483C-A85A-BE3BE45E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BCA55-171D-59B1-FCAC-5D804621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/>
              <p:nvPr/>
            </p:nvSpPr>
            <p:spPr>
              <a:xfrm>
                <a:off x="838199" y="3329603"/>
                <a:ext cx="4679731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600" dirty="0"/>
                  <a:t>l</a:t>
                </a:r>
                <a:r>
                  <a:rPr lang="en-DE" sz="2600"/>
                  <a:t>ink function:</a:t>
                </a:r>
                <a:endParaRPr lang="en-DE" sz="26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DE" sz="2600" dirty="0"/>
                  <a:t>linking range of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to linear predictor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600" dirty="0"/>
                  <a:t>c</a:t>
                </a:r>
                <a:r>
                  <a:rPr lang="en-DE" sz="2600" dirty="0"/>
                  <a:t>anonical forms for different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distributions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DE" sz="2600"/>
                  <a:t>identity for Gaussian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for Poisson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de-DE" sz="2600" dirty="0"/>
                  <a:t>...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329603"/>
                <a:ext cx="4679731" cy="3293209"/>
              </a:xfrm>
              <a:prstGeom prst="rect">
                <a:avLst/>
              </a:prstGeom>
              <a:blipFill>
                <a:blip r:embed="rId2"/>
                <a:stretch>
                  <a:fillRect l="-2162" t="-1923" r="-2162" b="-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829B18-8482-459B-14EB-217152DEE90B}"/>
              </a:ext>
            </a:extLst>
          </p:cNvPr>
          <p:cNvCxnSpPr>
            <a:cxnSpLocks/>
          </p:cNvCxnSpPr>
          <p:nvPr/>
        </p:nvCxnSpPr>
        <p:spPr>
          <a:xfrm flipV="1">
            <a:off x="2848303" y="2634526"/>
            <a:ext cx="1010471" cy="9416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B82FA6-C31C-EAED-7999-1CD63230F622}"/>
              </a:ext>
            </a:extLst>
          </p:cNvPr>
          <p:cNvSpPr txBox="1"/>
          <p:nvPr/>
        </p:nvSpPr>
        <p:spPr>
          <a:xfrm>
            <a:off x="6279602" y="3576145"/>
            <a:ext cx="5723212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600"/>
              <a:t>following </a:t>
            </a:r>
            <a:r>
              <a:rPr lang="en-DE" sz="2600" dirty="0"/>
              <a:t>probability distribution from exponential family (e.</a:t>
            </a:r>
            <a:r>
              <a:rPr lang="en-DE" sz="2600"/>
              <a:t>g.,</a:t>
            </a:r>
            <a:r>
              <a:rPr lang="de-DE" sz="2600" dirty="0"/>
              <a:t> </a:t>
            </a:r>
            <a:r>
              <a:rPr lang="en-DE" sz="2600"/>
              <a:t>Gaussian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en-DE" sz="2600"/>
              <a:t>Poisson)</a:t>
            </a:r>
            <a:endParaRPr lang="en-DE" sz="26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C20F7E-3D8A-813D-EA54-8155F52DC914}"/>
              </a:ext>
            </a:extLst>
          </p:cNvPr>
          <p:cNvCxnSpPr>
            <a:cxnSpLocks/>
          </p:cNvCxnSpPr>
          <p:nvPr/>
        </p:nvCxnSpPr>
        <p:spPr>
          <a:xfrm flipH="1" flipV="1">
            <a:off x="5334000" y="2894670"/>
            <a:ext cx="945602" cy="847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/>
              <p:nvPr/>
            </p:nvSpPr>
            <p:spPr>
              <a:xfrm>
                <a:off x="3756134" y="2175290"/>
                <a:ext cx="4679731" cy="4209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8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134" y="2175290"/>
                <a:ext cx="4679731" cy="420949"/>
              </a:xfrm>
              <a:prstGeom prst="rect">
                <a:avLst/>
              </a:prstGeom>
              <a:blipFill>
                <a:blip r:embed="rId3"/>
                <a:stretch>
                  <a:fillRect t="-5882" b="-4117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Geschweifte Klammer links 19">
            <a:extLst>
              <a:ext uri="{FF2B5EF4-FFF2-40B4-BE49-F238E27FC236}">
                <a16:creationId xmlns:a16="http://schemas.microsoft.com/office/drawing/2014/main" id="{48D9EA45-C203-8B38-70A2-4362DDCC1F08}"/>
              </a:ext>
            </a:extLst>
          </p:cNvPr>
          <p:cNvSpPr/>
          <p:nvPr/>
        </p:nvSpPr>
        <p:spPr>
          <a:xfrm rot="16200000">
            <a:off x="5212940" y="2047198"/>
            <a:ext cx="221856" cy="139651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8370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455" y="4152368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455" y="1314065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685910"/>
            <a:ext cx="2666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632566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24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10246423" y="788661"/>
            <a:ext cx="176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en-GB" sz="1800" dirty="0">
                <a:hlinkClick r:id="rId4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5"/>
                <a:stretch>
                  <a:fillRect l="-1609" t="-115385" b="-1703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 </a:t>
                </a:r>
                <a:r>
                  <a:rPr lang="en-DE"/>
                  <a:t>instead of squared error loss</a:t>
                </a:r>
                <a:r>
                  <a:rPr lang="en-GB" dirty="0"/>
                  <a:t> (choice of loss function defines point estimate)</a:t>
                </a:r>
                <a:r>
                  <a:rPr lang="en-GB" sz="2800" dirty="0"/>
                  <a:t>:</a:t>
                </a:r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GB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  <m:sup/>
                          <m:e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different options for prediction of full probability distribution:</a:t>
                </a:r>
              </a:p>
              <a:p>
                <a:r>
                  <a:rPr lang="en-GB" dirty="0"/>
                  <a:t>approximate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sz="2800" dirty="0"/>
              </a:p>
              <a:p>
                <a:r>
                  <a:rPr lang="en-GB" dirty="0"/>
                  <a:t>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32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indent="-342900"/>
                <a:r>
                  <a:rPr lang="en-DE" dirty="0"/>
                  <a:t>local method, instance-based learning</a:t>
                </a:r>
              </a:p>
              <a:p>
                <a:pPr marL="342900" indent="-342900"/>
                <a:r>
                  <a:rPr lang="en-DE" dirty="0"/>
                  <a:t>non-parametric</a:t>
                </a:r>
              </a:p>
              <a:p>
                <a:pPr marL="342900" indent="-342900"/>
                <a:r>
                  <a:rPr lang="en-GB" dirty="0"/>
                  <a:t>d</a:t>
                </a:r>
                <a:r>
                  <a:rPr lang="en-DE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dirty="0"/>
                  <a:t> (e.g., </a:t>
                </a:r>
                <a:r>
                  <a:rPr lang="en-DE"/>
                  <a:t>Euclidean)</a:t>
                </a:r>
                <a:endParaRPr lang="en-DE" dirty="0"/>
              </a:p>
            </p:txBody>
          </p:sp>
        </mc:Choice>
        <mc:Fallback xmlns="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  <a:blipFill>
                <a:blip r:embed="rId2"/>
                <a:stretch>
                  <a:fillRect l="-965" t="-11650" b="-485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262" y="3265043"/>
            <a:ext cx="2743200" cy="34564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085923" y="5463798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blipFill>
                <a:blip r:embed="rId4"/>
                <a:stretch>
                  <a:fillRect t="-93103" r="-8021" b="-1459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w</a:t>
                </a:r>
                <a:r>
                  <a:rPr lang="en-DE" sz="2200" dirty="0"/>
                  <a:t>ith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sz="2200" dirty="0"/>
                  <a:t> running over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blipFill>
                <a:blip r:embed="rId5"/>
                <a:stretch>
                  <a:fillRect l="-2299"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5139228" y="3940913"/>
            <a:ext cx="5653812" cy="1089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5139228" y="3374910"/>
            <a:ext cx="1534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r</a:t>
            </a:r>
            <a:r>
              <a:rPr lang="en-DE" sz="2200" dirty="0"/>
              <a:t>egression:</a:t>
            </a:r>
          </a:p>
        </p:txBody>
      </p:sp>
    </p:spTree>
    <p:extLst>
      <p:ext uri="{BB962C8B-B14F-4D97-AF65-F5344CB8AC3E}">
        <p14:creationId xmlns:p14="http://schemas.microsoft.com/office/powerpoint/2010/main" val="2361111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29</a:t>
            </a:fld>
            <a:endParaRPr lang="en-DE"/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8066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41C07-F7D0-E747-D10E-FE095CA9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50" y="2294623"/>
            <a:ext cx="6967238" cy="3882339"/>
          </a:xfrm>
        </p:spPr>
        <p:txBody>
          <a:bodyPr>
            <a:normAutofit/>
          </a:bodyPr>
          <a:lstStyle/>
          <a:p>
            <a:r>
              <a:rPr lang="en-GB" sz="2600" dirty="0">
                <a:sym typeface="Wingdings" pitchFamily="2" charset="2"/>
              </a:rPr>
              <a:t>non-parametric learning of simple decision rules</a:t>
            </a:r>
          </a:p>
          <a:p>
            <a:r>
              <a:rPr lang="en-GB" sz="2600" dirty="0">
                <a:sym typeface="Wingdings" pitchFamily="2" charset="2"/>
              </a:rPr>
              <a:t>u</a:t>
            </a:r>
            <a:r>
              <a:rPr lang="en-DE" sz="2600" dirty="0">
                <a:sym typeface="Wingdings" pitchFamily="2" charset="2"/>
              </a:rPr>
              <a:t>sually, binary trees</a:t>
            </a:r>
            <a:endParaRPr lang="en-DE" sz="2600" dirty="0"/>
          </a:p>
          <a:p>
            <a:r>
              <a:rPr lang="en-GB" sz="2600" dirty="0"/>
              <a:t>a</a:t>
            </a:r>
            <a:r>
              <a:rPr lang="en-DE" sz="2600" dirty="0"/>
              <a:t>xis-parallel decision boundaries (box-shaped regions in feature space)</a:t>
            </a:r>
          </a:p>
          <a:p>
            <a:r>
              <a:rPr lang="en-GB" sz="2600" dirty="0"/>
              <a:t>fit constant </a:t>
            </a:r>
            <a:r>
              <a:rPr lang="en-DE"/>
              <a:t>in </a:t>
            </a:r>
            <a:r>
              <a:rPr lang="en-DE" dirty="0"/>
              <a:t>each box</a:t>
            </a:r>
            <a:endParaRPr lang="en-GB" sz="2600" dirty="0"/>
          </a:p>
          <a:p>
            <a:pPr lvl="1"/>
            <a:r>
              <a:rPr lang="en-GB" sz="2200" dirty="0"/>
              <a:t>c</a:t>
            </a:r>
            <a:r>
              <a:rPr lang="en-DE" sz="2200" dirty="0"/>
              <a:t>lassification: majority class of target</a:t>
            </a:r>
          </a:p>
          <a:p>
            <a:pPr lvl="1"/>
            <a:r>
              <a:rPr lang="en-GB" sz="2200" dirty="0"/>
              <a:t>r</a:t>
            </a:r>
            <a:r>
              <a:rPr lang="en-DE" sz="2200" dirty="0"/>
              <a:t>egression: average of target</a:t>
            </a:r>
            <a:endParaRPr lang="en-GB" sz="2600" dirty="0"/>
          </a:p>
          <a:p>
            <a:r>
              <a:rPr lang="en-GB" sz="2600" dirty="0"/>
              <a:t>fully explainable models</a:t>
            </a:r>
          </a:p>
        </p:txBody>
      </p:sp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B6E30-0BE3-BCB8-4BEF-62A5C8B2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Autofit/>
              </a:bodyPr>
              <a:lstStyle/>
              <a:p>
                <a:r>
                  <a:rPr lang="en-GB" sz="2400" dirty="0">
                    <a:sym typeface="Wingdings" pitchFamily="2" charset="2"/>
                  </a:rPr>
                  <a:t>finding optimal partitions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by overall loss minimization computationally infeasible  </a:t>
                </a:r>
                <a:r>
                  <a:rPr lang="en-GB" sz="2400" dirty="0"/>
                  <a:t>r</a:t>
                </a:r>
                <a:r>
                  <a:rPr lang="en-DE" sz="2400" dirty="0"/>
                  <a:t>ecursive partitioning of data </a:t>
                </a:r>
                <a:r>
                  <a:rPr lang="en-DE" sz="2400" dirty="0">
                    <a:sym typeface="Wingdings" pitchFamily="2" charset="2"/>
                  </a:rPr>
                  <a:t>(greedy </a:t>
                </a:r>
                <a:r>
                  <a:rPr lang="en-DE" sz="2400">
                    <a:sym typeface="Wingdings" pitchFamily="2" charset="2"/>
                  </a:rPr>
                  <a:t>algorithm)</a:t>
                </a:r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for each binary partition into regions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, decisions on splitting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𝑗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split point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by minimizing </a:t>
                </a:r>
                <a:r>
                  <a:rPr lang="en-GB" sz="2400" dirty="0" err="1">
                    <a:sym typeface="Wingdings" pitchFamily="2" charset="2"/>
                  </a:rPr>
                  <a:t>i</a:t>
                </a:r>
                <a:r>
                  <a:rPr lang="en-DE" sz="2400" dirty="0">
                    <a:sym typeface="Wingdings" pitchFamily="2" charset="2"/>
                  </a:rPr>
                  <a:t>mpurity functions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en-DE" sz="2400" dirty="0">
                    <a:sym typeface="Wingdings" pitchFamily="2" charset="2"/>
                  </a:rPr>
                  <a:t> (</a:t>
                </a:r>
                <a:r>
                  <a:rPr lang="en-GB" sz="2400" dirty="0"/>
                  <a:t>w</a:t>
                </a:r>
                <a:r>
                  <a:rPr lang="en-DE" sz="2400" dirty="0"/>
                  <a:t>eighted by number of observations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𝑁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400" dirty="0"/>
                  <a:t>in child nodes):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,    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&gt;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argmin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𝑠</m:t>
                            </m:r>
                          </m:sub>
                        </m:sSub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typical strategy: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sz="2000" dirty="0">
                    <a:sym typeface="Wingdings" pitchFamily="2" charset="2"/>
                  </a:rPr>
                  <a:t>g</a:t>
                </a:r>
                <a:r>
                  <a:rPr lang="en-DE" sz="2000">
                    <a:sym typeface="Wingdings" pitchFamily="2" charset="2"/>
                  </a:rPr>
                  <a:t>row </a:t>
                </a:r>
                <a:r>
                  <a:rPr lang="en-DE" sz="2000" dirty="0">
                    <a:sym typeface="Wingdings" pitchFamily="2" charset="2"/>
                  </a:rPr>
                  <a:t>large tree down to minimum node size (hyperparameter)  </a:t>
                </a:r>
                <a:r>
                  <a:rPr lang="en-DE" sz="2000">
                    <a:sym typeface="Wingdings" pitchFamily="2" charset="2"/>
                  </a:rPr>
                  <a:t>low bias</a:t>
                </a:r>
                <a:endParaRPr lang="de-DE" sz="2000" dirty="0">
                  <a:sym typeface="Wingdings" pitchFamily="2" charset="2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DE" sz="2000">
                    <a:sym typeface="Wingdings" pitchFamily="2" charset="2"/>
                  </a:rPr>
                  <a:t>subsequent </a:t>
                </a:r>
                <a:r>
                  <a:rPr lang="en-DE" sz="2000" dirty="0">
                    <a:sym typeface="Wingdings" pitchFamily="2" charset="2"/>
                  </a:rPr>
                  <a:t>pruning by controlling the number of </a:t>
                </a:r>
                <a:r>
                  <a:rPr lang="en-DE" sz="2000">
                    <a:sym typeface="Wingdings" pitchFamily="2" charset="2"/>
                  </a:rPr>
                  <a:t>terminal nodes</a:t>
                </a:r>
                <a:r>
                  <a:rPr lang="de-DE" sz="2000" dirty="0">
                    <a:sym typeface="Wingdings" pitchFamily="2" charset="2"/>
                  </a:rPr>
                  <a:t>  </a:t>
                </a:r>
                <a:r>
                  <a:rPr lang="en-GB" sz="2000" dirty="0">
                    <a:sym typeface="Wingdings" pitchFamily="2" charset="2"/>
                  </a:rPr>
                  <a:t>a</a:t>
                </a:r>
                <a:r>
                  <a:rPr lang="en-DE" sz="2000">
                    <a:sym typeface="Wingdings" pitchFamily="2" charset="2"/>
                  </a:rPr>
                  <a:t>void overfitting</a:t>
                </a:r>
                <a:endParaRPr lang="en-DE" sz="20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844" t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CED70-D1A6-24A3-6F3D-E3B9D69B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965881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43EE9-1AAC-0E36-955B-EB74B249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Impurity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goal: </a:t>
                </a:r>
                <a:r>
                  <a:rPr lang="de-DE" sz="2600" dirty="0" err="1"/>
                  <a:t>maximize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homogeneity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(i.e., </a:t>
                </a:r>
                <a:r>
                  <a:rPr lang="de-DE" sz="2600" dirty="0" err="1"/>
                  <a:t>making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points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class</a:t>
                </a:r>
                <a:r>
                  <a:rPr lang="de-DE" sz="2600" dirty="0"/>
                  <a:t>)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minimize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impurity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mean squared error for regression trees :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GB" sz="2600" dirty="0"/>
              </a:p>
              <a:p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 </a:t>
                </a:r>
                <a:r>
                  <a:rPr lang="en-DE" sz="2600"/>
                  <a:t>possibilities for </a:t>
                </a:r>
                <a:r>
                  <a:rPr lang="en-GB" sz="2600" dirty="0"/>
                  <a:t>classification trees</a:t>
                </a:r>
                <a:r>
                  <a:rPr lang="de-DE" sz="2600" dirty="0"/>
                  <a:t>:</a:t>
                </a:r>
                <a:endParaRPr lang="en-DE" sz="2600" dirty="0"/>
              </a:p>
              <a:p>
                <a:pPr lvl="1"/>
                <a:r>
                  <a:rPr lang="en-DE" sz="2600"/>
                  <a:t>Gini </a:t>
                </a:r>
                <a:r>
                  <a:rPr lang="de-DE" sz="2600" dirty="0" err="1"/>
                  <a:t>impurity</a:t>
                </a:r>
                <a:r>
                  <a:rPr lang="en-DE" sz="2600"/>
                  <a:t> </a:t>
                </a:r>
                <a:r>
                  <a:rPr lang="en-DE" sz="2600" dirty="0"/>
                  <a:t>(used </a:t>
                </a:r>
                <a:r>
                  <a:rPr lang="en-DE" sz="2600"/>
                  <a:t>in CART):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sz="2600" dirty="0"/>
              </a:p>
              <a:p>
                <a:pPr lvl="1"/>
                <a:r>
                  <a:rPr lang="en-GB" sz="2600" dirty="0"/>
                  <a:t>maximizing </a:t>
                </a:r>
                <a:r>
                  <a:rPr lang="en-GB" sz="2600" dirty="0" err="1"/>
                  <a:t>i</a:t>
                </a:r>
                <a:r>
                  <a:rPr lang="en-DE" sz="2600"/>
                  <a:t>nformation gain (used in C4.5)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entropy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parent</a:t>
                </a:r>
                <a:r>
                  <a:rPr lang="de-DE" sz="2600" dirty="0"/>
                  <a:t> minus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entropies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child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086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A928C-7CCC-5BE6-4270-0A981E69F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41715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 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</a:t>
            </a:r>
            <a:r>
              <a:rPr lang="en-DE"/>
              <a:t>of ensemble</a:t>
            </a:r>
            <a:r>
              <a:rPr lang="de-DE" dirty="0"/>
              <a:t> </a:t>
            </a:r>
            <a:r>
              <a:rPr lang="en-DE"/>
              <a:t>on random subsets </a:t>
            </a:r>
            <a:r>
              <a:rPr lang="en-DE" dirty="0"/>
              <a:t>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33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</a:t>
            </a:r>
            <a:r>
              <a:rPr lang="en-DE"/>
              <a:t>of models</a:t>
            </a:r>
            <a:r>
              <a:rPr lang="de-DE" dirty="0"/>
              <a:t>:</a:t>
            </a:r>
            <a:endParaRPr lang="en-DE" dirty="0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boosting can be understood as fitting an additive expansion in a set of basis functions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(e.g., decision trees):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loss minimization of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400" dirty="0"/>
                  <a:t> computationally expensive </a:t>
                </a:r>
                <a:r>
                  <a:rPr lang="en-GB" sz="2400" dirty="0">
                    <a:sym typeface="Wingdings" pitchFamily="2" charset="2"/>
                  </a:rPr>
                  <a:t> sequentially add and fit individual basis functions without changing already fitted ones</a:t>
                </a: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boosting algorithm</a:t>
                </a:r>
                <a:r>
                  <a:rPr lang="de-DE" sz="2400" dirty="0">
                    <a:sym typeface="Wingdings" pitchFamily="2" charset="2"/>
                  </a:rPr>
                  <a:t>:</a:t>
                </a:r>
                <a:endParaRPr lang="de-DE" sz="2400" b="0" dirty="0"/>
              </a:p>
              <a:p>
                <a:pPr marL="0" indent="0">
                  <a:buNone/>
                </a:pPr>
                <a:r>
                  <a:rPr lang="en-GB" sz="2400" dirty="0"/>
                  <a:t>f</a:t>
                </a:r>
                <a:r>
                  <a:rPr lang="en-DE" sz="2400" dirty="0"/>
                  <a:t>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400" dirty="0"/>
                  <a:t>:</a:t>
                </a:r>
                <a:endParaRPr lang="en-DE" sz="24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c</a:t>
                </a:r>
                <a:r>
                  <a:rPr lang="en-DE" sz="2400"/>
                  <a:t>ompute</a:t>
                </a:r>
                <a:r>
                  <a:rPr lang="en-DE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en-GB" sz="2400" dirty="0"/>
                  <a:t>	</a:t>
                </a:r>
                <a:r>
                  <a:rPr lang="en-GB" sz="1500" dirty="0"/>
                  <a:t>(</a:t>
                </a:r>
                <a:r>
                  <a:rPr lang="en-GB" sz="1500" dirty="0" err="1"/>
                  <a:t>i</a:t>
                </a:r>
                <a:r>
                  <a:rPr lang="en-DE" sz="1500"/>
                  <a:t>nitialize</a:t>
                </a:r>
                <a:r>
                  <a:rPr lang="de-DE" sz="1500" dirty="0"/>
                  <a:t>d </a:t>
                </a:r>
                <a:r>
                  <a:rPr lang="de-DE" sz="1500" dirty="0" err="1"/>
                  <a:t>with</a:t>
                </a:r>
                <a:r>
                  <a:rPr lang="en-DE" sz="15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500" dirty="0"/>
                  <a:t>)</a:t>
                </a:r>
                <a:endParaRPr lang="en-DE" sz="1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s</a:t>
                </a:r>
                <a:r>
                  <a:rPr lang="en-DE" sz="24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6686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Diagram&#10;&#10;Description automatically generated">
            <a:extLst>
              <a:ext uri="{FF2B5EF4-FFF2-40B4-BE49-F238E27FC236}">
                <a16:creationId xmlns:a16="http://schemas.microsoft.com/office/drawing/2014/main" id="{0CA3AFA3-F6B8-B56D-8021-7C316ACB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718" y="1206282"/>
            <a:ext cx="4813167" cy="52865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7F7E3-45DB-77D2-615D-DE71E947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weak</a:t>
            </a:r>
            <a:r>
              <a:rPr lang="de-DE" dirty="0"/>
              <a:t> </a:t>
            </a:r>
            <a:r>
              <a:rPr lang="de-DE" dirty="0" err="1"/>
              <a:t>classifiers</a:t>
            </a:r>
            <a:r>
              <a:rPr lang="de-DE" dirty="0"/>
              <a:t> on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emphasizing</a:t>
            </a:r>
            <a:r>
              <a:rPr lang="de-DE" dirty="0"/>
              <a:t> </a:t>
            </a:r>
            <a:r>
              <a:rPr lang="de-DE" dirty="0" err="1"/>
              <a:t>misclassified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(</a:t>
            </a:r>
            <a:r>
              <a:rPr lang="en-GB" dirty="0"/>
              <a:t>weights increased for incorrect predictions, decreased for correct ones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vote (</a:t>
            </a:r>
            <a:r>
              <a:rPr lang="en-GB" dirty="0"/>
              <a:t>forward stagewise additive </a:t>
            </a:r>
            <a:r>
              <a:rPr lang="en-GB" dirty="0" err="1"/>
              <a:t>modeling</a:t>
            </a:r>
            <a:r>
              <a:rPr lang="en-GB" dirty="0"/>
              <a:t> )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in f</a:t>
                </a:r>
                <a:r>
                  <a:rPr lang="en-DE" sz="2000"/>
                  <a:t>orward </a:t>
                </a:r>
                <a:r>
                  <a:rPr lang="de-DE" sz="2000" dirty="0"/>
                  <a:t>s</a:t>
                </a:r>
                <a:r>
                  <a:rPr lang="en-DE" sz="2000"/>
                  <a:t>tagewise </a:t>
                </a:r>
                <a:r>
                  <a:rPr lang="de-DE" sz="2000" dirty="0"/>
                  <a:t>a</a:t>
                </a:r>
                <a:r>
                  <a:rPr lang="en-DE" sz="2000"/>
                  <a:t>dditive </a:t>
                </a:r>
                <a:r>
                  <a:rPr lang="de-DE" sz="2000" dirty="0"/>
                  <a:t>m</a:t>
                </a:r>
                <a:r>
                  <a:rPr lang="en-DE" sz="2000"/>
                  <a:t>odeling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:r>
                  <a:rPr lang="de-DE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de-DE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de-DE" sz="2000" dirty="0"/>
                  <a:t>	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each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stage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en-DE" sz="2000"/>
                  <a:t>can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en-DE" sz="2000"/>
                  <a:t>hard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solve</a:t>
                </a:r>
                <a:r>
                  <a:rPr lang="de-DE" sz="2000" dirty="0"/>
                  <a:t> </a:t>
                </a:r>
                <a:r>
                  <a:rPr lang="en-DE" sz="2000"/>
                  <a:t>for general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loss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function</a:t>
                </a:r>
                <a:r>
                  <a:rPr lang="en-DE" sz="200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idea: approximation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000" dirty="0"/>
                  <a:t> by its </a:t>
                </a:r>
                <a:r>
                  <a:rPr lang="de-DE" sz="2000" dirty="0"/>
                  <a:t>Taylor </a:t>
                </a:r>
                <a:r>
                  <a:rPr lang="de-DE" sz="2000" dirty="0" err="1"/>
                  <a:t>expansion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endParaRPr lang="en-US" sz="20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decreased by going a step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>
                    <a:sym typeface="Wingdings" pitchFamily="2" charset="2"/>
                  </a:rPr>
                  <a:t> (potentially optimized via line search) in the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fName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</m:func>
                  </m:oMath>
                </a14:m>
                <a:r>
                  <a:rPr lang="en-GB" sz="2000" dirty="0">
                    <a:sym typeface="Wingdings" pitchFamily="2" charset="2"/>
                  </a:rPr>
                  <a:t> (functional gradient descent)</a:t>
                </a:r>
              </a:p>
              <a:p>
                <a:pPr marL="0" indent="0">
                  <a:buNone/>
                </a:pPr>
                <a:r>
                  <a:rPr lang="en-GB" sz="2000" dirty="0">
                    <a:sym typeface="Wingdings" pitchFamily="2" charset="2"/>
                  </a:rPr>
                  <a:t>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000" dirty="0">
                    <a:sym typeface="Wingdings" pitchFamily="2" charset="2"/>
                  </a:rPr>
                  <a:t> by fitting a </a:t>
                </a:r>
                <a:r>
                  <a:rPr lang="en-GB" sz="2000" dirty="0"/>
                  <a:t>regression model with targets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GB" sz="2000" dirty="0"/>
                  <a:t> </a:t>
                </a:r>
                <a:r>
                  <a:rPr lang="en-GB" sz="2000" dirty="0">
                    <a:sym typeface="Wingdings" pitchFamily="2" charset="2"/>
                  </a:rPr>
                  <a:t>(typically </a:t>
                </a:r>
                <a:r>
                  <a:rPr lang="en-DE" sz="2000"/>
                  <a:t>decision </a:t>
                </a:r>
                <a:r>
                  <a:rPr lang="en-DE" sz="2000" dirty="0"/>
                  <a:t>tree regressors of </a:t>
                </a:r>
                <a:r>
                  <a:rPr lang="en-DE" sz="2000"/>
                  <a:t>fixed size</a:t>
                </a:r>
                <a:r>
                  <a:rPr lang="de-DE" sz="2000" dirty="0"/>
                  <a:t>: </a:t>
                </a:r>
                <a:r>
                  <a:rPr lang="en-GB" sz="2000" dirty="0"/>
                  <a:t>gradient-boosted decision trees</a:t>
                </a:r>
                <a:r>
                  <a:rPr lang="en-DE" sz="2000" dirty="0"/>
                  <a:t>)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w</a:t>
                </a:r>
                <a:r>
                  <a:rPr lang="en-DE" sz="2000" dirty="0"/>
                  <a:t>orks like this for both regression </a:t>
                </a:r>
                <a:r>
                  <a:rPr lang="en-DE" sz="2000"/>
                  <a:t>and classification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tasks</a:t>
                </a:r>
                <a:r>
                  <a:rPr lang="en-DE" sz="2000"/>
                  <a:t> </a:t>
                </a:r>
                <a:r>
                  <a:rPr lang="en-DE" sz="2000" dirty="0"/>
                  <a:t>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724" t="-2168" b="-86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/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ea typeface="Cambria Math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blipFill>
                <a:blip r:embed="rId4"/>
                <a:stretch>
                  <a:fillRect l="-1126" t="-97222" b="-15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E9C6EC-A585-71C6-D6FD-2A0CD4FF4AE6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771697" y="1640510"/>
            <a:ext cx="1797269" cy="95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/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000" dirty="0"/>
                  <a:t>gradient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e-DE" sz="200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000" dirty="0"/>
                  <a:t>:</a:t>
                </a:r>
              </a:p>
              <a:p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iteration</a:t>
                </a:r>
                <a:endParaRPr lang="de-DE" sz="20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blipFill>
                <a:blip r:embed="rId5"/>
                <a:stretch>
                  <a:fillRect l="-2137" t="-3571" r="-1282" b="-160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293591-13EF-0C1F-C260-9369E23A1F7C}"/>
              </a:ext>
            </a:extLst>
          </p:cNvPr>
          <p:cNvCxnSpPr>
            <a:cxnSpLocks/>
          </p:cNvCxnSpPr>
          <p:nvPr/>
        </p:nvCxnSpPr>
        <p:spPr>
          <a:xfrm flipH="1">
            <a:off x="6726621" y="3675177"/>
            <a:ext cx="1069557" cy="44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D83760D-ACB1-7FAB-563C-59DF7F5C33B8}"/>
              </a:ext>
            </a:extLst>
          </p:cNvPr>
          <p:cNvCxnSpPr>
            <a:cxnSpLocks/>
          </p:cNvCxnSpPr>
          <p:nvPr/>
        </p:nvCxnSpPr>
        <p:spPr>
          <a:xfrm flipH="1">
            <a:off x="7136524" y="4013734"/>
            <a:ext cx="659654" cy="379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5532263-AF15-A425-9ADC-76B73390B499}"/>
              </a:ext>
            </a:extLst>
          </p:cNvPr>
          <p:cNvSpPr txBox="1"/>
          <p:nvPr/>
        </p:nvSpPr>
        <p:spPr>
          <a:xfrm>
            <a:off x="6568966" y="364227"/>
            <a:ext cx="1494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38AA2D-9D8B-E8FF-B0F8-CF83F5004309}"/>
              </a:ext>
            </a:extLst>
          </p:cNvPr>
          <p:cNvSpPr txBox="1"/>
          <p:nvPr/>
        </p:nvSpPr>
        <p:spPr>
          <a:xfrm>
            <a:off x="8973534" y="364227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4DCEC0-4205-9188-B99D-A2D8C465B561}"/>
              </a:ext>
            </a:extLst>
          </p:cNvPr>
          <p:cNvCxnSpPr>
            <a:stCxn id="6" idx="2"/>
          </p:cNvCxnSpPr>
          <p:nvPr/>
        </p:nvCxnSpPr>
        <p:spPr>
          <a:xfrm flipH="1">
            <a:off x="9059917" y="733559"/>
            <a:ext cx="64875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C5BE8B-AC41-4946-2525-C1D8E0EE29C5}"/>
              </a:ext>
            </a:extLst>
          </p:cNvPr>
          <p:cNvCxnSpPr>
            <a:stCxn id="5" idx="2"/>
          </p:cNvCxnSpPr>
          <p:nvPr/>
        </p:nvCxnSpPr>
        <p:spPr>
          <a:xfrm>
            <a:off x="7316254" y="733559"/>
            <a:ext cx="23017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41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CFFBB3C-E644-5CCC-EE94-753135AA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42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6EBFF2-C98B-0A52-F138-90B17F07C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38068"/>
            <a:ext cx="8421689" cy="5981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DFF0631-77D5-95C3-D2D8-C28CB7E6DD12}"/>
              </a:ext>
            </a:extLst>
          </p:cNvPr>
          <p:cNvSpPr txBox="1"/>
          <p:nvPr/>
        </p:nvSpPr>
        <p:spPr>
          <a:xfrm>
            <a:off x="8460829" y="847150"/>
            <a:ext cx="3731172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b="1" dirty="0" err="1"/>
              <a:t>no</a:t>
            </a:r>
            <a:r>
              <a:rPr lang="de-DE" sz="2200" b="1" dirty="0"/>
              <a:t> </a:t>
            </a:r>
            <a:r>
              <a:rPr lang="de-DE" sz="2200" b="1" dirty="0" err="1"/>
              <a:t>universally</a:t>
            </a:r>
            <a:r>
              <a:rPr lang="de-DE" sz="2200" b="1" dirty="0"/>
              <a:t> </a:t>
            </a:r>
            <a:r>
              <a:rPr lang="de-DE" sz="2200" b="1" dirty="0" err="1"/>
              <a:t>best</a:t>
            </a:r>
            <a:r>
              <a:rPr lang="de-DE" sz="2200" b="1" dirty="0"/>
              <a:t> </a:t>
            </a:r>
            <a:r>
              <a:rPr lang="de-DE" sz="2200" b="1" dirty="0" err="1"/>
              <a:t>model</a:t>
            </a:r>
            <a:endParaRPr lang="de-DE" sz="2200" b="1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choice</a:t>
            </a:r>
            <a:r>
              <a:rPr lang="de-DE" sz="2200" dirty="0"/>
              <a:t> </a:t>
            </a:r>
            <a:r>
              <a:rPr lang="de-DE" sz="2200" dirty="0" err="1"/>
              <a:t>depends</a:t>
            </a:r>
            <a:r>
              <a:rPr lang="de-DE" sz="2200" dirty="0"/>
              <a:t>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characteristics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problem</a:t>
            </a:r>
            <a:r>
              <a:rPr lang="de-DE" sz="2200" dirty="0"/>
              <a:t> </a:t>
            </a:r>
            <a:r>
              <a:rPr lang="de-DE" sz="2200" dirty="0" err="1"/>
              <a:t>requirements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needs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computational</a:t>
            </a:r>
            <a:r>
              <a:rPr lang="de-DE" sz="2200" dirty="0"/>
              <a:t> </a:t>
            </a:r>
            <a:r>
              <a:rPr lang="de-DE" sz="2200" dirty="0" err="1"/>
              <a:t>constraints</a:t>
            </a: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rule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thumb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unstructured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(</a:t>
            </a:r>
            <a:r>
              <a:rPr lang="de-DE" sz="2200" dirty="0" err="1"/>
              <a:t>text</a:t>
            </a:r>
            <a:r>
              <a:rPr lang="de-DE" sz="2200" dirty="0"/>
              <a:t>, </a:t>
            </a:r>
            <a:r>
              <a:rPr lang="de-DE" sz="2200" dirty="0" err="1"/>
              <a:t>images</a:t>
            </a:r>
            <a:r>
              <a:rPr lang="de-DE" sz="2200" dirty="0"/>
              <a:t>/</a:t>
            </a:r>
            <a:r>
              <a:rPr lang="de-DE" sz="2200" dirty="0" err="1"/>
              <a:t>video</a:t>
            </a:r>
            <a:r>
              <a:rPr lang="de-DE" sz="2200" dirty="0"/>
              <a:t>, </a:t>
            </a:r>
            <a:r>
              <a:rPr lang="de-DE" sz="2200" dirty="0" err="1"/>
              <a:t>audio</a:t>
            </a:r>
            <a:r>
              <a:rPr lang="de-DE" sz="2200" dirty="0"/>
              <a:t>)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/>
              <a:t>deep</a:t>
            </a:r>
            <a:r>
              <a:rPr lang="de-DE" sz="2200" dirty="0"/>
              <a:t> </a:t>
            </a:r>
            <a:r>
              <a:rPr lang="de-DE" sz="2200" dirty="0" err="1"/>
              <a:t>learning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tabular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tree-based</a:t>
            </a:r>
            <a:r>
              <a:rPr lang="de-DE" sz="2200" dirty="0"/>
              <a:t> </a:t>
            </a:r>
            <a:r>
              <a:rPr lang="de-DE" sz="2200" dirty="0" err="1"/>
              <a:t>ensembles</a:t>
            </a:r>
            <a:r>
              <a:rPr lang="de-DE" sz="2200" dirty="0"/>
              <a:t> (</a:t>
            </a:r>
            <a:r>
              <a:rPr lang="de-DE" sz="2200" dirty="0" err="1"/>
              <a:t>gradient</a:t>
            </a:r>
            <a:r>
              <a:rPr lang="de-DE" sz="2200" dirty="0"/>
              <a:t> </a:t>
            </a:r>
            <a:r>
              <a:rPr lang="de-DE" sz="2200" dirty="0" err="1"/>
              <a:t>boosting</a:t>
            </a:r>
            <a:r>
              <a:rPr lang="de-DE" sz="2200" dirty="0"/>
              <a:t>, </a:t>
            </a:r>
            <a:r>
              <a:rPr lang="de-DE" sz="2200" dirty="0" err="1"/>
              <a:t>random</a:t>
            </a:r>
            <a:r>
              <a:rPr lang="de-DE" sz="2200" dirty="0"/>
              <a:t> </a:t>
            </a:r>
            <a:r>
              <a:rPr lang="de-DE" sz="2200" dirty="0" err="1"/>
              <a:t>forests</a:t>
            </a:r>
            <a:r>
              <a:rPr lang="de-DE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14362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r>
              <a:rPr lang="de-DE" dirty="0">
                <a:hlinkClick r:id="" action="ppaction://noaction"/>
              </a:rPr>
              <a:t>Kaggle competition: Spaceship Titanic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2558</Words>
  <Application>Microsoft Macintosh PowerPoint</Application>
  <PresentationFormat>Breitbild</PresentationFormat>
  <Paragraphs>425</Paragraphs>
  <Slides>43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51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Supervised Learning</vt:lpstr>
      <vt:lpstr>Supervised Learning</vt:lpstr>
      <vt:lpstr>What Is Machine Learning?</vt:lpstr>
      <vt:lpstr>PowerPoint-Präsentation</vt:lpstr>
      <vt:lpstr>Supervised Learning</vt:lpstr>
      <vt:lpstr>Algorithmic Families of Supervised Learning</vt:lpstr>
      <vt:lpstr>Supervised Learning in Mathematical Terms</vt:lpstr>
      <vt:lpstr>Example: Image Classification</vt:lpstr>
      <vt:lpstr>Supervised Learning Objective</vt:lpstr>
      <vt:lpstr>Training Recipe</vt:lpstr>
      <vt:lpstr>Model Selection: Under- and Over-Fitting</vt:lpstr>
      <vt:lpstr>Bias, Variance, Irreducible Error</vt:lpstr>
      <vt:lpstr>Bias-Variance Tradeoff</vt:lpstr>
      <vt:lpstr>Cross-Validation (CV)</vt:lpstr>
      <vt:lpstr>Hyperparameters</vt:lpstr>
      <vt:lpstr>Generalization</vt:lpstr>
      <vt:lpstr>Curse of Dimensionality</vt:lpstr>
      <vt:lpstr>Manifold Hypothesis</vt:lpstr>
      <vt:lpstr>Linear Regression</vt:lpstr>
      <vt:lpstr>Multiplicative Model</vt:lpstr>
      <vt:lpstr>Classification: Logistic Regression</vt:lpstr>
      <vt:lpstr>Multi-Classification: Softmax</vt:lpstr>
      <vt:lpstr>Generalized Linear Models (GLM)</vt:lpstr>
      <vt:lpstr>Generalized Additive Models (GAM)</vt:lpstr>
      <vt:lpstr>Quantile Regression</vt:lpstr>
      <vt:lpstr>k-Nearest Neighbors (kNN)</vt:lpstr>
      <vt:lpstr>Image Classification with kNN</vt:lpstr>
      <vt:lpstr>Image Classification with kNN</vt:lpstr>
      <vt:lpstr>Decision Trees</vt:lpstr>
      <vt:lpstr>Decision Tree Learning</vt:lpstr>
      <vt:lpstr>Impurity Functions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AdaBoost (Adaptive Boosting)</vt:lpstr>
      <vt:lpstr>Gradient Boosting</vt:lpstr>
      <vt:lpstr>Decision Tree Sizes for Boosting</vt:lpstr>
      <vt:lpstr>PowerPoint-Präsentation</vt:lpstr>
      <vt:lpstr>PowerPoint-Präsentation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103</cp:revision>
  <dcterms:created xsi:type="dcterms:W3CDTF">2025-01-09T11:24:27Z</dcterms:created>
  <dcterms:modified xsi:type="dcterms:W3CDTF">2026-04-18T12:43:05Z</dcterms:modified>
</cp:coreProperties>
</file>