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6" r:id="rId2"/>
    <p:sldId id="265" r:id="rId3"/>
    <p:sldId id="266" r:id="rId4"/>
    <p:sldId id="298" r:id="rId5"/>
    <p:sldId id="267" r:id="rId6"/>
    <p:sldId id="268" r:id="rId7"/>
    <p:sldId id="269" r:id="rId8"/>
    <p:sldId id="270" r:id="rId9"/>
    <p:sldId id="271" r:id="rId10"/>
    <p:sldId id="682" r:id="rId11"/>
    <p:sldId id="272" r:id="rId12"/>
    <p:sldId id="273" r:id="rId13"/>
    <p:sldId id="274" r:id="rId14"/>
    <p:sldId id="712" r:id="rId15"/>
    <p:sldId id="672" r:id="rId16"/>
    <p:sldId id="793" r:id="rId17"/>
    <p:sldId id="275" r:id="rId18"/>
    <p:sldId id="276" r:id="rId19"/>
    <p:sldId id="277" r:id="rId20"/>
    <p:sldId id="278" r:id="rId21"/>
    <p:sldId id="636" r:id="rId22"/>
    <p:sldId id="285" r:id="rId23"/>
    <p:sldId id="280" r:id="rId24"/>
    <p:sldId id="281" r:id="rId25"/>
    <p:sldId id="282" r:id="rId26"/>
    <p:sldId id="283" r:id="rId27"/>
    <p:sldId id="669" r:id="rId28"/>
    <p:sldId id="28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word2vec/" TargetMode="External"/><Relationship Id="rId7" Type="http://schemas.openxmlformats.org/officeDocument/2006/relationships/image" Target="../media/image4.png"/><Relationship Id="rId2" Type="http://schemas.openxmlformats.org/officeDocument/2006/relationships/hyperlink" Target="https://arxiv.org/abs/1301.3781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word2vec/" TargetMode="Externa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udlbook.github.io/udlbook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Feature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transformations</a:t>
            </a:r>
            <a:r>
              <a:rPr lang="de-DE" dirty="0"/>
              <a:t>, </a:t>
            </a:r>
            <a:r>
              <a:rPr lang="de-DE" dirty="0" err="1"/>
              <a:t>scaling</a:t>
            </a:r>
            <a:endParaRPr lang="de-DE" dirty="0"/>
          </a:p>
          <a:p>
            <a:r>
              <a:rPr lang="de-DE" dirty="0" err="1"/>
              <a:t>categorical</a:t>
            </a:r>
            <a:r>
              <a:rPr lang="de-DE" dirty="0"/>
              <a:t> (nominal, ordinal)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encoding</a:t>
            </a:r>
            <a:endParaRPr lang="de-DE" dirty="0"/>
          </a:p>
          <a:p>
            <a:r>
              <a:rPr lang="de-DE" dirty="0"/>
              <a:t>PCA</a:t>
            </a:r>
          </a:p>
          <a:p>
            <a:r>
              <a:rPr lang="de-DE" dirty="0"/>
              <a:t>LASSO</a:t>
            </a:r>
          </a:p>
          <a:p>
            <a:r>
              <a:rPr lang="de-DE" dirty="0"/>
              <a:t>ARD</a:t>
            </a:r>
          </a:p>
          <a:p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E4DCC-1C88-BE0F-22BF-F3CD39DFE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Model</a:t>
            </a:r>
            <a:r>
              <a:rPr lang="de-DE" dirty="0"/>
              <a:t> Pipeline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D241-E6F8-CD92-2049-87B878408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</a:t>
            </a:fld>
            <a:endParaRPr lang="en-DE"/>
          </a:p>
        </p:txBody>
      </p:sp>
      <p:sp>
        <p:nvSpPr>
          <p:cNvPr id="5" name="Rectangle: Rounded Corners 6">
            <a:extLst>
              <a:ext uri="{FF2B5EF4-FFF2-40B4-BE49-F238E27FC236}">
                <a16:creationId xmlns:a16="http://schemas.microsoft.com/office/drawing/2014/main" id="{94EC203B-994C-B8F7-37D8-BE2BCF67ADA5}"/>
              </a:ext>
            </a:extLst>
          </p:cNvPr>
          <p:cNvSpPr/>
          <p:nvPr/>
        </p:nvSpPr>
        <p:spPr>
          <a:xfrm>
            <a:off x="836209" y="1982757"/>
            <a:ext cx="2734305" cy="3671809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7">
            <a:extLst>
              <a:ext uri="{FF2B5EF4-FFF2-40B4-BE49-F238E27FC236}">
                <a16:creationId xmlns:a16="http://schemas.microsoft.com/office/drawing/2014/main" id="{B9DE0669-7ABB-C6AA-8A93-7DCAFDEF3AC1}"/>
              </a:ext>
            </a:extLst>
          </p:cNvPr>
          <p:cNvSpPr/>
          <p:nvPr/>
        </p:nvSpPr>
        <p:spPr>
          <a:xfrm>
            <a:off x="4663626" y="1982758"/>
            <a:ext cx="2734305" cy="3671808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8">
            <a:extLst>
              <a:ext uri="{FF2B5EF4-FFF2-40B4-BE49-F238E27FC236}">
                <a16:creationId xmlns:a16="http://schemas.microsoft.com/office/drawing/2014/main" id="{9F1AC96E-292E-4DC0-CD52-02319B3B33C6}"/>
              </a:ext>
            </a:extLst>
          </p:cNvPr>
          <p:cNvSpPr/>
          <p:nvPr/>
        </p:nvSpPr>
        <p:spPr>
          <a:xfrm>
            <a:off x="8491043" y="1982759"/>
            <a:ext cx="2734305" cy="3671808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460A2F-50B9-4D78-7BDC-AB1DD672E17D}"/>
              </a:ext>
            </a:extLst>
          </p:cNvPr>
          <p:cNvSpPr txBox="1"/>
          <p:nvPr/>
        </p:nvSpPr>
        <p:spPr>
          <a:xfrm>
            <a:off x="836208" y="2180716"/>
            <a:ext cx="2734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extract features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9242BC-2021-D731-E05C-5F6D1F238594}"/>
              </a:ext>
            </a:extLst>
          </p:cNvPr>
          <p:cNvSpPr txBox="1"/>
          <p:nvPr/>
        </p:nvSpPr>
        <p:spPr>
          <a:xfrm>
            <a:off x="826478" y="3240533"/>
            <a:ext cx="27343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73038">
              <a:buFont typeface="Arial" panose="020B0604020202020204" pitchFamily="34" charset="0"/>
              <a:buChar char="•"/>
            </a:pPr>
            <a:r>
              <a:rPr lang="en-GB" dirty="0"/>
              <a:t>h</a:t>
            </a:r>
            <a:r>
              <a:rPr lang="en-DE" dirty="0"/>
              <a:t>elp the ML algorithm to better understand the data</a:t>
            </a:r>
          </a:p>
          <a:p>
            <a:pPr marL="285750" indent="-173038">
              <a:buFont typeface="Arial" panose="020B0604020202020204" pitchFamily="34" charset="0"/>
              <a:buChar char="•"/>
            </a:pPr>
            <a:r>
              <a:rPr lang="en-GB" dirty="0"/>
              <a:t>impose</a:t>
            </a:r>
            <a:r>
              <a:rPr lang="en-DE" dirty="0"/>
              <a:t> assumptions hard to discover in the raw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B4A46C-C416-C94F-D3A8-40A6AE912C2F}"/>
              </a:ext>
            </a:extLst>
          </p:cNvPr>
          <p:cNvSpPr txBox="1"/>
          <p:nvPr/>
        </p:nvSpPr>
        <p:spPr>
          <a:xfrm>
            <a:off x="4663625" y="2180716"/>
            <a:ext cx="2734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choose ML algorithm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63E0E-A1B5-65B0-D21D-F7217D0D2E32}"/>
              </a:ext>
            </a:extLst>
          </p:cNvPr>
          <p:cNvSpPr txBox="1"/>
          <p:nvPr/>
        </p:nvSpPr>
        <p:spPr>
          <a:xfrm>
            <a:off x="4683088" y="2963534"/>
            <a:ext cx="27245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73038">
              <a:buFont typeface="Arial" panose="020B0604020202020204" pitchFamily="34" charset="0"/>
              <a:buChar char="•"/>
            </a:pPr>
            <a:r>
              <a:rPr lang="en-US" dirty="0"/>
              <a:t>from open-source libraries like scikit-learn or pytorch, rarely write an own one</a:t>
            </a:r>
          </a:p>
          <a:p>
            <a:pPr marL="285750" indent="-173038">
              <a:buFont typeface="Arial" panose="020B0604020202020204" pitchFamily="34" charset="0"/>
              <a:buChar char="•"/>
            </a:pPr>
            <a:r>
              <a:rPr lang="en-US" dirty="0"/>
              <a:t>many different algorithms available, differently suited for given task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B1AEF1-8878-64A3-A46C-5840F03F9AEA}"/>
              </a:ext>
            </a:extLst>
          </p:cNvPr>
          <p:cNvSpPr txBox="1"/>
          <p:nvPr/>
        </p:nvSpPr>
        <p:spPr>
          <a:xfrm>
            <a:off x="8491042" y="2015245"/>
            <a:ext cx="2734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hyperparameter tuning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7A94E2-7F9E-3256-BE43-8875134C565F}"/>
              </a:ext>
            </a:extLst>
          </p:cNvPr>
          <p:cNvSpPr txBox="1"/>
          <p:nvPr/>
        </p:nvSpPr>
        <p:spPr>
          <a:xfrm>
            <a:off x="8500775" y="3240533"/>
            <a:ext cx="26111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98462" indent="-285750">
              <a:buFont typeface="Arial" panose="020B0604020202020204" pitchFamily="34" charset="0"/>
              <a:buChar char="•"/>
            </a:pPr>
            <a:r>
              <a:rPr lang="en-US" dirty="0"/>
              <a:t>variety of different forms</a:t>
            </a:r>
          </a:p>
          <a:p>
            <a:pPr marL="398462" indent="-285750">
              <a:buFont typeface="Arial" panose="020B0604020202020204" pitchFamily="34" charset="0"/>
              <a:buChar char="•"/>
            </a:pPr>
            <a:r>
              <a:rPr lang="en-US" dirty="0"/>
              <a:t>model settings not all automatically adjusted by the ML algorithm</a:t>
            </a:r>
          </a:p>
        </p:txBody>
      </p:sp>
    </p:spTree>
    <p:extLst>
      <p:ext uri="{BB962C8B-B14F-4D97-AF65-F5344CB8AC3E}">
        <p14:creationId xmlns:p14="http://schemas.microsoft.com/office/powerpoint/2010/main" val="2058052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AF520E-D347-5174-A597-846D8750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Feature Engineering Matters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FB7F72-B5A7-08FB-698C-916D7D774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2D1ED3-6740-ED39-D16C-062D2EF2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95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405FC-52F4-2F5F-315A-9FA532000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893269-41D5-8612-4320-F99D5CD73F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75B19-DA1F-ED6E-AC1A-8B9350332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78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14784E-C89E-599D-6CA5-8A8472E9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Transformations</a:t>
            </a:r>
            <a:r>
              <a:rPr lang="de-DE" dirty="0"/>
              <a:t> (log, power, Box-Cox)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9A72DC-1DD9-B8AF-7853-20EE43828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277F55-8E21-5C74-2446-B039AB2EF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9339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ACA889-7ABE-2F23-9392-B7CDD4D20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Normalization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DAEA28-7DDD-166A-19F0-6215D90D9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6151DA-671E-E498-1F72-039FE6A91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517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5AB67-F77C-1D58-03A5-AEF89F081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Categorical</a:t>
            </a:r>
            <a:r>
              <a:rPr lang="de-DE" dirty="0"/>
              <a:t> Features: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993410-D8E0-5839-5F99-8816796C6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52818F-E158-709B-1393-500769279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842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6BE7-ED4C-5E2B-564B-33799AF07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Categorical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CC10-8545-2083-F633-36ECF823D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12459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tabular data usually heterogenous, often with sparse c</a:t>
            </a:r>
            <a:r>
              <a:rPr lang="en-DE" sz="2600" dirty="0"/>
              <a:t>ategorical variables (like color of an object)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need for an encoding for categorical variables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different possibilities:</a:t>
            </a:r>
            <a:endParaRPr lang="en-DE" sz="2600" dirty="0"/>
          </a:p>
          <a:p>
            <a:r>
              <a:rPr lang="en-GB" sz="2600" dirty="0"/>
              <a:t>o</a:t>
            </a:r>
            <a:r>
              <a:rPr lang="en-DE" sz="2600" dirty="0"/>
              <a:t>rdinal encoding</a:t>
            </a:r>
          </a:p>
          <a:p>
            <a:r>
              <a:rPr lang="en-DE" sz="2600" dirty="0"/>
              <a:t>leave-one-out encoding (use mean of target for given category excluding current row)</a:t>
            </a:r>
          </a:p>
          <a:p>
            <a:r>
              <a:rPr lang="en-DE" sz="2600" dirty="0"/>
              <a:t>one-hot encoding (suffer</a:t>
            </a:r>
            <a:r>
              <a:rPr lang="en-GB" sz="2600" dirty="0"/>
              <a:t>s</a:t>
            </a:r>
            <a:r>
              <a:rPr lang="en-DE" sz="2600" dirty="0"/>
              <a:t> from curse of dimensionality)</a:t>
            </a:r>
          </a:p>
          <a:p>
            <a:r>
              <a:rPr lang="en-DE" sz="2600" dirty="0"/>
              <a:t>embeddings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ECF4-88CC-6FFA-B376-C462D897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4D5CA4-59B9-8AEA-7DD8-3C2E7B69893D}"/>
              </a:ext>
            </a:extLst>
          </p:cNvPr>
          <p:cNvSpPr txBox="1"/>
          <p:nvPr/>
        </p:nvSpPr>
        <p:spPr>
          <a:xfrm>
            <a:off x="8448767" y="4000749"/>
            <a:ext cx="30668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err="1">
                <a:latin typeface="Courier" pitchFamily="2" charset="0"/>
              </a:rPr>
              <a:t>X.sort_values</a:t>
            </a:r>
            <a:r>
              <a:rPr lang="en-GB" sz="1200" dirty="0">
                <a:latin typeface="Courier" pitchFamily="2" charset="0"/>
              </a:rPr>
              <a:t>(['date’])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groupby</a:t>
            </a:r>
            <a:r>
              <a:rPr lang="en-GB" sz="1200" dirty="0">
                <a:latin typeface="Courier" pitchFamily="2" charset="0"/>
              </a:rPr>
              <a:t>(['</a:t>
            </a:r>
            <a:r>
              <a:rPr lang="en-GB" sz="1200" dirty="0" err="1">
                <a:latin typeface="Courier" pitchFamily="2" charset="0"/>
              </a:rPr>
              <a:t>store','item</a:t>
            </a:r>
            <a:r>
              <a:rPr lang="en-GB" sz="1200" dirty="0">
                <a:latin typeface="Courier" pitchFamily="2" charset="0"/>
              </a:rPr>
              <a:t>'])['y’]</a:t>
            </a:r>
          </a:p>
          <a:p>
            <a:r>
              <a:rPr lang="en-GB" sz="1200" dirty="0">
                <a:latin typeface="Courier" pitchFamily="2" charset="0"/>
              </a:rPr>
              <a:t>.apply(lambda x: </a:t>
            </a:r>
            <a:r>
              <a:rPr lang="en-GB" sz="1200" dirty="0" err="1">
                <a:latin typeface="Courier" pitchFamily="2" charset="0"/>
              </a:rPr>
              <a:t>x.shift</a:t>
            </a:r>
            <a:r>
              <a:rPr lang="en-GB" sz="1200" dirty="0">
                <a:latin typeface="Courier" pitchFamily="2" charset="0"/>
              </a:rPr>
              <a:t>(3)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ewm</a:t>
            </a:r>
            <a:r>
              <a:rPr lang="en-GB" sz="1200" dirty="0">
                <a:latin typeface="Courier" pitchFamily="2" charset="0"/>
              </a:rPr>
              <a:t>(alpha=0.15).mean())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14F96-5D83-53CF-A1A4-98198E01EFD9}"/>
              </a:ext>
            </a:extLst>
          </p:cNvPr>
          <p:cNvSpPr txBox="1"/>
          <p:nvPr/>
        </p:nvSpPr>
        <p:spPr>
          <a:xfrm>
            <a:off x="10498489" y="4834909"/>
            <a:ext cx="16157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p</a:t>
            </a:r>
            <a:r>
              <a:rPr lang="en-DE" sz="1500" dirty="0"/>
              <a:t>rediction horizon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31E913-8076-767F-3FFA-49228926DD2A}"/>
              </a:ext>
            </a:extLst>
          </p:cNvPr>
          <p:cNvCxnSpPr>
            <a:cxnSpLocks/>
          </p:cNvCxnSpPr>
          <p:nvPr/>
        </p:nvCxnSpPr>
        <p:spPr>
          <a:xfrm flipH="1" flipV="1">
            <a:off x="10898248" y="4580913"/>
            <a:ext cx="132217" cy="278710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B769A41-4005-10D3-8FBE-6E3F868A80AA}"/>
              </a:ext>
            </a:extLst>
          </p:cNvPr>
          <p:cNvSpPr txBox="1"/>
          <p:nvPr/>
        </p:nvSpPr>
        <p:spPr>
          <a:xfrm>
            <a:off x="8448767" y="3628254"/>
            <a:ext cx="1004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stacking:</a:t>
            </a:r>
          </a:p>
        </p:txBody>
      </p:sp>
    </p:spTree>
    <p:extLst>
      <p:ext uri="{BB962C8B-B14F-4D97-AF65-F5344CB8AC3E}">
        <p14:creationId xmlns:p14="http://schemas.microsoft.com/office/powerpoint/2010/main" val="2471018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6BB78-5A1D-D18F-121B-56F0A89A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-Hot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FD71D2-F73E-37C5-322A-28888DF27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7B51C-FCEA-9E89-A2F4-4EAC24747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7041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63CD46-F6B9-B6E6-2A62-1144B2CEF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Ordinal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87BFC7-509D-7528-9CA9-E4E2951B2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400C3F-8C31-720B-A1F7-C9C361C4D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9113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CCCC1-76F8-E4E0-DE25-A04646F0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Target and </a:t>
            </a:r>
            <a:r>
              <a:rPr lang="de-DE" dirty="0" err="1"/>
              <a:t>Frequency</a:t>
            </a:r>
            <a:r>
              <a:rPr lang="de-DE" dirty="0"/>
              <a:t>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6A7C9C-E319-B9BC-7A5F-20F895CA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0448D9-DCF8-02EA-C143-C27C76098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0562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B46F5-540A-8319-5CB2-AEBE07CA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A42FF-356B-8FF0-F726-7B70069EB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690688"/>
            <a:ext cx="6287816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dirty="0"/>
              <a:t>r</a:t>
            </a:r>
            <a:r>
              <a:rPr lang="en-DE" sz="2000" dirty="0"/>
              <a:t>epresentation of entities </a:t>
            </a:r>
            <a:r>
              <a:rPr lang="en-DE" sz="2000"/>
              <a:t>by vectors</a:t>
            </a:r>
            <a:endParaRPr lang="en-GB" sz="2000" dirty="0"/>
          </a:p>
          <a:p>
            <a:pPr marL="0" indent="0">
              <a:buNone/>
            </a:pPr>
            <a:r>
              <a:rPr lang="en-GB" sz="2000" dirty="0">
                <a:sym typeface="Wingdings" pitchFamily="2" charset="2"/>
              </a:rPr>
              <a:t> </a:t>
            </a:r>
            <a:r>
              <a:rPr lang="en-GB" sz="2000" dirty="0"/>
              <a:t>semantic s</a:t>
            </a:r>
            <a:r>
              <a:rPr lang="en-DE" sz="2000"/>
              <a:t>imilarity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most famous application: w</a:t>
            </a:r>
            <a:r>
              <a:rPr lang="en-DE" sz="2000"/>
              <a:t>ord embeddings</a:t>
            </a:r>
            <a:endParaRPr lang="de-DE" sz="2000" dirty="0"/>
          </a:p>
          <a:p>
            <a:pPr marL="0" indent="0">
              <a:buNone/>
            </a:pPr>
            <a:r>
              <a:rPr lang="en-DE" sz="2000">
                <a:sym typeface="Wingdings" pitchFamily="2" charset="2"/>
              </a:rPr>
              <a:t> </a:t>
            </a:r>
            <a:r>
              <a:rPr lang="en-DE" sz="2000" dirty="0">
                <a:sym typeface="Wingdings" pitchFamily="2" charset="2"/>
              </a:rPr>
              <a:t>associations </a:t>
            </a:r>
            <a:r>
              <a:rPr lang="en-DE" sz="2000" dirty="0"/>
              <a:t>(natural language </a:t>
            </a:r>
            <a:r>
              <a:rPr lang="en-DE" sz="2000"/>
              <a:t>processing)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b</a:t>
            </a:r>
            <a:r>
              <a:rPr lang="en-DE" sz="2000" dirty="0"/>
              <a:t>ut general concept: embeddings of (categorical) features (e.g., products in recommendation </a:t>
            </a:r>
            <a:r>
              <a:rPr lang="en-DE" sz="2000"/>
              <a:t>engines)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learned via co-occurrence (e.g., </a:t>
            </a:r>
            <a:r>
              <a:rPr lang="en-GB" sz="2000" dirty="0">
                <a:hlinkClick r:id="rId2"/>
              </a:rPr>
              <a:t>word2vec</a:t>
            </a:r>
            <a:r>
              <a:rPr lang="en-GB" sz="2000" dirty="0"/>
              <a:t>)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end-to-end learning: embeddings layer in deep neural network, e.g., multi-layer perceptron (MLP)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CB5D3-4689-80E6-765B-B800A8E81DCE}"/>
              </a:ext>
            </a:extLst>
          </p:cNvPr>
          <p:cNvSpPr txBox="1"/>
          <p:nvPr/>
        </p:nvSpPr>
        <p:spPr>
          <a:xfrm>
            <a:off x="10901957" y="62063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5" descr="Chart&#10;&#10;Description automatically generated with low confidence">
            <a:extLst>
              <a:ext uri="{FF2B5EF4-FFF2-40B4-BE49-F238E27FC236}">
                <a16:creationId xmlns:a16="http://schemas.microsoft.com/office/drawing/2014/main" id="{17D634FC-E599-9F20-47A7-FB10E27B9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126" y="3454717"/>
            <a:ext cx="4028543" cy="19265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D70A9-EEC9-B484-0A23-2CB9B1B57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75" y="5381285"/>
            <a:ext cx="2944800" cy="202368"/>
          </a:xfrm>
          <a:prstGeom prst="rect">
            <a:avLst/>
          </a:prstGeom>
        </p:spPr>
      </p:pic>
      <p:pic>
        <p:nvPicPr>
          <p:cNvPr id="10" name="Picture 9" descr="Chart, bar chart&#10;&#10;Description automatically generated">
            <a:extLst>
              <a:ext uri="{FF2B5EF4-FFF2-40B4-BE49-F238E27FC236}">
                <a16:creationId xmlns:a16="http://schemas.microsoft.com/office/drawing/2014/main" id="{E3D52C29-171A-1108-3E4C-38871512D9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491" y="5712101"/>
            <a:ext cx="3857297" cy="54633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44C6BA1-9223-B550-520F-332D7695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14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6E5F51-20A2-7DF2-26E3-DD81994CAF95}"/>
              </a:ext>
            </a:extLst>
          </p:cNvPr>
          <p:cNvSpPr txBox="1"/>
          <p:nvPr/>
        </p:nvSpPr>
        <p:spPr>
          <a:xfrm>
            <a:off x="7609491" y="2648915"/>
            <a:ext cx="36587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</a:t>
            </a:r>
            <a:r>
              <a:rPr lang="en-DE" sz="2000" dirty="0"/>
              <a:t>ut also direction of difference vectors interesting (analogies):</a:t>
            </a:r>
          </a:p>
        </p:txBody>
      </p:sp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7A803F76-A96C-AF3E-B8A0-FE1423AF2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7994" y="400887"/>
            <a:ext cx="3658794" cy="207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948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9BAF-CD48-A9DC-C9DE-C8CFE057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Word Embeddings as Part of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2A78-E7E1-8AB3-28CF-DF22B7BB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245836" cy="28366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 dirty="0"/>
              <a:t>anguage models contain embedding matrix as part of learned parameters</a:t>
            </a:r>
          </a:p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ypically several hundred dimensions for word vectors</a:t>
            </a:r>
            <a:r>
              <a:rPr lang="en-GB" sz="2600" dirty="0"/>
              <a:t> (to be compared with vocabulary sizes of many thousands)</a:t>
            </a:r>
            <a:endParaRPr lang="en-DE" sz="2600" dirty="0"/>
          </a:p>
          <a:p>
            <a:pPr marL="0" indent="0">
              <a:buNone/>
            </a:pPr>
            <a:r>
              <a:rPr lang="en-GB" sz="2600" dirty="0"/>
              <a:t>(c</a:t>
            </a:r>
            <a:r>
              <a:rPr lang="en-DE" sz="2600"/>
              <a:t>an </a:t>
            </a:r>
            <a:r>
              <a:rPr lang="de-DE" sz="2600" dirty="0"/>
              <a:t>also </a:t>
            </a:r>
            <a:r>
              <a:rPr lang="en-DE" sz="2600"/>
              <a:t>be extracted and subsequently used as pretrained embeddings for ot</a:t>
            </a:r>
            <a:r>
              <a:rPr lang="en-GB" sz="2600" dirty="0"/>
              <a:t>he</a:t>
            </a:r>
            <a:r>
              <a:rPr lang="en-DE" sz="2600"/>
              <a:t>r task</a:t>
            </a:r>
            <a:r>
              <a:rPr lang="de-DE" sz="2600" dirty="0"/>
              <a:t>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35F2C-07D5-187B-BE3D-6ABF98E1F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15</a:t>
            </a:fld>
            <a:endParaRPr lang="en-DE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C0D0DB44-137A-5A96-F654-84C6089EF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311" y="4575994"/>
            <a:ext cx="4455949" cy="2194144"/>
          </a:xfrm>
          <a:prstGeom prst="rect">
            <a:avLst/>
          </a:prstGeom>
        </p:spPr>
      </p:pic>
      <p:pic>
        <p:nvPicPr>
          <p:cNvPr id="8" name="Picture 7" descr="Graphical user interface&#10;&#10;Description automatically generated">
            <a:extLst>
              <a:ext uri="{FF2B5EF4-FFF2-40B4-BE49-F238E27FC236}">
                <a16:creationId xmlns:a16="http://schemas.microsoft.com/office/drawing/2014/main" id="{F0B691B1-6618-EEE6-E1AB-BB326F7FB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03" y="4575994"/>
            <a:ext cx="4572781" cy="21941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B38438-74D2-2EE4-9457-10563444E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4036" y="1551648"/>
            <a:ext cx="1889669" cy="25371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EEB905-7F38-A25E-C89F-852AB8B256E0}"/>
              </a:ext>
            </a:extLst>
          </p:cNvPr>
          <p:cNvSpPr txBox="1"/>
          <p:nvPr/>
        </p:nvSpPr>
        <p:spPr>
          <a:xfrm>
            <a:off x="11287235" y="598568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D1DC02-65F0-4A86-0404-D87CFA3EB8B9}"/>
              </a:ext>
            </a:extLst>
          </p:cNvPr>
          <p:cNvSpPr txBox="1"/>
          <p:nvPr/>
        </p:nvSpPr>
        <p:spPr>
          <a:xfrm>
            <a:off x="372247" y="5349900"/>
            <a:ext cx="1410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next-word prediction</a:t>
            </a:r>
            <a:r>
              <a:rPr lang="en-GB" dirty="0"/>
              <a:t>: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5136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BCDC7E5-D7A7-4A4D-D7BA-4ADED8922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Tokenization</a:t>
            </a:r>
            <a:r>
              <a:rPr lang="de-DE" dirty="0"/>
              <a:t> &amp; </a:t>
            </a:r>
            <a:r>
              <a:rPr lang="de-DE" dirty="0" err="1"/>
              <a:t>Embeddings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5D160-5F88-C8FA-1779-A31D24A90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p:pic>
        <p:nvPicPr>
          <p:cNvPr id="7" name="Grafik 6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A9B50630-A54E-D44F-A579-EE71DE874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690688"/>
            <a:ext cx="9144000" cy="452398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9B2AC5B-C9B6-DFBA-0AA1-6A856780D62D}"/>
              </a:ext>
            </a:extLst>
          </p:cNvPr>
          <p:cNvSpPr txBox="1"/>
          <p:nvPr/>
        </p:nvSpPr>
        <p:spPr>
          <a:xfrm>
            <a:off x="9715941" y="6214672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333349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D6BF8-3D11-D88B-C84A-AE77A3211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8B8B-A809-EE1C-1E3D-A32FC5088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5B58E1-0E39-CD68-78F4-A3CF38272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1594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7B3083-59FB-DA8F-12C6-DF0A645DE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Principal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Analysis (PCA)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809814-34C7-FCFF-C03A-378CFA849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D62EC6-ACEC-43A6-B331-EF1A0B5E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3803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A6AFEC-8765-3AAD-81DF-22E46DF92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</a:t>
            </a:r>
            <a:r>
              <a:rPr lang="de-DE" dirty="0" err="1"/>
              <a:t>Principal</a:t>
            </a:r>
            <a:r>
              <a:rPr lang="de-DE" dirty="0"/>
              <a:t> Components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8A9FB-8232-AD4B-8546-A970004A8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9CA560-5E44-0D4F-1B3A-321CECE9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3220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C65FE1-3D0F-A212-782E-9BD31CC63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Regularization</a:t>
            </a:r>
            <a:r>
              <a:rPr lang="de-DE" dirty="0"/>
              <a:t> and Feature </a:t>
            </a:r>
            <a:r>
              <a:rPr lang="de-DE" dirty="0" err="1"/>
              <a:t>Selection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0D3F02-061B-0FA9-ABF4-F9D34A0EF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38E8F3-9DF8-C3E8-2EFC-8D44C8F5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7786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45137-BA5A-B36F-E73F-D02561B52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800" dirty="0"/>
              <a:t>Regularization</a:t>
            </a:r>
            <a:endParaRPr lang="en-DE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80A46-8A74-4BBC-4C7D-DA493CCF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6551"/>
            <a:ext cx="6007443" cy="4010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reduce test error, possibly at expense of increased training error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many ways:</a:t>
            </a:r>
          </a:p>
          <a:p>
            <a:pPr marL="0" indent="0">
              <a:buNone/>
            </a:pPr>
            <a:r>
              <a:rPr lang="en-GB" dirty="0"/>
              <a:t>explicit constraints, adding penalties, priors, parameter sharing, data set augmentation, early stopping, dropout, bagging, 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17386-E05D-6307-FCBD-F24208AA7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21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F86E-3DF4-87B4-101F-15384917C59E}"/>
              </a:ext>
            </a:extLst>
          </p:cNvPr>
          <p:cNvSpPr txBox="1"/>
          <p:nvPr/>
        </p:nvSpPr>
        <p:spPr>
          <a:xfrm>
            <a:off x="11599833" y="579314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00E0C-044C-2619-EACA-FD3A1872C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591" y="2574134"/>
            <a:ext cx="5131760" cy="3219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8242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279BB16-D4B5-FD1B-04CF-1F4E67E7AC78}"/>
              </a:ext>
            </a:extLst>
          </p:cNvPr>
          <p:cNvSpPr/>
          <p:nvPr/>
        </p:nvSpPr>
        <p:spPr>
          <a:xfrm>
            <a:off x="4857270" y="2466960"/>
            <a:ext cx="1392455" cy="84417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000" dirty="0"/>
                  <a:t>adding </a:t>
                </a:r>
                <a:r>
                  <a:rPr lang="en-DE" sz="2000" b="1" dirty="0"/>
                  <a:t>penalty term</a:t>
                </a:r>
                <a:r>
                  <a:rPr lang="en-DE" sz="20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DE" sz="2000" dirty="0"/>
                  <a:t> norm to cost function</a:t>
                </a:r>
                <a:endParaRPr lang="en-GB" sz="2000" dirty="0"/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GB" sz="20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000" dirty="0"/>
                  <a:t>)</a:t>
                </a:r>
              </a:p>
              <a:p>
                <a:pPr marL="0" indent="0">
                  <a:buNone/>
                </a:pPr>
                <a:r>
                  <a:rPr lang="en-GB" sz="2000" b="1" dirty="0"/>
                  <a:t>L</a:t>
                </a:r>
                <a:r>
                  <a:rPr lang="en-GB" sz="2000" dirty="0"/>
                  <a:t>east </a:t>
                </a:r>
                <a:r>
                  <a:rPr lang="en-GB" sz="2000" b="1" dirty="0"/>
                  <a:t>A</a:t>
                </a:r>
                <a:r>
                  <a:rPr lang="en-GB" sz="2000" dirty="0"/>
                  <a:t>bsolute </a:t>
                </a:r>
                <a:r>
                  <a:rPr lang="en-GB" sz="2000" b="1" dirty="0"/>
                  <a:t>S</a:t>
                </a:r>
                <a:r>
                  <a:rPr lang="en-GB" sz="2000" dirty="0"/>
                  <a:t>hrinkage and </a:t>
                </a:r>
                <a:r>
                  <a:rPr lang="en-GB" sz="2000" b="1" dirty="0"/>
                  <a:t>S</a:t>
                </a:r>
                <a:r>
                  <a:rPr lang="en-GB" sz="2000" dirty="0"/>
                  <a:t>election </a:t>
                </a:r>
                <a:r>
                  <a:rPr lang="en-GB" sz="2000" b="1" dirty="0"/>
                  <a:t>O</a:t>
                </a:r>
                <a:r>
                  <a:rPr lang="en-GB" sz="2000" dirty="0"/>
                  <a:t>perator: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				a</a:t>
                </a:r>
                <a:r>
                  <a:rPr lang="en-DE" sz="2000" dirty="0"/>
                  <a:t>lso performs feature selection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  <a:blipFill>
                <a:blip r:embed="rId2"/>
                <a:stretch>
                  <a:fillRect l="-952" t="-1017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78B9627F-E914-4FE9-555E-66ADDC86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LASSO Regression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946F4-E7DF-4425-8081-EFA09CA0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22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57076F-8C77-4EE8-9D7F-34F4B902A274}"/>
              </a:ext>
            </a:extLst>
          </p:cNvPr>
          <p:cNvSpPr txBox="1"/>
          <p:nvPr/>
        </p:nvSpPr>
        <p:spPr>
          <a:xfrm>
            <a:off x="11353800" y="56971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352AB18-1497-DF92-ABBF-3CD789878F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41607" y="621006"/>
            <a:ext cx="3287438" cy="274801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207B273-A2A6-39D8-5F68-BAA2696A69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41607" y="3369019"/>
            <a:ext cx="3287438" cy="274801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567EC4-2F2F-115C-C484-98057EF81BED}"/>
              </a:ext>
            </a:extLst>
          </p:cNvPr>
          <p:cNvCxnSpPr>
            <a:cxnSpLocks/>
          </p:cNvCxnSpPr>
          <p:nvPr/>
        </p:nvCxnSpPr>
        <p:spPr>
          <a:xfrm flipV="1">
            <a:off x="7834964" y="4620126"/>
            <a:ext cx="2040556" cy="664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58819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ACCFFB-9C8A-3344-6CB6-850411F5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Relevance</a:t>
            </a:r>
            <a:r>
              <a:rPr lang="de-DE" dirty="0"/>
              <a:t> Determination (ARD)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43B982-D0C2-2510-8BEB-176415008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F057AD-CB24-1B6C-D311-911DEFB8D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94766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99A6E-985A-BCAE-71DF-63142D9EC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Handling </a:t>
            </a:r>
            <a:r>
              <a:rPr lang="de-DE" dirty="0" err="1"/>
              <a:t>Missing</a:t>
            </a:r>
            <a:r>
              <a:rPr lang="de-DE" dirty="0"/>
              <a:t> 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2E5862-7DC7-538D-50E5-A4A53633B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E1F3C2-F660-87DE-3784-C6B8FA9E4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2671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3DF55-62FC-108F-C35D-02114E3B9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Imputation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C6F1E1-2D09-57EF-8441-1D37701B0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FAF73B-825C-EAD4-7CCA-FCF1CD576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9386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4EE415-C8FF-FA3E-F6A4-91C674C5E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 Pipelines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250263-A1D9-0375-3352-51387D02F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CFB421-1136-E880-67A1-53A465492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8318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8FB5EE9-2A0C-9B40-9379-F3036AE92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for Feature Engineering</a:t>
            </a:r>
            <a:endParaRPr lang="en-DE" dirty="0"/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E38AFF97-8803-AB4D-A3D8-999C4C0E3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</p:spPr>
        <p:txBody>
          <a:bodyPr/>
          <a:lstStyle/>
          <a:p>
            <a:fld id="{523A240F-EAFE-E84F-B44C-6D7A08E0E409}" type="slidenum">
              <a:rPr lang="en-US" smtClean="0"/>
              <a:t>27</a:t>
            </a:fld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D00C66-52D9-4D12-A054-8D0E738F87F8}"/>
              </a:ext>
            </a:extLst>
          </p:cNvPr>
          <p:cNvSpPr/>
          <p:nvPr/>
        </p:nvSpPr>
        <p:spPr>
          <a:xfrm>
            <a:off x="84392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b="1" dirty="0">
                <a:solidFill>
                  <a:schemeClr val="tx1"/>
                </a:solidFill>
              </a:rPr>
              <a:t>seasonality</a:t>
            </a:r>
          </a:p>
          <a:p>
            <a:endParaRPr lang="en-GB" sz="1600" i="1" dirty="0">
              <a:solidFill>
                <a:schemeClr val="tx1"/>
              </a:solidFill>
            </a:endParaRPr>
          </a:p>
          <a:p>
            <a:r>
              <a:rPr lang="en-GB" sz="1600" i="1" dirty="0">
                <a:solidFill>
                  <a:schemeClr val="tx1"/>
                </a:solidFill>
              </a:rPr>
              <a:t>day of week, payday, week of year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0F4E917-52F5-447E-AAA9-5AC8CF688DA8}"/>
              </a:ext>
            </a:extLst>
          </p:cNvPr>
          <p:cNvSpPr/>
          <p:nvPr/>
        </p:nvSpPr>
        <p:spPr>
          <a:xfrm>
            <a:off x="865259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tabLst>
                <a:tab pos="1314450" algn="l"/>
                <a:tab pos="1489075" algn="l"/>
              </a:tabLst>
            </a:pPr>
            <a:r>
              <a:rPr lang="de-DE" b="1" dirty="0">
                <a:solidFill>
                  <a:schemeClr val="tx1"/>
                </a:solidFill>
              </a:rPr>
              <a:t>events (e.g., holidays)</a:t>
            </a:r>
          </a:p>
          <a:p>
            <a:pPr>
              <a:tabLst>
                <a:tab pos="1314450" algn="l"/>
                <a:tab pos="1489075" algn="l"/>
              </a:tabLst>
            </a:pPr>
            <a:endParaRPr lang="de-DE" sz="1600" b="1" i="1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de-DE" sz="1600" i="1" dirty="0">
                <a:solidFill>
                  <a:schemeClr val="tx1"/>
                </a:solidFill>
              </a:rPr>
              <a:t>time window around event (e.g., monotonic)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5B04147-463E-49F9-9380-4EF910616917}"/>
              </a:ext>
            </a:extLst>
          </p:cNvPr>
          <p:cNvSpPr/>
          <p:nvPr/>
        </p:nvSpPr>
        <p:spPr>
          <a:xfrm>
            <a:off x="482588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tabLst>
                <a:tab pos="1314450" algn="l"/>
                <a:tab pos="1489075" algn="l"/>
              </a:tabLst>
            </a:pPr>
            <a:r>
              <a:rPr lang="en-US" b="1" dirty="0">
                <a:solidFill>
                  <a:schemeClr val="tx1"/>
                </a:solidFill>
              </a:rPr>
              <a:t>weather </a:t>
            </a:r>
          </a:p>
          <a:p>
            <a:pPr>
              <a:tabLst>
                <a:tab pos="1314450" algn="l"/>
                <a:tab pos="1489075" algn="l"/>
              </a:tabLst>
            </a:pPr>
            <a:endParaRPr lang="en-US" sz="1600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en-US" sz="1600" i="1" dirty="0">
                <a:solidFill>
                  <a:schemeClr val="tx1"/>
                </a:solidFill>
              </a:rPr>
              <a:t>event-like: first sunny weekend, snowstorm, …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7C1F8B9-5D20-4F4B-9D2D-9A2835936CF9}"/>
              </a:ext>
            </a:extLst>
          </p:cNvPr>
          <p:cNvSpPr/>
          <p:nvPr/>
        </p:nvSpPr>
        <p:spPr>
          <a:xfrm>
            <a:off x="84392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b="1" dirty="0">
                <a:solidFill>
                  <a:schemeClr val="tx1"/>
                </a:solidFill>
              </a:rPr>
              <a:t>promotion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days since start of promotion period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3BC18D3-AE36-46C1-B216-3CB920B0C605}"/>
              </a:ext>
            </a:extLst>
          </p:cNvPr>
          <p:cNvSpPr/>
          <p:nvPr/>
        </p:nvSpPr>
        <p:spPr>
          <a:xfrm>
            <a:off x="482588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price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ratio of reduced and normal price, price-demand elasticity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939D652-32CF-4F4C-92FE-6855B860AF6E}"/>
              </a:ext>
            </a:extLst>
          </p:cNvPr>
          <p:cNvSpPr/>
          <p:nvPr/>
        </p:nvSpPr>
        <p:spPr>
          <a:xfrm>
            <a:off x="8652599" y="4414764"/>
            <a:ext cx="2540222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product information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text (name/description) or image embeddings</a:t>
            </a:r>
          </a:p>
        </p:txBody>
      </p:sp>
    </p:spTree>
    <p:extLst>
      <p:ext uri="{BB962C8B-B14F-4D97-AF65-F5344CB8AC3E}">
        <p14:creationId xmlns:p14="http://schemas.microsoft.com/office/powerpoint/2010/main" val="33802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9410A-8F66-51F8-EFD5-87E80DBE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Leakage and Common </a:t>
            </a:r>
            <a:r>
              <a:rPr lang="de-DE" dirty="0" err="1"/>
              <a:t>Pitfalls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B1A170-E57D-0D81-68C1-2FD75799F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4A8E23-D708-BD7E-5680-18E561CD9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400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619</Words>
  <Application>Microsoft Macintosh PowerPoint</Application>
  <PresentationFormat>Breitbild</PresentationFormat>
  <Paragraphs>154</Paragraphs>
  <Slides>28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Courier</vt:lpstr>
      <vt:lpstr>Wingdings</vt:lpstr>
      <vt:lpstr>Office Theme</vt:lpstr>
      <vt:lpstr>Feature Engineering</vt:lpstr>
      <vt:lpstr>Course Schedule</vt:lpstr>
      <vt:lpstr>Feature Engineering</vt:lpstr>
      <vt:lpstr>Model Pipeline</vt:lpstr>
      <vt:lpstr>Why Feature Engineering Matters</vt:lpstr>
      <vt:lpstr>Numerical Features</vt:lpstr>
      <vt:lpstr>Transformations (log, power, Box-Cox)</vt:lpstr>
      <vt:lpstr>Feature Scaling and Normalization</vt:lpstr>
      <vt:lpstr>Categorical Features: Types</vt:lpstr>
      <vt:lpstr>Categorical Variables</vt:lpstr>
      <vt:lpstr>One-Hot Encoding</vt:lpstr>
      <vt:lpstr>Ordinal Encoding</vt:lpstr>
      <vt:lpstr>Target and Frequency Encoding</vt:lpstr>
      <vt:lpstr>Embeddings</vt:lpstr>
      <vt:lpstr>Word Embeddings as Part of Language Model</vt:lpstr>
      <vt:lpstr>Tokenization &amp; Embeddings</vt:lpstr>
      <vt:lpstr>Dimensionality Reduction</vt:lpstr>
      <vt:lpstr>Principal Component Analysis (PCA)</vt:lpstr>
      <vt:lpstr>Interpreting Principal Components</vt:lpstr>
      <vt:lpstr>Regularization and Feature Selection</vt:lpstr>
      <vt:lpstr>Regularization</vt:lpstr>
      <vt:lpstr>LASSO Regression</vt:lpstr>
      <vt:lpstr>Automatic Relevance Determination (ARD)</vt:lpstr>
      <vt:lpstr>Handling Missing Values</vt:lpstr>
      <vt:lpstr>Imputation Strategies</vt:lpstr>
      <vt:lpstr>Feature Engineering Pipelines</vt:lpstr>
      <vt:lpstr>Examples for Feature Engineering</vt:lpstr>
      <vt:lpstr>Leakage and Common Pitfalls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48</cp:revision>
  <dcterms:created xsi:type="dcterms:W3CDTF">2025-01-08T09:27:30Z</dcterms:created>
  <dcterms:modified xsi:type="dcterms:W3CDTF">2026-03-11T11:14:30Z</dcterms:modified>
</cp:coreProperties>
</file>