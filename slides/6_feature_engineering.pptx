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682" r:id="rId10"/>
    <p:sldId id="272" r:id="rId11"/>
    <p:sldId id="273" r:id="rId12"/>
    <p:sldId id="274" r:id="rId13"/>
    <p:sldId id="712" r:id="rId14"/>
    <p:sldId id="672" r:id="rId15"/>
    <p:sldId id="793" r:id="rId16"/>
    <p:sldId id="275" r:id="rId17"/>
    <p:sldId id="276" r:id="rId18"/>
    <p:sldId id="277" r:id="rId19"/>
    <p:sldId id="278" r:id="rId20"/>
    <p:sldId id="636" r:id="rId21"/>
    <p:sldId id="285" r:id="rId22"/>
    <p:sldId id="280" r:id="rId23"/>
    <p:sldId id="281" r:id="rId24"/>
    <p:sldId id="282" r:id="rId25"/>
    <p:sldId id="283" r:id="rId26"/>
    <p:sldId id="669" r:id="rId27"/>
    <p:sldId id="28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28" autoAdjust="0"/>
  </p:normalViewPr>
  <p:slideViewPr>
    <p:cSldViewPr snapToGrid="0">
      <p:cViewPr varScale="1">
        <p:scale>
          <a:sx n="128" d="100"/>
          <a:sy n="128" d="100"/>
        </p:scale>
        <p:origin x="480" y="1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03/03/2026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03/03/2026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03/03/2026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03/03/2026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03/03/2026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03/03/2026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jalammar.github.io/illustrated-word2vec/" TargetMode="External"/><Relationship Id="rId7" Type="http://schemas.openxmlformats.org/officeDocument/2006/relationships/image" Target="../media/image4.png"/><Relationship Id="rId2" Type="http://schemas.openxmlformats.org/officeDocument/2006/relationships/hyperlink" Target="https://arxiv.org/abs/1301.3781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jalammar.github.io/illustrated-word2vec/" TargetMode="Externa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ameronrwolfe.substack.com/p/language-model-training-and-inference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udlbook.github.io/udlbook/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llmodelsarewrong.github.io/" TargetMode="External"/><Relationship Id="rId7" Type="http://schemas.openxmlformats.org/officeDocument/2006/relationships/image" Target="../media/image13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Feature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Data Science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 err="1"/>
              <a:t>Exploratory</a:t>
            </a:r>
            <a:r>
              <a:rPr lang="de-DE" dirty="0"/>
              <a:t> Data Analysis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Clustering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Probabilistic</a:t>
            </a:r>
            <a:r>
              <a:rPr lang="de-DE" dirty="0"/>
              <a:t> Models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Statistical </a:t>
            </a:r>
            <a:r>
              <a:rPr lang="de-DE" dirty="0" err="1"/>
              <a:t>Inference</a:t>
            </a:r>
            <a:endParaRPr lang="de-DE" dirty="0"/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Machine</a:t>
            </a:r>
            <a:r>
              <a:rPr lang="de-DE" dirty="0"/>
              <a:t> Learning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de-DE" dirty="0"/>
              <a:t>Feature Engineering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Model Evaluation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Deep Learning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/>
              <a:t>Time Series</a:t>
            </a:r>
          </a:p>
          <a:p>
            <a:pPr marL="514350" indent="-514350">
              <a:buFont typeface="+mj-lt"/>
              <a:buAutoNum type="arabicPeriod" startAt="6"/>
            </a:pPr>
            <a:endParaRPr lang="de-DE" dirty="0"/>
          </a:p>
          <a:p>
            <a:pPr marL="514350" indent="-514350">
              <a:buFont typeface="+mj-lt"/>
              <a:buAutoNum type="arabicPeriod" startAt="6"/>
            </a:pPr>
            <a:r>
              <a:rPr lang="de-DE" dirty="0" err="1"/>
              <a:t>Causality</a:t>
            </a:r>
            <a:endParaRPr lang="de-DE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16CBE6C5-FF71-FE69-AF96-EB26512AF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features</a:t>
            </a:r>
            <a:r>
              <a:rPr lang="de-DE" dirty="0"/>
              <a:t>, </a:t>
            </a:r>
            <a:r>
              <a:rPr lang="de-DE" dirty="0" err="1"/>
              <a:t>transformations</a:t>
            </a:r>
            <a:r>
              <a:rPr lang="de-DE" dirty="0"/>
              <a:t>, </a:t>
            </a:r>
            <a:r>
              <a:rPr lang="de-DE" dirty="0" err="1"/>
              <a:t>scaling</a:t>
            </a:r>
            <a:endParaRPr lang="de-DE" dirty="0"/>
          </a:p>
          <a:p>
            <a:r>
              <a:rPr lang="de-DE" dirty="0" err="1"/>
              <a:t>categorical</a:t>
            </a:r>
            <a:r>
              <a:rPr lang="de-DE" dirty="0"/>
              <a:t> (nominal, ordinal) </a:t>
            </a:r>
            <a:r>
              <a:rPr lang="de-DE" dirty="0" err="1"/>
              <a:t>features</a:t>
            </a:r>
            <a:r>
              <a:rPr lang="de-DE" dirty="0"/>
              <a:t>, </a:t>
            </a:r>
            <a:r>
              <a:rPr lang="de-DE" dirty="0" err="1"/>
              <a:t>encoding</a:t>
            </a:r>
            <a:endParaRPr lang="de-DE" dirty="0"/>
          </a:p>
          <a:p>
            <a:r>
              <a:rPr lang="de-DE" dirty="0"/>
              <a:t>PCA</a:t>
            </a:r>
          </a:p>
          <a:p>
            <a:r>
              <a:rPr lang="de-DE" dirty="0"/>
              <a:t>LASSO</a:t>
            </a:r>
          </a:p>
          <a:p>
            <a:r>
              <a:rPr lang="de-DE" dirty="0"/>
              <a:t>ARD</a:t>
            </a:r>
          </a:p>
          <a:p>
            <a:r>
              <a:rPr lang="de-DE" dirty="0" err="1"/>
              <a:t>missing</a:t>
            </a:r>
            <a:r>
              <a:rPr lang="de-DE" dirty="0"/>
              <a:t> </a:t>
            </a:r>
            <a:r>
              <a:rPr lang="de-DE" dirty="0" err="1"/>
              <a:t>values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AF520E-D347-5174-A597-846D87503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Feature Engineering Matters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FB7F72-B5A7-08FB-698C-916D7D774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92D1ED3-6740-ED39-D16C-062D2EF2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3951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1405FC-52F4-2F5F-315A-9FA532000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Numerical</a:t>
            </a:r>
            <a:r>
              <a:rPr lang="de-DE" dirty="0"/>
              <a:t> Features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1893269-41D5-8612-4320-F99D5CD73F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D175B19-DA1F-ED6E-AC1A-8B9350332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1787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14784E-C89E-599D-6CA5-8A8472E9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Transformations</a:t>
            </a:r>
            <a:r>
              <a:rPr lang="de-DE" dirty="0"/>
              <a:t> (log, power, Box-Cox)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F9A72DC-1DD9-B8AF-7853-20EE438280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1277F55-8E21-5C74-2446-B039AB2EF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9339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ACA889-7ABE-2F23-9392-B7CDD4D20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Normalization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DAEA28-7DDD-166A-19F0-6215D90D93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36151DA-671E-E498-1F72-039FE6A91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35178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B5AB67-F77C-1D58-03A5-AEF89F081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Categorical</a:t>
            </a:r>
            <a:r>
              <a:rPr lang="de-DE" dirty="0"/>
              <a:t> Features: </a:t>
            </a:r>
            <a:r>
              <a:rPr lang="de-DE" dirty="0" err="1"/>
              <a:t>Types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A993410-D8E0-5839-5F99-8816796C65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252818F-E158-709B-1393-500769279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8421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6BE7-ED4C-5E2B-564B-33799AF07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Categorical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FCC10-8545-2083-F633-36ECF823D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12459" cy="4351338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sz="2600" dirty="0"/>
              <a:t>tabular data usually heterogenous, often with sparse c</a:t>
            </a:r>
            <a:r>
              <a:rPr lang="en-DE" sz="2600" dirty="0"/>
              <a:t>ategorical variables (like color of an object)</a:t>
            </a:r>
          </a:p>
          <a:p>
            <a:pPr marL="0" indent="0">
              <a:buNone/>
            </a:pPr>
            <a:r>
              <a:rPr lang="en-GB" sz="2600" dirty="0">
                <a:sym typeface="Wingdings" pitchFamily="2" charset="2"/>
              </a:rPr>
              <a:t> need for an encoding for categorical variables</a:t>
            </a:r>
            <a:endParaRPr lang="en-GB" sz="2600" dirty="0"/>
          </a:p>
          <a:p>
            <a:pPr marL="0" indent="0">
              <a:buNone/>
            </a:pPr>
            <a:endParaRPr lang="en-GB" sz="2600" dirty="0"/>
          </a:p>
          <a:p>
            <a:pPr marL="0" indent="0">
              <a:buNone/>
            </a:pPr>
            <a:r>
              <a:rPr lang="en-GB" sz="2600" dirty="0"/>
              <a:t>different possibilities:</a:t>
            </a:r>
            <a:endParaRPr lang="en-DE" sz="2600" dirty="0"/>
          </a:p>
          <a:p>
            <a:r>
              <a:rPr lang="en-GB" sz="2600" dirty="0"/>
              <a:t>o</a:t>
            </a:r>
            <a:r>
              <a:rPr lang="en-DE" sz="2600" dirty="0"/>
              <a:t>rdinal encoding</a:t>
            </a:r>
          </a:p>
          <a:p>
            <a:r>
              <a:rPr lang="en-DE" sz="2600" dirty="0"/>
              <a:t>leave-one-out encoding (use mean of target for given category excluding current row)</a:t>
            </a:r>
          </a:p>
          <a:p>
            <a:r>
              <a:rPr lang="en-DE" sz="2600" dirty="0"/>
              <a:t>one-hot encoding (suffer</a:t>
            </a:r>
            <a:r>
              <a:rPr lang="en-GB" sz="2600" dirty="0"/>
              <a:t>s</a:t>
            </a:r>
            <a:r>
              <a:rPr lang="en-DE" sz="2600" dirty="0"/>
              <a:t> from curse of dimensionality)</a:t>
            </a:r>
          </a:p>
          <a:p>
            <a:r>
              <a:rPr lang="en-DE" sz="2600" dirty="0"/>
              <a:t>embeddings</a:t>
            </a:r>
          </a:p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A7ECF4-88CC-6FFA-B376-C462D8970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9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4D5CA4-59B9-8AEA-7DD8-3C2E7B69893D}"/>
              </a:ext>
            </a:extLst>
          </p:cNvPr>
          <p:cNvSpPr txBox="1"/>
          <p:nvPr/>
        </p:nvSpPr>
        <p:spPr>
          <a:xfrm>
            <a:off x="8448767" y="4000749"/>
            <a:ext cx="30668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 err="1">
                <a:latin typeface="Courier" pitchFamily="2" charset="0"/>
              </a:rPr>
              <a:t>X.sort_values</a:t>
            </a:r>
            <a:r>
              <a:rPr lang="en-GB" sz="1200" dirty="0">
                <a:latin typeface="Courier" pitchFamily="2" charset="0"/>
              </a:rPr>
              <a:t>(['date’])</a:t>
            </a:r>
          </a:p>
          <a:p>
            <a:r>
              <a:rPr lang="en-GB" sz="1200" dirty="0">
                <a:latin typeface="Courier" pitchFamily="2" charset="0"/>
              </a:rPr>
              <a:t>.</a:t>
            </a:r>
            <a:r>
              <a:rPr lang="en-GB" sz="1200" dirty="0" err="1">
                <a:latin typeface="Courier" pitchFamily="2" charset="0"/>
              </a:rPr>
              <a:t>groupby</a:t>
            </a:r>
            <a:r>
              <a:rPr lang="en-GB" sz="1200" dirty="0">
                <a:latin typeface="Courier" pitchFamily="2" charset="0"/>
              </a:rPr>
              <a:t>(['</a:t>
            </a:r>
            <a:r>
              <a:rPr lang="en-GB" sz="1200" dirty="0" err="1">
                <a:latin typeface="Courier" pitchFamily="2" charset="0"/>
              </a:rPr>
              <a:t>store','item</a:t>
            </a:r>
            <a:r>
              <a:rPr lang="en-GB" sz="1200" dirty="0">
                <a:latin typeface="Courier" pitchFamily="2" charset="0"/>
              </a:rPr>
              <a:t>'])['y’]</a:t>
            </a:r>
          </a:p>
          <a:p>
            <a:r>
              <a:rPr lang="en-GB" sz="1200" dirty="0">
                <a:latin typeface="Courier" pitchFamily="2" charset="0"/>
              </a:rPr>
              <a:t>.apply(lambda x: </a:t>
            </a:r>
            <a:r>
              <a:rPr lang="en-GB" sz="1200" dirty="0" err="1">
                <a:latin typeface="Courier" pitchFamily="2" charset="0"/>
              </a:rPr>
              <a:t>x.shift</a:t>
            </a:r>
            <a:r>
              <a:rPr lang="en-GB" sz="1200" dirty="0">
                <a:latin typeface="Courier" pitchFamily="2" charset="0"/>
              </a:rPr>
              <a:t>(3)</a:t>
            </a:r>
          </a:p>
          <a:p>
            <a:r>
              <a:rPr lang="en-GB" sz="1200" dirty="0">
                <a:latin typeface="Courier" pitchFamily="2" charset="0"/>
              </a:rPr>
              <a:t>.</a:t>
            </a:r>
            <a:r>
              <a:rPr lang="en-GB" sz="1200" dirty="0" err="1">
                <a:latin typeface="Courier" pitchFamily="2" charset="0"/>
              </a:rPr>
              <a:t>ewm</a:t>
            </a:r>
            <a:r>
              <a:rPr lang="en-GB" sz="1200" dirty="0">
                <a:latin typeface="Courier" pitchFamily="2" charset="0"/>
              </a:rPr>
              <a:t>(alpha=0.15).mean())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914F96-5D83-53CF-A1A4-98198E01EFD9}"/>
              </a:ext>
            </a:extLst>
          </p:cNvPr>
          <p:cNvSpPr txBox="1"/>
          <p:nvPr/>
        </p:nvSpPr>
        <p:spPr>
          <a:xfrm>
            <a:off x="10498489" y="4834909"/>
            <a:ext cx="161576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500" dirty="0"/>
              <a:t>p</a:t>
            </a:r>
            <a:r>
              <a:rPr lang="en-DE" sz="1500" dirty="0"/>
              <a:t>rediction horizon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D31E913-8076-767F-3FFA-49228926DD2A}"/>
              </a:ext>
            </a:extLst>
          </p:cNvPr>
          <p:cNvCxnSpPr>
            <a:cxnSpLocks/>
          </p:cNvCxnSpPr>
          <p:nvPr/>
        </p:nvCxnSpPr>
        <p:spPr>
          <a:xfrm flipH="1" flipV="1">
            <a:off x="10898248" y="4580913"/>
            <a:ext cx="132217" cy="278710"/>
          </a:xfrm>
          <a:prstGeom prst="straightConnector1">
            <a:avLst/>
          </a:prstGeom>
          <a:ln w="12700" cmpd="sng"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B769A41-4005-10D3-8FBE-6E3F868A80AA}"/>
              </a:ext>
            </a:extLst>
          </p:cNvPr>
          <p:cNvSpPr txBox="1"/>
          <p:nvPr/>
        </p:nvSpPr>
        <p:spPr>
          <a:xfrm>
            <a:off x="8448767" y="3628254"/>
            <a:ext cx="10048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stacking:</a:t>
            </a:r>
          </a:p>
        </p:txBody>
      </p:sp>
    </p:spTree>
    <p:extLst>
      <p:ext uri="{BB962C8B-B14F-4D97-AF65-F5344CB8AC3E}">
        <p14:creationId xmlns:p14="http://schemas.microsoft.com/office/powerpoint/2010/main" val="2471018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16BB78-5A1D-D18F-121B-56F0A89A2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One</a:t>
            </a:r>
            <a:r>
              <a:rPr lang="de-DE" dirty="0"/>
              <a:t>-Hot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FD71D2-F73E-37C5-322A-28888DF271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7B51C-FCEA-9E89-A2F4-4EAC24747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70413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63CD46-F6B9-B6E6-2A62-1144B2CEF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Ordinal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87BFC7-509D-7528-9CA9-E4E2951B25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E400C3F-8C31-720B-A1F7-C9C361C4D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91133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FCCCC1-76F8-E4E0-DE25-A04646F0D5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Target and </a:t>
            </a:r>
            <a:r>
              <a:rPr lang="de-DE" dirty="0" err="1"/>
              <a:t>Frequency</a:t>
            </a:r>
            <a:r>
              <a:rPr lang="de-DE" dirty="0"/>
              <a:t> Encoding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36A7C9C-E319-B9BC-7A5F-20F895CA47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70448D9-DCF8-02EA-C143-C27C76098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7056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2B46F5-540A-8319-5CB2-AEBE07CABE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Embeddings</a:t>
            </a:r>
            <a:endParaRPr lang="en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A42FF-356B-8FF0-F726-7B70069EB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690688"/>
            <a:ext cx="6287816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2000" dirty="0"/>
              <a:t>r</a:t>
            </a:r>
            <a:r>
              <a:rPr lang="en-DE" sz="2000" dirty="0"/>
              <a:t>epresentation of entities </a:t>
            </a:r>
            <a:r>
              <a:rPr lang="en-DE" sz="2000"/>
              <a:t>by vectors</a:t>
            </a:r>
            <a:endParaRPr lang="en-GB" sz="2000" dirty="0"/>
          </a:p>
          <a:p>
            <a:pPr marL="0" indent="0">
              <a:buNone/>
            </a:pPr>
            <a:r>
              <a:rPr lang="en-GB" sz="2000" dirty="0">
                <a:sym typeface="Wingdings" pitchFamily="2" charset="2"/>
              </a:rPr>
              <a:t> </a:t>
            </a:r>
            <a:r>
              <a:rPr lang="en-GB" sz="2000" dirty="0"/>
              <a:t>semantic s</a:t>
            </a:r>
            <a:r>
              <a:rPr lang="en-DE" sz="2000"/>
              <a:t>imilarity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most famous application: w</a:t>
            </a:r>
            <a:r>
              <a:rPr lang="en-DE" sz="2000"/>
              <a:t>ord embeddings</a:t>
            </a:r>
            <a:endParaRPr lang="de-DE" sz="2000" dirty="0"/>
          </a:p>
          <a:p>
            <a:pPr marL="0" indent="0">
              <a:buNone/>
            </a:pPr>
            <a:r>
              <a:rPr lang="en-DE" sz="2000">
                <a:sym typeface="Wingdings" pitchFamily="2" charset="2"/>
              </a:rPr>
              <a:t> </a:t>
            </a:r>
            <a:r>
              <a:rPr lang="en-DE" sz="2000" dirty="0">
                <a:sym typeface="Wingdings" pitchFamily="2" charset="2"/>
              </a:rPr>
              <a:t>associations </a:t>
            </a:r>
            <a:r>
              <a:rPr lang="en-DE" sz="2000" dirty="0"/>
              <a:t>(natural language </a:t>
            </a:r>
            <a:r>
              <a:rPr lang="en-DE" sz="2000"/>
              <a:t>processing)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b</a:t>
            </a:r>
            <a:r>
              <a:rPr lang="en-DE" sz="2000" dirty="0"/>
              <a:t>ut general concept: embeddings of (categorical) features (e.g., products in recommendation </a:t>
            </a:r>
            <a:r>
              <a:rPr lang="en-DE" sz="2000"/>
              <a:t>engines)</a:t>
            </a:r>
            <a:endParaRPr lang="en-GB" sz="2000" dirty="0"/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learned via co-occurrence (e.g., </a:t>
            </a:r>
            <a:r>
              <a:rPr lang="en-GB" sz="2000" dirty="0">
                <a:hlinkClick r:id="rId2"/>
              </a:rPr>
              <a:t>word2vec</a:t>
            </a:r>
            <a:r>
              <a:rPr lang="en-GB" sz="2000" dirty="0"/>
              <a:t>)</a:t>
            </a:r>
          </a:p>
          <a:p>
            <a:pPr marL="0" indent="0">
              <a:buNone/>
            </a:pPr>
            <a:endParaRPr lang="en-GB" sz="2000" dirty="0"/>
          </a:p>
          <a:p>
            <a:pPr marL="0" indent="0">
              <a:buNone/>
            </a:pPr>
            <a:r>
              <a:rPr lang="en-GB" sz="2000" dirty="0"/>
              <a:t>end-to-end learning: embeddings layer in deep neural network, e.g., multi-layer perceptron (MLP)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5CB5D3-4689-80E6-765B-B800A8E81DCE}"/>
              </a:ext>
            </a:extLst>
          </p:cNvPr>
          <p:cNvSpPr txBox="1"/>
          <p:nvPr/>
        </p:nvSpPr>
        <p:spPr>
          <a:xfrm>
            <a:off x="10901957" y="62063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6" name="Picture 5" descr="Chart&#10;&#10;Description automatically generated with low confidence">
            <a:extLst>
              <a:ext uri="{FF2B5EF4-FFF2-40B4-BE49-F238E27FC236}">
                <a16:creationId xmlns:a16="http://schemas.microsoft.com/office/drawing/2014/main" id="{17D634FC-E599-9F20-47A7-FB10E27B90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126" y="3454717"/>
            <a:ext cx="4028543" cy="19265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7DD70A9-EEC9-B484-0A23-2CB9B1B57F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9675" y="5381285"/>
            <a:ext cx="2944800" cy="202368"/>
          </a:xfrm>
          <a:prstGeom prst="rect">
            <a:avLst/>
          </a:prstGeom>
        </p:spPr>
      </p:pic>
      <p:pic>
        <p:nvPicPr>
          <p:cNvPr id="10" name="Picture 9" descr="Chart, bar chart&#10;&#10;Description automatically generated">
            <a:extLst>
              <a:ext uri="{FF2B5EF4-FFF2-40B4-BE49-F238E27FC236}">
                <a16:creationId xmlns:a16="http://schemas.microsoft.com/office/drawing/2014/main" id="{E3D52C29-171A-1108-3E4C-38871512D9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9491" y="5712101"/>
            <a:ext cx="3857297" cy="546333"/>
          </a:xfrm>
          <a:prstGeom prst="rect">
            <a:avLst/>
          </a:prstGeom>
        </p:spPr>
      </p:pic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44C6BA1-9223-B550-520F-332D76958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13</a:t>
            </a:fld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6E5F51-20A2-7DF2-26E3-DD81994CAF95}"/>
              </a:ext>
            </a:extLst>
          </p:cNvPr>
          <p:cNvSpPr txBox="1"/>
          <p:nvPr/>
        </p:nvSpPr>
        <p:spPr>
          <a:xfrm>
            <a:off x="7609491" y="2648915"/>
            <a:ext cx="36587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</a:t>
            </a:r>
            <a:r>
              <a:rPr lang="en-DE" sz="2000" dirty="0"/>
              <a:t>ut also direction of difference vectors interesting (analogies):</a:t>
            </a:r>
          </a:p>
        </p:txBody>
      </p:sp>
      <p:pic>
        <p:nvPicPr>
          <p:cNvPr id="14" name="Picture 13" descr="Diagram&#10;&#10;Description automatically generated">
            <a:extLst>
              <a:ext uri="{FF2B5EF4-FFF2-40B4-BE49-F238E27FC236}">
                <a16:creationId xmlns:a16="http://schemas.microsoft.com/office/drawing/2014/main" id="{7A803F76-A96C-AF3E-B8A0-FE1423AF27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07994" y="400887"/>
            <a:ext cx="3658794" cy="2073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3948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99BAF-CD48-A9DC-C9DE-C8CFE057A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DE" dirty="0"/>
              <a:t>Word Embeddings as Part of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702A78-E7E1-8AB3-28CF-DF22B7BBE8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245836" cy="283664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600" dirty="0"/>
              <a:t>l</a:t>
            </a:r>
            <a:r>
              <a:rPr lang="en-DE" sz="2600" dirty="0"/>
              <a:t>anguage models contain embedding matrix as part of learned parameters</a:t>
            </a:r>
          </a:p>
          <a:p>
            <a:pPr marL="0" indent="0">
              <a:buNone/>
            </a:pPr>
            <a:r>
              <a:rPr lang="en-GB" sz="2600" dirty="0"/>
              <a:t>t</a:t>
            </a:r>
            <a:r>
              <a:rPr lang="en-DE" sz="2600" dirty="0"/>
              <a:t>ypically several hundred dimensions for word vectors</a:t>
            </a:r>
            <a:r>
              <a:rPr lang="en-GB" sz="2600" dirty="0"/>
              <a:t> (to be compared with vocabulary sizes of many thousands)</a:t>
            </a:r>
            <a:endParaRPr lang="en-DE" sz="2600" dirty="0"/>
          </a:p>
          <a:p>
            <a:pPr marL="0" indent="0">
              <a:buNone/>
            </a:pPr>
            <a:r>
              <a:rPr lang="en-GB" sz="2600" dirty="0"/>
              <a:t>(c</a:t>
            </a:r>
            <a:r>
              <a:rPr lang="en-DE" sz="2600"/>
              <a:t>an </a:t>
            </a:r>
            <a:r>
              <a:rPr lang="de-DE" sz="2600" dirty="0"/>
              <a:t>also </a:t>
            </a:r>
            <a:r>
              <a:rPr lang="en-DE" sz="2600"/>
              <a:t>be extracted and subsequently used as pretrained embeddings for ot</a:t>
            </a:r>
            <a:r>
              <a:rPr lang="en-GB" sz="2600" dirty="0"/>
              <a:t>he</a:t>
            </a:r>
            <a:r>
              <a:rPr lang="en-DE" sz="2600"/>
              <a:t>r task</a:t>
            </a:r>
            <a:r>
              <a:rPr lang="de-DE" sz="2600" dirty="0"/>
              <a:t>)</a:t>
            </a:r>
            <a:endParaRPr lang="en-DE" sz="2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935F2C-07D5-187B-BE3D-6ABF98E1F6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0AF890-0265-4349-BF13-E30F01A2AA85}" type="slidenum">
              <a:rPr lang="en-DE" smtClean="0"/>
              <a:t>14</a:t>
            </a:fld>
            <a:endParaRPr lang="en-DE"/>
          </a:p>
        </p:txBody>
      </p:sp>
      <p:pic>
        <p:nvPicPr>
          <p:cNvPr id="6" name="Picture 5" descr="A picture containing text&#10;&#10;Description automatically generated">
            <a:extLst>
              <a:ext uri="{FF2B5EF4-FFF2-40B4-BE49-F238E27FC236}">
                <a16:creationId xmlns:a16="http://schemas.microsoft.com/office/drawing/2014/main" id="{C0D0DB44-137A-5A96-F654-84C6089EF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3311" y="4575994"/>
            <a:ext cx="4455949" cy="2194144"/>
          </a:xfrm>
          <a:prstGeom prst="rect">
            <a:avLst/>
          </a:prstGeom>
        </p:spPr>
      </p:pic>
      <p:pic>
        <p:nvPicPr>
          <p:cNvPr id="8" name="Picture 7" descr="Graphical user interface&#10;&#10;Description automatically generated">
            <a:extLst>
              <a:ext uri="{FF2B5EF4-FFF2-40B4-BE49-F238E27FC236}">
                <a16:creationId xmlns:a16="http://schemas.microsoft.com/office/drawing/2014/main" id="{F0B691B1-6618-EEE6-E1AB-BB326F7FB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3903" y="4575994"/>
            <a:ext cx="4572781" cy="219414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0B38438-74D2-2EE4-9457-10563444E9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84036" y="1551648"/>
            <a:ext cx="1889669" cy="253717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68EEB905-7F38-A25E-C89F-852AB8B256E0}"/>
              </a:ext>
            </a:extLst>
          </p:cNvPr>
          <p:cNvSpPr txBox="1"/>
          <p:nvPr/>
        </p:nvSpPr>
        <p:spPr>
          <a:xfrm>
            <a:off x="11287235" y="5985682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5"/>
              </a:rPr>
              <a:t>source</a:t>
            </a:r>
            <a:endParaRPr lang="de-DE" sz="1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D1DC02-65F0-4A86-0404-D87CFA3EB8B9}"/>
              </a:ext>
            </a:extLst>
          </p:cNvPr>
          <p:cNvSpPr txBox="1"/>
          <p:nvPr/>
        </p:nvSpPr>
        <p:spPr>
          <a:xfrm>
            <a:off x="372247" y="5349900"/>
            <a:ext cx="14105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next-word prediction</a:t>
            </a:r>
            <a:r>
              <a:rPr lang="en-GB" dirty="0"/>
              <a:t>: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5136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BCDC7E5-D7A7-4A4D-D7BA-4ADED8922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Tokenization</a:t>
            </a:r>
            <a:r>
              <a:rPr lang="de-DE" dirty="0"/>
              <a:t> &amp; </a:t>
            </a:r>
            <a:r>
              <a:rPr lang="de-DE" dirty="0" err="1"/>
              <a:t>Embeddings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E35D160-5F88-C8FA-1779-A31D24A90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4C94FE-FF23-4504-88E9-14D481113291}" type="slidenum">
              <a:rPr lang="en-GB" smtClean="0"/>
              <a:t>15</a:t>
            </a:fld>
            <a:endParaRPr lang="en-GB"/>
          </a:p>
        </p:txBody>
      </p:sp>
      <p:pic>
        <p:nvPicPr>
          <p:cNvPr id="7" name="Grafik 6" descr="Ein Bild, das Text, Screenshot, Zahl, Diagramm enthält.&#10;&#10;KI-generierte Inhalte können fehlerhaft sein.">
            <a:extLst>
              <a:ext uri="{FF2B5EF4-FFF2-40B4-BE49-F238E27FC236}">
                <a16:creationId xmlns:a16="http://schemas.microsoft.com/office/drawing/2014/main" id="{A9B50630-A54E-D44F-A579-EE71DE8749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1690688"/>
            <a:ext cx="9144000" cy="4523984"/>
          </a:xfrm>
          <a:prstGeom prst="rect">
            <a:avLst/>
          </a:prstGeom>
        </p:spPr>
      </p:pic>
      <p:sp>
        <p:nvSpPr>
          <p:cNvPr id="8" name="TextBox 10">
            <a:extLst>
              <a:ext uri="{FF2B5EF4-FFF2-40B4-BE49-F238E27FC236}">
                <a16:creationId xmlns:a16="http://schemas.microsoft.com/office/drawing/2014/main" id="{59B2AC5B-C9B6-DFBA-0AA1-6A856780D62D}"/>
              </a:ext>
            </a:extLst>
          </p:cNvPr>
          <p:cNvSpPr txBox="1"/>
          <p:nvPr/>
        </p:nvSpPr>
        <p:spPr>
          <a:xfrm>
            <a:off x="9715941" y="6214672"/>
            <a:ext cx="56778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</p:spTree>
    <p:extLst>
      <p:ext uri="{BB962C8B-B14F-4D97-AF65-F5344CB8AC3E}">
        <p14:creationId xmlns:p14="http://schemas.microsoft.com/office/powerpoint/2010/main" val="23333496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BD6BF8-3D11-D88B-C84A-AE77A3211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Dimensionality</a:t>
            </a:r>
            <a:r>
              <a:rPr lang="de-DE" dirty="0"/>
              <a:t> </a:t>
            </a:r>
            <a:r>
              <a:rPr lang="de-DE" dirty="0" err="1"/>
              <a:t>Reduction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BF8B8B-A809-EE1C-1E3D-A32FC50880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E5B58E1-0E39-CD68-78F4-A3CF38272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415948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7B3083-59FB-DA8F-12C6-DF0A645DE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Principal</a:t>
            </a:r>
            <a:r>
              <a:rPr lang="de-DE" dirty="0"/>
              <a:t> </a:t>
            </a:r>
            <a:r>
              <a:rPr lang="de-DE" dirty="0" err="1"/>
              <a:t>Component</a:t>
            </a:r>
            <a:r>
              <a:rPr lang="de-DE" dirty="0"/>
              <a:t> Analysis (PCA)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809814-34C7-FCFF-C03A-378CFA8499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D62EC6-ACEC-43A6-B331-EF1A0B5EB7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38030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A6AFEC-8765-3AAD-81DF-22E46DF92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Interpreting</a:t>
            </a:r>
            <a:r>
              <a:rPr lang="de-DE" dirty="0"/>
              <a:t> </a:t>
            </a:r>
            <a:r>
              <a:rPr lang="de-DE" dirty="0" err="1"/>
              <a:t>Principal</a:t>
            </a:r>
            <a:r>
              <a:rPr lang="de-DE" dirty="0"/>
              <a:t> Components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68A9FB-8232-AD4B-8546-A970004A85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09CA560-5E44-0D4F-1B3A-321CECE9D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33220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BC65FE1-3D0F-A212-782E-9BD31CC63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Regularization</a:t>
            </a:r>
            <a:r>
              <a:rPr lang="de-DE" dirty="0"/>
              <a:t> and Feature </a:t>
            </a:r>
            <a:r>
              <a:rPr lang="de-DE" dirty="0" err="1"/>
              <a:t>Selection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0D3F02-061B-0FA9-ABF4-F9D34A0EF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838E8F3-9DF8-C3E8-2EFC-8D44C8F5D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67786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45137-BA5A-B36F-E73F-D02561B52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3800" dirty="0"/>
              <a:t>Regularization</a:t>
            </a:r>
            <a:endParaRPr lang="en-DE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D80A46-8A74-4BBC-4C7D-DA493CCFAB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6551"/>
            <a:ext cx="6007443" cy="40104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reduce test error, possibly at expense of increased training error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many ways:</a:t>
            </a:r>
          </a:p>
          <a:p>
            <a:pPr marL="0" indent="0">
              <a:buNone/>
            </a:pPr>
            <a:r>
              <a:rPr lang="en-GB" dirty="0"/>
              <a:t>explicit constraints, adding penalties, priors, parameter sharing, data set augmentation, early stopping, dropout, bagging, …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17386-E05D-6307-FCBD-F24208AA7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20</a:t>
            </a:fld>
            <a:endParaRPr lang="en-D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EF86E-3DF4-87B4-101F-15384917C59E}"/>
              </a:ext>
            </a:extLst>
          </p:cNvPr>
          <p:cNvSpPr txBox="1"/>
          <p:nvPr/>
        </p:nvSpPr>
        <p:spPr>
          <a:xfrm>
            <a:off x="11599833" y="5793147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2"/>
              </a:rPr>
              <a:t>source</a:t>
            </a:r>
            <a:endParaRPr lang="de-DE" sz="10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1700E0C-044C-2619-EACA-FD3A1872C7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0591" y="2574134"/>
            <a:ext cx="5131760" cy="3219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8242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279BB16-D4B5-FD1B-04CF-1F4E67E7AC78}"/>
              </a:ext>
            </a:extLst>
          </p:cNvPr>
          <p:cNvSpPr/>
          <p:nvPr/>
        </p:nvSpPr>
        <p:spPr>
          <a:xfrm>
            <a:off x="4857270" y="2466960"/>
            <a:ext cx="1392455" cy="844173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DE" sz="2000" dirty="0"/>
                  <a:t>adding </a:t>
                </a:r>
                <a:r>
                  <a:rPr lang="en-DE" sz="2000" b="1" dirty="0"/>
                  <a:t>penalty term</a:t>
                </a:r>
                <a:r>
                  <a:rPr lang="en-DE" sz="2000" dirty="0"/>
                  <a:t> on parameter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DE" sz="2000" dirty="0"/>
                  <a:t> norm to cost function</a:t>
                </a:r>
                <a:endParaRPr lang="en-GB" sz="2000" dirty="0"/>
              </a:p>
              <a:p>
                <a:pPr marL="0" indent="0">
                  <a:buNone/>
                </a:pPr>
                <a:endParaRPr lang="en-US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</m:acc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̂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000" b="1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𝜽</m:t>
                              </m:r>
                            </m:e>
                          </m:acc>
                        </m:e>
                      </m:d>
                      <m:r>
                        <a:rPr lang="en-US" sz="20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sz="20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0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GB" sz="2000" dirty="0"/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corresponds to imposing constraint on parameters to lie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DE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GB" sz="2000" dirty="0"/>
                  <a:t> region (size controlled by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GB" sz="2000" dirty="0"/>
                  <a:t>)</a:t>
                </a:r>
              </a:p>
              <a:p>
                <a:pPr marL="0" indent="0">
                  <a:buNone/>
                </a:pPr>
                <a:r>
                  <a:rPr lang="en-GB" sz="2000" b="1" dirty="0"/>
                  <a:t>L</a:t>
                </a:r>
                <a:r>
                  <a:rPr lang="en-GB" sz="2000" dirty="0"/>
                  <a:t>east </a:t>
                </a:r>
                <a:r>
                  <a:rPr lang="en-GB" sz="2000" b="1" dirty="0"/>
                  <a:t>A</a:t>
                </a:r>
                <a:r>
                  <a:rPr lang="en-GB" sz="2000" dirty="0"/>
                  <a:t>bsolute </a:t>
                </a:r>
                <a:r>
                  <a:rPr lang="en-GB" sz="2000" b="1" dirty="0"/>
                  <a:t>S</a:t>
                </a:r>
                <a:r>
                  <a:rPr lang="en-GB" sz="2000" dirty="0"/>
                  <a:t>hrinkage and </a:t>
                </a:r>
                <a:r>
                  <a:rPr lang="en-GB" sz="2000" b="1" dirty="0"/>
                  <a:t>S</a:t>
                </a:r>
                <a:r>
                  <a:rPr lang="en-GB" sz="2000" dirty="0"/>
                  <a:t>election </a:t>
                </a:r>
                <a:r>
                  <a:rPr lang="en-GB" sz="2000" b="1" dirty="0"/>
                  <a:t>O</a:t>
                </a:r>
                <a:r>
                  <a:rPr lang="en-GB" sz="2000" dirty="0"/>
                  <a:t>perator:</a:t>
                </a:r>
              </a:p>
              <a:p>
                <a:pPr marL="0" indent="0">
                  <a:buNone/>
                </a:pPr>
                <a:endParaRPr lang="en-GB" sz="2000" dirty="0"/>
              </a:p>
              <a:p>
                <a:pPr marL="0" indent="0">
                  <a:buNone/>
                </a:pPr>
                <a:r>
                  <a:rPr lang="en-GB" sz="2000" dirty="0"/>
                  <a:t>				a</a:t>
                </a:r>
                <a:r>
                  <a:rPr lang="en-DE" sz="2000" dirty="0"/>
                  <a:t>lso performs feature selection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5ACA474-2F52-288F-0E93-F084204E92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8003407" cy="4351338"/>
              </a:xfrm>
              <a:blipFill>
                <a:blip r:embed="rId2"/>
                <a:stretch>
                  <a:fillRect l="-952" t="-1017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78B9627F-E914-4FE9-555E-66ADDC8634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LASSO Regression</a:t>
            </a:r>
            <a:endParaRPr lang="en-DE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6946F4-E7DF-4425-8081-EFA09CA08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CC4FF7-4194-DC4A-997C-EF4C65C96866}" type="slidenum">
              <a:rPr lang="en-DE" smtClean="0"/>
              <a:t>21</a:t>
            </a:fld>
            <a:endParaRPr lang="en-DE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57076F-8C77-4EE8-9D7F-34F4B902A274}"/>
              </a:ext>
            </a:extLst>
          </p:cNvPr>
          <p:cNvSpPr txBox="1"/>
          <p:nvPr/>
        </p:nvSpPr>
        <p:spPr>
          <a:xfrm>
            <a:off x="11353800" y="5697199"/>
            <a:ext cx="53251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>
                <a:hlinkClick r:id="rId3"/>
              </a:rPr>
              <a:t>source</a:t>
            </a:r>
            <a:endParaRPr lang="de-DE" sz="100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6352AB18-1497-DF92-ABBF-3CD789878F9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41607" y="621006"/>
            <a:ext cx="3287438" cy="274801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207B273-A2A6-39D8-5F68-BAA2696A691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41607" y="3369019"/>
            <a:ext cx="3287438" cy="274801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D567EC4-2F2F-115C-C484-98057EF81BED}"/>
              </a:ext>
            </a:extLst>
          </p:cNvPr>
          <p:cNvCxnSpPr>
            <a:cxnSpLocks/>
          </p:cNvCxnSpPr>
          <p:nvPr/>
        </p:nvCxnSpPr>
        <p:spPr>
          <a:xfrm flipV="1">
            <a:off x="7834964" y="4620126"/>
            <a:ext cx="2040556" cy="664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58819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BACCFFB-9C8A-3344-6CB6-850411F5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Automatic</a:t>
            </a:r>
            <a:r>
              <a:rPr lang="de-DE" dirty="0"/>
              <a:t> </a:t>
            </a:r>
            <a:r>
              <a:rPr lang="de-DE" dirty="0" err="1"/>
              <a:t>Relevance</a:t>
            </a:r>
            <a:r>
              <a:rPr lang="de-DE" dirty="0"/>
              <a:t> Determination (ARD)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43B982-D0C2-2510-8BEB-176415008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F057AD-CB24-1B6C-D311-911DEFB8D4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947664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C99A6E-985A-BCAE-71DF-63142D9EC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Handling </a:t>
            </a:r>
            <a:r>
              <a:rPr lang="de-DE" dirty="0" err="1"/>
              <a:t>Missing</a:t>
            </a:r>
            <a:r>
              <a:rPr lang="de-DE" dirty="0"/>
              <a:t> Values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D2E5862-7DC7-538D-50E5-A4A53633B1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EE1F3C2-F660-87DE-3784-C6B8FA9E4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97267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13DF55-62FC-108F-C35D-02114E3B9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Imputation </a:t>
            </a:r>
            <a:r>
              <a:rPr lang="de-DE" dirty="0" err="1"/>
              <a:t>Strategies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C6F1E1-2D09-57EF-8441-1D37701B0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FAF73B-825C-EAD4-7CCA-FCF1CD576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39386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4EE415-C8FF-FA3E-F6A4-91C674C5E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Feature Engineering Pipelines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250263-A1D9-0375-3352-51387D02F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CCFB421-1136-E880-67A1-53A465492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183189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8FB5EE9-2A0C-9B40-9379-F3036AE92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for Feature Engineering</a:t>
            </a:r>
            <a:endParaRPr lang="en-DE" dirty="0"/>
          </a:p>
        </p:txBody>
      </p:sp>
      <p:sp>
        <p:nvSpPr>
          <p:cNvPr id="15" name="Slide Number Placeholder 1">
            <a:extLst>
              <a:ext uri="{FF2B5EF4-FFF2-40B4-BE49-F238E27FC236}">
                <a16:creationId xmlns:a16="http://schemas.microsoft.com/office/drawing/2014/main" id="{E38AFF97-8803-AB4D-A3D8-999C4C0E342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1141611" y="6613526"/>
            <a:ext cx="458022" cy="244475"/>
          </a:xfrm>
        </p:spPr>
        <p:txBody>
          <a:bodyPr/>
          <a:lstStyle/>
          <a:p>
            <a:fld id="{523A240F-EAFE-E84F-B44C-6D7A08E0E409}" type="slidenum">
              <a:rPr lang="en-US" smtClean="0"/>
              <a:t>26</a:t>
            </a:fld>
            <a:endParaRPr lang="en-US" dirty="0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27D00C66-52D9-4D12-A054-8D0E738F87F8}"/>
              </a:ext>
            </a:extLst>
          </p:cNvPr>
          <p:cNvSpPr/>
          <p:nvPr/>
        </p:nvSpPr>
        <p:spPr>
          <a:xfrm>
            <a:off x="84392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1800" b="1" dirty="0">
                <a:solidFill>
                  <a:schemeClr val="tx1"/>
                </a:solidFill>
              </a:rPr>
              <a:t>seasonality</a:t>
            </a:r>
          </a:p>
          <a:p>
            <a:endParaRPr lang="en-GB" sz="1600" i="1" dirty="0">
              <a:solidFill>
                <a:schemeClr val="tx1"/>
              </a:solidFill>
            </a:endParaRPr>
          </a:p>
          <a:p>
            <a:r>
              <a:rPr lang="en-GB" sz="1600" i="1" dirty="0">
                <a:solidFill>
                  <a:schemeClr val="tx1"/>
                </a:solidFill>
              </a:rPr>
              <a:t>day of week, payday, week of year</a:t>
            </a:r>
            <a:endParaRPr lang="en-US" sz="2800" dirty="0">
              <a:solidFill>
                <a:schemeClr val="tx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00F4E917-52F5-447E-AAA9-5AC8CF688DA8}"/>
              </a:ext>
            </a:extLst>
          </p:cNvPr>
          <p:cNvSpPr/>
          <p:nvPr/>
        </p:nvSpPr>
        <p:spPr>
          <a:xfrm>
            <a:off x="865259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>
              <a:tabLst>
                <a:tab pos="1314450" algn="l"/>
                <a:tab pos="1489075" algn="l"/>
              </a:tabLst>
            </a:pPr>
            <a:r>
              <a:rPr lang="de-DE" b="1" dirty="0">
                <a:solidFill>
                  <a:schemeClr val="tx1"/>
                </a:solidFill>
              </a:rPr>
              <a:t>events (e.g., holidays)</a:t>
            </a:r>
          </a:p>
          <a:p>
            <a:pPr>
              <a:tabLst>
                <a:tab pos="1314450" algn="l"/>
                <a:tab pos="1489075" algn="l"/>
              </a:tabLst>
            </a:pPr>
            <a:endParaRPr lang="de-DE" sz="1600" b="1" i="1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de-DE" sz="1600" i="1" dirty="0">
                <a:solidFill>
                  <a:schemeClr val="tx1"/>
                </a:solidFill>
              </a:rPr>
              <a:t>time window around event (e.g., monotonic)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5B04147-463E-49F9-9380-4EF910616917}"/>
              </a:ext>
            </a:extLst>
          </p:cNvPr>
          <p:cNvSpPr/>
          <p:nvPr/>
        </p:nvSpPr>
        <p:spPr>
          <a:xfrm>
            <a:off x="4825888" y="1789204"/>
            <a:ext cx="2540223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tabLst>
                <a:tab pos="1314450" algn="l"/>
                <a:tab pos="1489075" algn="l"/>
              </a:tabLst>
            </a:pPr>
            <a:r>
              <a:rPr lang="en-US" b="1" dirty="0">
                <a:solidFill>
                  <a:schemeClr val="tx1"/>
                </a:solidFill>
              </a:rPr>
              <a:t>weather </a:t>
            </a:r>
          </a:p>
          <a:p>
            <a:pPr>
              <a:tabLst>
                <a:tab pos="1314450" algn="l"/>
                <a:tab pos="1489075" algn="l"/>
              </a:tabLst>
            </a:pPr>
            <a:endParaRPr lang="en-US" sz="1600" dirty="0">
              <a:solidFill>
                <a:schemeClr val="tx1"/>
              </a:solidFill>
            </a:endParaRPr>
          </a:p>
          <a:p>
            <a:pPr>
              <a:tabLst>
                <a:tab pos="1314450" algn="l"/>
                <a:tab pos="1489075" algn="l"/>
              </a:tabLst>
            </a:pPr>
            <a:r>
              <a:rPr lang="en-US" sz="1600" i="1" dirty="0">
                <a:solidFill>
                  <a:schemeClr val="tx1"/>
                </a:solidFill>
              </a:rPr>
              <a:t>event-like: first sunny weekend, snowstorm, …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97C1F8B9-5D20-4F4B-9D2D-9A2835936CF9}"/>
              </a:ext>
            </a:extLst>
          </p:cNvPr>
          <p:cNvSpPr/>
          <p:nvPr/>
        </p:nvSpPr>
        <p:spPr>
          <a:xfrm>
            <a:off x="84392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800" b="1" dirty="0">
                <a:solidFill>
                  <a:schemeClr val="tx1"/>
                </a:solidFill>
              </a:rPr>
              <a:t>promotion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days since start of promotion period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83BC18D3-AE36-46C1-B216-3CB920B0C605}"/>
              </a:ext>
            </a:extLst>
          </p:cNvPr>
          <p:cNvSpPr/>
          <p:nvPr/>
        </p:nvSpPr>
        <p:spPr>
          <a:xfrm>
            <a:off x="4825889" y="4414764"/>
            <a:ext cx="2545951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price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ratio of reduced and normal price, price-demand elasticity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939D652-32CF-4F4C-92FE-6855B860AF6E}"/>
              </a:ext>
            </a:extLst>
          </p:cNvPr>
          <p:cNvSpPr/>
          <p:nvPr/>
        </p:nvSpPr>
        <p:spPr>
          <a:xfrm>
            <a:off x="8652599" y="4414764"/>
            <a:ext cx="2540222" cy="1793868"/>
          </a:xfrm>
          <a:prstGeom prst="roundRect">
            <a:avLst>
              <a:gd name="adj" fmla="val 6667"/>
            </a:avLst>
          </a:prstGeom>
          <a:solidFill>
            <a:srgbClr val="FFFFCC">
              <a:alpha val="41961"/>
            </a:srgbClr>
          </a:solidFill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product information</a:t>
            </a:r>
          </a:p>
          <a:p>
            <a:endParaRPr lang="en-US" sz="1600" b="1" dirty="0">
              <a:solidFill>
                <a:schemeClr val="tx1"/>
              </a:solidFill>
            </a:endParaRPr>
          </a:p>
          <a:p>
            <a:r>
              <a:rPr lang="de-DE" sz="1600" i="1" dirty="0">
                <a:solidFill>
                  <a:schemeClr val="tx1"/>
                </a:solidFill>
              </a:rPr>
              <a:t>text (name/description) or image embeddings</a:t>
            </a:r>
          </a:p>
        </p:txBody>
      </p:sp>
    </p:spTree>
    <p:extLst>
      <p:ext uri="{BB962C8B-B14F-4D97-AF65-F5344CB8AC3E}">
        <p14:creationId xmlns:p14="http://schemas.microsoft.com/office/powerpoint/2010/main" val="33802598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A9410A-8F66-51F8-EFD5-87E80DBE28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Leakage and Common </a:t>
            </a:r>
            <a:r>
              <a:rPr lang="de-DE" dirty="0" err="1"/>
              <a:t>Pitfalls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B1A170-E57D-0D81-68C1-2FD75799F3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4A8E23-D708-BD7E-5680-18E561CD90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54004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553</Words>
  <Application>Microsoft Macintosh PowerPoint</Application>
  <PresentationFormat>Breitbild</PresentationFormat>
  <Paragraphs>143</Paragraphs>
  <Slides>27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Cambria Math</vt:lpstr>
      <vt:lpstr>Courier</vt:lpstr>
      <vt:lpstr>Wingdings</vt:lpstr>
      <vt:lpstr>Office Theme</vt:lpstr>
      <vt:lpstr>Feature Engineering</vt:lpstr>
      <vt:lpstr>Course Schedule</vt:lpstr>
      <vt:lpstr>Feature Engineering</vt:lpstr>
      <vt:lpstr>Why Feature Engineering Matters</vt:lpstr>
      <vt:lpstr>Numerical Features</vt:lpstr>
      <vt:lpstr>Transformations (log, power, Box-Cox)</vt:lpstr>
      <vt:lpstr>Feature Scaling and Normalization</vt:lpstr>
      <vt:lpstr>Categorical Features: Types</vt:lpstr>
      <vt:lpstr>Categorical Variables</vt:lpstr>
      <vt:lpstr>One-Hot Encoding</vt:lpstr>
      <vt:lpstr>Ordinal Encoding</vt:lpstr>
      <vt:lpstr>Target and Frequency Encoding</vt:lpstr>
      <vt:lpstr>Embeddings</vt:lpstr>
      <vt:lpstr>Word Embeddings as Part of Language Model</vt:lpstr>
      <vt:lpstr>Tokenization &amp; Embeddings</vt:lpstr>
      <vt:lpstr>Dimensionality Reduction</vt:lpstr>
      <vt:lpstr>Principal Component Analysis (PCA)</vt:lpstr>
      <vt:lpstr>Interpreting Principal Components</vt:lpstr>
      <vt:lpstr>Regularization and Feature Selection</vt:lpstr>
      <vt:lpstr>Regularization</vt:lpstr>
      <vt:lpstr>LASSO Regression</vt:lpstr>
      <vt:lpstr>Automatic Relevance Determination (ARD)</vt:lpstr>
      <vt:lpstr>Handling Missing Values</vt:lpstr>
      <vt:lpstr>Imputation Strategies</vt:lpstr>
      <vt:lpstr>Feature Engineering Pipelines</vt:lpstr>
      <vt:lpstr>Examples for Feature Engineering</vt:lpstr>
      <vt:lpstr>Leakage and Common Pitfalls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47</cp:revision>
  <dcterms:created xsi:type="dcterms:W3CDTF">2025-01-08T09:27:30Z</dcterms:created>
  <dcterms:modified xsi:type="dcterms:W3CDTF">2026-03-03T09:37:31Z</dcterms:modified>
</cp:coreProperties>
</file>