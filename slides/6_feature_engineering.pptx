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66" r:id="rId3"/>
    <p:sldId id="267" r:id="rId4"/>
    <p:sldId id="796" r:id="rId5"/>
    <p:sldId id="794" r:id="rId6"/>
    <p:sldId id="298" r:id="rId7"/>
    <p:sldId id="806" r:id="rId8"/>
    <p:sldId id="281" r:id="rId9"/>
    <p:sldId id="282" r:id="rId10"/>
    <p:sldId id="807" r:id="rId11"/>
    <p:sldId id="795" r:id="rId12"/>
    <p:sldId id="268" r:id="rId13"/>
    <p:sldId id="270" r:id="rId14"/>
    <p:sldId id="797" r:id="rId15"/>
    <p:sldId id="804" r:id="rId16"/>
    <p:sldId id="798" r:id="rId17"/>
    <p:sldId id="799" r:id="rId18"/>
    <p:sldId id="801" r:id="rId19"/>
    <p:sldId id="803" r:id="rId20"/>
    <p:sldId id="805" r:id="rId21"/>
    <p:sldId id="812" r:id="rId22"/>
    <p:sldId id="813" r:id="rId23"/>
    <p:sldId id="271" r:id="rId24"/>
    <p:sldId id="682" r:id="rId25"/>
    <p:sldId id="827" r:id="rId26"/>
    <p:sldId id="272" r:id="rId27"/>
    <p:sldId id="274" r:id="rId28"/>
    <p:sldId id="832" r:id="rId29"/>
    <p:sldId id="821" r:id="rId30"/>
    <p:sldId id="712" r:id="rId31"/>
    <p:sldId id="672" r:id="rId32"/>
    <p:sldId id="793" r:id="rId33"/>
    <p:sldId id="825" r:id="rId34"/>
    <p:sldId id="278" r:id="rId35"/>
    <p:sldId id="815" r:id="rId36"/>
    <p:sldId id="285" r:id="rId37"/>
    <p:sldId id="275" r:id="rId38"/>
    <p:sldId id="284" r:id="rId39"/>
    <p:sldId id="816" r:id="rId40"/>
    <p:sldId id="817" r:id="rId41"/>
    <p:sldId id="818" r:id="rId42"/>
    <p:sldId id="820" r:id="rId43"/>
    <p:sldId id="81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9"/>
    <p:restoredTop sz="95028" autoAdjust="0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03/05/2026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03/05/2026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03/05/2026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03/05/2026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03/05/2026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illustrated-word2vec/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arxiv.org/abs/1301.378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jalammar.github.io/illustrated-word2vec/" TargetMode="Externa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anguage-model-training-and-inference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llmodelsarewrong.github.i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Feature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Engineering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6CBE6C5-FF71-FE69-AF96-EB26512A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: </a:t>
            </a:r>
            <a:r>
              <a:rPr lang="de-DE" dirty="0" err="1"/>
              <a:t>scaling</a:t>
            </a:r>
            <a:r>
              <a:rPr lang="de-DE" dirty="0"/>
              <a:t>, </a:t>
            </a:r>
            <a:r>
              <a:rPr lang="de-DE" dirty="0" err="1"/>
              <a:t>transformations</a:t>
            </a:r>
            <a:endParaRPr lang="de-DE" dirty="0"/>
          </a:p>
          <a:p>
            <a:r>
              <a:rPr lang="de-DE" dirty="0" err="1"/>
              <a:t>categorical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: </a:t>
            </a:r>
            <a:r>
              <a:rPr lang="de-DE" dirty="0" err="1"/>
              <a:t>encoding</a:t>
            </a:r>
            <a:endParaRPr lang="de-DE" dirty="0"/>
          </a:p>
          <a:p>
            <a:r>
              <a:rPr lang="de-DE" dirty="0"/>
              <a:t>feature </a:t>
            </a:r>
            <a:r>
              <a:rPr lang="de-DE" dirty="0" err="1"/>
              <a:t>selection</a:t>
            </a:r>
            <a:endParaRPr lang="de-DE" dirty="0"/>
          </a:p>
          <a:p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leakage</a:t>
            </a:r>
            <a:endParaRPr lang="de-DE" dirty="0"/>
          </a:p>
          <a:p>
            <a:r>
              <a:rPr lang="de-DE" dirty="0" err="1"/>
              <a:t>imbalanced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AF520E-D347-5174-A597-846D8750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Feature Engineering Matters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FB7F72-B5A7-08FB-698C-916D7D774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 err="1"/>
              <a:t>idea</a:t>
            </a:r>
            <a:r>
              <a:rPr lang="de-DE" sz="2400" dirty="0"/>
              <a:t>: </a:t>
            </a:r>
            <a:r>
              <a:rPr lang="de-DE" sz="2400" dirty="0" err="1"/>
              <a:t>transforming</a:t>
            </a:r>
            <a:r>
              <a:rPr lang="de-DE" sz="2400" dirty="0"/>
              <a:t> </a:t>
            </a:r>
            <a:r>
              <a:rPr lang="de-DE" sz="2400" dirty="0" err="1"/>
              <a:t>raw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into</a:t>
            </a:r>
            <a:r>
              <a:rPr lang="de-DE" sz="2400" dirty="0"/>
              <a:t> </a:t>
            </a:r>
            <a:r>
              <a:rPr lang="de-DE" sz="2400" dirty="0" err="1"/>
              <a:t>meaningful</a:t>
            </a:r>
            <a:r>
              <a:rPr lang="de-DE" sz="2400" dirty="0"/>
              <a:t> </a:t>
            </a:r>
            <a:r>
              <a:rPr lang="de-DE" sz="2400" dirty="0" err="1"/>
              <a:t>inputs</a:t>
            </a:r>
            <a:r>
              <a:rPr lang="de-DE" sz="2400" dirty="0"/>
              <a:t> (</a:t>
            </a:r>
            <a:r>
              <a:rPr lang="de-DE" sz="2400" dirty="0" err="1"/>
              <a:t>features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creating</a:t>
            </a:r>
            <a:r>
              <a:rPr lang="de-DE" sz="2400" dirty="0"/>
              <a:t> </a:t>
            </a:r>
            <a:r>
              <a:rPr lang="de-DE" sz="2400" dirty="0" err="1"/>
              <a:t>new</a:t>
            </a:r>
            <a:r>
              <a:rPr lang="de-DE" sz="2400" dirty="0"/>
              <a:t> variables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existing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raw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messy</a:t>
            </a:r>
            <a:r>
              <a:rPr lang="de-DE" sz="2400" dirty="0"/>
              <a:t>, </a:t>
            </a:r>
            <a:r>
              <a:rPr lang="de-DE" sz="2400" dirty="0" err="1"/>
              <a:t>incomplete</a:t>
            </a:r>
            <a:r>
              <a:rPr lang="de-DE" sz="2400" dirty="0"/>
              <a:t>, </a:t>
            </a:r>
            <a:r>
              <a:rPr lang="de-DE" sz="2400" dirty="0" err="1"/>
              <a:t>hard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interpret</a:t>
            </a:r>
            <a:endParaRPr lang="de-DE" sz="2400" dirty="0"/>
          </a:p>
          <a:p>
            <a:r>
              <a:rPr lang="de-DE" sz="2400" dirty="0" err="1"/>
              <a:t>example</a:t>
            </a:r>
            <a:r>
              <a:rPr lang="de-DE" sz="2400" dirty="0"/>
              <a:t>: </a:t>
            </a:r>
            <a:r>
              <a:rPr lang="de-DE" sz="2400" dirty="0" err="1"/>
              <a:t>timestamps</a:t>
            </a:r>
            <a:r>
              <a:rPr lang="de-DE" sz="2400" dirty="0"/>
              <a:t>, IDs, </a:t>
            </a:r>
            <a:r>
              <a:rPr lang="de-DE" sz="2400" dirty="0" err="1"/>
              <a:t>text</a:t>
            </a:r>
            <a:r>
              <a:rPr lang="de-DE" sz="2400" dirty="0"/>
              <a:t> </a:t>
            </a:r>
            <a:r>
              <a:rPr lang="de-DE" sz="2400" dirty="0" err="1"/>
              <a:t>blobs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engineered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structured</a:t>
            </a:r>
            <a:r>
              <a:rPr lang="de-DE" sz="2400" dirty="0"/>
              <a:t>, </a:t>
            </a:r>
            <a:r>
              <a:rPr lang="de-DE" sz="2400" dirty="0" err="1"/>
              <a:t>meaningful</a:t>
            </a:r>
            <a:r>
              <a:rPr lang="de-DE" sz="2400" dirty="0"/>
              <a:t>, model-</a:t>
            </a:r>
            <a:r>
              <a:rPr lang="de-DE" sz="2400" dirty="0" err="1"/>
              <a:t>ready</a:t>
            </a:r>
            <a:endParaRPr lang="de-DE" sz="2400" dirty="0"/>
          </a:p>
          <a:p>
            <a:r>
              <a:rPr lang="de-DE" sz="2400" dirty="0" err="1"/>
              <a:t>example</a:t>
            </a:r>
            <a:r>
              <a:rPr lang="de-DE" sz="2400" dirty="0"/>
              <a:t>: </a:t>
            </a:r>
            <a:r>
              <a:rPr lang="de-DE" sz="2400" dirty="0" err="1"/>
              <a:t>hour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day</a:t>
            </a:r>
            <a:r>
              <a:rPr lang="de-DE" sz="2400" dirty="0"/>
              <a:t>, </a:t>
            </a:r>
            <a:r>
              <a:rPr lang="de-DE" sz="2400" dirty="0" err="1"/>
              <a:t>purchase</a:t>
            </a:r>
            <a:r>
              <a:rPr lang="de-DE" sz="2400" dirty="0"/>
              <a:t> </a:t>
            </a:r>
            <a:r>
              <a:rPr lang="de-DE" sz="2400" dirty="0" err="1"/>
              <a:t>frequency</a:t>
            </a:r>
            <a:r>
              <a:rPr lang="de-DE" sz="2400" dirty="0"/>
              <a:t>, </a:t>
            </a:r>
            <a:r>
              <a:rPr lang="de-DE" sz="2400" dirty="0" err="1"/>
              <a:t>text</a:t>
            </a:r>
            <a:r>
              <a:rPr lang="de-DE" sz="2400" dirty="0"/>
              <a:t> </a:t>
            </a:r>
            <a:r>
              <a:rPr lang="de-DE" sz="2400" dirty="0" err="1"/>
              <a:t>sentiment</a:t>
            </a: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2D1ED3-6740-ED39-D16C-062D2EF2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6A7CB3-3F9B-6715-7A09-6E29FD35E74D}"/>
              </a:ext>
            </a:extLst>
          </p:cNvPr>
          <p:cNvSpPr txBox="1"/>
          <p:nvPr/>
        </p:nvSpPr>
        <p:spPr>
          <a:xfrm>
            <a:off x="8150889" y="4352165"/>
            <a:ext cx="320291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good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 </a:t>
            </a:r>
            <a:r>
              <a:rPr lang="de-DE" sz="2400" dirty="0" err="1"/>
              <a:t>make</a:t>
            </a:r>
            <a:r>
              <a:rPr lang="de-DE" sz="2400" dirty="0"/>
              <a:t> </a:t>
            </a:r>
            <a:r>
              <a:rPr lang="de-DE" sz="2400" dirty="0" err="1"/>
              <a:t>patterns</a:t>
            </a:r>
            <a:r>
              <a:rPr lang="de-DE" sz="2400" dirty="0"/>
              <a:t> </a:t>
            </a:r>
            <a:r>
              <a:rPr lang="de-DE" sz="2400" dirty="0" err="1"/>
              <a:t>learnable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9139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1CA8AB-AA5D-F5EB-810A-3DEA0A10A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500" dirty="0"/>
              <a:t>Demand Forecasting as Example for Feature Engineering</a:t>
            </a:r>
            <a:endParaRPr lang="de-DE" sz="35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FEFAD7-645B-C5DC-F07F-7204F5CC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sp>
        <p:nvSpPr>
          <p:cNvPr id="5" name="Rectangle: Rounded Corners 24">
            <a:extLst>
              <a:ext uri="{FF2B5EF4-FFF2-40B4-BE49-F238E27FC236}">
                <a16:creationId xmlns:a16="http://schemas.microsoft.com/office/drawing/2014/main" id="{446E014D-CF84-2F95-3D14-53444D72B4B8}"/>
              </a:ext>
            </a:extLst>
          </p:cNvPr>
          <p:cNvSpPr/>
          <p:nvPr/>
        </p:nvSpPr>
        <p:spPr>
          <a:xfrm>
            <a:off x="843928" y="1789204"/>
            <a:ext cx="2540223" cy="1793868"/>
          </a:xfrm>
          <a:prstGeom prst="roundRect">
            <a:avLst>
              <a:gd name="adj" fmla="val 6667"/>
            </a:avLst>
          </a:prstGeom>
          <a:solidFill>
            <a:srgbClr val="FFFFCC">
              <a:alpha val="41961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b="1" dirty="0">
                <a:solidFill>
                  <a:schemeClr val="tx1"/>
                </a:solidFill>
              </a:rPr>
              <a:t>seasonality</a:t>
            </a:r>
          </a:p>
          <a:p>
            <a:endParaRPr lang="en-GB" sz="1600" i="1" dirty="0">
              <a:solidFill>
                <a:schemeClr val="tx1"/>
              </a:solidFill>
            </a:endParaRPr>
          </a:p>
          <a:p>
            <a:r>
              <a:rPr lang="en-GB" sz="1600" i="1" dirty="0">
                <a:solidFill>
                  <a:schemeClr val="tx1"/>
                </a:solidFill>
              </a:rPr>
              <a:t>day of week, payday, week of year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25">
            <a:extLst>
              <a:ext uri="{FF2B5EF4-FFF2-40B4-BE49-F238E27FC236}">
                <a16:creationId xmlns:a16="http://schemas.microsoft.com/office/drawing/2014/main" id="{ABB7588C-827E-5330-64F7-FB6E7222BEF5}"/>
              </a:ext>
            </a:extLst>
          </p:cNvPr>
          <p:cNvSpPr/>
          <p:nvPr/>
        </p:nvSpPr>
        <p:spPr>
          <a:xfrm>
            <a:off x="8652598" y="1789204"/>
            <a:ext cx="2540223" cy="1793868"/>
          </a:xfrm>
          <a:prstGeom prst="roundRect">
            <a:avLst>
              <a:gd name="adj" fmla="val 6667"/>
            </a:avLst>
          </a:prstGeom>
          <a:solidFill>
            <a:srgbClr val="FFFFCC">
              <a:alpha val="41961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tabLst>
                <a:tab pos="1314450" algn="l"/>
                <a:tab pos="1489075" algn="l"/>
              </a:tabLst>
            </a:pPr>
            <a:r>
              <a:rPr lang="de-DE" b="1" dirty="0">
                <a:solidFill>
                  <a:schemeClr val="tx1"/>
                </a:solidFill>
              </a:rPr>
              <a:t>events (e.g., holidays)</a:t>
            </a:r>
          </a:p>
          <a:p>
            <a:pPr>
              <a:tabLst>
                <a:tab pos="1314450" algn="l"/>
                <a:tab pos="1489075" algn="l"/>
              </a:tabLst>
            </a:pPr>
            <a:endParaRPr lang="de-DE" sz="1600" b="1" i="1" dirty="0">
              <a:solidFill>
                <a:schemeClr val="tx1"/>
              </a:solidFill>
            </a:endParaRPr>
          </a:p>
          <a:p>
            <a:pPr>
              <a:tabLst>
                <a:tab pos="1314450" algn="l"/>
                <a:tab pos="1489075" algn="l"/>
              </a:tabLst>
            </a:pPr>
            <a:r>
              <a:rPr lang="de-DE" sz="1600" i="1" dirty="0">
                <a:solidFill>
                  <a:schemeClr val="tx1"/>
                </a:solidFill>
              </a:rPr>
              <a:t>time window around event (e.g., monotonic)</a:t>
            </a:r>
          </a:p>
        </p:txBody>
      </p:sp>
      <p:sp>
        <p:nvSpPr>
          <p:cNvPr id="7" name="Rectangle: Rounded Corners 26">
            <a:extLst>
              <a:ext uri="{FF2B5EF4-FFF2-40B4-BE49-F238E27FC236}">
                <a16:creationId xmlns:a16="http://schemas.microsoft.com/office/drawing/2014/main" id="{8BE5E888-C6D6-638E-1AAE-333BD4A7A049}"/>
              </a:ext>
            </a:extLst>
          </p:cNvPr>
          <p:cNvSpPr/>
          <p:nvPr/>
        </p:nvSpPr>
        <p:spPr>
          <a:xfrm>
            <a:off x="4825888" y="1789204"/>
            <a:ext cx="2540223" cy="1793868"/>
          </a:xfrm>
          <a:prstGeom prst="roundRect">
            <a:avLst>
              <a:gd name="adj" fmla="val 6667"/>
            </a:avLst>
          </a:prstGeom>
          <a:solidFill>
            <a:srgbClr val="FFFFCC">
              <a:alpha val="41961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tabLst>
                <a:tab pos="1314450" algn="l"/>
                <a:tab pos="1489075" algn="l"/>
              </a:tabLst>
            </a:pPr>
            <a:r>
              <a:rPr lang="en-US" b="1" dirty="0">
                <a:solidFill>
                  <a:schemeClr val="tx1"/>
                </a:solidFill>
              </a:rPr>
              <a:t>weather </a:t>
            </a:r>
          </a:p>
          <a:p>
            <a:pPr>
              <a:tabLst>
                <a:tab pos="1314450" algn="l"/>
                <a:tab pos="1489075" algn="l"/>
              </a:tabLst>
            </a:pPr>
            <a:endParaRPr lang="en-US" sz="1600" dirty="0">
              <a:solidFill>
                <a:schemeClr val="tx1"/>
              </a:solidFill>
            </a:endParaRPr>
          </a:p>
          <a:p>
            <a:pPr>
              <a:tabLst>
                <a:tab pos="1314450" algn="l"/>
                <a:tab pos="1489075" algn="l"/>
              </a:tabLst>
            </a:pPr>
            <a:r>
              <a:rPr lang="en-US" sz="1600" i="1" dirty="0">
                <a:solidFill>
                  <a:schemeClr val="tx1"/>
                </a:solidFill>
              </a:rPr>
              <a:t>event-like: first sunny weekend, snowstorm, …</a:t>
            </a:r>
          </a:p>
        </p:txBody>
      </p:sp>
      <p:sp>
        <p:nvSpPr>
          <p:cNvPr id="8" name="Rectangle: Rounded Corners 27">
            <a:extLst>
              <a:ext uri="{FF2B5EF4-FFF2-40B4-BE49-F238E27FC236}">
                <a16:creationId xmlns:a16="http://schemas.microsoft.com/office/drawing/2014/main" id="{1E247F4C-E4DF-D9B9-E601-246A737DE802}"/>
              </a:ext>
            </a:extLst>
          </p:cNvPr>
          <p:cNvSpPr/>
          <p:nvPr/>
        </p:nvSpPr>
        <p:spPr>
          <a:xfrm>
            <a:off x="843929" y="4414764"/>
            <a:ext cx="2545951" cy="1793868"/>
          </a:xfrm>
          <a:prstGeom prst="roundRect">
            <a:avLst>
              <a:gd name="adj" fmla="val 6667"/>
            </a:avLst>
          </a:prstGeom>
          <a:solidFill>
            <a:srgbClr val="FFFFCC">
              <a:alpha val="41961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promotion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de-DE" sz="1600" i="1" dirty="0">
                <a:solidFill>
                  <a:schemeClr val="tx1"/>
                </a:solidFill>
              </a:rPr>
              <a:t>days since start of promotion period</a:t>
            </a:r>
          </a:p>
        </p:txBody>
      </p:sp>
      <p:sp>
        <p:nvSpPr>
          <p:cNvPr id="9" name="Rectangle: Rounded Corners 28">
            <a:extLst>
              <a:ext uri="{FF2B5EF4-FFF2-40B4-BE49-F238E27FC236}">
                <a16:creationId xmlns:a16="http://schemas.microsoft.com/office/drawing/2014/main" id="{8EA9307F-D203-DB8F-77C1-63F739854B1D}"/>
              </a:ext>
            </a:extLst>
          </p:cNvPr>
          <p:cNvSpPr/>
          <p:nvPr/>
        </p:nvSpPr>
        <p:spPr>
          <a:xfrm>
            <a:off x="4825889" y="4414764"/>
            <a:ext cx="2545951" cy="1793868"/>
          </a:xfrm>
          <a:prstGeom prst="roundRect">
            <a:avLst>
              <a:gd name="adj" fmla="val 6667"/>
            </a:avLst>
          </a:prstGeom>
          <a:solidFill>
            <a:srgbClr val="FFFFCC">
              <a:alpha val="41961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price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de-DE" sz="1600" i="1" dirty="0">
                <a:solidFill>
                  <a:schemeClr val="tx1"/>
                </a:solidFill>
              </a:rPr>
              <a:t>ratio of reduced and normal price, price-demand elasticity</a:t>
            </a:r>
          </a:p>
        </p:txBody>
      </p:sp>
      <p:sp>
        <p:nvSpPr>
          <p:cNvPr id="10" name="Rectangle: Rounded Corners 29">
            <a:extLst>
              <a:ext uri="{FF2B5EF4-FFF2-40B4-BE49-F238E27FC236}">
                <a16:creationId xmlns:a16="http://schemas.microsoft.com/office/drawing/2014/main" id="{03CA9113-E074-677C-0761-D0C09238F8A9}"/>
              </a:ext>
            </a:extLst>
          </p:cNvPr>
          <p:cNvSpPr/>
          <p:nvPr/>
        </p:nvSpPr>
        <p:spPr>
          <a:xfrm>
            <a:off x="8652599" y="4414764"/>
            <a:ext cx="2540222" cy="1793868"/>
          </a:xfrm>
          <a:prstGeom prst="roundRect">
            <a:avLst>
              <a:gd name="adj" fmla="val 6667"/>
            </a:avLst>
          </a:prstGeom>
          <a:solidFill>
            <a:srgbClr val="FFFFCC">
              <a:alpha val="41961"/>
            </a:srgb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product information</a:t>
            </a:r>
          </a:p>
          <a:p>
            <a:endParaRPr lang="en-US" sz="1600" b="1" dirty="0">
              <a:solidFill>
                <a:schemeClr val="tx1"/>
              </a:solidFill>
            </a:endParaRPr>
          </a:p>
          <a:p>
            <a:r>
              <a:rPr lang="de-DE" sz="1600" i="1" dirty="0">
                <a:solidFill>
                  <a:schemeClr val="tx1"/>
                </a:solidFill>
              </a:rPr>
              <a:t>text (name/description) or 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410610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A2016F-FF67-4A3F-F26C-8AC912BC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Features &amp; Model Choice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28AF29-8520-BAFE-831B-944A51903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garbage</a:t>
            </a:r>
            <a:r>
              <a:rPr lang="de-DE" dirty="0"/>
              <a:t> in → </a:t>
            </a:r>
            <a:r>
              <a:rPr lang="de-DE" dirty="0" err="1"/>
              <a:t>garbage</a:t>
            </a:r>
            <a:r>
              <a:rPr lang="de-DE" dirty="0"/>
              <a:t> out</a:t>
            </a:r>
          </a:p>
          <a:p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→ simpler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perform </a:t>
            </a:r>
            <a:r>
              <a:rPr lang="de-DE" dirty="0" err="1"/>
              <a:t>well</a:t>
            </a:r>
            <a:endParaRPr lang="de-DE" dirty="0"/>
          </a:p>
          <a:p>
            <a:r>
              <a:rPr lang="de-DE" dirty="0" err="1"/>
              <a:t>poor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→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struggle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misconception</a:t>
            </a:r>
            <a:r>
              <a:rPr lang="de-DE" dirty="0"/>
              <a:t>: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=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but feature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matters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choice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a simple </a:t>
            </a:r>
            <a:r>
              <a:rPr lang="de-DE" dirty="0" err="1"/>
              <a:t>model</a:t>
            </a:r>
            <a:r>
              <a:rPr lang="de-DE" dirty="0"/>
              <a:t> + </a:t>
            </a:r>
            <a:r>
              <a:rPr lang="de-DE" dirty="0" err="1"/>
              <a:t>great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outperform</a:t>
            </a:r>
            <a:r>
              <a:rPr lang="de-DE" dirty="0"/>
              <a:t> a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+ </a:t>
            </a:r>
            <a:r>
              <a:rPr lang="de-DE" dirty="0" err="1"/>
              <a:t>poor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42A45B-C122-0EE9-56D1-18DEC5E2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517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4DCC-1C88-BE0F-22BF-F3CD39DF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Model</a:t>
            </a:r>
            <a:r>
              <a:rPr lang="de-DE" dirty="0"/>
              <a:t> Pipeline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D241-E6F8-CD92-2049-87B87840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6</a:t>
            </a:fld>
            <a:endParaRPr lang="en-DE"/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94EC203B-994C-B8F7-37D8-BE2BCF67ADA5}"/>
              </a:ext>
            </a:extLst>
          </p:cNvPr>
          <p:cNvSpPr/>
          <p:nvPr/>
        </p:nvSpPr>
        <p:spPr>
          <a:xfrm>
            <a:off x="836209" y="1982757"/>
            <a:ext cx="2734305" cy="3671809"/>
          </a:xfrm>
          <a:prstGeom prst="roundRect">
            <a:avLst>
              <a:gd name="adj" fmla="val 256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B9DE0669-7ABB-C6AA-8A93-7DCAFDEF3AC1}"/>
              </a:ext>
            </a:extLst>
          </p:cNvPr>
          <p:cNvSpPr/>
          <p:nvPr/>
        </p:nvSpPr>
        <p:spPr>
          <a:xfrm>
            <a:off x="4663626" y="1982758"/>
            <a:ext cx="2734305" cy="3671808"/>
          </a:xfrm>
          <a:prstGeom prst="roundRect">
            <a:avLst>
              <a:gd name="adj" fmla="val 256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9F1AC96E-292E-4DC0-CD52-02319B3B33C6}"/>
              </a:ext>
            </a:extLst>
          </p:cNvPr>
          <p:cNvSpPr/>
          <p:nvPr/>
        </p:nvSpPr>
        <p:spPr>
          <a:xfrm>
            <a:off x="8491043" y="1982759"/>
            <a:ext cx="2734305" cy="3671808"/>
          </a:xfrm>
          <a:prstGeom prst="roundRect">
            <a:avLst>
              <a:gd name="adj" fmla="val 256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460A2F-50B9-4D78-7BDC-AB1DD672E17D}"/>
              </a:ext>
            </a:extLst>
          </p:cNvPr>
          <p:cNvSpPr txBox="1"/>
          <p:nvPr/>
        </p:nvSpPr>
        <p:spPr>
          <a:xfrm>
            <a:off x="836208" y="2180716"/>
            <a:ext cx="2734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extract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242BC-2021-D731-E05C-5F6D1F238594}"/>
              </a:ext>
            </a:extLst>
          </p:cNvPr>
          <p:cNvSpPr txBox="1"/>
          <p:nvPr/>
        </p:nvSpPr>
        <p:spPr>
          <a:xfrm>
            <a:off x="826478" y="3240533"/>
            <a:ext cx="27343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73038">
              <a:buFont typeface="Arial" panose="020B0604020202020204" pitchFamily="34" charset="0"/>
              <a:buChar char="•"/>
            </a:pPr>
            <a:r>
              <a:rPr lang="en-GB" dirty="0"/>
              <a:t>h</a:t>
            </a:r>
            <a:r>
              <a:rPr lang="en-DE" dirty="0"/>
              <a:t>elp the ML algorithm to better understand the data</a:t>
            </a:r>
          </a:p>
          <a:p>
            <a:pPr marL="285750" indent="-173038">
              <a:buFont typeface="Arial" panose="020B0604020202020204" pitchFamily="34" charset="0"/>
              <a:buChar char="•"/>
            </a:pPr>
            <a:r>
              <a:rPr lang="en-GB" dirty="0"/>
              <a:t>impose</a:t>
            </a:r>
            <a:r>
              <a:rPr lang="en-DE" dirty="0"/>
              <a:t> assumptions hard to discover in the raw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B4A46C-C416-C94F-D3A8-40A6AE912C2F}"/>
              </a:ext>
            </a:extLst>
          </p:cNvPr>
          <p:cNvSpPr txBox="1"/>
          <p:nvPr/>
        </p:nvSpPr>
        <p:spPr>
          <a:xfrm>
            <a:off x="4663625" y="2180716"/>
            <a:ext cx="2734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choose ML algorithm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63E0E-A1B5-65B0-D21D-F7217D0D2E32}"/>
              </a:ext>
            </a:extLst>
          </p:cNvPr>
          <p:cNvSpPr txBox="1"/>
          <p:nvPr/>
        </p:nvSpPr>
        <p:spPr>
          <a:xfrm>
            <a:off x="4683088" y="2963534"/>
            <a:ext cx="27245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73038">
              <a:buFont typeface="Arial" panose="020B0604020202020204" pitchFamily="34" charset="0"/>
              <a:buChar char="•"/>
            </a:pPr>
            <a:r>
              <a:rPr lang="en-US" dirty="0"/>
              <a:t>from open-source libraries like scikit-learn or pytorch, rarely write an own one</a:t>
            </a:r>
          </a:p>
          <a:p>
            <a:pPr marL="285750" indent="-173038">
              <a:buFont typeface="Arial" panose="020B0604020202020204" pitchFamily="34" charset="0"/>
              <a:buChar char="•"/>
            </a:pPr>
            <a:r>
              <a:rPr lang="en-US" dirty="0"/>
              <a:t>many different algorithms available, differently suited for given task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B1AEF1-8878-64A3-A46C-5840F03F9AEA}"/>
              </a:ext>
            </a:extLst>
          </p:cNvPr>
          <p:cNvSpPr txBox="1"/>
          <p:nvPr/>
        </p:nvSpPr>
        <p:spPr>
          <a:xfrm>
            <a:off x="8491042" y="2015245"/>
            <a:ext cx="2734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hyperparameter tuning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A94E2-7F9E-3256-BE43-8875134C565F}"/>
              </a:ext>
            </a:extLst>
          </p:cNvPr>
          <p:cNvSpPr txBox="1"/>
          <p:nvPr/>
        </p:nvSpPr>
        <p:spPr>
          <a:xfrm>
            <a:off x="8500775" y="3240533"/>
            <a:ext cx="26111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8462" indent="-285750">
              <a:buFont typeface="Arial" panose="020B0604020202020204" pitchFamily="34" charset="0"/>
              <a:buChar char="•"/>
            </a:pPr>
            <a:r>
              <a:rPr lang="en-US" dirty="0"/>
              <a:t>variety of different forms</a:t>
            </a:r>
          </a:p>
          <a:p>
            <a:pPr marL="398462" indent="-285750">
              <a:buFont typeface="Arial" panose="020B0604020202020204" pitchFamily="34" charset="0"/>
              <a:buChar char="•"/>
            </a:pPr>
            <a:r>
              <a:rPr lang="en-US" dirty="0"/>
              <a:t>model settings not all automatically adjusted by the ML algorithm</a:t>
            </a:r>
          </a:p>
        </p:txBody>
      </p:sp>
    </p:spTree>
    <p:extLst>
      <p:ext uri="{BB962C8B-B14F-4D97-AF65-F5344CB8AC3E}">
        <p14:creationId xmlns:p14="http://schemas.microsoft.com/office/powerpoint/2010/main" val="2058052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430AB-3B83-14F5-3056-1E14E1D6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Before</a:t>
            </a:r>
            <a:r>
              <a:rPr lang="de-DE" dirty="0"/>
              <a:t>: </a:t>
            </a:r>
            <a:r>
              <a:rPr lang="de-DE" dirty="0" err="1"/>
              <a:t>Preprocessing</a:t>
            </a:r>
            <a:r>
              <a:rPr lang="de-DE" dirty="0"/>
              <a:t> Pipeline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00935A-8382-F5FA-722B-68BD3A5F0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typical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handle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values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fix </a:t>
            </a:r>
            <a:r>
              <a:rPr lang="de-DE" dirty="0" err="1"/>
              <a:t>inconsistencies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treat</a:t>
            </a:r>
            <a:r>
              <a:rPr lang="de-DE" dirty="0"/>
              <a:t> </a:t>
            </a:r>
            <a:r>
              <a:rPr lang="de-DE" dirty="0" err="1"/>
              <a:t>outliers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scale</a:t>
            </a:r>
            <a:r>
              <a:rPr lang="de-DE" dirty="0"/>
              <a:t> and </a:t>
            </a:r>
            <a:r>
              <a:rPr lang="de-DE" dirty="0" err="1"/>
              <a:t>transform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(</a:t>
            </a:r>
            <a:r>
              <a:rPr lang="de-DE" dirty="0" err="1"/>
              <a:t>slide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: </a:t>
            </a:r>
            <a:r>
              <a:rPr lang="de-DE" dirty="0" err="1"/>
              <a:t>extract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E6408E-C3C8-4CAC-C6C7-04D8D91F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D058C8C-2FAE-5785-3ADE-470E90C25292}"/>
              </a:ext>
            </a:extLst>
          </p:cNvPr>
          <p:cNvSpPr txBox="1"/>
          <p:nvPr/>
        </p:nvSpPr>
        <p:spPr>
          <a:xfrm>
            <a:off x="1292888" y="5086144"/>
            <a:ext cx="960622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de-DE" sz="2800" dirty="0" err="1"/>
              <a:t>understanding</a:t>
            </a:r>
            <a:r>
              <a:rPr lang="de-DE" sz="2800" dirty="0"/>
              <a:t> </a:t>
            </a:r>
            <a:r>
              <a:rPr lang="de-DE" sz="2800" dirty="0" err="1"/>
              <a:t>your</a:t>
            </a:r>
            <a:r>
              <a:rPr lang="de-DE" sz="2800" dirty="0"/>
              <a:t> </a:t>
            </a:r>
            <a:r>
              <a:rPr lang="de-DE" sz="2800" dirty="0" err="1"/>
              <a:t>data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first</a:t>
            </a:r>
            <a:r>
              <a:rPr lang="de-DE" sz="2800" dirty="0"/>
              <a:t> </a:t>
            </a:r>
            <a:r>
              <a:rPr lang="de-DE" sz="2800" dirty="0" err="1"/>
              <a:t>step</a:t>
            </a:r>
            <a:r>
              <a:rPr lang="de-DE" sz="2800" dirty="0"/>
              <a:t> in feature </a:t>
            </a:r>
            <a:r>
              <a:rPr lang="de-DE" sz="2800" dirty="0" err="1"/>
              <a:t>engineering</a:t>
            </a:r>
            <a:r>
              <a:rPr lang="de-DE" sz="2800" dirty="0"/>
              <a:t> </a:t>
            </a:r>
            <a:r>
              <a:rPr lang="de-DE" sz="2800" dirty="0">
                <a:sym typeface="Wingdings" pitchFamily="2" charset="2"/>
              </a:rPr>
              <a:t> </a:t>
            </a:r>
            <a:r>
              <a:rPr lang="de-DE" sz="2800" dirty="0" err="1">
                <a:sym typeface="Wingdings" pitchFamily="2" charset="2"/>
              </a:rPr>
              <a:t>visualization</a:t>
            </a:r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14858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99A6E-985A-BCAE-71DF-63142D9E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Handling </a:t>
            </a:r>
            <a:r>
              <a:rPr lang="de-DE" dirty="0" err="1"/>
              <a:t>Missing</a:t>
            </a:r>
            <a:r>
              <a:rPr lang="de-DE" dirty="0"/>
              <a:t> Values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2E5862-7DC7-538D-50E5-A4A53633B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issue</a:t>
            </a:r>
            <a:r>
              <a:rPr lang="de-DE" dirty="0"/>
              <a:t>: </a:t>
            </a:r>
            <a:r>
              <a:rPr lang="de-DE" dirty="0" err="1"/>
              <a:t>incomplete</a:t>
            </a:r>
            <a:r>
              <a:rPr lang="de-DE" dirty="0"/>
              <a:t> </a:t>
            </a:r>
            <a:r>
              <a:rPr lang="de-DE" dirty="0" err="1"/>
              <a:t>observations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examples</a:t>
            </a:r>
            <a:r>
              <a:rPr lang="de-DE" dirty="0"/>
              <a:t>: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age</a:t>
            </a:r>
            <a:r>
              <a:rPr lang="de-DE" dirty="0"/>
              <a:t>, </a:t>
            </a:r>
            <a:r>
              <a:rPr lang="de-DE" dirty="0" err="1"/>
              <a:t>unknown</a:t>
            </a:r>
            <a:r>
              <a:rPr lang="de-DE" dirty="0"/>
              <a:t> </a:t>
            </a:r>
            <a:r>
              <a:rPr lang="de-DE" dirty="0" err="1"/>
              <a:t>category</a:t>
            </a:r>
            <a:r>
              <a:rPr lang="de-DE" dirty="0"/>
              <a:t>, </a:t>
            </a:r>
            <a:r>
              <a:rPr lang="de-DE" dirty="0" err="1"/>
              <a:t>gaps</a:t>
            </a:r>
            <a:r>
              <a:rPr lang="de-DE" dirty="0"/>
              <a:t> in time </a:t>
            </a:r>
            <a:r>
              <a:rPr lang="de-DE" dirty="0" err="1"/>
              <a:t>series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challenges</a:t>
            </a:r>
            <a:r>
              <a:rPr lang="de-DE" dirty="0"/>
              <a:t>: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handled</a:t>
            </a:r>
            <a:r>
              <a:rPr lang="de-DE" dirty="0"/>
              <a:t> </a:t>
            </a:r>
            <a:r>
              <a:rPr lang="de-DE" dirty="0" err="1"/>
              <a:t>poorly</a:t>
            </a:r>
            <a:r>
              <a:rPr lang="de-DE" dirty="0"/>
              <a:t>,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removed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strategies</a:t>
            </a:r>
            <a:r>
              <a:rPr lang="de-DE" dirty="0"/>
              <a:t>:</a:t>
            </a:r>
          </a:p>
          <a:p>
            <a:r>
              <a:rPr lang="de-DE" dirty="0" err="1"/>
              <a:t>remove</a:t>
            </a:r>
            <a:r>
              <a:rPr lang="de-DE" dirty="0"/>
              <a:t> </a:t>
            </a:r>
            <a:r>
              <a:rPr lang="de-DE" dirty="0" err="1"/>
              <a:t>rows</a:t>
            </a:r>
            <a:r>
              <a:rPr lang="de-DE" dirty="0"/>
              <a:t> (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few</a:t>
            </a:r>
            <a:r>
              <a:rPr lang="de-DE" dirty="0"/>
              <a:t> and </a:t>
            </a:r>
            <a:r>
              <a:rPr lang="de-DE" dirty="0" err="1"/>
              <a:t>random</a:t>
            </a:r>
            <a:r>
              <a:rPr lang="de-DE" dirty="0"/>
              <a:t>)</a:t>
            </a:r>
          </a:p>
          <a:p>
            <a:r>
              <a:rPr lang="de-DE" dirty="0" err="1"/>
              <a:t>remove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 (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mostly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)</a:t>
            </a:r>
          </a:p>
          <a:p>
            <a:r>
              <a:rPr lang="de-DE" dirty="0" err="1"/>
              <a:t>imputation</a:t>
            </a:r>
            <a:r>
              <a:rPr lang="de-DE" dirty="0"/>
              <a:t> (</a:t>
            </a:r>
            <a:r>
              <a:rPr lang="de-DE" dirty="0" err="1"/>
              <a:t>fill</a:t>
            </a:r>
            <a:r>
              <a:rPr lang="de-DE" dirty="0"/>
              <a:t> in </a:t>
            </a:r>
            <a:r>
              <a:rPr lang="de-DE" dirty="0" err="1"/>
              <a:t>values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E1F3C2-F660-87DE-3784-C6B8FA9E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26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13DF55-62FC-108F-C35D-02114E3B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Imputation </a:t>
            </a:r>
            <a:r>
              <a:rPr lang="de-DE" dirty="0" err="1"/>
              <a:t>Techniques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C6F1E1-2D09-57EF-8441-1D37701B0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mean</a:t>
            </a:r>
            <a:r>
              <a:rPr lang="de-DE" dirty="0"/>
              <a:t> / median </a:t>
            </a:r>
            <a:r>
              <a:rPr lang="de-DE" dirty="0" err="1"/>
              <a:t>imputation</a:t>
            </a:r>
            <a:r>
              <a:rPr lang="de-DE" dirty="0"/>
              <a:t> (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)</a:t>
            </a:r>
          </a:p>
          <a:p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imputation</a:t>
            </a:r>
            <a:r>
              <a:rPr lang="de-DE" dirty="0"/>
              <a:t> (</a:t>
            </a:r>
            <a:r>
              <a:rPr lang="de-DE" dirty="0" err="1"/>
              <a:t>categorical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)</a:t>
            </a:r>
          </a:p>
          <a:p>
            <a:r>
              <a:rPr lang="de-DE" dirty="0" err="1"/>
              <a:t>forward</a:t>
            </a:r>
            <a:r>
              <a:rPr lang="de-DE" dirty="0"/>
              <a:t>/</a:t>
            </a:r>
            <a:r>
              <a:rPr lang="de-DE" dirty="0" err="1"/>
              <a:t>backward</a:t>
            </a:r>
            <a:r>
              <a:rPr lang="de-DE" dirty="0"/>
              <a:t> </a:t>
            </a:r>
            <a:r>
              <a:rPr lang="de-DE" dirty="0" err="1"/>
              <a:t>fill</a:t>
            </a:r>
            <a:r>
              <a:rPr lang="de-DE" dirty="0"/>
              <a:t> (time </a:t>
            </a:r>
            <a:r>
              <a:rPr lang="de-DE" dirty="0" err="1"/>
              <a:t>series</a:t>
            </a:r>
            <a:r>
              <a:rPr lang="de-DE" dirty="0"/>
              <a:t>)</a:t>
            </a:r>
          </a:p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imputation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c</a:t>
            </a:r>
            <a:r>
              <a:rPr lang="de-DE" dirty="0" err="1"/>
              <a:t>hoice</a:t>
            </a:r>
            <a:r>
              <a:rPr lang="de-DE" dirty="0"/>
              <a:t> </a:t>
            </a:r>
            <a:r>
              <a:rPr lang="de-DE" dirty="0" err="1"/>
              <a:t>depends</a:t>
            </a:r>
            <a:r>
              <a:rPr lang="de-DE" dirty="0"/>
              <a:t> on </a:t>
            </a:r>
            <a:r>
              <a:rPr lang="de-DE" dirty="0" err="1"/>
              <a:t>data</a:t>
            </a:r>
            <a:r>
              <a:rPr lang="de-DE" dirty="0"/>
              <a:t> and </a:t>
            </a:r>
            <a:r>
              <a:rPr lang="de-DE" dirty="0" err="1"/>
              <a:t>assumptions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 err="1"/>
              <a:t>sometimes</a:t>
            </a:r>
            <a:r>
              <a:rPr lang="de-DE" dirty="0"/>
              <a:t> </a:t>
            </a:r>
            <a:r>
              <a:rPr lang="de-DE" dirty="0" err="1"/>
              <a:t>missingness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(informative):</a:t>
            </a:r>
          </a:p>
          <a:p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income</a:t>
            </a:r>
            <a:r>
              <a:rPr lang="de-DE" dirty="0"/>
              <a:t> →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indicate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endParaRPr lang="de-DE" dirty="0"/>
          </a:p>
          <a:p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responses</a:t>
            </a:r>
            <a:r>
              <a:rPr lang="de-DE" dirty="0"/>
              <a:t> →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indicate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c</a:t>
            </a:r>
            <a:r>
              <a:rPr lang="de-DE" dirty="0" err="1"/>
              <a:t>reate</a:t>
            </a:r>
            <a:r>
              <a:rPr lang="de-DE" dirty="0"/>
              <a:t> an additional “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indicator</a:t>
            </a:r>
            <a:r>
              <a:rPr lang="de-DE" dirty="0"/>
              <a:t>” feature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FAF73B-825C-EAD4-7CCA-FCF1CD576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938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856B8A-F0A8-9718-ECFE-6AEE217B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Noise &amp; </a:t>
            </a:r>
            <a:r>
              <a:rPr lang="de-DE" dirty="0" err="1"/>
              <a:t>Outliers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499A98-9D54-6B27-245E-F72CC4188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noisy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 </a:t>
            </a:r>
            <a:r>
              <a:rPr lang="de-DE" dirty="0" err="1"/>
              <a:t>errors</a:t>
            </a:r>
            <a:r>
              <a:rPr lang="de-DE" dirty="0"/>
              <a:t>, </a:t>
            </a:r>
            <a:r>
              <a:rPr lang="de-DE" dirty="0" err="1"/>
              <a:t>inconsistencies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randomness</a:t>
            </a:r>
            <a:endParaRPr lang="de-DE" dirty="0"/>
          </a:p>
          <a:p>
            <a:r>
              <a:rPr lang="de-DE" dirty="0" err="1"/>
              <a:t>examples</a:t>
            </a:r>
            <a:r>
              <a:rPr lang="de-DE" dirty="0"/>
              <a:t>: </a:t>
            </a:r>
            <a:r>
              <a:rPr lang="de-DE" dirty="0" err="1"/>
              <a:t>incorrect</a:t>
            </a:r>
            <a:r>
              <a:rPr lang="de-DE" dirty="0"/>
              <a:t> </a:t>
            </a:r>
            <a:r>
              <a:rPr lang="de-DE" dirty="0" err="1"/>
              <a:t>entries</a:t>
            </a:r>
            <a:r>
              <a:rPr lang="de-DE" dirty="0"/>
              <a:t>, </a:t>
            </a:r>
            <a:r>
              <a:rPr lang="de-DE" dirty="0" err="1"/>
              <a:t>sensor</a:t>
            </a:r>
            <a:r>
              <a:rPr lang="de-DE" dirty="0"/>
              <a:t> </a:t>
            </a:r>
            <a:r>
              <a:rPr lang="de-DE" dirty="0" err="1"/>
              <a:t>errors</a:t>
            </a:r>
            <a:r>
              <a:rPr lang="de-DE" dirty="0"/>
              <a:t>, </a:t>
            </a:r>
            <a:r>
              <a:rPr lang="de-DE" dirty="0" err="1"/>
              <a:t>typos</a:t>
            </a:r>
            <a:endParaRPr lang="de-DE" dirty="0"/>
          </a:p>
          <a:p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,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mislead</a:t>
            </a:r>
            <a:r>
              <a:rPr lang="de-DE" dirty="0"/>
              <a:t> feature </a:t>
            </a:r>
            <a:r>
              <a:rPr lang="de-DE" dirty="0" err="1"/>
              <a:t>engineering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outliers</a:t>
            </a:r>
            <a:r>
              <a:rPr lang="de-DE" dirty="0"/>
              <a:t>: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 different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others</a:t>
            </a:r>
            <a:endParaRPr lang="de-DE" dirty="0"/>
          </a:p>
          <a:p>
            <a:r>
              <a:rPr lang="de-DE" dirty="0" err="1"/>
              <a:t>examples</a:t>
            </a:r>
            <a:r>
              <a:rPr lang="de-DE" dirty="0"/>
              <a:t>: extreme </a:t>
            </a:r>
            <a:r>
              <a:rPr lang="de-DE" dirty="0" err="1"/>
              <a:t>or</a:t>
            </a:r>
            <a:r>
              <a:rPr lang="de-DE" dirty="0"/>
              <a:t> impossible </a:t>
            </a:r>
            <a:r>
              <a:rPr lang="de-DE" dirty="0" err="1"/>
              <a:t>values</a:t>
            </a:r>
            <a:r>
              <a:rPr lang="de-DE" dirty="0"/>
              <a:t> (e.g., negative </a:t>
            </a:r>
            <a:r>
              <a:rPr lang="de-DE" dirty="0" err="1"/>
              <a:t>age</a:t>
            </a:r>
            <a:r>
              <a:rPr lang="de-DE" dirty="0"/>
              <a:t>)</a:t>
            </a:r>
          </a:p>
          <a:p>
            <a:r>
              <a:rPr lang="de-DE" dirty="0" err="1"/>
              <a:t>detection</a:t>
            </a:r>
            <a:r>
              <a:rPr lang="de-DE" dirty="0"/>
              <a:t>: </a:t>
            </a:r>
            <a:r>
              <a:rPr lang="de-DE" dirty="0" err="1"/>
              <a:t>statistical</a:t>
            </a:r>
            <a:r>
              <a:rPr lang="de-DE" dirty="0"/>
              <a:t> </a:t>
            </a:r>
            <a:r>
              <a:rPr lang="de-DE" dirty="0" err="1"/>
              <a:t>rules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visualization</a:t>
            </a:r>
            <a:r>
              <a:rPr lang="de-DE" dirty="0"/>
              <a:t> (</a:t>
            </a:r>
            <a:r>
              <a:rPr lang="de-DE" dirty="0" err="1"/>
              <a:t>boxplots</a:t>
            </a:r>
            <a:r>
              <a:rPr lang="de-DE" dirty="0"/>
              <a:t>, </a:t>
            </a:r>
            <a:r>
              <a:rPr lang="de-DE" dirty="0" err="1"/>
              <a:t>histograms</a:t>
            </a:r>
            <a:r>
              <a:rPr lang="de-DE" dirty="0"/>
              <a:t>)</a:t>
            </a:r>
          </a:p>
          <a:p>
            <a:r>
              <a:rPr lang="de-DE" dirty="0" err="1"/>
              <a:t>options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handling</a:t>
            </a:r>
            <a:r>
              <a:rPr lang="de-DE" dirty="0"/>
              <a:t>: </a:t>
            </a:r>
            <a:r>
              <a:rPr lang="de-DE" dirty="0" err="1"/>
              <a:t>remove</a:t>
            </a:r>
            <a:r>
              <a:rPr lang="de-DE" dirty="0"/>
              <a:t>, </a:t>
            </a:r>
            <a:r>
              <a:rPr lang="de-DE" dirty="0" err="1"/>
              <a:t>clip</a:t>
            </a:r>
            <a:r>
              <a:rPr lang="de-DE" dirty="0"/>
              <a:t>, </a:t>
            </a:r>
            <a:r>
              <a:rPr lang="de-DE" dirty="0" err="1"/>
              <a:t>transform</a:t>
            </a:r>
            <a:r>
              <a:rPr lang="de-DE" dirty="0"/>
              <a:t>, </a:t>
            </a:r>
            <a:r>
              <a:rPr lang="de-DE" dirty="0" err="1"/>
              <a:t>keep</a:t>
            </a:r>
            <a:r>
              <a:rPr lang="de-DE" dirty="0"/>
              <a:t> (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meaningful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F905F0-E0A1-B90A-FCC2-0EA14FE6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18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E889A-EACC-3DF7-3C07-8EECADD2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Main Data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87F71D-83E4-9DDE-4B62-2C14499B3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tabular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(</a:t>
            </a:r>
            <a:r>
              <a:rPr lang="de-DE" dirty="0" err="1"/>
              <a:t>heterogeneous</a:t>
            </a:r>
            <a:r>
              <a:rPr lang="de-DE" dirty="0"/>
              <a:t>):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requires</a:t>
            </a:r>
            <a:r>
              <a:rPr lang="de-DE" dirty="0"/>
              <a:t> different </a:t>
            </a:r>
            <a:r>
              <a:rPr lang="de-DE" dirty="0" err="1"/>
              <a:t>handling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179D1A-9A82-CA72-01A3-1C92D68C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B7068E7-8602-C6A2-F030-5B81A5660373}"/>
              </a:ext>
            </a:extLst>
          </p:cNvPr>
          <p:cNvSpPr txBox="1"/>
          <p:nvPr/>
        </p:nvSpPr>
        <p:spPr>
          <a:xfrm>
            <a:off x="7548976" y="1367522"/>
            <a:ext cx="380482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>
                <a:sym typeface="Wingdings" pitchFamily="2" charset="2"/>
              </a:rPr>
              <a:t>for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homogeneous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data</a:t>
            </a:r>
            <a:r>
              <a:rPr lang="de-DE" dirty="0">
                <a:sym typeface="Wingdings" pitchFamily="2" charset="2"/>
              </a:rPr>
              <a:t> (</a:t>
            </a:r>
            <a:r>
              <a:rPr lang="de-DE" dirty="0" err="1">
                <a:sym typeface="Wingdings" pitchFamily="2" charset="2"/>
              </a:rPr>
              <a:t>text</a:t>
            </a:r>
            <a:r>
              <a:rPr lang="de-DE" dirty="0">
                <a:sym typeface="Wingdings" pitchFamily="2" charset="2"/>
              </a:rPr>
              <a:t>, </a:t>
            </a:r>
            <a:r>
              <a:rPr lang="de-DE" dirty="0" err="1">
                <a:sym typeface="Wingdings" pitchFamily="2" charset="2"/>
              </a:rPr>
              <a:t>images</a:t>
            </a:r>
            <a:r>
              <a:rPr lang="de-DE" dirty="0">
                <a:sym typeface="Wingdings" pitchFamily="2" charset="2"/>
              </a:rPr>
              <a:t>)</a:t>
            </a:r>
          </a:p>
          <a:p>
            <a:r>
              <a:rPr lang="de-DE" dirty="0">
                <a:sym typeface="Wingdings" pitchFamily="2" charset="2"/>
              </a:rPr>
              <a:t> feature </a:t>
            </a:r>
            <a:r>
              <a:rPr lang="de-DE" dirty="0" err="1">
                <a:sym typeface="Wingdings" pitchFamily="2" charset="2"/>
              </a:rPr>
              <a:t>learning</a:t>
            </a:r>
            <a:r>
              <a:rPr lang="de-DE" dirty="0">
                <a:sym typeface="Wingdings" pitchFamily="2" charset="2"/>
              </a:rPr>
              <a:t> (</a:t>
            </a:r>
            <a:r>
              <a:rPr lang="de-DE" dirty="0" err="1">
                <a:sym typeface="Wingdings" pitchFamily="2" charset="2"/>
              </a:rPr>
              <a:t>d</a:t>
            </a:r>
            <a:r>
              <a:rPr lang="de-DE" dirty="0" err="1"/>
              <a:t>eep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)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3DFC6BD8-F1D4-884A-4E40-9AF74A21E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621894"/>
              </p:ext>
            </p:extLst>
          </p:nvPr>
        </p:nvGraphicFramePr>
        <p:xfrm>
          <a:off x="838200" y="2469039"/>
          <a:ext cx="10515600" cy="3108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038070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94639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 err="1">
                          <a:effectLst/>
                        </a:rPr>
                        <a:t>data</a:t>
                      </a:r>
                      <a:r>
                        <a:rPr lang="de-DE" sz="2400" b="1" dirty="0">
                          <a:effectLst/>
                        </a:rPr>
                        <a:t> type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b="1" dirty="0" err="1">
                          <a:effectLst/>
                        </a:rPr>
                        <a:t>key</a:t>
                      </a:r>
                      <a:r>
                        <a:rPr lang="de-DE" sz="2400" b="1" dirty="0">
                          <a:effectLst/>
                        </a:rPr>
                        <a:t> </a:t>
                      </a:r>
                      <a:r>
                        <a:rPr lang="de-DE" sz="2400" b="1" dirty="0" err="1">
                          <a:effectLst/>
                        </a:rPr>
                        <a:t>challenge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404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effectLst/>
                        </a:rPr>
                        <a:t>numerical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effectLst/>
                        </a:rPr>
                        <a:t>scale</a:t>
                      </a:r>
                      <a:r>
                        <a:rPr lang="de-DE" sz="2400" dirty="0">
                          <a:effectLst/>
                        </a:rPr>
                        <a:t>, </a:t>
                      </a:r>
                      <a:r>
                        <a:rPr lang="de-DE" sz="2400" dirty="0" err="1">
                          <a:effectLst/>
                        </a:rPr>
                        <a:t>outliers</a:t>
                      </a:r>
                      <a:r>
                        <a:rPr lang="de-DE" sz="2400" dirty="0">
                          <a:effectLst/>
                        </a:rPr>
                        <a:t>, </a:t>
                      </a:r>
                      <a:r>
                        <a:rPr lang="de-DE" sz="2400" dirty="0" err="1">
                          <a:effectLst/>
                        </a:rPr>
                        <a:t>skew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89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effectLst/>
                        </a:rPr>
                        <a:t>categorical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effectLst/>
                        </a:rPr>
                        <a:t>encoding</a:t>
                      </a:r>
                      <a:r>
                        <a:rPr lang="de-DE" sz="2400" dirty="0">
                          <a:effectLst/>
                        </a:rPr>
                        <a:t>, high </a:t>
                      </a:r>
                      <a:r>
                        <a:rPr lang="de-DE" sz="2400" dirty="0" err="1">
                          <a:effectLst/>
                        </a:rPr>
                        <a:t>cardinality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321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>
                          <a:effectLst/>
                        </a:rPr>
                        <a:t>ordinal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effectLst/>
                        </a:rPr>
                        <a:t>preserving</a:t>
                      </a:r>
                      <a:r>
                        <a:rPr lang="de-DE" sz="2400" dirty="0">
                          <a:effectLst/>
                        </a:rPr>
                        <a:t> </a:t>
                      </a:r>
                      <a:r>
                        <a:rPr lang="de-DE" sz="2400" dirty="0" err="1">
                          <a:effectLst/>
                        </a:rPr>
                        <a:t>order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149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>
                          <a:effectLst/>
                        </a:rPr>
                        <a:t>time </a:t>
                      </a:r>
                      <a:r>
                        <a:rPr lang="de-DE" sz="2400" dirty="0" err="1">
                          <a:effectLst/>
                        </a:rPr>
                        <a:t>series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>
                          <a:effectLst/>
                        </a:rPr>
                        <a:t>temporal </a:t>
                      </a:r>
                      <a:r>
                        <a:rPr lang="de-DE" sz="2400" dirty="0" err="1">
                          <a:effectLst/>
                        </a:rPr>
                        <a:t>structure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68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effectLst/>
                        </a:rPr>
                        <a:t>text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400" dirty="0" err="1">
                          <a:effectLst/>
                        </a:rPr>
                        <a:t>unstructured</a:t>
                      </a:r>
                      <a:r>
                        <a:rPr lang="de-DE" sz="2400" dirty="0">
                          <a:effectLst/>
                        </a:rPr>
                        <a:t> </a:t>
                      </a:r>
                      <a:r>
                        <a:rPr lang="de-DE" sz="2400" dirty="0" err="1">
                          <a:effectLst/>
                        </a:rPr>
                        <a:t>complexity</a:t>
                      </a:r>
                      <a:endParaRPr lang="de-DE" sz="24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69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78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405FC-52F4-2F5F-315A-9FA53200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Numerical</a:t>
            </a:r>
            <a:r>
              <a:rPr lang="de-DE" dirty="0"/>
              <a:t>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893269-41D5-8612-4320-F99D5CD73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discrete</a:t>
            </a:r>
            <a:r>
              <a:rPr lang="de-DE" dirty="0"/>
              <a:t> </a:t>
            </a:r>
            <a:r>
              <a:rPr lang="de-DE" dirty="0" err="1"/>
              <a:t>numbers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r>
              <a:rPr lang="de-DE" dirty="0" err="1"/>
              <a:t>age</a:t>
            </a:r>
            <a:r>
              <a:rPr lang="de-DE" dirty="0"/>
              <a:t>, </a:t>
            </a:r>
            <a:r>
              <a:rPr lang="de-DE" dirty="0" err="1"/>
              <a:t>income</a:t>
            </a:r>
            <a:r>
              <a:rPr lang="de-DE" dirty="0"/>
              <a:t>, </a:t>
            </a:r>
            <a:r>
              <a:rPr lang="de-DE" dirty="0" err="1"/>
              <a:t>temperature</a:t>
            </a:r>
            <a:endParaRPr lang="de-DE" dirty="0"/>
          </a:p>
          <a:p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purchases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challenges</a:t>
            </a:r>
            <a:r>
              <a:rPr lang="de-DE" dirty="0"/>
              <a:t>:</a:t>
            </a:r>
          </a:p>
          <a:p>
            <a:r>
              <a:rPr lang="de-DE" dirty="0"/>
              <a:t>different </a:t>
            </a:r>
            <a:r>
              <a:rPr lang="de-DE" dirty="0" err="1"/>
              <a:t>scales</a:t>
            </a:r>
            <a:r>
              <a:rPr lang="de-DE" dirty="0"/>
              <a:t> (e.g., </a:t>
            </a:r>
            <a:r>
              <a:rPr lang="de-DE" dirty="0" err="1"/>
              <a:t>income</a:t>
            </a:r>
            <a:r>
              <a:rPr lang="de-DE" dirty="0"/>
              <a:t> vs. </a:t>
            </a:r>
            <a:r>
              <a:rPr lang="de-DE" dirty="0" err="1"/>
              <a:t>age</a:t>
            </a:r>
            <a:r>
              <a:rPr lang="de-DE" dirty="0"/>
              <a:t>)</a:t>
            </a:r>
          </a:p>
          <a:p>
            <a:r>
              <a:rPr lang="de-DE" dirty="0" err="1"/>
              <a:t>outliers</a:t>
            </a:r>
            <a:endParaRPr lang="de-DE" dirty="0"/>
          </a:p>
          <a:p>
            <a:r>
              <a:rPr lang="de-DE" dirty="0" err="1"/>
              <a:t>skewed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175B19-DA1F-ED6E-AC1A-8B935033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7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ACA889-7ABE-2F23-9392-B7CDD4D2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</a:t>
            </a:r>
            <a:r>
              <a:rPr lang="de-DE" dirty="0" err="1"/>
              <a:t>Scaling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DAEA28-7DDD-166A-19F0-6215D90D9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depend</a:t>
            </a:r>
            <a:r>
              <a:rPr lang="de-DE" dirty="0"/>
              <a:t> on </a:t>
            </a:r>
            <a:r>
              <a:rPr lang="de-DE" dirty="0" err="1"/>
              <a:t>distance</a:t>
            </a:r>
            <a:r>
              <a:rPr lang="de-DE" dirty="0"/>
              <a:t>:</a:t>
            </a:r>
          </a:p>
          <a:p>
            <a:r>
              <a:rPr lang="de-DE" dirty="0" err="1"/>
              <a:t>kNN</a:t>
            </a:r>
            <a:endParaRPr lang="de-DE" dirty="0"/>
          </a:p>
          <a:p>
            <a:r>
              <a:rPr lang="de-DE" dirty="0"/>
              <a:t>SVM</a:t>
            </a:r>
          </a:p>
          <a:p>
            <a:r>
              <a:rPr lang="de-DE" dirty="0" err="1"/>
              <a:t>gradient-based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(e.g.,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f</a:t>
            </a:r>
            <a:r>
              <a:rPr lang="de-DE" dirty="0" err="1"/>
              <a:t>eatures</a:t>
            </a:r>
            <a:r>
              <a:rPr lang="de-DE" dirty="0"/>
              <a:t> on different </a:t>
            </a:r>
            <a:r>
              <a:rPr lang="de-DE" dirty="0" err="1"/>
              <a:t>scales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distort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6151DA-671E-E498-1F72-039FE6A91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3517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F58A6C-4782-1A4F-12E6-09F01DB9C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Normalization</a:t>
            </a:r>
            <a:r>
              <a:rPr lang="de-DE" dirty="0"/>
              <a:t> &amp; </a:t>
            </a:r>
            <a:r>
              <a:rPr lang="de-DE" dirty="0" err="1"/>
              <a:t>Standardization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F326F0A-BF15-F7EA-CFFA-FC481FBE7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normalization (Min-Max </a:t>
                </a:r>
                <a:r>
                  <a:rPr lang="de-DE" dirty="0" err="1"/>
                  <a:t>scaling</a:t>
                </a:r>
                <a:r>
                  <a:rPr lang="de-DE" dirty="0"/>
                  <a:t>): </a:t>
                </a:r>
                <a:r>
                  <a:rPr lang="de-DE" dirty="0" err="1"/>
                  <a:t>scales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[0, 1]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standardization</a:t>
                </a:r>
                <a:r>
                  <a:rPr lang="de-DE" dirty="0"/>
                  <a:t> (Z-score): </a:t>
                </a:r>
                <a:r>
                  <a:rPr lang="de-DE" dirty="0" err="1"/>
                  <a:t>centers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around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0</a:t>
                </a:r>
                <a:r>
                  <a:rPr lang="de-DE" dirty="0"/>
                  <a:t> (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standard</a:t>
                </a:r>
                <a:r>
                  <a:rPr lang="de-DE" dirty="0"/>
                  <a:t> </a:t>
                </a:r>
                <a:r>
                  <a:rPr lang="de-DE" dirty="0" err="1"/>
                  <a:t>deviation</a:t>
                </a:r>
                <a:r>
                  <a:rPr lang="de-DE" dirty="0"/>
                  <a:t>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1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normalization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bounds</a:t>
                </a:r>
                <a:r>
                  <a:rPr lang="de-DE" dirty="0"/>
                  <a:t> matter (e.g., </a:t>
                </a:r>
                <a:r>
                  <a:rPr lang="de-DE" dirty="0" err="1"/>
                  <a:t>neural</a:t>
                </a:r>
                <a:r>
                  <a:rPr lang="de-DE" dirty="0"/>
                  <a:t> </a:t>
                </a:r>
                <a:r>
                  <a:rPr lang="de-DE" dirty="0" err="1"/>
                  <a:t>networks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use</a:t>
                </a:r>
                <a:r>
                  <a:rPr lang="de-DE" dirty="0"/>
                  <a:t> </a:t>
                </a:r>
                <a:r>
                  <a:rPr lang="de-DE" dirty="0" err="1"/>
                  <a:t>standardization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roughly</a:t>
                </a:r>
                <a:r>
                  <a:rPr lang="de-DE" dirty="0"/>
                  <a:t> </a:t>
                </a:r>
                <a:r>
                  <a:rPr lang="de-DE" dirty="0" err="1"/>
                  <a:t>Gaussian</a:t>
                </a:r>
                <a:r>
                  <a:rPr lang="de-DE" dirty="0"/>
                  <a:t> (</a:t>
                </a:r>
                <a:r>
                  <a:rPr lang="de-DE" dirty="0" err="1"/>
                  <a:t>default</a:t>
                </a:r>
                <a:r>
                  <a:rPr lang="de-DE" dirty="0"/>
                  <a:t> </a:t>
                </a:r>
                <a:r>
                  <a:rPr lang="de-DE" dirty="0" err="1"/>
                  <a:t>choice</a:t>
                </a:r>
                <a:r>
                  <a:rPr lang="de-DE" dirty="0"/>
                  <a:t> in </a:t>
                </a:r>
                <a:r>
                  <a:rPr lang="de-DE" dirty="0" err="1"/>
                  <a:t>many</a:t>
                </a:r>
                <a:r>
                  <a:rPr lang="de-DE" dirty="0"/>
                  <a:t> </a:t>
                </a:r>
                <a:r>
                  <a:rPr lang="de-DE" dirty="0" err="1"/>
                  <a:t>cases</a:t>
                </a:r>
                <a:r>
                  <a:rPr lang="de-DE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F326F0A-BF15-F7EA-CFFA-FC481FBE7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BD44DA-F097-ED44-59C4-FD1393F6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277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23E1-0F01-FCB3-42E0-45FEB76B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Scaling</a:t>
            </a:r>
            <a:r>
              <a:rPr lang="de-DE" dirty="0"/>
              <a:t> vs.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81EDCA1-0B39-5E9E-CF55-925CA56D4B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scaling</a:t>
                </a:r>
                <a:r>
                  <a:rPr lang="de-DE" dirty="0"/>
                  <a:t>: </a:t>
                </a:r>
                <a:r>
                  <a:rPr lang="de-DE" dirty="0" err="1"/>
                  <a:t>adjusts</a:t>
                </a:r>
                <a:r>
                  <a:rPr lang="de-DE" dirty="0"/>
                  <a:t> </a:t>
                </a:r>
                <a:r>
                  <a:rPr lang="de-DE" dirty="0" err="1"/>
                  <a:t>range</a:t>
                </a:r>
                <a:r>
                  <a:rPr lang="de-DE" dirty="0"/>
                  <a:t> (e.g., </a:t>
                </a:r>
                <a:r>
                  <a:rPr lang="de-DE" dirty="0" err="1"/>
                  <a:t>normalization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transformation</a:t>
                </a:r>
                <a:r>
                  <a:rPr lang="de-DE" dirty="0"/>
                  <a:t>: </a:t>
                </a:r>
                <a:r>
                  <a:rPr lang="de-DE" dirty="0" err="1"/>
                  <a:t>changes</a:t>
                </a:r>
                <a:r>
                  <a:rPr lang="de-DE" dirty="0"/>
                  <a:t> </a:t>
                </a:r>
                <a:r>
                  <a:rPr lang="de-DE" dirty="0" err="1"/>
                  <a:t>shape</a:t>
                </a:r>
                <a:r>
                  <a:rPr lang="de-DE" dirty="0"/>
                  <a:t> (e.g.,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often</a:t>
                </a:r>
                <a:r>
                  <a:rPr lang="de-DE" dirty="0"/>
                  <a:t> </a:t>
                </a: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together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81EDCA1-0B39-5E9E-CF55-925CA56D4B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5360BC-95D9-81D1-6F64-37C58208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6296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A53F7-6C6A-06C9-E10A-BF5CD532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Transformation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5D631B-1AFB-3002-0F1C-BFD09657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easier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learn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same </a:t>
            </a:r>
            <a:r>
              <a:rPr lang="de-DE" dirty="0" err="1"/>
              <a:t>data</a:t>
            </a:r>
            <a:r>
              <a:rPr lang="de-DE" dirty="0"/>
              <a:t>,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transform</a:t>
            </a:r>
            <a:r>
              <a:rPr lang="de-DE" dirty="0"/>
              <a:t>:</a:t>
            </a:r>
          </a:p>
          <a:p>
            <a:r>
              <a:rPr lang="de-DE" dirty="0" err="1"/>
              <a:t>distribution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highly</a:t>
            </a:r>
            <a:r>
              <a:rPr lang="de-DE" dirty="0"/>
              <a:t> </a:t>
            </a:r>
            <a:r>
              <a:rPr lang="de-DE" dirty="0" err="1"/>
              <a:t>skewed</a:t>
            </a:r>
            <a:endParaRPr lang="de-DE" dirty="0"/>
          </a:p>
          <a:p>
            <a:r>
              <a:rPr lang="de-DE" dirty="0" err="1"/>
              <a:t>outliers</a:t>
            </a:r>
            <a:r>
              <a:rPr lang="de-DE" dirty="0"/>
              <a:t> </a:t>
            </a:r>
            <a:r>
              <a:rPr lang="de-DE" dirty="0" err="1"/>
              <a:t>dominate</a:t>
            </a:r>
            <a:endParaRPr lang="de-DE" dirty="0"/>
          </a:p>
          <a:p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assumptions</a:t>
            </a:r>
            <a:r>
              <a:rPr lang="de-DE" dirty="0"/>
              <a:t> (e.g., </a:t>
            </a:r>
            <a:r>
              <a:rPr lang="de-DE" dirty="0" err="1"/>
              <a:t>linearity</a:t>
            </a:r>
            <a:r>
              <a:rPr lang="de-DE" dirty="0"/>
              <a:t>)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violated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C4CB61-6422-21D2-1C96-C9876A6BD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343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75799E-13B6-DAC4-B67E-F04D0A900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Log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E00F77-17D3-6B42-AA0F-41CB578A23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 err="1"/>
                  <a:t>used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right-skewed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(e.g., </a:t>
                </a:r>
                <a:r>
                  <a:rPr lang="de-DE" dirty="0" err="1"/>
                  <a:t>income</a:t>
                </a:r>
                <a:r>
                  <a:rPr lang="de-DE" dirty="0"/>
                  <a:t>, </a:t>
                </a:r>
                <a:r>
                  <a:rPr lang="de-DE" dirty="0" err="1"/>
                  <a:t>prices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 err="1"/>
                  <a:t>effect</a:t>
                </a:r>
                <a:r>
                  <a:rPr lang="de-DE" dirty="0"/>
                  <a:t>: </a:t>
                </a:r>
                <a:r>
                  <a:rPr lang="de-DE" dirty="0" err="1"/>
                  <a:t>compresses</a:t>
                </a:r>
                <a:r>
                  <a:rPr lang="de-DE" dirty="0"/>
                  <a:t> large </a:t>
                </a:r>
                <a:r>
                  <a:rPr lang="de-DE" dirty="0" err="1"/>
                  <a:t>values</a:t>
                </a:r>
                <a:r>
                  <a:rPr lang="de-DE" dirty="0"/>
                  <a:t>, </a:t>
                </a:r>
                <a:r>
                  <a:rPr lang="de-DE" dirty="0" err="1"/>
                  <a:t>expands</a:t>
                </a:r>
                <a:r>
                  <a:rPr lang="de-DE" dirty="0"/>
                  <a:t> </a:t>
                </a:r>
                <a:r>
                  <a:rPr lang="de-DE" dirty="0" err="1"/>
                  <a:t>small</a:t>
                </a:r>
                <a:r>
                  <a:rPr lang="de-DE" dirty="0"/>
                  <a:t> </a:t>
                </a:r>
                <a:r>
                  <a:rPr lang="de-DE" dirty="0" err="1"/>
                  <a:t>values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 err="1"/>
                  <a:t>income</a:t>
                </a:r>
                <a:endParaRPr lang="de-DE" dirty="0"/>
              </a:p>
              <a:p>
                <a:r>
                  <a:rPr lang="de-DE" dirty="0" err="1"/>
                  <a:t>before</a:t>
                </a:r>
                <a:r>
                  <a:rPr lang="de-DE" dirty="0"/>
                  <a:t>: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1k</a:t>
                </a:r>
                <a:r>
                  <a:rPr lang="de-DE" dirty="0"/>
                  <a:t>,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2k</a:t>
                </a:r>
                <a:r>
                  <a:rPr lang="de-DE" dirty="0"/>
                  <a:t>,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5k</a:t>
                </a:r>
                <a:r>
                  <a:rPr lang="de-DE" dirty="0"/>
                  <a:t>,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100k</a:t>
                </a:r>
              </a:p>
              <a:p>
                <a:r>
                  <a:rPr lang="de-DE" dirty="0"/>
                  <a:t>after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lang="de-DE" dirty="0"/>
                  <a:t>: </a:t>
                </a:r>
                <a:r>
                  <a:rPr lang="de-DE" dirty="0" err="1"/>
                  <a:t>values</a:t>
                </a:r>
                <a:r>
                  <a:rPr lang="de-DE" dirty="0"/>
                  <a:t> </a:t>
                </a:r>
                <a:r>
                  <a:rPr lang="de-DE" dirty="0" err="1"/>
                  <a:t>become</a:t>
                </a:r>
                <a:r>
                  <a:rPr lang="de-DE" dirty="0"/>
                  <a:t> </a:t>
                </a:r>
                <a:r>
                  <a:rPr lang="de-DE" dirty="0" err="1"/>
                  <a:t>closer</a:t>
                </a:r>
                <a:r>
                  <a:rPr lang="de-DE" dirty="0"/>
                  <a:t> in </a:t>
                </a:r>
                <a:r>
                  <a:rPr lang="de-DE" dirty="0" err="1"/>
                  <a:t>scale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m</a:t>
                </a:r>
                <a:r>
                  <a:rPr lang="de-DE" dirty="0" err="1"/>
                  <a:t>akes</a:t>
                </a:r>
                <a:r>
                  <a:rPr lang="de-DE" dirty="0"/>
                  <a:t> </a:t>
                </a:r>
                <a:r>
                  <a:rPr lang="de-DE" dirty="0" err="1"/>
                  <a:t>distributions</a:t>
                </a:r>
                <a:r>
                  <a:rPr lang="de-DE" dirty="0"/>
                  <a:t> </a:t>
                </a:r>
                <a:r>
                  <a:rPr lang="de-DE" dirty="0" err="1"/>
                  <a:t>more</a:t>
                </a:r>
                <a:r>
                  <a:rPr lang="de-DE" dirty="0"/>
                  <a:t> </a:t>
                </a:r>
                <a:r>
                  <a:rPr lang="de-DE" dirty="0" err="1"/>
                  <a:t>symmetric</a:t>
                </a:r>
                <a:r>
                  <a:rPr lang="de-DE" dirty="0"/>
                  <a:t>, </a:t>
                </a:r>
                <a:r>
                  <a:rPr lang="de-DE" dirty="0" err="1">
                    <a:sym typeface="Wingdings" pitchFamily="2" charset="2"/>
                  </a:rPr>
                  <a:t>e</a:t>
                </a:r>
                <a:r>
                  <a:rPr lang="de-DE" dirty="0" err="1"/>
                  <a:t>asier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models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detect</a:t>
                </a:r>
                <a:r>
                  <a:rPr lang="de-DE" dirty="0"/>
                  <a:t> </a:t>
                </a:r>
                <a:r>
                  <a:rPr lang="de-DE" dirty="0" err="1"/>
                  <a:t>patterns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alternatives:</a:t>
                </a:r>
              </a:p>
              <a:p>
                <a:r>
                  <a:rPr lang="de-DE" dirty="0" err="1"/>
                  <a:t>square</a:t>
                </a:r>
                <a:r>
                  <a:rPr lang="de-DE" dirty="0"/>
                  <a:t> root </a:t>
                </a:r>
                <a:r>
                  <a:rPr lang="de-DE" dirty="0" err="1"/>
                  <a:t>transformation</a:t>
                </a:r>
                <a:r>
                  <a:rPr lang="de-DE" dirty="0"/>
                  <a:t>: </a:t>
                </a:r>
                <a:r>
                  <a:rPr lang="de-DE" dirty="0" err="1"/>
                  <a:t>less</a:t>
                </a:r>
                <a:r>
                  <a:rPr lang="de-DE" dirty="0"/>
                  <a:t> aggressive </a:t>
                </a:r>
                <a:r>
                  <a:rPr lang="de-DE" dirty="0" err="1"/>
                  <a:t>than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>
                        <a:latin typeface="Cambria Math" panose="02040503050406030204" pitchFamily="18" charset="0"/>
                      </a:rPr>
                      <m:t>log</m:t>
                    </m:r>
                  </m:oMath>
                </a14:m>
                <a:r>
                  <a:rPr lang="de-DE" dirty="0"/>
                  <a:t>, useful </a:t>
                </a:r>
                <a:r>
                  <a:rPr lang="de-DE" dirty="0" err="1"/>
                  <a:t>for</a:t>
                </a:r>
                <a:r>
                  <a:rPr lang="de-DE" dirty="0"/>
                  <a:t> moderate </a:t>
                </a:r>
                <a:r>
                  <a:rPr lang="de-DE" dirty="0" err="1"/>
                  <a:t>skew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k</a:t>
                </a:r>
                <a:r>
                  <a:rPr lang="de-DE" dirty="0" err="1"/>
                  <a:t>eeps</a:t>
                </a:r>
                <a:r>
                  <a:rPr lang="de-DE" dirty="0"/>
                  <a:t> </a:t>
                </a:r>
                <a:r>
                  <a:rPr lang="de-DE" dirty="0" err="1"/>
                  <a:t>more</a:t>
                </a:r>
                <a:r>
                  <a:rPr lang="de-DE" dirty="0"/>
                  <a:t> relative </a:t>
                </a:r>
                <a:r>
                  <a:rPr lang="de-DE" dirty="0" err="1"/>
                  <a:t>differences</a:t>
                </a:r>
                <a:r>
                  <a:rPr lang="de-DE" dirty="0"/>
                  <a:t> </a:t>
                </a:r>
                <a:r>
                  <a:rPr lang="de-DE" dirty="0" err="1"/>
                  <a:t>than</a:t>
                </a:r>
                <a:r>
                  <a:rPr lang="de-DE" dirty="0"/>
                  <a:t> log </a:t>
                </a:r>
                <a:r>
                  <a:rPr lang="de-DE" dirty="0" err="1"/>
                  <a:t>transform</a:t>
                </a:r>
                <a:endParaRPr lang="de-DE" dirty="0"/>
              </a:p>
              <a:p>
                <a:r>
                  <a:rPr lang="de-DE" dirty="0"/>
                  <a:t>Box-Cox </a:t>
                </a:r>
                <a:r>
                  <a:rPr lang="de-DE" dirty="0" err="1"/>
                  <a:t>transformation</a:t>
                </a:r>
                <a:r>
                  <a:rPr lang="de-DE" dirty="0"/>
                  <a:t>: </a:t>
                </a:r>
                <a:r>
                  <a:rPr lang="de-DE" dirty="0" err="1"/>
                  <a:t>family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transformations</a:t>
                </a:r>
                <a:r>
                  <a:rPr lang="de-DE" dirty="0"/>
                  <a:t>, </a:t>
                </a:r>
                <a:r>
                  <a:rPr lang="de-DE" dirty="0" err="1"/>
                  <a:t>finds</a:t>
                </a:r>
                <a:r>
                  <a:rPr lang="de-DE" dirty="0"/>
                  <a:t> optimal </a:t>
                </a:r>
                <a:r>
                  <a:rPr lang="de-DE" dirty="0" err="1"/>
                  <a:t>parameter</a:t>
                </a:r>
                <a:r>
                  <a:rPr lang="de-DE" dirty="0"/>
                  <a:t> </a:t>
                </a:r>
                <a:r>
                  <a:rPr lang="de-DE" dirty="0" err="1"/>
                  <a:t>automatically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makes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 </a:t>
                </a:r>
                <a:r>
                  <a:rPr lang="de-DE" dirty="0" err="1"/>
                  <a:t>closer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normal </a:t>
                </a:r>
                <a:r>
                  <a:rPr lang="de-DE" dirty="0" err="1"/>
                  <a:t>distribution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7E00F77-17D3-6B42-AA0F-41CB578A23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5030787"/>
              </a:xfrm>
              <a:blipFill>
                <a:blip r:embed="rId2"/>
                <a:stretch>
                  <a:fillRect l="-1086" t="-30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538C732-DC14-B4E4-2F19-1308AFD2D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18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BD405-01DC-8048-5E03-14BC32D6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Binning (</a:t>
            </a:r>
            <a:r>
              <a:rPr lang="de-DE" dirty="0" err="1"/>
              <a:t>Discretization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76D265-A6CC-9AA8-5B53-DAB309495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convert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categories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age</a:t>
            </a:r>
            <a:r>
              <a:rPr lang="de-DE" dirty="0"/>
              <a:t> → </a:t>
            </a:r>
            <a:r>
              <a:rPr lang="de-DE" dirty="0">
                <a:latin typeface="Cambria Math" panose="02040503050406030204" pitchFamily="18" charset="0"/>
                <a:ea typeface="Cambria Math" panose="02040503050406030204" pitchFamily="18" charset="0"/>
              </a:rPr>
              <a:t>{0–18, 19–35, 36–60, 60+}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options</a:t>
            </a:r>
            <a:r>
              <a:rPr lang="de-DE" dirty="0"/>
              <a:t>: </a:t>
            </a:r>
            <a:r>
              <a:rPr lang="de-DE" dirty="0" err="1"/>
              <a:t>equidistant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equistatistics</a:t>
            </a:r>
            <a:r>
              <a:rPr lang="de-DE" dirty="0"/>
              <a:t> (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equal-frequency</a:t>
            </a:r>
            <a:r>
              <a:rPr lang="de-DE" dirty="0"/>
              <a:t>) </a:t>
            </a:r>
            <a:r>
              <a:rPr lang="de-DE" dirty="0" err="1"/>
              <a:t>binning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simplifies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endParaRPr lang="de-DE" dirty="0"/>
          </a:p>
          <a:p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noise</a:t>
            </a:r>
            <a:r>
              <a:rPr lang="de-DE" dirty="0"/>
              <a:t> (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variance</a:t>
            </a:r>
            <a:r>
              <a:rPr lang="de-DE" dirty="0"/>
              <a:t>)</a:t>
            </a:r>
          </a:p>
          <a:p>
            <a:r>
              <a:rPr lang="de-DE" dirty="0" err="1"/>
              <a:t>helps</a:t>
            </a:r>
            <a:r>
              <a:rPr lang="de-DE" dirty="0"/>
              <a:t>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r>
              <a:rPr lang="de-DE" dirty="0"/>
              <a:t>but </a:t>
            </a:r>
            <a:r>
              <a:rPr lang="de-DE" dirty="0" err="1"/>
              <a:t>may</a:t>
            </a:r>
            <a:r>
              <a:rPr lang="de-DE" dirty="0"/>
              <a:t> lose </a:t>
            </a:r>
            <a:r>
              <a:rPr lang="de-DE" dirty="0" err="1"/>
              <a:t>information</a:t>
            </a:r>
            <a:r>
              <a:rPr lang="de-DE" dirty="0"/>
              <a:t> (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EB201C-53DC-F0DF-B4EE-BE3ECD17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330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2873EF-131A-352D-24CE-20E6B2E4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Polynomial and Interaction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69FBD48-23B7-929D-0D95-846B55BEDE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create </a:t>
                </a:r>
                <a:r>
                  <a:rPr lang="de-DE" dirty="0" err="1"/>
                  <a:t>new</a:t>
                </a:r>
                <a:r>
                  <a:rPr lang="de-DE" dirty="0"/>
                  <a:t> </a:t>
                </a:r>
                <a:r>
                  <a:rPr lang="de-DE" dirty="0" err="1"/>
                  <a:t>features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powers</a:t>
                </a:r>
                <a:r>
                  <a:rPr lang="de-DE" dirty="0"/>
                  <a:t> (e.g.,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a</a:t>
                </a:r>
                <a:r>
                  <a:rPr lang="de-DE" dirty="0" err="1"/>
                  <a:t>llows</a:t>
                </a:r>
                <a:r>
                  <a:rPr lang="de-DE" dirty="0"/>
                  <a:t> linear </a:t>
                </a:r>
                <a:r>
                  <a:rPr lang="de-DE" dirty="0" err="1"/>
                  <a:t>models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capture</a:t>
                </a:r>
                <a:r>
                  <a:rPr lang="de-DE" dirty="0"/>
                  <a:t> </a:t>
                </a:r>
                <a:r>
                  <a:rPr lang="de-DE" dirty="0" err="1"/>
                  <a:t>nonlinear</a:t>
                </a:r>
                <a:r>
                  <a:rPr lang="de-DE" dirty="0"/>
                  <a:t> </a:t>
                </a:r>
                <a:r>
                  <a:rPr lang="de-DE" dirty="0" err="1"/>
                  <a:t>relationships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combine</a:t>
                </a:r>
                <a:r>
                  <a:rPr lang="de-DE" dirty="0"/>
                  <a:t> multiple </a:t>
                </a:r>
                <a:r>
                  <a:rPr lang="de-DE" dirty="0" err="1"/>
                  <a:t>features</a:t>
                </a:r>
                <a:r>
                  <a:rPr lang="de-DE" dirty="0"/>
                  <a:t>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captures</a:t>
                </a:r>
                <a:r>
                  <a:rPr lang="de-DE" dirty="0"/>
                  <a:t> </a:t>
                </a:r>
                <a:r>
                  <a:rPr lang="de-DE" dirty="0" err="1"/>
                  <a:t>relationships</a:t>
                </a:r>
                <a:r>
                  <a:rPr lang="de-DE" dirty="0"/>
                  <a:t> </a:t>
                </a:r>
                <a:r>
                  <a:rPr lang="de-DE" dirty="0" err="1"/>
                  <a:t>between</a:t>
                </a:r>
                <a:r>
                  <a:rPr lang="de-DE" dirty="0"/>
                  <a:t> variables</a:t>
                </a:r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Age × Income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special</a:t>
                </a:r>
                <a:r>
                  <a:rPr lang="de-DE" dirty="0"/>
                  <a:t> type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categorical</a:t>
                </a:r>
                <a:r>
                  <a:rPr lang="de-DE" dirty="0"/>
                  <a:t> </a:t>
                </a:r>
                <a:r>
                  <a:rPr lang="de-DE" dirty="0" err="1"/>
                  <a:t>data</a:t>
                </a:r>
                <a:r>
                  <a:rPr lang="de-DE" dirty="0"/>
                  <a:t>: feature </a:t>
                </a:r>
                <a:r>
                  <a:rPr lang="de-DE" dirty="0" err="1"/>
                  <a:t>crosses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example</a:t>
                </a:r>
                <a:r>
                  <a:rPr lang="de-DE" dirty="0"/>
                  <a:t>: </a:t>
                </a:r>
                <a:r>
                  <a:rPr lang="de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City × Device Type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69FBD48-23B7-929D-0D95-846B55BEDE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2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B5D9FB-E4F5-7490-8FB3-65B481E3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41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33FCD-4DD2-A2D5-D47C-B45353E1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</a:t>
            </a:r>
            <a:r>
              <a:rPr lang="de-DE" dirty="0" err="1"/>
              <a:t>Creation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847EBF-023A-EAC9-1321-4279CBDD0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ones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adding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was not </a:t>
            </a:r>
            <a:r>
              <a:rPr lang="de-DE" dirty="0" err="1"/>
              <a:t>explicitly</a:t>
            </a:r>
            <a:r>
              <a:rPr lang="de-DE" dirty="0"/>
              <a:t> </a:t>
            </a:r>
            <a:r>
              <a:rPr lang="de-DE" dirty="0" err="1"/>
              <a:t>present</a:t>
            </a:r>
            <a:endParaRPr lang="de-DE" dirty="0"/>
          </a:p>
          <a:p>
            <a:r>
              <a:rPr lang="de-DE" dirty="0" err="1"/>
              <a:t>captures</a:t>
            </a:r>
            <a:r>
              <a:rPr lang="de-DE" dirty="0"/>
              <a:t> </a:t>
            </a:r>
            <a:r>
              <a:rPr lang="de-DE" dirty="0" err="1"/>
              <a:t>hidden</a:t>
            </a:r>
            <a:r>
              <a:rPr lang="de-DE" dirty="0"/>
              <a:t> </a:t>
            </a:r>
            <a:r>
              <a:rPr lang="de-DE" dirty="0" err="1"/>
              <a:t>relationships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domain</a:t>
            </a:r>
            <a:r>
              <a:rPr lang="de-DE" dirty="0"/>
              <a:t> </a:t>
            </a:r>
            <a:r>
              <a:rPr lang="de-DE" dirty="0" err="1"/>
              <a:t>knowledge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leads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biggest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gains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but </a:t>
            </a:r>
            <a:r>
              <a:rPr lang="de-DE" dirty="0" err="1"/>
              <a:t>always</a:t>
            </a:r>
            <a:r>
              <a:rPr lang="de-DE" dirty="0"/>
              <a:t> check </a:t>
            </a:r>
            <a:r>
              <a:rPr lang="de-DE" dirty="0" err="1"/>
              <a:t>performance</a:t>
            </a:r>
            <a:r>
              <a:rPr lang="de-DE" dirty="0"/>
              <a:t> and </a:t>
            </a:r>
            <a:r>
              <a:rPr lang="de-DE" dirty="0" err="1"/>
              <a:t>generalization</a:t>
            </a:r>
            <a:r>
              <a:rPr lang="de-DE" dirty="0"/>
              <a:t>: not all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help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many</a:t>
            </a:r>
            <a:r>
              <a:rPr lang="de-DE" dirty="0"/>
              <a:t> possible </a:t>
            </a:r>
            <a:r>
              <a:rPr lang="de-DE" dirty="0" err="1"/>
              <a:t>forms</a:t>
            </a:r>
            <a:r>
              <a:rPr lang="de-DE" dirty="0"/>
              <a:t> 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CE8900-F21A-E25F-4302-7BE1CC2E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84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397A2-1FC4-F3E4-A777-50F5F6C0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Aggregation Features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15A3A9-3881-D3E0-9BDD-DAD327616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groups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r>
              <a:rPr lang="de-DE" dirty="0" err="1"/>
              <a:t>average</a:t>
            </a:r>
            <a:r>
              <a:rPr lang="de-DE" dirty="0"/>
              <a:t> </a:t>
            </a:r>
            <a:r>
              <a:rPr lang="de-DE" dirty="0" err="1"/>
              <a:t>purchase</a:t>
            </a:r>
            <a:r>
              <a:rPr lang="de-DE" dirty="0"/>
              <a:t> per </a:t>
            </a:r>
            <a:r>
              <a:rPr lang="de-DE" dirty="0" err="1"/>
              <a:t>user</a:t>
            </a:r>
            <a:endParaRPr lang="de-DE" dirty="0"/>
          </a:p>
          <a:p>
            <a:r>
              <a:rPr lang="de-DE" dirty="0"/>
              <a:t>total </a:t>
            </a:r>
            <a:r>
              <a:rPr lang="de-DE" dirty="0" err="1"/>
              <a:t>transactions</a:t>
            </a:r>
            <a:r>
              <a:rPr lang="de-DE" dirty="0"/>
              <a:t> per </a:t>
            </a:r>
            <a:r>
              <a:rPr lang="de-DE" dirty="0" err="1"/>
              <a:t>day</a:t>
            </a:r>
            <a:endParaRPr lang="de-DE" dirty="0"/>
          </a:p>
          <a:p>
            <a:r>
              <a:rPr lang="de-DE" dirty="0" err="1"/>
              <a:t>max</a:t>
            </a:r>
            <a:r>
              <a:rPr lang="de-DE" dirty="0"/>
              <a:t>/min </a:t>
            </a:r>
            <a:r>
              <a:rPr lang="de-DE" dirty="0" err="1"/>
              <a:t>values</a:t>
            </a:r>
            <a:r>
              <a:rPr lang="de-DE" dirty="0"/>
              <a:t> per </a:t>
            </a:r>
            <a:r>
              <a:rPr lang="de-DE" dirty="0" err="1"/>
              <a:t>group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operations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aggregation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transactions</a:t>
            </a:r>
            <a:r>
              <a:rPr lang="de-DE" dirty="0"/>
              <a:t> per </a:t>
            </a:r>
            <a:r>
              <a:rPr lang="de-DE" dirty="0" err="1"/>
              <a:t>user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: total </a:t>
            </a:r>
            <a:r>
              <a:rPr lang="de-DE" dirty="0" err="1"/>
              <a:t>spend</a:t>
            </a:r>
            <a:r>
              <a:rPr lang="de-DE" dirty="0"/>
              <a:t> per </a:t>
            </a:r>
            <a:r>
              <a:rPr lang="de-DE" dirty="0" err="1"/>
              <a:t>user</a:t>
            </a:r>
            <a:r>
              <a:rPr lang="de-DE" dirty="0"/>
              <a:t>, </a:t>
            </a:r>
            <a:r>
              <a:rPr lang="de-DE" dirty="0" err="1"/>
              <a:t>average</a:t>
            </a:r>
            <a:r>
              <a:rPr lang="de-DE" dirty="0"/>
              <a:t> </a:t>
            </a:r>
            <a:r>
              <a:rPr lang="de-DE" dirty="0" err="1"/>
              <a:t>order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, </a:t>
            </a:r>
            <a:r>
              <a:rPr lang="de-DE" dirty="0" err="1"/>
              <a:t>purchase</a:t>
            </a:r>
            <a:r>
              <a:rPr lang="de-DE" dirty="0"/>
              <a:t> </a:t>
            </a:r>
            <a:r>
              <a:rPr lang="de-DE" dirty="0" err="1"/>
              <a:t>frequency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s</a:t>
            </a:r>
            <a:r>
              <a:rPr lang="de-DE" dirty="0" err="1"/>
              <a:t>ummarizes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effectively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93888F-8AC0-E6EB-41B6-3FF84452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847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6EE3D-F14A-670D-3354-09FA6657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More </a:t>
            </a:r>
            <a:r>
              <a:rPr lang="de-DE" dirty="0" err="1"/>
              <a:t>Examples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78B4B2-7634-0AF3-9B43-4017DD9BD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7791" cy="4351338"/>
          </a:xfrm>
        </p:spPr>
        <p:txBody>
          <a:bodyPr>
            <a:normAutofit/>
          </a:bodyPr>
          <a:lstStyle/>
          <a:p>
            <a:r>
              <a:rPr lang="de-DE" sz="2400" dirty="0" err="1"/>
              <a:t>ratio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: e.g., </a:t>
            </a:r>
            <a:r>
              <a:rPr lang="de-DE" sz="2400" dirty="0" err="1"/>
              <a:t>price</a:t>
            </a:r>
            <a:r>
              <a:rPr lang="de-DE" sz="2400" dirty="0"/>
              <a:t> per </a:t>
            </a:r>
            <a:r>
              <a:rPr lang="de-DE" sz="2400" dirty="0" err="1"/>
              <a:t>square</a:t>
            </a:r>
            <a:r>
              <a:rPr lang="de-DE" sz="2400" dirty="0"/>
              <a:t> </a:t>
            </a:r>
            <a:r>
              <a:rPr lang="de-DE" sz="2400" dirty="0" err="1"/>
              <a:t>meter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o</a:t>
            </a:r>
            <a:r>
              <a:rPr lang="de-DE" sz="2400" dirty="0" err="1"/>
              <a:t>ften</a:t>
            </a:r>
            <a:r>
              <a:rPr lang="de-DE" sz="2400" dirty="0"/>
              <a:t> </a:t>
            </a:r>
            <a:r>
              <a:rPr lang="de-DE" sz="2400" dirty="0" err="1"/>
              <a:t>more</a:t>
            </a:r>
            <a:r>
              <a:rPr lang="de-DE" sz="2400" dirty="0"/>
              <a:t> informative </a:t>
            </a:r>
            <a:r>
              <a:rPr lang="de-DE" sz="2400" dirty="0" err="1"/>
              <a:t>than</a:t>
            </a:r>
            <a:r>
              <a:rPr lang="de-DE" sz="2400" dirty="0"/>
              <a:t> </a:t>
            </a:r>
            <a:r>
              <a:rPr lang="de-DE" sz="2400" dirty="0" err="1"/>
              <a:t>raw</a:t>
            </a:r>
            <a:r>
              <a:rPr lang="de-DE" sz="2400" dirty="0"/>
              <a:t> </a:t>
            </a:r>
            <a:r>
              <a:rPr lang="de-DE" sz="2400" dirty="0" err="1"/>
              <a:t>values</a:t>
            </a:r>
            <a:endParaRPr lang="de-DE" sz="2400" dirty="0"/>
          </a:p>
          <a:p>
            <a:r>
              <a:rPr lang="de-DE" sz="2400" dirty="0" err="1"/>
              <a:t>difference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: e.g., </a:t>
            </a:r>
            <a:r>
              <a:rPr lang="de-DE" sz="2400" dirty="0" err="1"/>
              <a:t>current</a:t>
            </a:r>
            <a:r>
              <a:rPr lang="de-DE" sz="2400" dirty="0"/>
              <a:t> </a:t>
            </a:r>
            <a:r>
              <a:rPr lang="de-DE" sz="2400" dirty="0" err="1"/>
              <a:t>price</a:t>
            </a:r>
            <a:r>
              <a:rPr lang="de-DE" sz="2400" dirty="0"/>
              <a:t> − </a:t>
            </a:r>
            <a:r>
              <a:rPr lang="de-DE" sz="2400" dirty="0" err="1"/>
              <a:t>previous</a:t>
            </a:r>
            <a:r>
              <a:rPr lang="de-DE" sz="2400" dirty="0"/>
              <a:t> </a:t>
            </a:r>
            <a:r>
              <a:rPr lang="de-DE" sz="2400" dirty="0" err="1"/>
              <a:t>price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u</a:t>
            </a:r>
            <a:r>
              <a:rPr lang="de-DE" sz="2400" dirty="0" err="1"/>
              <a:t>seful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trend</a:t>
            </a:r>
            <a:r>
              <a:rPr lang="de-DE" sz="2400" dirty="0"/>
              <a:t> and </a:t>
            </a:r>
            <a:r>
              <a:rPr lang="de-DE" sz="2400" dirty="0" err="1"/>
              <a:t>behavior</a:t>
            </a:r>
            <a:r>
              <a:rPr lang="de-DE" sz="2400" dirty="0"/>
              <a:t> </a:t>
            </a:r>
            <a:r>
              <a:rPr lang="de-DE" sz="2400" dirty="0" err="1"/>
              <a:t>analysis</a:t>
            </a:r>
            <a:endParaRPr lang="de-DE" sz="2400" dirty="0"/>
          </a:p>
          <a:p>
            <a:r>
              <a:rPr lang="de-DE" sz="2400" dirty="0"/>
              <a:t>feature </a:t>
            </a:r>
            <a:r>
              <a:rPr lang="de-DE" sz="2400" dirty="0" err="1"/>
              <a:t>extraction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timestamps</a:t>
            </a:r>
            <a:r>
              <a:rPr lang="de-DE" sz="2400" dirty="0"/>
              <a:t>: e.g., </a:t>
            </a:r>
            <a:r>
              <a:rPr lang="de-DE" sz="2400" dirty="0" err="1"/>
              <a:t>day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week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t</a:t>
            </a:r>
            <a:r>
              <a:rPr lang="de-DE" sz="2400" dirty="0" err="1"/>
              <a:t>urns</a:t>
            </a:r>
            <a:r>
              <a:rPr lang="de-DE" sz="2400" dirty="0"/>
              <a:t> </a:t>
            </a:r>
            <a:r>
              <a:rPr lang="de-DE" sz="2400" dirty="0" err="1"/>
              <a:t>raw</a:t>
            </a:r>
            <a:r>
              <a:rPr lang="de-DE" sz="2400" dirty="0"/>
              <a:t> time </a:t>
            </a:r>
            <a:r>
              <a:rPr lang="de-DE" sz="2400" dirty="0" err="1"/>
              <a:t>into</a:t>
            </a:r>
            <a:r>
              <a:rPr lang="de-DE" sz="2400" dirty="0"/>
              <a:t> </a:t>
            </a:r>
            <a:r>
              <a:rPr lang="de-DE" sz="2400" dirty="0" err="1"/>
              <a:t>meaningful</a:t>
            </a:r>
            <a:r>
              <a:rPr lang="de-DE" sz="2400" dirty="0"/>
              <a:t> </a:t>
            </a:r>
            <a:r>
              <a:rPr lang="de-DE" sz="2400" dirty="0" err="1"/>
              <a:t>patterns</a:t>
            </a:r>
            <a:endParaRPr lang="de-DE" sz="2400" dirty="0"/>
          </a:p>
          <a:p>
            <a:r>
              <a:rPr lang="de-DE" sz="2400" dirty="0" err="1"/>
              <a:t>cyclical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: e.g., </a:t>
            </a:r>
            <a:r>
              <a:rPr lang="de-DE" sz="2400" dirty="0" err="1"/>
              <a:t>hour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day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e</a:t>
            </a:r>
            <a:r>
              <a:rPr lang="de-DE" sz="2400" dirty="0" err="1"/>
              <a:t>ncode</a:t>
            </a:r>
            <a:r>
              <a:rPr lang="de-DE" sz="2400" dirty="0"/>
              <a:t> </a:t>
            </a:r>
            <a:r>
              <a:rPr lang="de-DE" sz="2400" dirty="0" err="1"/>
              <a:t>using</a:t>
            </a:r>
            <a:r>
              <a:rPr lang="de-DE" sz="2400" dirty="0"/>
              <a:t> sine/</a:t>
            </a:r>
            <a:r>
              <a:rPr lang="de-DE" sz="2400" dirty="0" err="1"/>
              <a:t>cosine</a:t>
            </a:r>
            <a:r>
              <a:rPr lang="de-DE" sz="2400" dirty="0"/>
              <a:t> </a:t>
            </a:r>
            <a:r>
              <a:rPr lang="de-DE" sz="2400" dirty="0" err="1"/>
              <a:t>transformations</a:t>
            </a:r>
            <a:endParaRPr lang="de-DE" sz="2400" dirty="0"/>
          </a:p>
          <a:p>
            <a:r>
              <a:rPr lang="de-DE" sz="2400" dirty="0"/>
              <a:t>count-</a:t>
            </a:r>
            <a:r>
              <a:rPr lang="de-DE" sz="2400" dirty="0" err="1"/>
              <a:t>based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: e.g., </a:t>
            </a:r>
            <a:r>
              <a:rPr lang="de-DE" sz="2400" dirty="0" err="1"/>
              <a:t>number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logins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c</a:t>
            </a:r>
            <a:r>
              <a:rPr lang="de-DE" sz="2400" dirty="0" err="1"/>
              <a:t>aptures</a:t>
            </a:r>
            <a:r>
              <a:rPr lang="de-DE" sz="2400" dirty="0"/>
              <a:t> </a:t>
            </a:r>
            <a:r>
              <a:rPr lang="de-DE" sz="2400" dirty="0" err="1"/>
              <a:t>activity</a:t>
            </a:r>
            <a:r>
              <a:rPr lang="de-DE" sz="2400" dirty="0"/>
              <a:t> </a:t>
            </a:r>
            <a:r>
              <a:rPr lang="de-DE" sz="2400" dirty="0" err="1"/>
              <a:t>level</a:t>
            </a:r>
            <a:endParaRPr lang="de-DE" sz="2400" dirty="0"/>
          </a:p>
          <a:p>
            <a:r>
              <a:rPr lang="de-DE" sz="2400" dirty="0" err="1"/>
              <a:t>flag</a:t>
            </a:r>
            <a:r>
              <a:rPr lang="de-DE" sz="2400" dirty="0"/>
              <a:t>/</a:t>
            </a:r>
            <a:r>
              <a:rPr lang="de-DE" sz="2400" dirty="0" err="1"/>
              <a:t>indicator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: e.g., </a:t>
            </a:r>
            <a:r>
              <a:rPr lang="de-DE" sz="2400" dirty="0" err="1"/>
              <a:t>is</a:t>
            </a:r>
            <a:r>
              <a:rPr lang="de-DE" sz="2400" dirty="0"/>
              <a:t> premium </a:t>
            </a:r>
            <a:r>
              <a:rPr lang="de-DE" sz="2400" dirty="0" err="1"/>
              <a:t>user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 s</a:t>
            </a:r>
            <a:r>
              <a:rPr lang="de-DE" sz="2400" dirty="0"/>
              <a:t>imple but </a:t>
            </a:r>
            <a:r>
              <a:rPr lang="de-DE" sz="2400" dirty="0" err="1"/>
              <a:t>often</a:t>
            </a:r>
            <a:r>
              <a:rPr lang="de-DE" sz="2400" dirty="0"/>
              <a:t> powerful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27FF54-54F7-17A3-5B05-432C8B89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973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5AB67-F77C-1D58-03A5-AEF89F08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Categorical</a:t>
            </a:r>
            <a:r>
              <a:rPr lang="de-DE" dirty="0"/>
              <a:t>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993410-D8E0-5839-5F99-8816796C6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representing</a:t>
            </a:r>
            <a:r>
              <a:rPr lang="de-DE" dirty="0"/>
              <a:t> </a:t>
            </a:r>
            <a:r>
              <a:rPr lang="de-DE" dirty="0" err="1"/>
              <a:t>categories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groups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examples</a:t>
            </a:r>
            <a:r>
              <a:rPr lang="de-DE" dirty="0"/>
              <a:t>: </a:t>
            </a:r>
            <a:r>
              <a:rPr lang="de-DE" dirty="0" err="1"/>
              <a:t>country</a:t>
            </a:r>
            <a:r>
              <a:rPr lang="de-DE" dirty="0"/>
              <a:t>, </a:t>
            </a:r>
            <a:r>
              <a:rPr lang="de-DE" dirty="0" err="1"/>
              <a:t>color</a:t>
            </a:r>
            <a:r>
              <a:rPr lang="de-DE" dirty="0"/>
              <a:t>, </a:t>
            </a:r>
            <a:r>
              <a:rPr lang="de-DE" dirty="0" err="1"/>
              <a:t>product</a:t>
            </a:r>
            <a:r>
              <a:rPr lang="de-DE" dirty="0"/>
              <a:t> type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problem</a:t>
            </a:r>
            <a:r>
              <a:rPr lang="de-DE" dirty="0"/>
              <a:t>: ML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, not </a:t>
            </a:r>
            <a:r>
              <a:rPr lang="de-DE" dirty="0" err="1"/>
              <a:t>text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convert</a:t>
            </a:r>
            <a:r>
              <a:rPr lang="de-DE" dirty="0"/>
              <a:t> </a:t>
            </a:r>
            <a:r>
              <a:rPr lang="de-DE" dirty="0" err="1"/>
              <a:t>categories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representations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52818F-E158-709B-1393-50076927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8421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6BE7-ED4C-5E2B-564B-33799AF07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Encoding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FCC10-8545-2083-F633-36ECF823D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dirty="0" err="1"/>
              <a:t>defines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categorical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represented</a:t>
            </a:r>
            <a:r>
              <a:rPr lang="de-DE" dirty="0"/>
              <a:t> </a:t>
            </a:r>
            <a:r>
              <a:rPr lang="de-DE" dirty="0" err="1"/>
              <a:t>numerically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different </a:t>
            </a:r>
            <a:r>
              <a:rPr lang="de-DE" dirty="0" err="1"/>
              <a:t>possibilities</a:t>
            </a:r>
            <a:r>
              <a:rPr lang="de-DE" dirty="0"/>
              <a:t>:</a:t>
            </a:r>
            <a:endParaRPr lang="en-GB" dirty="0"/>
          </a:p>
          <a:p>
            <a:r>
              <a:rPr lang="en-GB" dirty="0"/>
              <a:t>label encoding &amp; o</a:t>
            </a:r>
            <a:r>
              <a:rPr lang="en-DE"/>
              <a:t>rdinal encoding</a:t>
            </a:r>
            <a:endParaRPr lang="de-DE" dirty="0"/>
          </a:p>
          <a:p>
            <a:r>
              <a:rPr lang="en-DE"/>
              <a:t>one-hot encoding</a:t>
            </a:r>
            <a:endParaRPr lang="en-DE" dirty="0"/>
          </a:p>
          <a:p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encoding</a:t>
            </a:r>
            <a:r>
              <a:rPr lang="de-DE" dirty="0"/>
              <a:t> &amp; </a:t>
            </a:r>
            <a:r>
              <a:rPr lang="en-DE"/>
              <a:t>leave-one-out encoding</a:t>
            </a:r>
            <a:endParaRPr lang="de-DE" dirty="0"/>
          </a:p>
          <a:p>
            <a:r>
              <a:rPr lang="en-DE"/>
              <a:t>embeddings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7ECF4-88CC-6FFA-B376-C462D897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1018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EA9A96-BD08-9293-4746-B7B948535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Label &amp; Ordinal Encoding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E82B01-BFDD-4396-C768-A878ECDFE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 err="1"/>
              <a:t>both</a:t>
            </a:r>
            <a:r>
              <a:rPr lang="de-DE" sz="2400" dirty="0"/>
              <a:t> </a:t>
            </a:r>
            <a:r>
              <a:rPr lang="de-DE" sz="2400" dirty="0" err="1"/>
              <a:t>methods</a:t>
            </a:r>
            <a:r>
              <a:rPr lang="de-DE" sz="2400" dirty="0"/>
              <a:t> </a:t>
            </a:r>
            <a:r>
              <a:rPr lang="de-DE" sz="2400" dirty="0" err="1"/>
              <a:t>assign</a:t>
            </a:r>
            <a:r>
              <a:rPr lang="de-DE" sz="2400" dirty="0"/>
              <a:t> an integer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each</a:t>
            </a:r>
            <a:r>
              <a:rPr lang="de-DE" sz="2400" dirty="0"/>
              <a:t> </a:t>
            </a:r>
            <a:r>
              <a:rPr lang="de-DE" sz="2400" dirty="0" err="1"/>
              <a:t>category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label</a:t>
            </a:r>
            <a:r>
              <a:rPr lang="de-DE" sz="2400" dirty="0"/>
              <a:t> </a:t>
            </a:r>
            <a:r>
              <a:rPr lang="de-DE" sz="2400" dirty="0" err="1"/>
              <a:t>encoding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used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unordered</a:t>
            </a:r>
            <a:r>
              <a:rPr lang="de-DE" sz="2400" dirty="0"/>
              <a:t> </a:t>
            </a:r>
            <a:r>
              <a:rPr lang="de-DE" sz="2400" dirty="0" err="1"/>
              <a:t>categories</a:t>
            </a:r>
            <a:r>
              <a:rPr lang="de-DE" sz="2400" dirty="0"/>
              <a:t> (</a:t>
            </a:r>
            <a:r>
              <a:rPr lang="de-DE" sz="2400" dirty="0" err="1"/>
              <a:t>especially</a:t>
            </a:r>
            <a:r>
              <a:rPr lang="de-DE" sz="2400" dirty="0"/>
              <a:t> </a:t>
            </a:r>
            <a:r>
              <a:rPr lang="de-DE" sz="2400" dirty="0" err="1"/>
              <a:t>target</a:t>
            </a:r>
            <a:r>
              <a:rPr lang="de-DE" sz="2400" dirty="0"/>
              <a:t> variables)</a:t>
            </a:r>
          </a:p>
          <a:p>
            <a:r>
              <a:rPr lang="de-DE" sz="2400" dirty="0" err="1"/>
              <a:t>example</a:t>
            </a:r>
            <a:r>
              <a:rPr lang="de-DE" sz="2400" dirty="0"/>
              <a:t>: "</a:t>
            </a:r>
            <a:r>
              <a:rPr lang="de-DE" sz="2400" dirty="0" err="1"/>
              <a:t>Red</a:t>
            </a:r>
            <a:r>
              <a:rPr lang="de-DE" sz="2400" dirty="0"/>
              <a:t>", "Green", "Blue" </a:t>
            </a: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arbitrary</a:t>
            </a:r>
            <a:r>
              <a:rPr lang="de-DE" sz="2400" dirty="0">
                <a:sym typeface="Wingdings" pitchFamily="2" charset="2"/>
              </a:rPr>
              <a:t> </a:t>
            </a:r>
            <a:r>
              <a:rPr lang="de-DE" sz="2400" dirty="0" err="1">
                <a:sym typeface="Wingdings" pitchFamily="2" charset="2"/>
              </a:rPr>
              <a:t>integers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ordinal </a:t>
            </a:r>
            <a:r>
              <a:rPr lang="de-DE" sz="2400" dirty="0" err="1"/>
              <a:t>encoding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used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categories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a </a:t>
            </a:r>
            <a:r>
              <a:rPr lang="de-DE" sz="2400" dirty="0" err="1"/>
              <a:t>natural</a:t>
            </a:r>
            <a:r>
              <a:rPr lang="de-DE" sz="2400" dirty="0"/>
              <a:t> </a:t>
            </a:r>
            <a:r>
              <a:rPr lang="de-DE" sz="2400" dirty="0" err="1"/>
              <a:t>order</a:t>
            </a:r>
            <a:endParaRPr lang="de-DE" sz="2400" dirty="0"/>
          </a:p>
          <a:p>
            <a:r>
              <a:rPr lang="de-DE" sz="2400" dirty="0" err="1"/>
              <a:t>example</a:t>
            </a:r>
            <a:r>
              <a:rPr lang="de-DE" sz="2400" dirty="0"/>
              <a:t>: "Low" → 1, "Medium" → 2, "High" → 3</a:t>
            </a:r>
          </a:p>
          <a:p>
            <a:r>
              <a:rPr lang="de-DE" sz="2400" dirty="0"/>
              <a:t>not </a:t>
            </a:r>
            <a:r>
              <a:rPr lang="de-DE" sz="2400" dirty="0" err="1"/>
              <a:t>suitable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unordered</a:t>
            </a:r>
            <a:r>
              <a:rPr lang="de-DE" sz="2400" dirty="0"/>
              <a:t> </a:t>
            </a:r>
            <a:r>
              <a:rPr lang="de-DE" sz="2400" dirty="0" err="1"/>
              <a:t>categories</a:t>
            </a:r>
            <a:r>
              <a:rPr lang="de-DE" sz="2400" dirty="0"/>
              <a:t> (</a:t>
            </a:r>
            <a:r>
              <a:rPr lang="de-DE" sz="2400" dirty="0" err="1"/>
              <a:t>introduces</a:t>
            </a:r>
            <a:r>
              <a:rPr lang="de-DE" sz="2400" dirty="0"/>
              <a:t> </a:t>
            </a:r>
            <a:r>
              <a:rPr lang="de-DE" sz="2400" dirty="0" err="1"/>
              <a:t>false</a:t>
            </a:r>
            <a:r>
              <a:rPr lang="de-DE" sz="2400" dirty="0"/>
              <a:t> </a:t>
            </a:r>
            <a:r>
              <a:rPr lang="de-DE" sz="2400" dirty="0" err="1"/>
              <a:t>ordering</a:t>
            </a:r>
            <a:r>
              <a:rPr lang="de-DE" sz="2400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A01EA1-00D5-3CDD-B4B0-433FBEEE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415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6BB78-5A1D-D18F-121B-56F0A89A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One</a:t>
            </a:r>
            <a:r>
              <a:rPr lang="de-DE" dirty="0"/>
              <a:t>-Hot Encoding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FD71D2-F73E-37C5-322A-28888DF2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 err="1"/>
              <a:t>creates</a:t>
            </a:r>
            <a:r>
              <a:rPr lang="de-DE" dirty="0"/>
              <a:t>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category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ordering</a:t>
            </a:r>
            <a:r>
              <a:rPr lang="de-DE" dirty="0"/>
              <a:t>,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but </a:t>
            </a:r>
            <a:r>
              <a:rPr lang="de-DE" dirty="0" err="1"/>
              <a:t>increases</a:t>
            </a:r>
            <a:r>
              <a:rPr lang="de-DE" dirty="0"/>
              <a:t> </a:t>
            </a:r>
            <a:r>
              <a:rPr lang="de-DE" dirty="0" err="1"/>
              <a:t>dimensionality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high-</a:t>
            </a:r>
            <a:r>
              <a:rPr lang="de-DE" dirty="0" err="1"/>
              <a:t>cardinality</a:t>
            </a:r>
            <a:r>
              <a:rPr lang="de-DE" dirty="0"/>
              <a:t> </a:t>
            </a:r>
            <a:r>
              <a:rPr lang="de-DE" dirty="0" err="1"/>
              <a:t>problem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categorical</a:t>
            </a:r>
            <a:r>
              <a:rPr lang="de-DE" dirty="0"/>
              <a:t> variable “User ID” </a:t>
            </a:r>
            <a:r>
              <a:rPr lang="de-DE" dirty="0" err="1"/>
              <a:t>with</a:t>
            </a:r>
            <a:r>
              <a:rPr lang="de-DE" dirty="0"/>
              <a:t> 100,000 </a:t>
            </a:r>
            <a:r>
              <a:rPr lang="de-DE" dirty="0" err="1"/>
              <a:t>unique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, </a:t>
            </a:r>
            <a:r>
              <a:rPr lang="de-DE" dirty="0" err="1"/>
              <a:t>one-hot</a:t>
            </a:r>
            <a:r>
              <a:rPr lang="de-DE" dirty="0"/>
              <a:t> </a:t>
            </a:r>
            <a:r>
              <a:rPr lang="de-DE" dirty="0" err="1"/>
              <a:t>encoding</a:t>
            </a:r>
            <a:r>
              <a:rPr lang="de-DE" dirty="0"/>
              <a:t> </a:t>
            </a:r>
            <a:r>
              <a:rPr lang="de-DE" dirty="0" err="1"/>
              <a:t>creates</a:t>
            </a:r>
            <a:r>
              <a:rPr lang="de-DE" dirty="0"/>
              <a:t> 100,000 </a:t>
            </a:r>
            <a:r>
              <a:rPr lang="de-DE" dirty="0" err="1"/>
              <a:t>columns</a:t>
            </a:r>
            <a:r>
              <a:rPr lang="de-DE" dirty="0"/>
              <a:t> (</a:t>
            </a:r>
            <a:r>
              <a:rPr lang="de-DE" dirty="0" err="1">
                <a:sym typeface="Wingdings" pitchFamily="2" charset="2"/>
              </a:rPr>
              <a:t>s</a:t>
            </a:r>
            <a:r>
              <a:rPr lang="de-DE" dirty="0" err="1"/>
              <a:t>parse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)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overfitting</a:t>
            </a:r>
            <a:r>
              <a:rPr lang="de-DE" dirty="0"/>
              <a:t> </a:t>
            </a:r>
            <a:r>
              <a:rPr lang="de-DE" dirty="0" err="1"/>
              <a:t>risk</a:t>
            </a:r>
            <a:r>
              <a:rPr lang="de-DE" dirty="0"/>
              <a:t> (</a:t>
            </a:r>
            <a:r>
              <a:rPr lang="en-DE"/>
              <a:t>curse of dimensionality</a:t>
            </a:r>
            <a:r>
              <a:rPr lang="de-DE" dirty="0"/>
              <a:t>),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inefficient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37B51C-FCEA-9E89-A2F4-4EAC2474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26</a:t>
            </a:fld>
            <a:endParaRPr lang="en-GB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0A9C8A69-1B4C-7817-83E3-A160DF19C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88811"/>
              </p:ext>
            </p:extLst>
          </p:nvPr>
        </p:nvGraphicFramePr>
        <p:xfrm>
          <a:off x="838200" y="2374593"/>
          <a:ext cx="10515600" cy="8534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0260299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2568658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957210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32257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>
                          <a:effectLst/>
                        </a:rPr>
                        <a:t>Color</a:t>
                      </a:r>
                      <a:endParaRPr lang="de-DE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>
                          <a:effectLst/>
                        </a:rPr>
                        <a:t>Red</a:t>
                      </a:r>
                      <a:endParaRPr lang="de-DE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effectLst/>
                        </a:rPr>
                        <a:t>Blue</a:t>
                      </a:r>
                      <a:endParaRPr lang="de-DE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>
                          <a:effectLst/>
                        </a:rPr>
                        <a:t>Green</a:t>
                      </a:r>
                      <a:endParaRPr lang="de-DE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164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Red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23605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11FC2FE3-C6A0-FE24-CA54-BDE75C05874A}"/>
              </a:ext>
            </a:extLst>
          </p:cNvPr>
          <p:cNvSpPr txBox="1"/>
          <p:nvPr/>
        </p:nvSpPr>
        <p:spPr>
          <a:xfrm>
            <a:off x="7417360" y="41959"/>
            <a:ext cx="4774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alternative </a:t>
            </a:r>
            <a:r>
              <a:rPr lang="de-DE" dirty="0" err="1"/>
              <a:t>for</a:t>
            </a:r>
            <a:r>
              <a:rPr lang="de-DE" dirty="0"/>
              <a:t> high-</a:t>
            </a:r>
            <a:r>
              <a:rPr lang="de-DE" dirty="0" err="1"/>
              <a:t>cardinality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: </a:t>
            </a:r>
            <a:r>
              <a:rPr lang="de-DE" dirty="0" err="1"/>
              <a:t>binary</a:t>
            </a:r>
            <a:r>
              <a:rPr lang="de-DE" dirty="0"/>
              <a:t> </a:t>
            </a:r>
            <a:r>
              <a:rPr lang="de-DE" dirty="0" err="1"/>
              <a:t>encoding</a:t>
            </a:r>
            <a:r>
              <a:rPr lang="de-DE" dirty="0"/>
              <a:t> (</a:t>
            </a:r>
            <a:r>
              <a:rPr lang="de-DE" dirty="0" err="1"/>
              <a:t>convert</a:t>
            </a:r>
            <a:r>
              <a:rPr lang="de-DE" dirty="0"/>
              <a:t> </a:t>
            </a:r>
            <a:r>
              <a:rPr lang="de-DE" dirty="0" err="1"/>
              <a:t>categories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binary</a:t>
            </a:r>
            <a:r>
              <a:rPr lang="de-DE" dirty="0"/>
              <a:t> code)</a:t>
            </a:r>
          </a:p>
        </p:txBody>
      </p:sp>
    </p:spTree>
    <p:extLst>
      <p:ext uri="{BB962C8B-B14F-4D97-AF65-F5344CB8AC3E}">
        <p14:creationId xmlns:p14="http://schemas.microsoft.com/office/powerpoint/2010/main" val="3807041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FCCCC1-76F8-E4E0-DE25-A04646F0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Target &amp; </a:t>
            </a:r>
            <a:r>
              <a:rPr lang="de-DE" dirty="0" err="1"/>
              <a:t>Leave</a:t>
            </a:r>
            <a:r>
              <a:rPr lang="de-DE" dirty="0"/>
              <a:t>-</a:t>
            </a:r>
            <a:r>
              <a:rPr lang="de-DE" dirty="0" err="1"/>
              <a:t>One</a:t>
            </a:r>
            <a:r>
              <a:rPr lang="de-DE" dirty="0"/>
              <a:t>-Out Encoding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6A7C9C-E319-B9BC-7A5F-20F895CA4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48033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 err="1"/>
              <a:t>encodes</a:t>
            </a:r>
            <a:r>
              <a:rPr lang="de-DE" sz="2400" dirty="0"/>
              <a:t> </a:t>
            </a:r>
            <a:r>
              <a:rPr lang="de-DE" sz="2400" dirty="0" err="1"/>
              <a:t>categories</a:t>
            </a:r>
            <a:r>
              <a:rPr lang="de-DE" sz="2400" dirty="0"/>
              <a:t> </a:t>
            </a:r>
            <a:r>
              <a:rPr lang="de-DE" sz="2400" dirty="0" err="1"/>
              <a:t>using</a:t>
            </a:r>
            <a:r>
              <a:rPr lang="de-DE" sz="2400" dirty="0"/>
              <a:t> </a:t>
            </a:r>
            <a:r>
              <a:rPr lang="de-DE" sz="2400" dirty="0" err="1"/>
              <a:t>target</a:t>
            </a:r>
            <a:r>
              <a:rPr lang="de-DE" sz="2400" dirty="0"/>
              <a:t> </a:t>
            </a:r>
            <a:r>
              <a:rPr lang="de-DE" sz="2400" dirty="0" err="1"/>
              <a:t>statistics</a:t>
            </a:r>
            <a:r>
              <a:rPr lang="de-DE" sz="2400" dirty="0"/>
              <a:t> (e.g., </a:t>
            </a:r>
            <a:r>
              <a:rPr lang="de-DE" sz="2400" dirty="0" err="1"/>
              <a:t>average</a:t>
            </a:r>
            <a:r>
              <a:rPr lang="de-DE" sz="2400" dirty="0"/>
              <a:t> </a:t>
            </a:r>
            <a:r>
              <a:rPr lang="de-DE" sz="2400" dirty="0" err="1"/>
              <a:t>target</a:t>
            </a:r>
            <a:r>
              <a:rPr lang="de-DE" sz="2400" dirty="0"/>
              <a:t> </a:t>
            </a:r>
            <a:r>
              <a:rPr lang="de-DE" sz="2400" dirty="0" err="1"/>
              <a:t>value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r>
              <a:rPr lang="de-DE" sz="2400" dirty="0" err="1"/>
              <a:t>example</a:t>
            </a:r>
            <a:r>
              <a:rPr lang="de-DE" sz="2400" dirty="0"/>
              <a:t>: </a:t>
            </a:r>
            <a:r>
              <a:rPr lang="de-DE" sz="2400" dirty="0" err="1"/>
              <a:t>predict</a:t>
            </a:r>
            <a:r>
              <a:rPr lang="de-DE" sz="2400" dirty="0"/>
              <a:t> individual </a:t>
            </a:r>
            <a:r>
              <a:rPr lang="de-DE" sz="2400" dirty="0" err="1"/>
              <a:t>houses</a:t>
            </a:r>
            <a:r>
              <a:rPr lang="de-DE" sz="2400" dirty="0"/>
              <a:t> </a:t>
            </a:r>
            <a:r>
              <a:rPr lang="de-DE" sz="2400" dirty="0" err="1"/>
              <a:t>prices</a:t>
            </a:r>
            <a:r>
              <a:rPr lang="de-DE" sz="2400" dirty="0"/>
              <a:t> in 100,000 €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r>
              <a:rPr lang="de-DE" sz="2400" dirty="0" err="1"/>
              <a:t>handles</a:t>
            </a:r>
            <a:r>
              <a:rPr lang="de-DE" sz="2400" dirty="0"/>
              <a:t> high-</a:t>
            </a:r>
            <a:r>
              <a:rPr lang="de-DE" sz="2400" dirty="0" err="1"/>
              <a:t>cardinality</a:t>
            </a:r>
            <a:r>
              <a:rPr lang="de-DE" sz="2400" dirty="0"/>
              <a:t> variables </a:t>
            </a:r>
            <a:r>
              <a:rPr lang="de-DE" sz="2400" dirty="0" err="1"/>
              <a:t>well</a:t>
            </a:r>
            <a:endParaRPr lang="de-DE" sz="2400" dirty="0"/>
          </a:p>
          <a:p>
            <a:r>
              <a:rPr lang="de-DE" sz="2400" dirty="0" err="1"/>
              <a:t>often</a:t>
            </a:r>
            <a:r>
              <a:rPr lang="de-DE" sz="2400" dirty="0"/>
              <a:t> </a:t>
            </a:r>
            <a:r>
              <a:rPr lang="de-DE" sz="2400" dirty="0" err="1"/>
              <a:t>results</a:t>
            </a:r>
            <a:r>
              <a:rPr lang="de-DE" sz="2400" dirty="0"/>
              <a:t> in </a:t>
            </a:r>
            <a:r>
              <a:rPr lang="de-DE" sz="2400" dirty="0" err="1"/>
              <a:t>very</a:t>
            </a:r>
            <a:r>
              <a:rPr lang="de-DE" sz="2400" dirty="0"/>
              <a:t> powerful </a:t>
            </a:r>
            <a:r>
              <a:rPr lang="de-DE" sz="2400" dirty="0" err="1"/>
              <a:t>features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but high </a:t>
            </a:r>
            <a:r>
              <a:rPr lang="de-DE" sz="2400" dirty="0" err="1"/>
              <a:t>risk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overfitting</a:t>
            </a:r>
            <a:r>
              <a:rPr lang="de-DE" sz="2400" dirty="0"/>
              <a:t> (</a:t>
            </a:r>
            <a:r>
              <a:rPr lang="de-DE" sz="2400" dirty="0" err="1"/>
              <a:t>target</a:t>
            </a:r>
            <a:r>
              <a:rPr lang="de-DE" sz="2400" dirty="0"/>
              <a:t> </a:t>
            </a:r>
            <a:r>
              <a:rPr lang="de-DE" sz="2400" dirty="0" err="1"/>
              <a:t>leakage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r>
              <a:rPr lang="de-DE" sz="2400" dirty="0">
                <a:sym typeface="Wingdings" pitchFamily="2" charset="2"/>
              </a:rPr>
              <a:t> </a:t>
            </a:r>
            <a:r>
              <a:rPr lang="en-DE" sz="2400"/>
              <a:t>leave-one-out encoding</a:t>
            </a:r>
            <a:r>
              <a:rPr lang="de-DE" sz="2400" dirty="0"/>
              <a:t>: </a:t>
            </a:r>
            <a:r>
              <a:rPr lang="en-DE" sz="2400"/>
              <a:t>exclud</a:t>
            </a:r>
            <a:r>
              <a:rPr lang="de-DE" sz="2400" dirty="0" err="1"/>
              <a:t>e</a:t>
            </a:r>
            <a:r>
              <a:rPr lang="en-DE" sz="2400"/>
              <a:t> current row</a:t>
            </a:r>
            <a:r>
              <a:rPr lang="de-DE" sz="2400" dirty="0"/>
              <a:t>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calculating</a:t>
            </a:r>
            <a:r>
              <a:rPr lang="de-DE" sz="2400" dirty="0"/>
              <a:t> </a:t>
            </a:r>
            <a:r>
              <a:rPr lang="de-DE" sz="2400" dirty="0" err="1"/>
              <a:t>target</a:t>
            </a:r>
            <a:r>
              <a:rPr lang="de-DE" sz="2400" dirty="0"/>
              <a:t> </a:t>
            </a:r>
            <a:r>
              <a:rPr lang="de-DE" sz="2400" dirty="0" err="1"/>
              <a:t>statistics</a:t>
            </a: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0448D9-DCF8-02EA-C143-C27C7609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27</a:t>
            </a:fld>
            <a:endParaRPr lang="en-GB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0D42EE04-52CE-1898-F487-B775E11DD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039303"/>
              </p:ext>
            </p:extLst>
          </p:nvPr>
        </p:nvGraphicFramePr>
        <p:xfrm>
          <a:off x="838200" y="2557349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563883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12454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dirty="0">
                          <a:effectLst/>
                        </a:rPr>
                        <a:t>City</a:t>
                      </a:r>
                      <a:endParaRPr lang="de-DE" sz="20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b="1" dirty="0">
                          <a:effectLst/>
                        </a:rPr>
                        <a:t>Average Price</a:t>
                      </a:r>
                      <a:endParaRPr lang="de-DE" sz="2000" dirty="0">
                        <a:effectLst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642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>
                          <a:effectLst/>
                        </a:rPr>
                        <a:t>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>
                          <a:effectLst/>
                        </a:rPr>
                        <a:t>200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848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dirty="0">
                          <a:effectLst/>
                        </a:rPr>
                        <a:t>B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 dirty="0">
                          <a:effectLst/>
                        </a:rPr>
                        <a:t>150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07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056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D3296C-1A57-225C-489D-27315E1A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Frequency</a:t>
            </a:r>
            <a:r>
              <a:rPr lang="de-DE" dirty="0"/>
              <a:t>/Count Encoding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5788EB-E23A-8DE8-E732-3C04D225D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category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 (</a:t>
            </a:r>
            <a:r>
              <a:rPr lang="de-DE" dirty="0" err="1"/>
              <a:t>count</a:t>
            </a:r>
            <a:r>
              <a:rPr lang="de-DE" dirty="0"/>
              <a:t>) </a:t>
            </a:r>
            <a:r>
              <a:rPr lang="de-DE" dirty="0" err="1"/>
              <a:t>or</a:t>
            </a:r>
            <a:r>
              <a:rPr lang="de-DE" dirty="0"/>
              <a:t> relative </a:t>
            </a:r>
            <a:r>
              <a:rPr lang="de-DE" dirty="0" err="1"/>
              <a:t>frequency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category</a:t>
            </a:r>
            <a:r>
              <a:rPr lang="de-DE" dirty="0"/>
              <a:t> </a:t>
            </a:r>
            <a:r>
              <a:rPr lang="de-DE" dirty="0" err="1"/>
              <a:t>appears</a:t>
            </a:r>
            <a:r>
              <a:rPr lang="de-DE" dirty="0"/>
              <a:t> 500 </a:t>
            </a:r>
            <a:r>
              <a:rPr lang="de-DE" dirty="0" err="1"/>
              <a:t>times</a:t>
            </a:r>
            <a:r>
              <a:rPr lang="de-DE" dirty="0"/>
              <a:t> → </a:t>
            </a:r>
            <a:r>
              <a:rPr lang="de-DE" dirty="0" err="1"/>
              <a:t>value</a:t>
            </a:r>
            <a:r>
              <a:rPr lang="de-DE" dirty="0"/>
              <a:t> = 500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A60779-B63C-773D-A253-24AA944F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121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C9967FB-EA5D-DFE3-2367-D142442C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Text Features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E3B4B91-6289-D26D-9782-1D340C3DB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different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deal </a:t>
            </a:r>
            <a:r>
              <a:rPr lang="de-DE" dirty="0" err="1"/>
              <a:t>with</a:t>
            </a:r>
            <a:r>
              <a:rPr lang="de-DE" dirty="0"/>
              <a:t> variables </a:t>
            </a:r>
            <a:r>
              <a:rPr lang="de-DE" dirty="0" err="1"/>
              <a:t>containing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Bag-</a:t>
            </a:r>
            <a:r>
              <a:rPr lang="de-DE" dirty="0" err="1"/>
              <a:t>of</a:t>
            </a:r>
            <a:r>
              <a:rPr lang="de-DE" dirty="0"/>
              <a:t>-Words (</a:t>
            </a:r>
            <a:r>
              <a:rPr lang="de-DE" dirty="0" err="1"/>
              <a:t>BoW</a:t>
            </a:r>
            <a:r>
              <a:rPr lang="de-DE" dirty="0"/>
              <a:t>): </a:t>
            </a:r>
            <a:r>
              <a:rPr lang="de-DE" dirty="0" err="1"/>
              <a:t>count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occurrences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“I </a:t>
            </a:r>
            <a:r>
              <a:rPr lang="de-DE" dirty="0" err="1"/>
              <a:t>love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” → {I:1, love:1, data:1}</a:t>
            </a:r>
          </a:p>
          <a:p>
            <a:pPr lvl="1"/>
            <a:r>
              <a:rPr lang="de-DE" dirty="0" err="1"/>
              <a:t>limitations</a:t>
            </a:r>
            <a:r>
              <a:rPr lang="de-DE" dirty="0"/>
              <a:t>: </a:t>
            </a:r>
            <a:r>
              <a:rPr lang="de-DE" dirty="0" err="1"/>
              <a:t>ignores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order</a:t>
            </a:r>
            <a:r>
              <a:rPr lang="de-DE" dirty="0"/>
              <a:t>, high-dimensional, </a:t>
            </a:r>
            <a:r>
              <a:rPr lang="de-DE" dirty="0" err="1"/>
              <a:t>sparse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Term </a:t>
            </a:r>
            <a:r>
              <a:rPr lang="de-DE" dirty="0" err="1"/>
              <a:t>Frequency</a:t>
            </a:r>
            <a:r>
              <a:rPr lang="de-DE" dirty="0"/>
              <a:t>–Inverse </a:t>
            </a:r>
            <a:r>
              <a:rPr lang="de-DE" dirty="0" err="1"/>
              <a:t>Document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 (TF-IDF): </a:t>
            </a:r>
            <a:r>
              <a:rPr lang="de-DE" dirty="0" err="1"/>
              <a:t>weighs</a:t>
            </a:r>
            <a:r>
              <a:rPr lang="de-DE" dirty="0"/>
              <a:t> informative (rare) </a:t>
            </a:r>
            <a:r>
              <a:rPr lang="de-DE" dirty="0" err="1"/>
              <a:t>words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, </a:t>
            </a:r>
            <a:r>
              <a:rPr lang="de-DE" dirty="0" err="1"/>
              <a:t>downweights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words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embeddings</a:t>
            </a:r>
            <a:r>
              <a:rPr lang="de-DE" dirty="0"/>
              <a:t> (</a:t>
            </a:r>
            <a:r>
              <a:rPr lang="de-DE" dirty="0" err="1"/>
              <a:t>contextual</a:t>
            </a:r>
            <a:r>
              <a:rPr lang="de-DE" dirty="0"/>
              <a:t> </a:t>
            </a:r>
            <a:r>
              <a:rPr lang="de-DE" dirty="0" err="1"/>
              <a:t>embeddings</a:t>
            </a:r>
            <a:r>
              <a:rPr lang="de-DE" dirty="0"/>
              <a:t> via </a:t>
            </a:r>
            <a:r>
              <a:rPr lang="de-DE" dirty="0" err="1"/>
              <a:t>transformer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1D96A2F-5ABA-A8ED-7099-6C363EA4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447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46F5-540A-8319-5CB2-AEBE07CA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Embeddings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A42FF-356B-8FF0-F726-7B70069EB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90688"/>
            <a:ext cx="6287816" cy="5030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r</a:t>
            </a:r>
            <a:r>
              <a:rPr lang="en-DE" sz="2000" dirty="0"/>
              <a:t>epresentation of entities </a:t>
            </a:r>
            <a:r>
              <a:rPr lang="en-DE" sz="2000"/>
              <a:t>by vectors</a:t>
            </a:r>
            <a:endParaRPr lang="en-GB" sz="2000" dirty="0"/>
          </a:p>
          <a:p>
            <a:pPr marL="0" indent="0">
              <a:buNone/>
            </a:pPr>
            <a:r>
              <a:rPr lang="en-GB" sz="2000" dirty="0">
                <a:sym typeface="Wingdings" pitchFamily="2" charset="2"/>
              </a:rPr>
              <a:t> </a:t>
            </a:r>
            <a:r>
              <a:rPr lang="en-GB" sz="2000" dirty="0"/>
              <a:t>semantic s</a:t>
            </a:r>
            <a:r>
              <a:rPr lang="en-DE" sz="2000"/>
              <a:t>imilarity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most famous application: w</a:t>
            </a:r>
            <a:r>
              <a:rPr lang="en-DE" sz="2000"/>
              <a:t>ord embeddings</a:t>
            </a:r>
            <a:endParaRPr lang="de-DE" sz="2000" dirty="0"/>
          </a:p>
          <a:p>
            <a:pPr marL="0" indent="0">
              <a:buNone/>
            </a:pPr>
            <a:r>
              <a:rPr lang="en-DE" sz="2000">
                <a:sym typeface="Wingdings" pitchFamily="2" charset="2"/>
              </a:rPr>
              <a:t> </a:t>
            </a:r>
            <a:r>
              <a:rPr lang="en-DE" sz="2000" dirty="0">
                <a:sym typeface="Wingdings" pitchFamily="2" charset="2"/>
              </a:rPr>
              <a:t>associations </a:t>
            </a:r>
            <a:r>
              <a:rPr lang="en-DE" sz="2000" dirty="0"/>
              <a:t>(natural language </a:t>
            </a:r>
            <a:r>
              <a:rPr lang="en-DE" sz="2000"/>
              <a:t>processing)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b</a:t>
            </a:r>
            <a:r>
              <a:rPr lang="en-DE" sz="2000" dirty="0"/>
              <a:t>ut general concept: embeddings of (categorical) features (e.g., products in recommendation </a:t>
            </a:r>
            <a:r>
              <a:rPr lang="en-DE" sz="2000"/>
              <a:t>engines)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learned via co-occurrence (e.g., </a:t>
            </a:r>
            <a:r>
              <a:rPr lang="en-GB" sz="2000" dirty="0">
                <a:hlinkClick r:id="rId2"/>
              </a:rPr>
              <a:t>word2vec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end-to-end learning: embeddings layer in deep neural network, e.g., multi-layer perceptron (MLP)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CB5D3-4689-80E6-765B-B800A8E81DCE}"/>
              </a:ext>
            </a:extLst>
          </p:cNvPr>
          <p:cNvSpPr txBox="1"/>
          <p:nvPr/>
        </p:nvSpPr>
        <p:spPr>
          <a:xfrm>
            <a:off x="10901957" y="620639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6" name="Picture 5" descr="Chart&#10;&#10;Description automatically generated with low confidence">
            <a:extLst>
              <a:ext uri="{FF2B5EF4-FFF2-40B4-BE49-F238E27FC236}">
                <a16:creationId xmlns:a16="http://schemas.microsoft.com/office/drawing/2014/main" id="{17D634FC-E599-9F20-47A7-FB10E27B9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126" y="3454717"/>
            <a:ext cx="4028543" cy="1926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DD70A9-EEC9-B484-0A23-2CB9B1B57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675" y="5381285"/>
            <a:ext cx="2944800" cy="202368"/>
          </a:xfrm>
          <a:prstGeom prst="rect">
            <a:avLst/>
          </a:prstGeom>
        </p:spPr>
      </p:pic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E3D52C29-171A-1108-3E4C-38871512D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491" y="5712101"/>
            <a:ext cx="3857297" cy="54633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4C6BA1-9223-B550-520F-332D7695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30</a:t>
            </a:fld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6E5F51-20A2-7DF2-26E3-DD81994CAF95}"/>
              </a:ext>
            </a:extLst>
          </p:cNvPr>
          <p:cNvSpPr txBox="1"/>
          <p:nvPr/>
        </p:nvSpPr>
        <p:spPr>
          <a:xfrm>
            <a:off x="7609491" y="2648915"/>
            <a:ext cx="36587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</a:t>
            </a:r>
            <a:r>
              <a:rPr lang="en-DE" sz="2000" dirty="0"/>
              <a:t>ut also direction of difference vectors interesting (analogies):</a:t>
            </a:r>
          </a:p>
        </p:txBody>
      </p:sp>
      <p:pic>
        <p:nvPicPr>
          <p:cNvPr id="14" name="Picture 13" descr="Diagram&#10;&#10;Description automatically generated">
            <a:extLst>
              <a:ext uri="{FF2B5EF4-FFF2-40B4-BE49-F238E27FC236}">
                <a16:creationId xmlns:a16="http://schemas.microsoft.com/office/drawing/2014/main" id="{7A803F76-A96C-AF3E-B8A0-FE1423AF2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7994" y="400887"/>
            <a:ext cx="3658794" cy="207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481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9BAF-CD48-A9DC-C9DE-C8CFE057A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Word Embeddings as Part of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2A78-E7E1-8AB3-28CF-DF22B7BBE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245836" cy="28366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l</a:t>
            </a:r>
            <a:r>
              <a:rPr lang="en-DE" sz="2600" dirty="0"/>
              <a:t>anguage models contain embedding matrix as part of learned parameters</a:t>
            </a:r>
          </a:p>
          <a:p>
            <a:pPr marL="0" indent="0">
              <a:buNone/>
            </a:pPr>
            <a:r>
              <a:rPr lang="en-GB" sz="2600" dirty="0"/>
              <a:t>t</a:t>
            </a:r>
            <a:r>
              <a:rPr lang="en-DE" sz="2600" dirty="0"/>
              <a:t>ypically several hundred dimensions for word vectors</a:t>
            </a:r>
            <a:r>
              <a:rPr lang="en-GB" sz="2600" dirty="0"/>
              <a:t> (to be compared with vocabulary sizes of many thousands)</a:t>
            </a:r>
            <a:endParaRPr lang="en-DE" sz="2600" dirty="0"/>
          </a:p>
          <a:p>
            <a:pPr marL="0" indent="0">
              <a:buNone/>
            </a:pPr>
            <a:r>
              <a:rPr lang="en-GB" sz="2600" dirty="0"/>
              <a:t>(c</a:t>
            </a:r>
            <a:r>
              <a:rPr lang="en-DE" sz="2600"/>
              <a:t>an </a:t>
            </a:r>
            <a:r>
              <a:rPr lang="de-DE" sz="2600" dirty="0"/>
              <a:t>also </a:t>
            </a:r>
            <a:r>
              <a:rPr lang="en-DE" sz="2600"/>
              <a:t>be extracted and subsequently used as pretrained embeddings for ot</a:t>
            </a:r>
            <a:r>
              <a:rPr lang="en-GB" sz="2600" dirty="0"/>
              <a:t>he</a:t>
            </a:r>
            <a:r>
              <a:rPr lang="en-DE" sz="2600"/>
              <a:t>r task</a:t>
            </a:r>
            <a:r>
              <a:rPr lang="de-DE" sz="2600" dirty="0"/>
              <a:t>)</a:t>
            </a:r>
            <a:endParaRPr lang="en-DE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35F2C-07D5-187B-BE3D-6ABF98E1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31</a:t>
            </a:fld>
            <a:endParaRPr lang="en-DE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C0D0DB44-137A-5A96-F654-84C6089EF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311" y="4575994"/>
            <a:ext cx="4455949" cy="2194144"/>
          </a:xfrm>
          <a:prstGeom prst="rect">
            <a:avLst/>
          </a:prstGeom>
        </p:spPr>
      </p:pic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F0B691B1-6618-EEE6-E1AB-BB326F7FB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903" y="4575994"/>
            <a:ext cx="4572781" cy="2194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B38438-74D2-2EE4-9457-10563444E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4036" y="1551648"/>
            <a:ext cx="1889669" cy="2537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EEB905-7F38-A25E-C89F-852AB8B256E0}"/>
              </a:ext>
            </a:extLst>
          </p:cNvPr>
          <p:cNvSpPr txBox="1"/>
          <p:nvPr/>
        </p:nvSpPr>
        <p:spPr>
          <a:xfrm>
            <a:off x="11287235" y="598568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D1DC02-65F0-4A86-0404-D87CFA3EB8B9}"/>
              </a:ext>
            </a:extLst>
          </p:cNvPr>
          <p:cNvSpPr txBox="1"/>
          <p:nvPr/>
        </p:nvSpPr>
        <p:spPr>
          <a:xfrm>
            <a:off x="372247" y="5349900"/>
            <a:ext cx="1410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next-word prediction</a:t>
            </a:r>
            <a:r>
              <a:rPr lang="en-GB" dirty="0"/>
              <a:t>: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55136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BCDC7E5-D7A7-4A4D-D7BA-4ADED892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Tokenization</a:t>
            </a:r>
            <a:r>
              <a:rPr lang="de-DE" dirty="0"/>
              <a:t> &amp; </a:t>
            </a:r>
            <a:r>
              <a:rPr lang="de-DE" dirty="0" err="1"/>
              <a:t>Embeddings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35D160-5F88-C8FA-1779-A31D24A9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32</a:t>
            </a:fld>
            <a:endParaRPr lang="en-GB"/>
          </a:p>
        </p:txBody>
      </p:sp>
      <p:pic>
        <p:nvPicPr>
          <p:cNvPr id="7" name="Grafik 6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A9B50630-A54E-D44F-A579-EE71DE874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90688"/>
            <a:ext cx="9144000" cy="4523984"/>
          </a:xfrm>
          <a:prstGeom prst="rect">
            <a:avLst/>
          </a:prstGeom>
        </p:spPr>
      </p:pic>
      <p:sp>
        <p:nvSpPr>
          <p:cNvPr id="8" name="TextBox 10">
            <a:extLst>
              <a:ext uri="{FF2B5EF4-FFF2-40B4-BE49-F238E27FC236}">
                <a16:creationId xmlns:a16="http://schemas.microsoft.com/office/drawing/2014/main" id="{59B2AC5B-C9B6-DFBA-0AA1-6A856780D62D}"/>
              </a:ext>
            </a:extLst>
          </p:cNvPr>
          <p:cNvSpPr txBox="1"/>
          <p:nvPr/>
        </p:nvSpPr>
        <p:spPr>
          <a:xfrm>
            <a:off x="9715941" y="6214672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33349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D4ADD38-828F-E875-38E2-B8DD39FD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</a:t>
            </a:r>
            <a:r>
              <a:rPr lang="de-DE" dirty="0" err="1"/>
              <a:t>Complex</a:t>
            </a:r>
            <a:r>
              <a:rPr lang="de-DE" dirty="0"/>
              <a:t> Data </a:t>
            </a:r>
            <a:r>
              <a:rPr lang="de-DE" dirty="0" err="1"/>
              <a:t>Types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B55F5B3-FADD-07C9-CCD0-F12B171EA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image</a:t>
            </a:r>
            <a:r>
              <a:rPr lang="de-DE" sz="2600" dirty="0"/>
              <a:t> </a:t>
            </a:r>
            <a:r>
              <a:rPr lang="de-DE" sz="2600" dirty="0" err="1"/>
              <a:t>data</a:t>
            </a:r>
            <a:endParaRPr lang="de-DE" sz="2600" dirty="0"/>
          </a:p>
          <a:p>
            <a:r>
              <a:rPr lang="de-DE" sz="2600" dirty="0" err="1"/>
              <a:t>pixel</a:t>
            </a:r>
            <a:r>
              <a:rPr lang="de-DE" sz="2600" dirty="0"/>
              <a:t> </a:t>
            </a:r>
            <a:r>
              <a:rPr lang="de-DE" sz="2600" dirty="0" err="1"/>
              <a:t>intensities</a:t>
            </a:r>
            <a:r>
              <a:rPr lang="de-DE" sz="2600" dirty="0"/>
              <a:t> </a:t>
            </a:r>
            <a:r>
              <a:rPr lang="de-DE" sz="2600" dirty="0" err="1"/>
              <a:t>as</a:t>
            </a:r>
            <a:r>
              <a:rPr lang="de-DE" sz="2600" dirty="0"/>
              <a:t> </a:t>
            </a:r>
            <a:r>
              <a:rPr lang="de-DE" sz="2600" dirty="0" err="1"/>
              <a:t>input</a:t>
            </a:r>
            <a:endParaRPr lang="de-DE" sz="2600" dirty="0"/>
          </a:p>
          <a:p>
            <a:r>
              <a:rPr lang="de-DE" sz="2600" dirty="0"/>
              <a:t>feature </a:t>
            </a:r>
            <a:r>
              <a:rPr lang="de-DE" sz="2600" dirty="0" err="1"/>
              <a:t>extraction</a:t>
            </a:r>
            <a:r>
              <a:rPr lang="de-DE" sz="2600" dirty="0"/>
              <a:t> </a:t>
            </a:r>
            <a:r>
              <a:rPr lang="de-DE" sz="2600" dirty="0" err="1"/>
              <a:t>mainly</a:t>
            </a:r>
            <a:r>
              <a:rPr lang="de-DE" sz="2600" dirty="0"/>
              <a:t> via </a:t>
            </a:r>
            <a:r>
              <a:rPr lang="de-DE" sz="2600" dirty="0" err="1"/>
              <a:t>deep</a:t>
            </a:r>
            <a:r>
              <a:rPr lang="de-DE" sz="2600" dirty="0"/>
              <a:t> </a:t>
            </a:r>
            <a:r>
              <a:rPr lang="de-DE" sz="2600" dirty="0" err="1"/>
              <a:t>learning</a:t>
            </a:r>
            <a:r>
              <a:rPr lang="de-DE" sz="2600" dirty="0"/>
              <a:t> (</a:t>
            </a:r>
            <a:r>
              <a:rPr lang="de-DE" sz="2600" dirty="0">
                <a:sym typeface="Wingdings" pitchFamily="2" charset="2"/>
              </a:rPr>
              <a:t> </a:t>
            </a:r>
            <a:r>
              <a:rPr lang="de-DE" sz="2600" dirty="0" err="1">
                <a:sym typeface="Wingdings" pitchFamily="2" charset="2"/>
              </a:rPr>
              <a:t>computer</a:t>
            </a:r>
            <a:r>
              <a:rPr lang="de-DE" sz="2600" dirty="0">
                <a:sym typeface="Wingdings" pitchFamily="2" charset="2"/>
              </a:rPr>
              <a:t> </a:t>
            </a:r>
            <a:r>
              <a:rPr lang="de-DE" sz="2600" dirty="0" err="1">
                <a:sym typeface="Wingdings" pitchFamily="2" charset="2"/>
              </a:rPr>
              <a:t>vision</a:t>
            </a:r>
            <a:r>
              <a:rPr lang="de-DE" sz="2600" dirty="0"/>
              <a:t>)</a:t>
            </a:r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graph</a:t>
            </a:r>
            <a:r>
              <a:rPr lang="de-DE" sz="2600" dirty="0"/>
              <a:t> </a:t>
            </a:r>
            <a:r>
              <a:rPr lang="de-DE" sz="2600" dirty="0" err="1"/>
              <a:t>data</a:t>
            </a:r>
            <a:endParaRPr lang="de-DE" sz="2600" dirty="0"/>
          </a:p>
          <a:p>
            <a:r>
              <a:rPr lang="de-DE" sz="2600" dirty="0" err="1"/>
              <a:t>nodes</a:t>
            </a:r>
            <a:r>
              <a:rPr lang="de-DE" sz="2600" dirty="0"/>
              <a:t> and </a:t>
            </a:r>
            <a:r>
              <a:rPr lang="de-DE" sz="2600" dirty="0" err="1"/>
              <a:t>edges</a:t>
            </a:r>
            <a:r>
              <a:rPr lang="de-DE" sz="2600" dirty="0"/>
              <a:t> </a:t>
            </a:r>
            <a:r>
              <a:rPr lang="de-DE" sz="2600" dirty="0">
                <a:sym typeface="Wingdings" pitchFamily="2" charset="2"/>
              </a:rPr>
              <a:t> </a:t>
            </a:r>
            <a:r>
              <a:rPr lang="de-DE" sz="2600" dirty="0" err="1"/>
              <a:t>relationships</a:t>
            </a:r>
            <a:r>
              <a:rPr lang="de-DE" sz="2600" dirty="0"/>
              <a:t> matter</a:t>
            </a:r>
          </a:p>
          <a:p>
            <a:r>
              <a:rPr lang="de-DE" sz="2600" dirty="0" err="1"/>
              <a:t>examples</a:t>
            </a:r>
            <a:r>
              <a:rPr lang="de-DE" sz="2600" dirty="0"/>
              <a:t>: social </a:t>
            </a:r>
            <a:r>
              <a:rPr lang="de-DE" sz="2600" dirty="0" err="1"/>
              <a:t>networks</a:t>
            </a:r>
            <a:r>
              <a:rPr lang="de-DE" sz="2600" dirty="0"/>
              <a:t>, </a:t>
            </a:r>
            <a:r>
              <a:rPr lang="de-DE" sz="2600" dirty="0" err="1"/>
              <a:t>recommendation</a:t>
            </a:r>
            <a:r>
              <a:rPr lang="de-DE" sz="2600" dirty="0"/>
              <a:t> </a:t>
            </a:r>
            <a:r>
              <a:rPr lang="de-DE" sz="2600" dirty="0" err="1"/>
              <a:t>systems</a:t>
            </a:r>
            <a:endParaRPr lang="de-DE" sz="2600" dirty="0"/>
          </a:p>
          <a:p>
            <a:r>
              <a:rPr lang="de-DE" sz="2600" dirty="0"/>
              <a:t>modern </a:t>
            </a:r>
            <a:r>
              <a:rPr lang="de-DE" sz="2600" dirty="0" err="1"/>
              <a:t>best</a:t>
            </a:r>
            <a:r>
              <a:rPr lang="de-DE" sz="2600" dirty="0"/>
              <a:t> </a:t>
            </a:r>
            <a:r>
              <a:rPr lang="de-DE" sz="2600" dirty="0" err="1"/>
              <a:t>practice</a:t>
            </a:r>
            <a:r>
              <a:rPr lang="de-DE" sz="2600" dirty="0"/>
              <a:t>: </a:t>
            </a:r>
            <a:r>
              <a:rPr lang="de-DE" sz="2600" dirty="0" err="1"/>
              <a:t>graph</a:t>
            </a:r>
            <a:r>
              <a:rPr lang="de-DE" sz="2600" dirty="0"/>
              <a:t> </a:t>
            </a:r>
            <a:r>
              <a:rPr lang="de-DE" sz="2600" dirty="0" err="1"/>
              <a:t>embeddings</a:t>
            </a:r>
            <a:r>
              <a:rPr lang="de-DE" sz="2600" dirty="0"/>
              <a:t> / Graph </a:t>
            </a:r>
            <a:r>
              <a:rPr lang="de-DE" sz="2600" dirty="0" err="1"/>
              <a:t>Neural</a:t>
            </a:r>
            <a:r>
              <a:rPr lang="de-DE" sz="2600" dirty="0"/>
              <a:t> Networks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FC3BEB-07A5-FC58-779D-41100269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949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C65FE1-3D0F-A212-782E-9BD31CC6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</a:t>
            </a:r>
            <a:r>
              <a:rPr lang="de-DE" dirty="0" err="1"/>
              <a:t>Selection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0D3F02-061B-0FA9-ABF4-F9D34A0EF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too</a:t>
            </a:r>
            <a:r>
              <a:rPr lang="de-DE" sz="2600" dirty="0"/>
              <a:t> </a:t>
            </a:r>
            <a:r>
              <a:rPr lang="de-DE" sz="2600" dirty="0" err="1"/>
              <a:t>many</a:t>
            </a:r>
            <a:r>
              <a:rPr lang="de-DE" sz="2600" dirty="0"/>
              <a:t> </a:t>
            </a:r>
            <a:r>
              <a:rPr lang="de-DE" sz="2600" dirty="0" err="1"/>
              <a:t>features</a:t>
            </a:r>
            <a:r>
              <a:rPr lang="de-DE" sz="2600" dirty="0"/>
              <a:t>: </a:t>
            </a:r>
            <a:r>
              <a:rPr lang="de-DE" sz="2600" dirty="0" err="1"/>
              <a:t>curse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dimensionality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>
                <a:sym typeface="Wingdings" pitchFamily="2" charset="2"/>
              </a:rPr>
              <a:t> </a:t>
            </a:r>
            <a:r>
              <a:rPr lang="de-DE" sz="2600" dirty="0" err="1"/>
              <a:t>choose</a:t>
            </a:r>
            <a:r>
              <a:rPr lang="de-DE" sz="2600" dirty="0"/>
              <a:t> a </a:t>
            </a:r>
            <a:r>
              <a:rPr lang="de-DE" sz="2600" dirty="0" err="1"/>
              <a:t>subset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relevant </a:t>
            </a:r>
            <a:r>
              <a:rPr lang="de-DE" sz="2600" dirty="0" err="1"/>
              <a:t>features</a:t>
            </a:r>
            <a:r>
              <a:rPr lang="de-DE" sz="2600" dirty="0"/>
              <a:t>, </a:t>
            </a:r>
            <a:r>
              <a:rPr lang="de-DE" sz="2600" dirty="0" err="1"/>
              <a:t>remove</a:t>
            </a:r>
            <a:r>
              <a:rPr lang="de-DE" sz="2600" dirty="0"/>
              <a:t> irrelevant </a:t>
            </a:r>
            <a:r>
              <a:rPr lang="de-DE" sz="2600" dirty="0" err="1"/>
              <a:t>or</a:t>
            </a:r>
            <a:r>
              <a:rPr lang="de-DE" sz="2600" dirty="0"/>
              <a:t> redundant </a:t>
            </a:r>
            <a:r>
              <a:rPr lang="de-DE" sz="2600" dirty="0" err="1"/>
              <a:t>ones</a:t>
            </a:r>
            <a:r>
              <a:rPr lang="de-DE" sz="2600" dirty="0"/>
              <a:t> (</a:t>
            </a:r>
            <a:r>
              <a:rPr lang="de-DE" sz="2600" dirty="0" err="1"/>
              <a:t>keep</a:t>
            </a:r>
            <a:r>
              <a:rPr lang="de-DE" sz="2600" dirty="0"/>
              <a:t> </a:t>
            </a:r>
            <a:r>
              <a:rPr lang="de-DE" sz="2600" dirty="0" err="1"/>
              <a:t>signal</a:t>
            </a:r>
            <a:r>
              <a:rPr lang="de-DE" sz="2600" dirty="0"/>
              <a:t>, </a:t>
            </a:r>
            <a:r>
              <a:rPr lang="de-DE" sz="2600" dirty="0" err="1"/>
              <a:t>remove</a:t>
            </a:r>
            <a:r>
              <a:rPr lang="de-DE" sz="2600" dirty="0"/>
              <a:t> </a:t>
            </a:r>
            <a:r>
              <a:rPr lang="de-DE" sz="2600" dirty="0" err="1"/>
              <a:t>noise</a:t>
            </a:r>
            <a:r>
              <a:rPr lang="de-DE" sz="2600" dirty="0"/>
              <a:t>)</a:t>
            </a:r>
          </a:p>
          <a:p>
            <a:pPr marL="0" indent="0">
              <a:buNone/>
            </a:pPr>
            <a:endParaRPr lang="de-DE" sz="2600" dirty="0"/>
          </a:p>
          <a:p>
            <a:r>
              <a:rPr lang="de-DE" sz="2600" dirty="0" err="1"/>
              <a:t>improves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performance</a:t>
            </a:r>
            <a:endParaRPr lang="de-DE" sz="2600" dirty="0"/>
          </a:p>
          <a:p>
            <a:r>
              <a:rPr lang="de-DE" sz="2600" dirty="0" err="1"/>
              <a:t>reduces</a:t>
            </a:r>
            <a:r>
              <a:rPr lang="de-DE" sz="2600" dirty="0"/>
              <a:t> </a:t>
            </a:r>
            <a:r>
              <a:rPr lang="de-DE" sz="2600" dirty="0" err="1"/>
              <a:t>overfitting</a:t>
            </a:r>
            <a:endParaRPr lang="de-DE" sz="2600" dirty="0"/>
          </a:p>
          <a:p>
            <a:r>
              <a:rPr lang="de-DE" sz="2600" dirty="0" err="1"/>
              <a:t>speeds</a:t>
            </a:r>
            <a:r>
              <a:rPr lang="de-DE" sz="2600" dirty="0"/>
              <a:t> </a:t>
            </a:r>
            <a:r>
              <a:rPr lang="de-DE" sz="2600" dirty="0" err="1"/>
              <a:t>up</a:t>
            </a:r>
            <a:r>
              <a:rPr lang="de-DE" sz="2600" dirty="0"/>
              <a:t> </a:t>
            </a:r>
            <a:r>
              <a:rPr lang="de-DE" sz="2600" dirty="0" err="1"/>
              <a:t>training</a:t>
            </a:r>
            <a:endParaRPr lang="de-DE" sz="2600" dirty="0"/>
          </a:p>
          <a:p>
            <a:r>
              <a:rPr lang="de-DE" sz="2600" dirty="0" err="1"/>
              <a:t>enhances</a:t>
            </a:r>
            <a:r>
              <a:rPr lang="de-DE" sz="2600" dirty="0"/>
              <a:t> </a:t>
            </a:r>
            <a:r>
              <a:rPr lang="de-DE" sz="2600" dirty="0" err="1"/>
              <a:t>interpretability</a:t>
            </a:r>
            <a:endParaRPr lang="de-DE" sz="26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38E8F3-9DF8-C3E8-2EFC-8D44C8F5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778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4CA1E-9A4E-A7F5-2EC8-34437B63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</a:t>
            </a:r>
            <a:r>
              <a:rPr lang="de-DE" dirty="0" err="1"/>
              <a:t>Selection</a:t>
            </a:r>
            <a:r>
              <a:rPr lang="de-DE" dirty="0"/>
              <a:t> Methods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715DD1-10BB-DF50-0B69-9A7EC601E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filter</a:t>
            </a:r>
            <a:r>
              <a:rPr lang="de-DE" sz="2600" dirty="0"/>
              <a:t> </a:t>
            </a:r>
            <a:r>
              <a:rPr lang="de-DE" sz="2600" dirty="0" err="1"/>
              <a:t>methods</a:t>
            </a:r>
            <a:r>
              <a:rPr lang="de-DE" sz="2600" dirty="0"/>
              <a:t>: </a:t>
            </a:r>
            <a:r>
              <a:rPr lang="de-DE" sz="2600" dirty="0" err="1"/>
              <a:t>evaluate</a:t>
            </a:r>
            <a:r>
              <a:rPr lang="de-DE" sz="2600" dirty="0"/>
              <a:t> </a:t>
            </a:r>
            <a:r>
              <a:rPr lang="de-DE" sz="2600" dirty="0" err="1"/>
              <a:t>features</a:t>
            </a:r>
            <a:r>
              <a:rPr lang="de-DE" sz="2600" dirty="0"/>
              <a:t> </a:t>
            </a:r>
            <a:r>
              <a:rPr lang="de-DE" sz="2600" dirty="0" err="1"/>
              <a:t>independently</a:t>
            </a:r>
            <a:r>
              <a:rPr lang="de-DE" sz="2600" dirty="0"/>
              <a:t> </a:t>
            </a:r>
            <a:r>
              <a:rPr lang="de-DE" sz="2600" dirty="0" err="1"/>
              <a:t>of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endParaRPr lang="de-DE" sz="2600" dirty="0"/>
          </a:p>
          <a:p>
            <a:r>
              <a:rPr lang="de-DE" sz="2600" dirty="0" err="1"/>
              <a:t>remove</a:t>
            </a:r>
            <a:r>
              <a:rPr lang="de-DE" sz="2600" dirty="0"/>
              <a:t> </a:t>
            </a:r>
            <a:r>
              <a:rPr lang="de-DE" sz="2600" dirty="0" err="1"/>
              <a:t>features</a:t>
            </a:r>
            <a:r>
              <a:rPr lang="de-DE" sz="2600" dirty="0"/>
              <a:t> </a:t>
            </a:r>
            <a:r>
              <a:rPr lang="de-DE" sz="2600" dirty="0" err="1"/>
              <a:t>highly</a:t>
            </a:r>
            <a:r>
              <a:rPr lang="de-DE" sz="2600" dirty="0"/>
              <a:t> </a:t>
            </a:r>
            <a:r>
              <a:rPr lang="de-DE" sz="2600" dirty="0" err="1"/>
              <a:t>correlated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</a:t>
            </a:r>
            <a:r>
              <a:rPr lang="de-DE" sz="2600" dirty="0" err="1"/>
              <a:t>each</a:t>
            </a:r>
            <a:r>
              <a:rPr lang="de-DE" sz="2600" dirty="0"/>
              <a:t> </a:t>
            </a:r>
            <a:r>
              <a:rPr lang="de-DE" sz="2600" dirty="0" err="1"/>
              <a:t>other</a:t>
            </a:r>
            <a:endParaRPr lang="de-DE" sz="2600" dirty="0"/>
          </a:p>
          <a:p>
            <a:r>
              <a:rPr lang="de-DE" sz="2600" dirty="0" err="1"/>
              <a:t>keep</a:t>
            </a:r>
            <a:r>
              <a:rPr lang="de-DE" sz="2600" dirty="0"/>
              <a:t> </a:t>
            </a:r>
            <a:r>
              <a:rPr lang="de-DE" sz="2600" dirty="0" err="1"/>
              <a:t>those</a:t>
            </a:r>
            <a:r>
              <a:rPr lang="de-DE" sz="2600" dirty="0"/>
              <a:t> </a:t>
            </a:r>
            <a:r>
              <a:rPr lang="de-DE" sz="2600" dirty="0" err="1"/>
              <a:t>strongly</a:t>
            </a:r>
            <a:r>
              <a:rPr lang="de-DE" sz="2600" dirty="0"/>
              <a:t> </a:t>
            </a:r>
            <a:r>
              <a:rPr lang="de-DE" sz="2600" dirty="0" err="1"/>
              <a:t>correlated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</a:t>
            </a:r>
            <a:r>
              <a:rPr lang="de-DE" sz="2600" dirty="0" err="1"/>
              <a:t>target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embedded</a:t>
            </a:r>
            <a:r>
              <a:rPr lang="de-DE" sz="2600" dirty="0"/>
              <a:t> </a:t>
            </a:r>
            <a:r>
              <a:rPr lang="de-DE" sz="2600" dirty="0" err="1"/>
              <a:t>methods</a:t>
            </a:r>
            <a:r>
              <a:rPr lang="de-DE" sz="2600" dirty="0"/>
              <a:t>: perform feature </a:t>
            </a:r>
            <a:r>
              <a:rPr lang="de-DE" sz="2600" dirty="0" err="1"/>
              <a:t>selection</a:t>
            </a:r>
            <a:r>
              <a:rPr lang="de-DE" sz="2600" dirty="0"/>
              <a:t> </a:t>
            </a:r>
            <a:r>
              <a:rPr lang="de-DE" sz="2600" dirty="0" err="1"/>
              <a:t>during</a:t>
            </a:r>
            <a:r>
              <a:rPr lang="de-DE" sz="2600" dirty="0"/>
              <a:t> </a:t>
            </a:r>
            <a:r>
              <a:rPr lang="de-DE" sz="2600" dirty="0" err="1"/>
              <a:t>model</a:t>
            </a:r>
            <a:r>
              <a:rPr lang="de-DE" sz="2600" dirty="0"/>
              <a:t> </a:t>
            </a:r>
            <a:r>
              <a:rPr lang="de-DE" sz="2600" dirty="0" err="1"/>
              <a:t>training</a:t>
            </a:r>
            <a:endParaRPr lang="de-DE" sz="2600" dirty="0"/>
          </a:p>
          <a:p>
            <a:r>
              <a:rPr lang="de-DE" sz="2600" dirty="0" err="1"/>
              <a:t>tree-based</a:t>
            </a:r>
            <a:r>
              <a:rPr lang="de-DE" sz="2600" dirty="0"/>
              <a:t> </a:t>
            </a:r>
            <a:r>
              <a:rPr lang="de-DE" sz="2600" dirty="0" err="1"/>
              <a:t>models</a:t>
            </a:r>
            <a:r>
              <a:rPr lang="de-DE" sz="2600" dirty="0"/>
              <a:t>: rank </a:t>
            </a:r>
            <a:r>
              <a:rPr lang="de-DE" sz="2600" dirty="0" err="1"/>
              <a:t>features</a:t>
            </a:r>
            <a:r>
              <a:rPr lang="de-DE" sz="2600" dirty="0"/>
              <a:t> </a:t>
            </a:r>
            <a:r>
              <a:rPr lang="de-DE" sz="2600" dirty="0" err="1"/>
              <a:t>by</a:t>
            </a:r>
            <a:r>
              <a:rPr lang="de-DE" sz="2600" dirty="0"/>
              <a:t> </a:t>
            </a:r>
            <a:r>
              <a:rPr lang="de-DE" sz="2600" dirty="0" err="1"/>
              <a:t>importance</a:t>
            </a:r>
            <a:endParaRPr lang="de-DE" sz="2600" dirty="0"/>
          </a:p>
          <a:p>
            <a:r>
              <a:rPr lang="de-DE" sz="2600" dirty="0"/>
              <a:t>Lasso </a:t>
            </a:r>
            <a:r>
              <a:rPr lang="de-DE" sz="2600" dirty="0" err="1"/>
              <a:t>regression</a:t>
            </a:r>
            <a:endParaRPr lang="de-DE" sz="2600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48513E-66B1-B2AE-383D-1CCEF317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157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79BB16-D4B5-FD1B-04CF-1F4E67E7AC78}"/>
              </a:ext>
            </a:extLst>
          </p:cNvPr>
          <p:cNvSpPr/>
          <p:nvPr/>
        </p:nvSpPr>
        <p:spPr>
          <a:xfrm>
            <a:off x="4856650" y="3006913"/>
            <a:ext cx="1644634" cy="10124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ACA474-2F52-288F-0E93-F084204E9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0340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b="1" dirty="0"/>
                  <a:t>L</a:t>
                </a:r>
                <a:r>
                  <a:rPr lang="en-GB" sz="2400" dirty="0"/>
                  <a:t>east </a:t>
                </a:r>
                <a:r>
                  <a:rPr lang="en-GB" sz="2400" b="1" dirty="0"/>
                  <a:t>A</a:t>
                </a:r>
                <a:r>
                  <a:rPr lang="en-GB" sz="2400" dirty="0"/>
                  <a:t>bsolute </a:t>
                </a:r>
                <a:r>
                  <a:rPr lang="en-GB" sz="2400" b="1" dirty="0"/>
                  <a:t>S</a:t>
                </a:r>
                <a:r>
                  <a:rPr lang="en-GB" sz="2400" dirty="0"/>
                  <a:t>hrinkage and </a:t>
                </a:r>
                <a:r>
                  <a:rPr lang="en-GB" sz="2400" b="1" dirty="0"/>
                  <a:t>S</a:t>
                </a:r>
                <a:r>
                  <a:rPr lang="en-GB" sz="2400" dirty="0"/>
                  <a:t>election </a:t>
                </a:r>
                <a:r>
                  <a:rPr lang="en-GB" sz="2400" b="1" dirty="0"/>
                  <a:t>O</a:t>
                </a:r>
                <a:r>
                  <a:rPr lang="en-GB" sz="2400" dirty="0"/>
                  <a:t>perator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en-DE" sz="2400"/>
                  <a:t>adding </a:t>
                </a:r>
                <a:r>
                  <a:rPr lang="en-DE" sz="2400" b="1" dirty="0"/>
                  <a:t>penalty term</a:t>
                </a:r>
                <a:r>
                  <a:rPr lang="en-DE" sz="2400" dirty="0"/>
                  <a:t> on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DE" sz="2400" dirty="0"/>
                  <a:t> norm to cost function</a:t>
                </a:r>
                <a:endParaRPr lang="en-GB" sz="2400" dirty="0"/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corresponds to imposing constraint on parameters to lie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GB" sz="2400" dirty="0"/>
                  <a:t> region (size controlled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24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ACA474-2F52-288F-0E93-F084204E9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03407" cy="4351338"/>
              </a:xfrm>
              <a:blipFill>
                <a:blip r:embed="rId2"/>
                <a:stretch>
                  <a:fillRect l="-1270" t="-3198" r="-6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8B9627F-E914-4FE9-555E-66ADDC86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Lasso Regression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946F4-E7DF-4425-8081-EFA09CA0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36</a:t>
            </a:fld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57076F-8C77-4EE8-9D7F-34F4B902A274}"/>
              </a:ext>
            </a:extLst>
          </p:cNvPr>
          <p:cNvSpPr txBox="1"/>
          <p:nvPr/>
        </p:nvSpPr>
        <p:spPr>
          <a:xfrm>
            <a:off x="11353800" y="5697199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52AB18-1497-DF92-ABBF-3CD789878F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1607" y="621006"/>
            <a:ext cx="3287438" cy="27480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7B273-A2A6-39D8-5F68-BAA2696A6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1607" y="3369019"/>
            <a:ext cx="3287438" cy="274801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567EC4-2F2F-115C-C484-98057EF81BED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7010345" y="4620126"/>
            <a:ext cx="2865175" cy="843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270C574E-3BAF-8F16-CFC9-E3D102AE2002}"/>
              </a:ext>
            </a:extLst>
          </p:cNvPr>
          <p:cNvSpPr txBox="1"/>
          <p:nvPr/>
        </p:nvSpPr>
        <p:spPr>
          <a:xfrm>
            <a:off x="4839903" y="5463656"/>
            <a:ext cx="43408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400" dirty="0" err="1"/>
              <a:t>drives</a:t>
            </a:r>
            <a:r>
              <a:rPr lang="de-DE" sz="2400" dirty="0"/>
              <a:t> </a:t>
            </a:r>
            <a:r>
              <a:rPr lang="de-DE" sz="2400" dirty="0" err="1"/>
              <a:t>some</a:t>
            </a:r>
            <a:r>
              <a:rPr lang="de-DE" sz="2400" dirty="0"/>
              <a:t> </a:t>
            </a:r>
            <a:r>
              <a:rPr lang="de-DE" sz="2400" dirty="0" err="1"/>
              <a:t>coefficients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zero</a:t>
            </a:r>
            <a:endParaRPr lang="de-DE" sz="2400" dirty="0"/>
          </a:p>
          <a:p>
            <a:pPr>
              <a:buNone/>
            </a:pPr>
            <a:r>
              <a:rPr lang="de-DE" sz="2400" dirty="0">
                <a:sym typeface="Wingdings" pitchFamily="2" charset="2"/>
              </a:rPr>
              <a:t></a:t>
            </a:r>
            <a:r>
              <a:rPr lang="de-DE" sz="2400" dirty="0"/>
              <a:t> </a:t>
            </a:r>
            <a:r>
              <a:rPr lang="de-DE" sz="2400" dirty="0" err="1"/>
              <a:t>automatic</a:t>
            </a:r>
            <a:r>
              <a:rPr lang="de-DE" sz="2400" dirty="0"/>
              <a:t> feature </a:t>
            </a:r>
            <a:r>
              <a:rPr lang="de-DE" sz="2400" dirty="0" err="1"/>
              <a:t>selection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705881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BD6BF8-3D11-D88B-C84A-AE77A321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Related</a:t>
            </a:r>
            <a:r>
              <a:rPr lang="de-DE" dirty="0"/>
              <a:t> Concept: </a:t>
            </a:r>
            <a:r>
              <a:rPr lang="de-DE" dirty="0" err="1"/>
              <a:t>Dimensionality</a:t>
            </a:r>
            <a:r>
              <a:rPr lang="de-DE" dirty="0"/>
              <a:t> </a:t>
            </a:r>
            <a:r>
              <a:rPr lang="de-DE" dirty="0" err="1"/>
              <a:t>Reduction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BF8B8B-A809-EE1C-1E3D-A32FC5088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high </a:t>
            </a:r>
            <a:r>
              <a:rPr lang="de-DE" dirty="0" err="1"/>
              <a:t>dimensionality</a:t>
            </a:r>
            <a:r>
              <a:rPr lang="de-DE" dirty="0"/>
              <a:t>: large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selecting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transform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fewer</a:t>
            </a:r>
            <a:r>
              <a:rPr lang="de-DE" dirty="0"/>
              <a:t> </a:t>
            </a:r>
            <a:r>
              <a:rPr lang="de-DE" dirty="0" err="1"/>
              <a:t>dimensions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 Principal </a:t>
            </a:r>
            <a:r>
              <a:rPr lang="de-DE" dirty="0" err="1"/>
              <a:t>Component</a:t>
            </a:r>
            <a:r>
              <a:rPr lang="de-DE" dirty="0"/>
              <a:t> Analysis (PCA)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r</a:t>
            </a:r>
            <a:r>
              <a:rPr lang="de-DE" dirty="0" err="1"/>
              <a:t>educes</a:t>
            </a:r>
            <a:r>
              <a:rPr lang="de-DE" dirty="0"/>
              <a:t> </a:t>
            </a:r>
            <a:r>
              <a:rPr lang="de-DE" dirty="0" err="1"/>
              <a:t>dimensionality</a:t>
            </a:r>
            <a:r>
              <a:rPr lang="de-DE" dirty="0"/>
              <a:t> but loses </a:t>
            </a:r>
            <a:r>
              <a:rPr lang="de-DE" dirty="0" err="1"/>
              <a:t>interpretability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5B58E1-0E39-CD68-78F4-A3CF38272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594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9410A-8F66-51F8-EFD5-87E80DBE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Leakage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B1A170-E57D-0D81-68C1-2FD75799F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definition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not </a:t>
            </a:r>
            <a:r>
              <a:rPr lang="de-DE" dirty="0" err="1"/>
              <a:t>available</a:t>
            </a:r>
            <a:r>
              <a:rPr lang="de-DE" dirty="0"/>
              <a:t> at </a:t>
            </a:r>
            <a:r>
              <a:rPr lang="de-DE" dirty="0" err="1"/>
              <a:t>prediction</a:t>
            </a:r>
            <a:r>
              <a:rPr lang="de-DE" dirty="0"/>
              <a:t> time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l</a:t>
            </a:r>
            <a:r>
              <a:rPr lang="de-DE" dirty="0" err="1"/>
              <a:t>eads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unrealistically</a:t>
            </a:r>
            <a:r>
              <a:rPr lang="de-DE" dirty="0"/>
              <a:t> high </a:t>
            </a:r>
            <a:r>
              <a:rPr lang="de-DE" dirty="0" err="1"/>
              <a:t>performance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4A8E23-D708-BD7E-5680-18E561CD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400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CB0FA-226A-8049-10A7-69BFA233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Train/Test Leakage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E6AC42-D220-1774-8886-D56AB3987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mistake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compute</a:t>
            </a:r>
            <a:r>
              <a:rPr lang="de-DE" dirty="0"/>
              <a:t> </a:t>
            </a:r>
            <a:r>
              <a:rPr lang="de-DE" dirty="0" err="1"/>
              <a:t>statistics</a:t>
            </a:r>
            <a:r>
              <a:rPr lang="de-DE" dirty="0"/>
              <a:t> (</a:t>
            </a:r>
            <a:r>
              <a:rPr lang="de-DE" dirty="0" err="1"/>
              <a:t>mean</a:t>
            </a:r>
            <a:r>
              <a:rPr lang="de-DE" dirty="0"/>
              <a:t>, </a:t>
            </a:r>
            <a:r>
              <a:rPr lang="de-DE" dirty="0" err="1"/>
              <a:t>std</a:t>
            </a:r>
            <a:r>
              <a:rPr lang="de-DE" dirty="0"/>
              <a:t>) on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dataset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correct</a:t>
            </a:r>
            <a:r>
              <a:rPr lang="de-DE" dirty="0"/>
              <a:t> </a:t>
            </a:r>
            <a:r>
              <a:rPr lang="de-DE" dirty="0" err="1"/>
              <a:t>approach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/>
              <a:t>fit </a:t>
            </a:r>
            <a:r>
              <a:rPr lang="de-DE" dirty="0" err="1"/>
              <a:t>preprocessing</a:t>
            </a:r>
            <a:r>
              <a:rPr lang="de-DE" dirty="0"/>
              <a:t> on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,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5D5346-E3E0-3915-E58A-662256AD5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524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AC676-1DB3-836E-5A4E-660F1CCE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Feature Drift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930AFC-ABA6-6C4E-4B37-129F8BB09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feature </a:t>
            </a:r>
            <a:r>
              <a:rPr lang="de-DE" dirty="0" err="1"/>
              <a:t>distributions</a:t>
            </a:r>
            <a:r>
              <a:rPr lang="de-DE" dirty="0"/>
              <a:t>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</a:t>
            </a:r>
          </a:p>
          <a:p>
            <a:pPr marL="0" indent="0">
              <a:buNone/>
            </a:pPr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shifts</a:t>
            </a:r>
            <a:endParaRPr lang="de-DE" dirty="0"/>
          </a:p>
          <a:p>
            <a:r>
              <a:rPr lang="de-DE" dirty="0" err="1"/>
              <a:t>market</a:t>
            </a:r>
            <a:r>
              <a:rPr lang="de-DE" dirty="0"/>
              <a:t> </a:t>
            </a:r>
            <a:r>
              <a:rPr lang="de-DE" dirty="0" err="1"/>
              <a:t>conditions</a:t>
            </a:r>
            <a:r>
              <a:rPr lang="de-DE" dirty="0"/>
              <a:t> </a:t>
            </a:r>
            <a:r>
              <a:rPr lang="de-DE" dirty="0" err="1"/>
              <a:t>change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m</a:t>
            </a:r>
            <a:r>
              <a:rPr lang="de-DE" dirty="0" err="1"/>
              <a:t>odel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degrades</a:t>
            </a:r>
            <a:r>
              <a:rPr lang="de-DE" dirty="0"/>
              <a:t> in </a:t>
            </a:r>
            <a:r>
              <a:rPr lang="de-DE" dirty="0" err="1"/>
              <a:t>production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critical</a:t>
            </a:r>
            <a:r>
              <a:rPr lang="de-DE" dirty="0"/>
              <a:t>: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drift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89FA9B-2FB3-111C-9546-7136ECBB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5217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8AF702-458B-F8E7-6B56-9D9322B6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Imbalanced</a:t>
            </a:r>
            <a:r>
              <a:rPr lang="de-DE" dirty="0"/>
              <a:t>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611AE9-8B29-023E-BDFF-CF0163BC1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imbalanced</a:t>
            </a:r>
            <a:r>
              <a:rPr lang="de-DE" dirty="0"/>
              <a:t>: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 </a:t>
            </a:r>
            <a:r>
              <a:rPr lang="de-DE" dirty="0" err="1"/>
              <a:t>outnumbers</a:t>
            </a:r>
            <a:r>
              <a:rPr lang="de-DE" dirty="0"/>
              <a:t> </a:t>
            </a:r>
            <a:r>
              <a:rPr lang="de-DE" dirty="0" err="1"/>
              <a:t>others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fraud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:</a:t>
            </a:r>
          </a:p>
          <a:p>
            <a:r>
              <a:rPr lang="de-DE" dirty="0"/>
              <a:t>99% non-</a:t>
            </a:r>
            <a:r>
              <a:rPr lang="de-DE" dirty="0" err="1"/>
              <a:t>fraud</a:t>
            </a:r>
            <a:endParaRPr lang="de-DE" dirty="0"/>
          </a:p>
          <a:p>
            <a:r>
              <a:rPr lang="de-DE" dirty="0"/>
              <a:t>1% </a:t>
            </a:r>
            <a:r>
              <a:rPr lang="de-DE" dirty="0" err="1"/>
              <a:t>fraud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tend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favor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majority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and </a:t>
            </a:r>
            <a:r>
              <a:rPr lang="de-DE" dirty="0" err="1"/>
              <a:t>ignore</a:t>
            </a:r>
            <a:r>
              <a:rPr lang="de-DE" dirty="0"/>
              <a:t> </a:t>
            </a:r>
            <a:r>
              <a:rPr lang="de-DE" dirty="0" err="1"/>
              <a:t>minority</a:t>
            </a:r>
            <a:r>
              <a:rPr lang="de-DE" dirty="0"/>
              <a:t> </a:t>
            </a:r>
            <a:r>
              <a:rPr lang="de-DE" dirty="0" err="1"/>
              <a:t>class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l</a:t>
            </a:r>
            <a:r>
              <a:rPr lang="de-DE" dirty="0" err="1"/>
              <a:t>eads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misleading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B22062-3817-E30C-3E96-D2F86240E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41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30401B7-876F-0233-4668-B3A8121C2B33}"/>
              </a:ext>
            </a:extLst>
          </p:cNvPr>
          <p:cNvSpPr txBox="1"/>
          <p:nvPr/>
        </p:nvSpPr>
        <p:spPr>
          <a:xfrm>
            <a:off x="6096000" y="3413928"/>
            <a:ext cx="455208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800" dirty="0">
                <a:sym typeface="Wingdings" pitchFamily="2" charset="2"/>
              </a:rPr>
              <a:t> </a:t>
            </a:r>
            <a:r>
              <a:rPr lang="de-DE" sz="2800" dirty="0" err="1"/>
              <a:t>accuracy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misleading</a:t>
            </a:r>
            <a:endParaRPr lang="de-DE" sz="2800" dirty="0"/>
          </a:p>
          <a:p>
            <a:r>
              <a:rPr lang="de-DE" sz="2800" dirty="0"/>
              <a:t>(</a:t>
            </a:r>
            <a:r>
              <a:rPr lang="de-DE" sz="2800" dirty="0" err="1"/>
              <a:t>use</a:t>
            </a:r>
            <a:r>
              <a:rPr lang="de-DE" sz="2800" dirty="0"/>
              <a:t> </a:t>
            </a:r>
            <a:r>
              <a:rPr lang="de-DE" sz="2800" dirty="0" err="1"/>
              <a:t>precision</a:t>
            </a:r>
            <a:r>
              <a:rPr lang="de-DE" sz="2800" dirty="0"/>
              <a:t>, </a:t>
            </a:r>
            <a:r>
              <a:rPr lang="de-DE" sz="2800" dirty="0" err="1"/>
              <a:t>recall</a:t>
            </a:r>
            <a:r>
              <a:rPr lang="de-DE" sz="2800" dirty="0"/>
              <a:t>, </a:t>
            </a:r>
            <a:r>
              <a:rPr lang="de-DE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F1</a:t>
            </a:r>
            <a:r>
              <a:rPr lang="de-DE" sz="2800" dirty="0"/>
              <a:t>, …)</a:t>
            </a:r>
          </a:p>
        </p:txBody>
      </p:sp>
    </p:spTree>
    <p:extLst>
      <p:ext uri="{BB962C8B-B14F-4D97-AF65-F5344CB8AC3E}">
        <p14:creationId xmlns:p14="http://schemas.microsoft.com/office/powerpoint/2010/main" val="380068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98616A-E687-8F1B-D91D-4A60C4A2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Options </a:t>
            </a:r>
            <a:r>
              <a:rPr lang="de-DE" dirty="0" err="1"/>
              <a:t>for</a:t>
            </a:r>
            <a:r>
              <a:rPr lang="de-DE" dirty="0"/>
              <a:t> Handling </a:t>
            </a:r>
            <a:r>
              <a:rPr lang="de-DE" dirty="0" err="1"/>
              <a:t>Imbalanced</a:t>
            </a:r>
            <a:r>
              <a:rPr lang="de-DE" dirty="0"/>
              <a:t>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8F1056-78AC-2EF6-3C2C-453E10E95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resampling</a:t>
            </a:r>
            <a:endParaRPr lang="de-DE" dirty="0"/>
          </a:p>
          <a:p>
            <a:r>
              <a:rPr lang="de-DE" dirty="0" err="1"/>
              <a:t>oversampling</a:t>
            </a:r>
            <a:r>
              <a:rPr lang="de-DE" dirty="0"/>
              <a:t>: </a:t>
            </a:r>
            <a:r>
              <a:rPr lang="de-DE" dirty="0" err="1"/>
              <a:t>duplicate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minority</a:t>
            </a:r>
            <a:r>
              <a:rPr lang="de-DE" dirty="0"/>
              <a:t> </a:t>
            </a:r>
            <a:r>
              <a:rPr lang="de-DE" dirty="0" err="1"/>
              <a:t>samples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keeps</a:t>
            </a:r>
            <a:r>
              <a:rPr lang="de-DE" dirty="0">
                <a:sym typeface="Wingdings" pitchFamily="2" charset="2"/>
              </a:rPr>
              <a:t> all </a:t>
            </a:r>
            <a:r>
              <a:rPr lang="de-DE" dirty="0" err="1">
                <a:sym typeface="Wingdings" pitchFamily="2" charset="2"/>
              </a:rPr>
              <a:t>data</a:t>
            </a:r>
            <a:r>
              <a:rPr lang="de-DE" dirty="0">
                <a:sym typeface="Wingdings" pitchFamily="2" charset="2"/>
              </a:rPr>
              <a:t>, but </a:t>
            </a:r>
            <a:r>
              <a:rPr lang="de-DE" dirty="0" err="1">
                <a:sym typeface="Wingdings" pitchFamily="2" charset="2"/>
              </a:rPr>
              <a:t>risk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overfitting</a:t>
            </a:r>
            <a:endParaRPr lang="de-DE" dirty="0"/>
          </a:p>
          <a:p>
            <a:r>
              <a:rPr lang="de-DE" dirty="0" err="1"/>
              <a:t>undersampling</a:t>
            </a:r>
            <a:r>
              <a:rPr lang="de-DE" dirty="0"/>
              <a:t>: </a:t>
            </a:r>
            <a:r>
              <a:rPr lang="de-DE" dirty="0" err="1"/>
              <a:t>remove</a:t>
            </a:r>
            <a:r>
              <a:rPr lang="de-DE" dirty="0"/>
              <a:t> </a:t>
            </a:r>
            <a:r>
              <a:rPr lang="de-DE" dirty="0" err="1"/>
              <a:t>majority</a:t>
            </a:r>
            <a:r>
              <a:rPr lang="de-DE" dirty="0"/>
              <a:t> </a:t>
            </a:r>
            <a:r>
              <a:rPr lang="de-DE" dirty="0" err="1"/>
              <a:t>samples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s</a:t>
            </a:r>
            <a:r>
              <a:rPr lang="de-DE" dirty="0"/>
              <a:t>impler </a:t>
            </a:r>
            <a:r>
              <a:rPr lang="de-DE" dirty="0" err="1"/>
              <a:t>dataset</a:t>
            </a:r>
            <a:r>
              <a:rPr lang="de-DE" dirty="0"/>
              <a:t>, but </a:t>
            </a:r>
            <a:r>
              <a:rPr lang="de-DE" dirty="0" err="1"/>
              <a:t>loss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information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weights</a:t>
            </a:r>
            <a:r>
              <a:rPr lang="de-DE" dirty="0"/>
              <a:t>: </a:t>
            </a:r>
            <a:r>
              <a:rPr lang="de-DE" dirty="0" err="1"/>
              <a:t>assign</a:t>
            </a:r>
            <a:r>
              <a:rPr lang="de-DE" dirty="0"/>
              <a:t>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penalty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minority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(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support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, e.g., in </a:t>
            </a:r>
            <a:r>
              <a:rPr lang="de-DE" dirty="0" err="1"/>
              <a:t>scikit-learn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adjust</a:t>
            </a:r>
            <a:r>
              <a:rPr lang="de-DE" dirty="0"/>
              <a:t> </a:t>
            </a:r>
            <a:r>
              <a:rPr lang="de-DE" dirty="0" err="1"/>
              <a:t>decision</a:t>
            </a:r>
            <a:r>
              <a:rPr lang="de-DE" dirty="0"/>
              <a:t> </a:t>
            </a:r>
            <a:r>
              <a:rPr lang="de-DE" dirty="0" err="1"/>
              <a:t>threshold</a:t>
            </a:r>
            <a:r>
              <a:rPr lang="de-DE" dirty="0"/>
              <a:t> (e.g., </a:t>
            </a:r>
            <a:r>
              <a:rPr lang="de-DE" dirty="0" err="1"/>
              <a:t>lower</a:t>
            </a:r>
            <a:r>
              <a:rPr lang="de-DE" dirty="0"/>
              <a:t> </a:t>
            </a:r>
            <a:r>
              <a:rPr lang="de-DE" dirty="0" err="1"/>
              <a:t>threshold</a:t>
            </a:r>
            <a:r>
              <a:rPr lang="de-DE" dirty="0"/>
              <a:t> → </a:t>
            </a:r>
            <a:r>
              <a:rPr lang="de-DE" dirty="0" err="1"/>
              <a:t>higher</a:t>
            </a:r>
            <a:r>
              <a:rPr lang="de-DE" dirty="0"/>
              <a:t> </a:t>
            </a:r>
            <a:r>
              <a:rPr lang="de-DE" dirty="0" err="1"/>
              <a:t>recall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separate </a:t>
            </a:r>
            <a:r>
              <a:rPr lang="de-DE" dirty="0" err="1"/>
              <a:t>minority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highlight rare </a:t>
            </a:r>
            <a:r>
              <a:rPr lang="de-DE" dirty="0" err="1"/>
              <a:t>patterns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A9DF31-4F3E-83A5-704A-10370592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1334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8C9F8-665B-108D-63FC-7E60C9A5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Pipelines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C0DA1F-952B-3F28-5D09-9E9B007C4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pipelines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:</a:t>
            </a:r>
          </a:p>
          <a:p>
            <a:r>
              <a:rPr lang="de-DE" dirty="0" err="1"/>
              <a:t>ensure</a:t>
            </a:r>
            <a:r>
              <a:rPr lang="de-DE" dirty="0"/>
              <a:t> </a:t>
            </a:r>
            <a:r>
              <a:rPr lang="de-DE" dirty="0" err="1"/>
              <a:t>reproducibility</a:t>
            </a:r>
            <a:endParaRPr lang="de-DE" dirty="0"/>
          </a:p>
          <a:p>
            <a:r>
              <a:rPr lang="de-DE" dirty="0" err="1"/>
              <a:t>avoid</a:t>
            </a:r>
            <a:r>
              <a:rPr lang="de-DE" dirty="0"/>
              <a:t> </a:t>
            </a:r>
            <a:r>
              <a:rPr lang="de-DE" dirty="0" err="1"/>
              <a:t>leakage</a:t>
            </a:r>
            <a:endParaRPr lang="de-DE" dirty="0"/>
          </a:p>
          <a:p>
            <a:r>
              <a:rPr lang="de-DE" dirty="0" err="1"/>
              <a:t>simplify</a:t>
            </a:r>
            <a:r>
              <a:rPr lang="de-DE" dirty="0"/>
              <a:t> </a:t>
            </a:r>
            <a:r>
              <a:rPr lang="de-DE" dirty="0" err="1"/>
              <a:t>workflows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a</a:t>
            </a:r>
            <a:r>
              <a:rPr lang="de-DE" dirty="0" err="1"/>
              <a:t>utomate</a:t>
            </a:r>
            <a:r>
              <a:rPr lang="de-DE" dirty="0"/>
              <a:t> </a:t>
            </a:r>
            <a:r>
              <a:rPr lang="de-DE" dirty="0" err="1"/>
              <a:t>preprocessing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: </a:t>
            </a:r>
            <a:r>
              <a:rPr lang="de-DE" dirty="0" err="1"/>
              <a:t>scikit-learn</a:t>
            </a:r>
            <a:r>
              <a:rPr lang="de-DE" dirty="0"/>
              <a:t> </a:t>
            </a:r>
            <a:r>
              <a:rPr lang="de-DE" dirty="0" err="1"/>
              <a:t>pipelines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377D31-5B3D-D5C2-4F6E-39B750A5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35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2211</Words>
  <Application>Microsoft Macintosh PowerPoint</Application>
  <PresentationFormat>Breitbild</PresentationFormat>
  <Paragraphs>457</Paragraphs>
  <Slides>43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Wingdings</vt:lpstr>
      <vt:lpstr>Office Theme</vt:lpstr>
      <vt:lpstr>Feature Engineering</vt:lpstr>
      <vt:lpstr>Feature Engineering</vt:lpstr>
      <vt:lpstr>Why Feature Engineering Matters</vt:lpstr>
      <vt:lpstr>Demand Forecasting as Example for Feature Engineering</vt:lpstr>
      <vt:lpstr>Features &amp; Model Choice</vt:lpstr>
      <vt:lpstr>Model Pipeline</vt:lpstr>
      <vt:lpstr>Before: Preprocessing Pipeline</vt:lpstr>
      <vt:lpstr>Handling Missing Values</vt:lpstr>
      <vt:lpstr>Imputation Techniques</vt:lpstr>
      <vt:lpstr>Noise &amp; Outliers</vt:lpstr>
      <vt:lpstr>Main Data Types</vt:lpstr>
      <vt:lpstr>Numerical Data</vt:lpstr>
      <vt:lpstr>Feature Scaling</vt:lpstr>
      <vt:lpstr>Normalization &amp; Standardization</vt:lpstr>
      <vt:lpstr>Scaling vs. Transformation</vt:lpstr>
      <vt:lpstr>Feature Transformation</vt:lpstr>
      <vt:lpstr>Log Transformation</vt:lpstr>
      <vt:lpstr>Binning (Discretization)</vt:lpstr>
      <vt:lpstr>Polynomial and Interaction Features</vt:lpstr>
      <vt:lpstr>Feature Creation</vt:lpstr>
      <vt:lpstr>Aggregation Features</vt:lpstr>
      <vt:lpstr>More Examples</vt:lpstr>
      <vt:lpstr>Categorical Data</vt:lpstr>
      <vt:lpstr>Encoding</vt:lpstr>
      <vt:lpstr>Label &amp; Ordinal Encoding</vt:lpstr>
      <vt:lpstr>One-Hot Encoding</vt:lpstr>
      <vt:lpstr>Target &amp; Leave-One-Out Encoding</vt:lpstr>
      <vt:lpstr>Frequency/Count Encoding</vt:lpstr>
      <vt:lpstr>Text Features</vt:lpstr>
      <vt:lpstr>Embeddings</vt:lpstr>
      <vt:lpstr>Word Embeddings as Part of Language Model</vt:lpstr>
      <vt:lpstr>Tokenization &amp; Embeddings</vt:lpstr>
      <vt:lpstr>Other Complex Data Types</vt:lpstr>
      <vt:lpstr>Feature Selection</vt:lpstr>
      <vt:lpstr>Feature Selection Methods</vt:lpstr>
      <vt:lpstr>Lasso Regression</vt:lpstr>
      <vt:lpstr>Related Concept: Dimensionality Reduction</vt:lpstr>
      <vt:lpstr>Data Leakage</vt:lpstr>
      <vt:lpstr>Train/Test Leakage</vt:lpstr>
      <vt:lpstr>Feature Drift</vt:lpstr>
      <vt:lpstr>Imbalanced Data</vt:lpstr>
      <vt:lpstr>Options for Handling Imbalanced Data</vt:lpstr>
      <vt:lpstr>Pipelines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165</cp:revision>
  <dcterms:created xsi:type="dcterms:W3CDTF">2025-01-08T09:27:30Z</dcterms:created>
  <dcterms:modified xsi:type="dcterms:W3CDTF">2026-05-03T18:29:55Z</dcterms:modified>
</cp:coreProperties>
</file>