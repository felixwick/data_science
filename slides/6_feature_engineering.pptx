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682" r:id="rId10"/>
    <p:sldId id="272" r:id="rId11"/>
    <p:sldId id="273" r:id="rId12"/>
    <p:sldId id="274" r:id="rId13"/>
    <p:sldId id="683" r:id="rId14"/>
    <p:sldId id="275" r:id="rId15"/>
    <p:sldId id="276" r:id="rId16"/>
    <p:sldId id="277" r:id="rId17"/>
    <p:sldId id="278" r:id="rId18"/>
    <p:sldId id="636" r:id="rId19"/>
    <p:sldId id="285" r:id="rId20"/>
    <p:sldId id="280" r:id="rId21"/>
    <p:sldId id="281" r:id="rId22"/>
    <p:sldId id="282" r:id="rId23"/>
    <p:sldId id="283" r:id="rId24"/>
    <p:sldId id="669" r:id="rId25"/>
    <p:sldId id="28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arxiv.org/abs/1301.3781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://jalammar.github.io/illustrated-word2vec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udlbook.github.io/udlbook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" TargetMode="External"/><Relationship Id="rId7" Type="http://schemas.openxmlformats.org/officeDocument/2006/relationships/image" Target="../media/image10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Feature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transformations</a:t>
            </a:r>
            <a:r>
              <a:rPr lang="de-DE" dirty="0"/>
              <a:t>, </a:t>
            </a:r>
            <a:r>
              <a:rPr lang="de-DE" dirty="0" err="1"/>
              <a:t>scaling</a:t>
            </a:r>
            <a:endParaRPr lang="de-DE" dirty="0"/>
          </a:p>
          <a:p>
            <a:r>
              <a:rPr lang="de-DE" dirty="0" err="1"/>
              <a:t>categorical</a:t>
            </a:r>
            <a:r>
              <a:rPr lang="de-DE" dirty="0"/>
              <a:t> (nominal, ordinal)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encoding</a:t>
            </a:r>
            <a:endParaRPr lang="de-DE" dirty="0"/>
          </a:p>
          <a:p>
            <a:r>
              <a:rPr lang="de-DE" dirty="0"/>
              <a:t>PCA</a:t>
            </a:r>
          </a:p>
          <a:p>
            <a:r>
              <a:rPr lang="de-DE" dirty="0"/>
              <a:t>LASSO</a:t>
            </a:r>
          </a:p>
          <a:p>
            <a:r>
              <a:rPr lang="de-DE" dirty="0"/>
              <a:t>ARD</a:t>
            </a:r>
          </a:p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AF520E-D347-5174-A597-846D8750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Feature Engineering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FB7F72-B5A7-08FB-698C-916D7D77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2D1ED3-6740-ED39-D16C-062D2EF2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95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405FC-52F4-2F5F-315A-9FA532000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93269-41D5-8612-4320-F99D5CD7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75B19-DA1F-ED6E-AC1A-8B935033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78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4784E-C89E-599D-6CA5-8A8472E9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Transformations</a:t>
            </a:r>
            <a:r>
              <a:rPr lang="de-DE" dirty="0"/>
              <a:t> (log, power, Box-Cox)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9A72DC-1DD9-B8AF-7853-20EE43828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277F55-8E21-5C74-2446-B039AB2EF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339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CA889-7ABE-2F23-9392-B7CDD4D2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Normalization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DAEA28-7DDD-166A-19F0-6215D90D9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6151DA-671E-E498-1F72-039FE6A9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517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5AB67-F77C-1D58-03A5-AEF89F081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Categorical</a:t>
            </a:r>
            <a:r>
              <a:rPr lang="de-DE" dirty="0"/>
              <a:t> Features: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993410-D8E0-5839-5F99-8816796C6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52818F-E158-709B-1393-500769279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842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6BE7-ED4C-5E2B-564B-33799AF07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Categorical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CC10-8545-2083-F633-36ECF823D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12459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tabular data usually heterogenous, often with sparse c</a:t>
            </a:r>
            <a:r>
              <a:rPr lang="en-DE" sz="2600" dirty="0"/>
              <a:t>ategorical variables (like color of an object)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need for an encoding for categorical variables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different possibilities:</a:t>
            </a:r>
            <a:endParaRPr lang="en-DE" sz="2600" dirty="0"/>
          </a:p>
          <a:p>
            <a:r>
              <a:rPr lang="en-GB" sz="2600" dirty="0"/>
              <a:t>o</a:t>
            </a:r>
            <a:r>
              <a:rPr lang="en-DE" sz="2600" dirty="0"/>
              <a:t>rdinal encoding</a:t>
            </a:r>
          </a:p>
          <a:p>
            <a:r>
              <a:rPr lang="en-DE" sz="2600" dirty="0"/>
              <a:t>leave-one-out encoding (use mean of target for given category excluding current row)</a:t>
            </a:r>
          </a:p>
          <a:p>
            <a:r>
              <a:rPr lang="en-DE" sz="2600" dirty="0"/>
              <a:t>one-hot encoding (suffer</a:t>
            </a:r>
            <a:r>
              <a:rPr lang="en-GB" sz="2600" dirty="0"/>
              <a:t>s</a:t>
            </a:r>
            <a:r>
              <a:rPr lang="en-DE" sz="2600" dirty="0"/>
              <a:t> from curse of dimensionality)</a:t>
            </a:r>
          </a:p>
          <a:p>
            <a:r>
              <a:rPr lang="en-DE" sz="2600" dirty="0"/>
              <a:t>embeddings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ECF4-88CC-6FFA-B376-C462D897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D5CA4-59B9-8AEA-7DD8-3C2E7B69893D}"/>
              </a:ext>
            </a:extLst>
          </p:cNvPr>
          <p:cNvSpPr txBox="1"/>
          <p:nvPr/>
        </p:nvSpPr>
        <p:spPr>
          <a:xfrm>
            <a:off x="8448767" y="4000749"/>
            <a:ext cx="30668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err="1">
                <a:latin typeface="Courier" pitchFamily="2" charset="0"/>
              </a:rPr>
              <a:t>X.sort_values</a:t>
            </a:r>
            <a:r>
              <a:rPr lang="en-GB" sz="1200" dirty="0">
                <a:latin typeface="Courier" pitchFamily="2" charset="0"/>
              </a:rPr>
              <a:t>(['date’])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groupby</a:t>
            </a:r>
            <a:r>
              <a:rPr lang="en-GB" sz="1200" dirty="0">
                <a:latin typeface="Courier" pitchFamily="2" charset="0"/>
              </a:rPr>
              <a:t>(['</a:t>
            </a:r>
            <a:r>
              <a:rPr lang="en-GB" sz="1200" dirty="0" err="1">
                <a:latin typeface="Courier" pitchFamily="2" charset="0"/>
              </a:rPr>
              <a:t>store','item</a:t>
            </a:r>
            <a:r>
              <a:rPr lang="en-GB" sz="1200" dirty="0">
                <a:latin typeface="Courier" pitchFamily="2" charset="0"/>
              </a:rPr>
              <a:t>'])['y’]</a:t>
            </a:r>
          </a:p>
          <a:p>
            <a:r>
              <a:rPr lang="en-GB" sz="1200" dirty="0">
                <a:latin typeface="Courier" pitchFamily="2" charset="0"/>
              </a:rPr>
              <a:t>.apply(lambda x: </a:t>
            </a:r>
            <a:r>
              <a:rPr lang="en-GB" sz="1200" dirty="0" err="1">
                <a:latin typeface="Courier" pitchFamily="2" charset="0"/>
              </a:rPr>
              <a:t>x.shift</a:t>
            </a:r>
            <a:r>
              <a:rPr lang="en-GB" sz="1200" dirty="0">
                <a:latin typeface="Courier" pitchFamily="2" charset="0"/>
              </a:rPr>
              <a:t>(3)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ewm</a:t>
            </a:r>
            <a:r>
              <a:rPr lang="en-GB" sz="1200" dirty="0">
                <a:latin typeface="Courier" pitchFamily="2" charset="0"/>
              </a:rPr>
              <a:t>(alpha=0.15).mean())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14F96-5D83-53CF-A1A4-98198E01EFD9}"/>
              </a:ext>
            </a:extLst>
          </p:cNvPr>
          <p:cNvSpPr txBox="1"/>
          <p:nvPr/>
        </p:nvSpPr>
        <p:spPr>
          <a:xfrm>
            <a:off x="10498489" y="4834909"/>
            <a:ext cx="16157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p</a:t>
            </a:r>
            <a:r>
              <a:rPr lang="en-DE" sz="1500" dirty="0"/>
              <a:t>rediction horizon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31E913-8076-767F-3FFA-49228926DD2A}"/>
              </a:ext>
            </a:extLst>
          </p:cNvPr>
          <p:cNvCxnSpPr>
            <a:cxnSpLocks/>
          </p:cNvCxnSpPr>
          <p:nvPr/>
        </p:nvCxnSpPr>
        <p:spPr>
          <a:xfrm flipH="1" flipV="1">
            <a:off x="10898248" y="4580913"/>
            <a:ext cx="132217" cy="27871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B769A41-4005-10D3-8FBE-6E3F868A80AA}"/>
              </a:ext>
            </a:extLst>
          </p:cNvPr>
          <p:cNvSpPr txBox="1"/>
          <p:nvPr/>
        </p:nvSpPr>
        <p:spPr>
          <a:xfrm>
            <a:off x="8448767" y="3628254"/>
            <a:ext cx="1004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stacking:</a:t>
            </a:r>
          </a:p>
        </p:txBody>
      </p:sp>
    </p:spTree>
    <p:extLst>
      <p:ext uri="{BB962C8B-B14F-4D97-AF65-F5344CB8AC3E}">
        <p14:creationId xmlns:p14="http://schemas.microsoft.com/office/powerpoint/2010/main" val="2471018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6BB78-5A1D-D18F-121B-56F0A89A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-Hot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FD71D2-F73E-37C5-322A-28888DF2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7B51C-FCEA-9E89-A2F4-4EAC2474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7041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63CD46-F6B9-B6E6-2A62-1144B2CEF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Ordinal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87BFC7-509D-7528-9CA9-E4E2951B2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400C3F-8C31-720B-A1F7-C9C361C4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113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CCCC1-76F8-E4E0-DE25-A04646F0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Target and </a:t>
            </a:r>
            <a:r>
              <a:rPr lang="de-DE" dirty="0" err="1"/>
              <a:t>Frequency</a:t>
            </a:r>
            <a:r>
              <a:rPr lang="de-DE" dirty="0"/>
              <a:t>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A7C9C-E319-B9BC-7A5F-20F895CA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0448D9-DCF8-02EA-C143-C27C76098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056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A48895-E3AE-F0C7-60C6-B360551C5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3758" y="2648915"/>
            <a:ext cx="1657581" cy="2225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52091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300" dirty="0"/>
              <a:t>r</a:t>
            </a:r>
            <a:r>
              <a:rPr lang="en-DE" sz="2300" dirty="0"/>
              <a:t>epresentation of entities by vectors</a:t>
            </a:r>
            <a:endParaRPr lang="en-GB" sz="2300" dirty="0"/>
          </a:p>
          <a:p>
            <a:pPr marL="0" indent="0">
              <a:buNone/>
            </a:pPr>
            <a:r>
              <a:rPr lang="en-GB" sz="2300" dirty="0"/>
              <a:t>s</a:t>
            </a:r>
            <a:r>
              <a:rPr lang="en-DE" sz="2300" dirty="0"/>
              <a:t>imilarity between embeddings by, e.g., cosine similarity </a:t>
            </a:r>
            <a:r>
              <a:rPr lang="en-DE" sz="2300" dirty="0">
                <a:sym typeface="Wingdings" pitchFamily="2" charset="2"/>
              </a:rPr>
              <a:t></a:t>
            </a:r>
            <a:r>
              <a:rPr lang="en-DE" sz="2300" dirty="0"/>
              <a:t> semantic similarity</a:t>
            </a:r>
            <a:endParaRPr lang="en-GB" sz="2300" dirty="0"/>
          </a:p>
          <a:p>
            <a:pPr marL="0" indent="0">
              <a:buNone/>
            </a:pPr>
            <a:r>
              <a:rPr lang="en-GB" sz="2300" dirty="0"/>
              <a:t>most famous application: w</a:t>
            </a:r>
            <a:r>
              <a:rPr lang="en-DE" sz="2300" dirty="0"/>
              <a:t>ord embeddings </a:t>
            </a:r>
            <a:r>
              <a:rPr lang="en-DE" sz="2300" dirty="0">
                <a:sym typeface="Wingdings" pitchFamily="2" charset="2"/>
              </a:rPr>
              <a:t> associations </a:t>
            </a:r>
            <a:r>
              <a:rPr lang="en-DE" sz="2300" dirty="0"/>
              <a:t>(natural language processing)</a:t>
            </a:r>
          </a:p>
          <a:p>
            <a:pPr marL="0" indent="0">
              <a:buNone/>
            </a:pPr>
            <a:r>
              <a:rPr lang="en-GB" sz="2400" dirty="0"/>
              <a:t>learned via co-occurrence (e.g., </a:t>
            </a:r>
            <a:r>
              <a:rPr lang="en-GB" sz="2400" dirty="0">
                <a:hlinkClick r:id="rId3"/>
              </a:rPr>
              <a:t>word2vec</a:t>
            </a:r>
            <a:r>
              <a:rPr lang="en-GB" sz="2400" dirty="0"/>
              <a:t>)</a:t>
            </a:r>
            <a:endParaRPr lang="en-GB" sz="2300" dirty="0"/>
          </a:p>
          <a:p>
            <a:pPr marL="0" indent="0">
              <a:buNone/>
            </a:pPr>
            <a:r>
              <a:rPr lang="en-GB" sz="2300" dirty="0"/>
              <a:t>b</a:t>
            </a:r>
            <a:r>
              <a:rPr lang="en-DE" sz="2300" dirty="0"/>
              <a:t>ut general concept: embeddings of (categorical) features (e.g., products in recommendation engines)</a:t>
            </a:r>
            <a:endParaRPr lang="en-GB" sz="2300" dirty="0"/>
          </a:p>
          <a:p>
            <a:pPr marL="0" indent="0">
              <a:buNone/>
            </a:pPr>
            <a:r>
              <a:rPr lang="en-GB" sz="2300" dirty="0"/>
              <a:t>end-to-end learning: embeddings layer in deep neural network, e.g., multi-layer perceptron (MLP)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811339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731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9280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096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13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8219096" y="2648915"/>
            <a:ext cx="3372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8698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33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D6BF8-3D11-D88B-C84A-AE77A3211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8B8B-A809-EE1C-1E3D-A32FC5088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5B58E1-0E39-CD68-78F4-A3CF38272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594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7B3083-59FB-DA8F-12C6-DF0A645D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Principal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Analysis (PCA)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809814-34C7-FCFF-C03A-378CFA849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D62EC6-ACEC-43A6-B331-EF1A0B5E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3803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A6AFEC-8765-3AAD-81DF-22E46DF9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Principal</a:t>
            </a:r>
            <a:r>
              <a:rPr lang="de-DE" dirty="0"/>
              <a:t> Components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8A9FB-8232-AD4B-8546-A970004A8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9CA560-5E44-0D4F-1B3A-321CECE9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322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C65FE1-3D0F-A212-782E-9BD31CC6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Regularization</a:t>
            </a:r>
            <a:r>
              <a:rPr lang="de-DE" dirty="0"/>
              <a:t> and Feature </a:t>
            </a:r>
            <a:r>
              <a:rPr lang="de-DE" dirty="0" err="1"/>
              <a:t>Selection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D3F02-061B-0FA9-ABF4-F9D34A0E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8E8F3-9DF8-C3E8-2EFC-8D44C8F5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778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45137-BA5A-B36F-E73F-D02561B52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800" dirty="0"/>
              <a:t>Regularization</a:t>
            </a:r>
            <a:endParaRPr lang="en-DE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80A46-8A74-4BBC-4C7D-DA493CCF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6551"/>
            <a:ext cx="6007443" cy="4010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reduce test error, possibly at expense of increased training error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many ways:</a:t>
            </a:r>
          </a:p>
          <a:p>
            <a:pPr marL="0" indent="0">
              <a:buNone/>
            </a:pPr>
            <a:r>
              <a:rPr lang="en-GB" dirty="0"/>
              <a:t>explicit constraints, adding penalties, priors, parameter sharing, data set augmentation, early stopping, dropout, bagging, 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17386-E05D-6307-FCBD-F24208AA7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18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F86E-3DF4-87B4-101F-15384917C59E}"/>
              </a:ext>
            </a:extLst>
          </p:cNvPr>
          <p:cNvSpPr txBox="1"/>
          <p:nvPr/>
        </p:nvSpPr>
        <p:spPr>
          <a:xfrm>
            <a:off x="11599833" y="579314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00E0C-044C-2619-EACA-FD3A1872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591" y="2574134"/>
            <a:ext cx="5131760" cy="321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8242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79BB16-D4B5-FD1B-04CF-1F4E67E7AC78}"/>
              </a:ext>
            </a:extLst>
          </p:cNvPr>
          <p:cNvSpPr/>
          <p:nvPr/>
        </p:nvSpPr>
        <p:spPr>
          <a:xfrm>
            <a:off x="4857270" y="2466960"/>
            <a:ext cx="1392455" cy="84417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000" dirty="0"/>
                  <a:t>adding </a:t>
                </a:r>
                <a:r>
                  <a:rPr lang="en-DE" sz="2000" b="1" dirty="0"/>
                  <a:t>penalty term</a:t>
                </a:r>
                <a:r>
                  <a:rPr lang="en-DE" sz="20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000" dirty="0"/>
                  <a:t> norm to cost function</a:t>
                </a:r>
                <a:endParaRPr lang="en-GB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sz="20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000" dirty="0"/>
                  <a:t>)</a:t>
                </a:r>
              </a:p>
              <a:p>
                <a:pPr marL="0" indent="0">
                  <a:buNone/>
                </a:pPr>
                <a:r>
                  <a:rPr lang="en-GB" sz="2000" b="1" dirty="0"/>
                  <a:t>L</a:t>
                </a:r>
                <a:r>
                  <a:rPr lang="en-GB" sz="2000" dirty="0"/>
                  <a:t>east </a:t>
                </a:r>
                <a:r>
                  <a:rPr lang="en-GB" sz="2000" b="1" dirty="0"/>
                  <a:t>A</a:t>
                </a:r>
                <a:r>
                  <a:rPr lang="en-GB" sz="2000" dirty="0"/>
                  <a:t>bsolute </a:t>
                </a:r>
                <a:r>
                  <a:rPr lang="en-GB" sz="2000" b="1" dirty="0"/>
                  <a:t>S</a:t>
                </a:r>
                <a:r>
                  <a:rPr lang="en-GB" sz="2000" dirty="0"/>
                  <a:t>hrinkage and </a:t>
                </a:r>
                <a:r>
                  <a:rPr lang="en-GB" sz="2000" b="1" dirty="0"/>
                  <a:t>S</a:t>
                </a:r>
                <a:r>
                  <a:rPr lang="en-GB" sz="2000" dirty="0"/>
                  <a:t>election </a:t>
                </a:r>
                <a:r>
                  <a:rPr lang="en-GB" sz="2000" b="1" dirty="0"/>
                  <a:t>O</a:t>
                </a:r>
                <a:r>
                  <a:rPr lang="en-GB" sz="2000" dirty="0"/>
                  <a:t>perator: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				a</a:t>
                </a:r>
                <a:r>
                  <a:rPr lang="en-DE" sz="2000" dirty="0"/>
                  <a:t>lso performs feature selection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  <a:blipFill>
                <a:blip r:embed="rId2"/>
                <a:stretch>
                  <a:fillRect l="-952" t="-10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B9627F-E914-4FE9-555E-66ADDC86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LASSO Regression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946F4-E7DF-4425-8081-EFA09CA0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19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7076F-8C77-4EE8-9D7F-34F4B902A274}"/>
              </a:ext>
            </a:extLst>
          </p:cNvPr>
          <p:cNvSpPr txBox="1"/>
          <p:nvPr/>
        </p:nvSpPr>
        <p:spPr>
          <a:xfrm>
            <a:off x="11353800" y="56971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352AB18-1497-DF92-ABBF-3CD789878F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41607" y="621006"/>
            <a:ext cx="3287438" cy="274801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207B273-A2A6-39D8-5F68-BAA2696A69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41607" y="3369019"/>
            <a:ext cx="3287438" cy="274801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567EC4-2F2F-115C-C484-98057EF81BED}"/>
              </a:ext>
            </a:extLst>
          </p:cNvPr>
          <p:cNvCxnSpPr>
            <a:cxnSpLocks/>
          </p:cNvCxnSpPr>
          <p:nvPr/>
        </p:nvCxnSpPr>
        <p:spPr>
          <a:xfrm flipV="1">
            <a:off x="7834964" y="4620126"/>
            <a:ext cx="2040556" cy="664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58819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ACCFFB-9C8A-3344-6CB6-850411F5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Relevance</a:t>
            </a:r>
            <a:r>
              <a:rPr lang="de-DE" dirty="0"/>
              <a:t> Determination (ARD)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43B982-D0C2-2510-8BEB-176415008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F057AD-CB24-1B6C-D311-911DEFB8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476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99A6E-985A-BCAE-71DF-63142D9EC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Handling </a:t>
            </a:r>
            <a:r>
              <a:rPr lang="de-DE" dirty="0" err="1"/>
              <a:t>Missing</a:t>
            </a:r>
            <a:r>
              <a:rPr lang="de-DE" dirty="0"/>
              <a:t>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E5862-7DC7-538D-50E5-A4A53633B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E1F3C2-F660-87DE-3784-C6B8FA9E4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267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3DF55-62FC-108F-C35D-02114E3B9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Imputation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C6F1E1-2D09-57EF-8441-1D37701B0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FAF73B-825C-EAD4-7CCA-FCF1CD57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386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4EE415-C8FF-FA3E-F6A4-91C674C5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Pipelines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250263-A1D9-0375-3352-51387D02F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CFB421-1136-E880-67A1-53A46549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8318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8FB5EE9-2A0C-9B40-9379-F3036AE92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for Feature Engineering</a:t>
            </a:r>
            <a:endParaRPr lang="en-DE" dirty="0"/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E38AFF97-8803-AB4D-A3D8-999C4C0E3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</p:spPr>
        <p:txBody>
          <a:bodyPr/>
          <a:lstStyle/>
          <a:p>
            <a:fld id="{523A240F-EAFE-E84F-B44C-6D7A08E0E409}" type="slidenum">
              <a:rPr lang="en-US" smtClean="0"/>
              <a:t>24</a:t>
            </a:fld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D00C66-52D9-4D12-A054-8D0E738F87F8}"/>
              </a:ext>
            </a:extLst>
          </p:cNvPr>
          <p:cNvSpPr/>
          <p:nvPr/>
        </p:nvSpPr>
        <p:spPr>
          <a:xfrm>
            <a:off x="84392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b="1" dirty="0">
                <a:solidFill>
                  <a:schemeClr val="tx1"/>
                </a:solidFill>
              </a:rPr>
              <a:t>seasonality</a:t>
            </a:r>
          </a:p>
          <a:p>
            <a:endParaRPr lang="en-GB" sz="1600" i="1" dirty="0">
              <a:solidFill>
                <a:schemeClr val="tx1"/>
              </a:solidFill>
            </a:endParaRPr>
          </a:p>
          <a:p>
            <a:r>
              <a:rPr lang="en-GB" sz="1600" i="1" dirty="0">
                <a:solidFill>
                  <a:schemeClr val="tx1"/>
                </a:solidFill>
              </a:rPr>
              <a:t>day of week, payday, week of year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0F4E917-52F5-447E-AAA9-5AC8CF688DA8}"/>
              </a:ext>
            </a:extLst>
          </p:cNvPr>
          <p:cNvSpPr/>
          <p:nvPr/>
        </p:nvSpPr>
        <p:spPr>
          <a:xfrm>
            <a:off x="865259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1314450" algn="l"/>
                <a:tab pos="1489075" algn="l"/>
              </a:tabLst>
            </a:pPr>
            <a:r>
              <a:rPr lang="de-DE" b="1" dirty="0">
                <a:solidFill>
                  <a:schemeClr val="tx1"/>
                </a:solidFill>
              </a:rPr>
              <a:t>events (e.g., holidays)</a:t>
            </a:r>
          </a:p>
          <a:p>
            <a:pPr>
              <a:tabLst>
                <a:tab pos="1314450" algn="l"/>
                <a:tab pos="1489075" algn="l"/>
              </a:tabLst>
            </a:pPr>
            <a:endParaRPr lang="de-DE" sz="1600" b="1" i="1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de-DE" sz="1600" i="1" dirty="0">
                <a:solidFill>
                  <a:schemeClr val="tx1"/>
                </a:solidFill>
              </a:rPr>
              <a:t>time window around event (e.g., monotonic)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5B04147-463E-49F9-9380-4EF910616917}"/>
              </a:ext>
            </a:extLst>
          </p:cNvPr>
          <p:cNvSpPr/>
          <p:nvPr/>
        </p:nvSpPr>
        <p:spPr>
          <a:xfrm>
            <a:off x="482588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tabLst>
                <a:tab pos="1314450" algn="l"/>
                <a:tab pos="1489075" algn="l"/>
              </a:tabLst>
            </a:pPr>
            <a:r>
              <a:rPr lang="en-US" b="1" dirty="0">
                <a:solidFill>
                  <a:schemeClr val="tx1"/>
                </a:solidFill>
              </a:rPr>
              <a:t>weather </a:t>
            </a:r>
          </a:p>
          <a:p>
            <a:pPr>
              <a:tabLst>
                <a:tab pos="1314450" algn="l"/>
                <a:tab pos="1489075" algn="l"/>
              </a:tabLst>
            </a:pPr>
            <a:endParaRPr lang="en-US" sz="1600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en-US" sz="1600" i="1" dirty="0">
                <a:solidFill>
                  <a:schemeClr val="tx1"/>
                </a:solidFill>
              </a:rPr>
              <a:t>event-like: first sunny weekend, snowstorm, …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7C1F8B9-5D20-4F4B-9D2D-9A2835936CF9}"/>
              </a:ext>
            </a:extLst>
          </p:cNvPr>
          <p:cNvSpPr/>
          <p:nvPr/>
        </p:nvSpPr>
        <p:spPr>
          <a:xfrm>
            <a:off x="84392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b="1" dirty="0">
                <a:solidFill>
                  <a:schemeClr val="tx1"/>
                </a:solidFill>
              </a:rPr>
              <a:t>promotion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days since start of promotion period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3BC18D3-AE36-46C1-B216-3CB920B0C605}"/>
              </a:ext>
            </a:extLst>
          </p:cNvPr>
          <p:cNvSpPr/>
          <p:nvPr/>
        </p:nvSpPr>
        <p:spPr>
          <a:xfrm>
            <a:off x="482588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price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ratio of reduced and normal price, price-demand elasticity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939D652-32CF-4F4C-92FE-6855B860AF6E}"/>
              </a:ext>
            </a:extLst>
          </p:cNvPr>
          <p:cNvSpPr/>
          <p:nvPr/>
        </p:nvSpPr>
        <p:spPr>
          <a:xfrm>
            <a:off x="8652599" y="4414764"/>
            <a:ext cx="2540222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product information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text (name/description) or 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33802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9410A-8F66-51F8-EFD5-87E80DBE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Leakage and Common </a:t>
            </a:r>
            <a:r>
              <a:rPr lang="de-DE" dirty="0" err="1"/>
              <a:t>Pitfalls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1A170-E57D-0D81-68C1-2FD75799F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A8E23-D708-BD7E-5680-18E561CD9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400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499</Words>
  <Application>Microsoft Macintosh PowerPoint</Application>
  <PresentationFormat>Breitbild</PresentationFormat>
  <Paragraphs>128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Courier</vt:lpstr>
      <vt:lpstr>Wingdings</vt:lpstr>
      <vt:lpstr>Office Theme</vt:lpstr>
      <vt:lpstr>Feature Engineering</vt:lpstr>
      <vt:lpstr>Course Schedule</vt:lpstr>
      <vt:lpstr>Feature Engineering</vt:lpstr>
      <vt:lpstr>Why Feature Engineering Matters</vt:lpstr>
      <vt:lpstr>Numerical Features</vt:lpstr>
      <vt:lpstr>Transformations (log, power, Box-Cox)</vt:lpstr>
      <vt:lpstr>Feature Scaling and Normalization</vt:lpstr>
      <vt:lpstr>Categorical Features: Types</vt:lpstr>
      <vt:lpstr>Categorical Variables</vt:lpstr>
      <vt:lpstr>One-Hot Encoding</vt:lpstr>
      <vt:lpstr>Ordinal Encoding</vt:lpstr>
      <vt:lpstr>Target and Frequency Encoding</vt:lpstr>
      <vt:lpstr>Embeddings</vt:lpstr>
      <vt:lpstr>Dimensionality Reduction</vt:lpstr>
      <vt:lpstr>Principal Component Analysis (PCA)</vt:lpstr>
      <vt:lpstr>Interpreting Principal Components</vt:lpstr>
      <vt:lpstr>Regularization and Feature Selection</vt:lpstr>
      <vt:lpstr>Regularization</vt:lpstr>
      <vt:lpstr>LASSO Regression</vt:lpstr>
      <vt:lpstr>Automatic Relevance Determination (ARD)</vt:lpstr>
      <vt:lpstr>Handling Missing Values</vt:lpstr>
      <vt:lpstr>Imputation Strategies</vt:lpstr>
      <vt:lpstr>Feature Engineering Pipelines</vt:lpstr>
      <vt:lpstr>Examples for Feature Engineering</vt:lpstr>
      <vt:lpstr>Leakage and Common Pitfalls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46</cp:revision>
  <dcterms:created xsi:type="dcterms:W3CDTF">2025-01-08T09:27:30Z</dcterms:created>
  <dcterms:modified xsi:type="dcterms:W3CDTF">2026-01-11T17:41:32Z</dcterms:modified>
</cp:coreProperties>
</file>