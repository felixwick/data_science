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90" r:id="rId16"/>
    <p:sldId id="278" r:id="rId17"/>
    <p:sldId id="279" r:id="rId18"/>
    <p:sldId id="280" r:id="rId19"/>
    <p:sldId id="281" r:id="rId20"/>
    <p:sldId id="282" r:id="rId21"/>
    <p:sldId id="283" r:id="rId22"/>
    <p:sldId id="28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5.07874" TargetMode="External"/><Relationship Id="rId2" Type="http://schemas.openxmlformats.org/officeDocument/2006/relationships/hyperlink" Target="https://arxiv.org/abs/1602.04938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hristophm.github.io/interpretable-ml-book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Evaluation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r>
              <a:rPr lang="de-DE" dirty="0"/>
              <a:t>, ROC-</a:t>
            </a:r>
            <a:r>
              <a:rPr lang="de-DE" dirty="0" err="1"/>
              <a:t>curve</a:t>
            </a:r>
            <a:r>
              <a:rPr lang="de-DE" dirty="0"/>
              <a:t>, F1</a:t>
            </a:r>
          </a:p>
          <a:p>
            <a:r>
              <a:rPr lang="de-DE" dirty="0"/>
              <a:t>MSE, MAE</a:t>
            </a:r>
          </a:p>
          <a:p>
            <a:r>
              <a:rPr lang="de-DE" dirty="0" err="1"/>
              <a:t>cross</a:t>
            </a:r>
            <a:r>
              <a:rPr lang="de-DE" dirty="0"/>
              <a:t>-validation</a:t>
            </a:r>
          </a:p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  <a:p>
            <a:r>
              <a:rPr lang="de-DE" dirty="0" err="1"/>
              <a:t>explainability</a:t>
            </a:r>
            <a:r>
              <a:rPr lang="de-DE" dirty="0"/>
              <a:t>, SHAP, LIME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9A35A-C3A5-2AD6-3FFF-97DF14747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Model Evaluation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F3800A-8534-5A43-EC92-65ACB7642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873CC6-C56D-B592-3249-339776C1A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6088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0CD86-1FBA-63C4-0B98-0D566F71A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A68F35-B328-9BC0-DF14-3516BE9BD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DA5B15-496B-C1D4-91C0-FE7F2D53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718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EAC883-915A-D579-C4E3-3D97B44E8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r>
              <a:rPr lang="de-DE" dirty="0"/>
              <a:t> and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689AF4-BA0A-86FC-F129-38F6861EC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100D6-F5D1-C95D-3778-6C8461E64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6896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DE613-A82F-6152-DB77-0D8A6EA8B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Precision, Recall, and F1 Score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50BBB8-62AC-61C3-F060-DEEDDD029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8CC8B6-0789-F2A8-0979-F7382262E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707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7B5534-C0BC-0BE0-63F7-F36673972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 </a:t>
            </a:r>
            <a:r>
              <a:rPr lang="de-DE" dirty="0" err="1"/>
              <a:t>Curve</a:t>
            </a:r>
            <a:r>
              <a:rPr lang="de-DE" dirty="0"/>
              <a:t> and AUC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4C5E6E-AD15-05E2-3D00-74DD62D81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3CCFA4-637F-55D2-57B5-E735B71FA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612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1F250-668E-1F2D-259B-F5E2D23A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Regression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F3B1EE-D2A0-998F-FFA3-80C2A5645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8D7B7A-6D3D-D991-E71F-4A80F9194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045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48AAE-28AC-8C0A-807E-EECDA4151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</a:t>
            </a:r>
            <a:r>
              <a:rPr lang="de-DE" dirty="0" err="1"/>
              <a:t>Squared</a:t>
            </a:r>
            <a:r>
              <a:rPr lang="de-DE" dirty="0"/>
              <a:t> Error (MSE)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1121AB-A03C-208B-AADC-CE8997A83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82E0FE-E0D6-E071-273A-26AAA32F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2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B14969-5D2F-0A75-063E-EC6133ED9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Absolute Error (MAE)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427EC5-B335-3C38-197A-EC3CE02AC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032D6F-8295-C9EE-5CC7-B13B7372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110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2AC68C-8E51-D16D-9BB6-357B2A674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Cross-Validation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9BBA53-25CB-44B1-3477-C0C8FFB22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242BE3-F324-23F7-81F5-17D5548B8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37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FF5D6-0FCB-1A64-D8A4-EF19A04A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k-Fold</a:t>
            </a:r>
            <a:r>
              <a:rPr lang="de-DE" dirty="0"/>
              <a:t> Cross-Validation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2C0B87-A83F-A198-A1CB-7CCC17142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F83C66-D41C-833C-B12E-291DA9CF4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4975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1539D0-D7CA-A083-0E99-6E50927AB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Nested</a:t>
            </a:r>
            <a:r>
              <a:rPr lang="de-DE" dirty="0"/>
              <a:t> Cross-Validation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5F476-08D3-EA5A-3327-C6FA9616E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C44E1-9BD4-3F4F-BD01-67AB09FD4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5974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15F10-CF24-B798-1344-DCF9E363C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Black-Box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FDA38-027C-BDF2-FF70-B542E9092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o build trust in AI systems, individual predictions/actions need to be fully transparent, i.e., explainable.</a:t>
            </a:r>
            <a:endParaRPr lang="en-GB" dirty="0"/>
          </a:p>
          <a:p>
            <a:pPr marL="0" indent="0">
              <a:buNone/>
            </a:pPr>
            <a:r>
              <a:rPr lang="en-GB" sz="2800" dirty="0"/>
              <a:t>(do not confuse </a:t>
            </a:r>
            <a:r>
              <a:rPr lang="en-GB" sz="2800" dirty="0" err="1"/>
              <a:t>explainability</a:t>
            </a:r>
            <a:r>
              <a:rPr lang="en-GB" sz="2800" dirty="0"/>
              <a:t> with causality though)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DE" dirty="0"/>
              <a:t>Unfortunately, complex models like deep learning methods are difficult to interpret.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n</a:t>
            </a:r>
            <a:r>
              <a:rPr lang="en-DE" dirty="0">
                <a:sym typeface="Wingdings" pitchFamily="2" charset="2"/>
              </a:rPr>
              <a:t>eed for model-agnostic methods to explain black-box models</a:t>
            </a:r>
          </a:p>
          <a:p>
            <a:pPr marL="0" indent="0">
              <a:buNone/>
            </a:pPr>
            <a:r>
              <a:rPr lang="en-GB" dirty="0"/>
              <a:t>e</a:t>
            </a:r>
            <a:r>
              <a:rPr lang="en-DE" dirty="0"/>
              <a:t>xamples: local surrogates (</a:t>
            </a:r>
            <a:r>
              <a:rPr lang="en-GB" dirty="0">
                <a:hlinkClick r:id="rId2"/>
              </a:rPr>
              <a:t>LIME</a:t>
            </a:r>
            <a:r>
              <a:rPr lang="en-DE" dirty="0"/>
              <a:t>), Shapley values (</a:t>
            </a:r>
            <a:r>
              <a:rPr lang="en-DE" dirty="0">
                <a:hlinkClick r:id="rId3"/>
              </a:rPr>
              <a:t>SHAP</a:t>
            </a:r>
            <a:r>
              <a:rPr lang="en-DE" dirty="0"/>
              <a:t>)</a:t>
            </a:r>
          </a:p>
          <a:p>
            <a:pPr marL="0" indent="0">
              <a:buNone/>
            </a:pPr>
            <a:r>
              <a:rPr lang="en-DE" dirty="0">
                <a:hlinkClick r:id="rId4"/>
              </a:rPr>
              <a:t>overview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D36A3-331F-0FB9-177B-14774E79D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5709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2EC02-7369-A23B-1151-CA1A9D85F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Importance</a:t>
            </a:r>
            <a:r>
              <a:rPr lang="de-DE" dirty="0"/>
              <a:t> </a:t>
            </a:r>
            <a:r>
              <a:rPr lang="de-DE" dirty="0" err="1"/>
              <a:t>Concepts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1F79B-2E2E-D375-1697-3C02F474D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BD6576-EA1B-4580-1AEA-9941C9ED6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388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5687C-3D76-45C0-405C-128B90739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ACC007-E966-C8DC-8020-739D15E8A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FEA500-EB45-413A-5886-C05A459D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124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954931-0074-968B-0202-B8819C365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Agnostic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CB5DF1-2981-0D12-9EED-56F574059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03E83-F57E-257D-4E6A-26E3EC944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6679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843E4B-7E71-2104-D4DE-DC5C79379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SHAP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6D45B7-29AE-432E-6394-F1B22942A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6DBBC4-8F62-F70D-BD00-F3E97C83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1598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9F2F3-7D06-9C50-F62E-390ABF38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0507C-EE63-C14B-A96E-8F8C408B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DA568B-A2BE-4961-6F31-A0E7D6D2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17662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3F7E35-5378-F602-0537-CF82941E6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Explanations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04B4EF-FBB3-4531-6E08-A747A1F7D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53D23A-D3BE-FB2D-ADBF-4F6F0560A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1326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6BAEE6-4BBA-BDD1-4B77-4DD1E54B8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</a:t>
            </a:r>
            <a:r>
              <a:rPr lang="de-DE" dirty="0" err="1"/>
              <a:t>Pitfalls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013B42-8310-B252-D4FB-8D5A7BC72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8F53F0-F858-AA09-ED80-7FE90FE63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0941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193</Words>
  <Application>Microsoft Macintosh PowerPoint</Application>
  <PresentationFormat>Breitbild</PresentationFormat>
  <Paragraphs>74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Office Theme</vt:lpstr>
      <vt:lpstr>Model Evaluation</vt:lpstr>
      <vt:lpstr>Course Schedule</vt:lpstr>
      <vt:lpstr>Model Evaluation</vt:lpstr>
      <vt:lpstr>Why Model Evaluation Matters</vt:lpstr>
      <vt:lpstr>Classification Metrics Overview</vt:lpstr>
      <vt:lpstr>Accuracy and Its Limitations</vt:lpstr>
      <vt:lpstr>Precision, Recall, and F1 Score</vt:lpstr>
      <vt:lpstr>ROC Curve and AUC</vt:lpstr>
      <vt:lpstr>Regression Metrics Overview</vt:lpstr>
      <vt:lpstr>Mean Squared Error (MSE)</vt:lpstr>
      <vt:lpstr>Mean Absolute Error (MAE)</vt:lpstr>
      <vt:lpstr>Cross-Validation Strategies</vt:lpstr>
      <vt:lpstr>k-Fold Cross-Validation</vt:lpstr>
      <vt:lpstr>Nested Cross-Validation</vt:lpstr>
      <vt:lpstr>Black-Box Models</vt:lpstr>
      <vt:lpstr>Feature Importance Concepts</vt:lpstr>
      <vt:lpstr>Model-Specific Importance</vt:lpstr>
      <vt:lpstr>Model-Agnostic Explainability</vt:lpstr>
      <vt:lpstr>SHAP Values</vt:lpstr>
      <vt:lpstr>LIME</vt:lpstr>
      <vt:lpstr>Interpreting Explanations</vt:lpstr>
      <vt:lpstr>Evaluation Pitfalls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41</cp:revision>
  <dcterms:created xsi:type="dcterms:W3CDTF">2025-01-08T09:27:30Z</dcterms:created>
  <dcterms:modified xsi:type="dcterms:W3CDTF">2026-01-11T13:55:01Z</dcterms:modified>
</cp:coreProperties>
</file>