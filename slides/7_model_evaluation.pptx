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266" r:id="rId3"/>
    <p:sldId id="299" r:id="rId4"/>
    <p:sldId id="268" r:id="rId5"/>
    <p:sldId id="300" r:id="rId6"/>
    <p:sldId id="269" r:id="rId7"/>
    <p:sldId id="301" r:id="rId8"/>
    <p:sldId id="302" r:id="rId9"/>
    <p:sldId id="303" r:id="rId10"/>
    <p:sldId id="270" r:id="rId11"/>
    <p:sldId id="304" r:id="rId12"/>
    <p:sldId id="665" r:id="rId13"/>
    <p:sldId id="305" r:id="rId14"/>
    <p:sldId id="306" r:id="rId15"/>
    <p:sldId id="307" r:id="rId16"/>
    <p:sldId id="308" r:id="rId17"/>
    <p:sldId id="309" r:id="rId18"/>
    <p:sldId id="310" r:id="rId19"/>
    <p:sldId id="273" r:id="rId20"/>
    <p:sldId id="311" r:id="rId21"/>
    <p:sldId id="274" r:id="rId22"/>
    <p:sldId id="312" r:id="rId23"/>
    <p:sldId id="313" r:id="rId24"/>
    <p:sldId id="315" r:id="rId25"/>
    <p:sldId id="316" r:id="rId26"/>
    <p:sldId id="272" r:id="rId27"/>
    <p:sldId id="663" r:id="rId28"/>
    <p:sldId id="615" r:id="rId29"/>
    <p:sldId id="317" r:id="rId30"/>
    <p:sldId id="279" r:id="rId31"/>
    <p:sldId id="280" r:id="rId32"/>
    <p:sldId id="324" r:id="rId33"/>
    <p:sldId id="282" r:id="rId34"/>
    <p:sldId id="281" r:id="rId35"/>
    <p:sldId id="664" r:id="rId36"/>
    <p:sldId id="327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5028" autoAdjust="0"/>
  </p:normalViewPr>
  <p:slideViewPr>
    <p:cSldViewPr snapToGrid="0">
      <p:cViewPr varScale="1">
        <p:scale>
          <a:sx n="81" d="100"/>
          <a:sy n="81" d="100"/>
        </p:scale>
        <p:origin x="80" y="18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04/05/2026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04/05/2026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04/05/2026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emf"/><Relationship Id="rId5" Type="http://schemas.openxmlformats.org/officeDocument/2006/relationships/image" Target="../media/image28.emf"/><Relationship Id="rId4" Type="http://schemas.openxmlformats.org/officeDocument/2006/relationships/image" Target="../media/image27.e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r>
              <a:rPr lang="de-DE" dirty="0"/>
              <a:t> (separate </a:t>
            </a:r>
            <a:r>
              <a:rPr lang="de-DE" dirty="0" err="1"/>
              <a:t>slide</a:t>
            </a:r>
            <a:r>
              <a:rPr lang="de-DE" dirty="0"/>
              <a:t> deck)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problems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different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imbalance</a:t>
            </a:r>
            <a:endParaRPr lang="de-DE" dirty="0"/>
          </a:p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spam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vs. </a:t>
            </a:r>
            <a:r>
              <a:rPr lang="de-DE" dirty="0" err="1"/>
              <a:t>disease</a:t>
            </a:r>
            <a:r>
              <a:rPr lang="de-DE" dirty="0"/>
              <a:t> </a:t>
            </a:r>
            <a:r>
              <a:rPr lang="de-DE" dirty="0" err="1"/>
              <a:t>diagnosis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different </a:t>
            </a:r>
            <a:r>
              <a:rPr lang="de-DE" dirty="0" err="1"/>
              <a:t>priorities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848ED-31AA-2F2E-D3F3-968FB2098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Confusion</a:t>
            </a:r>
            <a:r>
              <a:rPr lang="de-DE" dirty="0"/>
              <a:t> Matrix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2E4721-DF82-C6E0-2D00-B48EE2803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binary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derived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418EE3-AA8A-D4D3-75D5-B74CDA43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E898A83B-5145-AE73-C6C4-162F572C1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572819"/>
              </p:ext>
            </p:extLst>
          </p:nvPr>
        </p:nvGraphicFramePr>
        <p:xfrm>
          <a:off x="838200" y="3224054"/>
          <a:ext cx="10515600" cy="15544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2417384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1447487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04657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757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Positive (TP)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>
                          <a:ln>
                            <a:noFill/>
                          </a:ln>
                          <a:effectLst/>
                        </a:rPr>
                        <a:t>False Negative (FN)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823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ln>
                            <a:noFill/>
                          </a:ln>
                          <a:effectLst/>
                        </a:rPr>
                        <a:t>False</a:t>
                      </a: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 Positive (FP)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Negative (TN)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5086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39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ccuracy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simple and intuitive</a:t>
                </a:r>
              </a:p>
              <a:p>
                <a:r>
                  <a:rPr lang="de-DE" dirty="0"/>
                  <a:t>but </a:t>
                </a:r>
                <a:r>
                  <a:rPr lang="de-DE" dirty="0" err="1"/>
                  <a:t>misleading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imbalanced</a:t>
                </a:r>
                <a:r>
                  <a:rPr lang="de-DE" dirty="0"/>
                  <a:t> </a:t>
                </a:r>
                <a:r>
                  <a:rPr lang="de-DE" dirty="0" err="1"/>
                  <a:t>datasets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B0A6D-4963-1893-30D0-1ED7F1BF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email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filter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E3D358-B374-F2EC-4C5D-E76B55972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5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86186-9FAE-B297-BC16-F0F02802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Recall (</a:t>
            </a:r>
            <a:r>
              <a:rPr lang="de-DE" dirty="0" err="1"/>
              <a:t>Sensitivity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detected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missing</a:t>
                </a:r>
                <a:r>
                  <a:rPr lang="de-DE" dirty="0"/>
                  <a:t> positives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medical</a:t>
                </a:r>
                <a:r>
                  <a:rPr lang="de-DE" dirty="0"/>
                  <a:t> </a:t>
                </a:r>
                <a:r>
                  <a:rPr lang="de-DE" dirty="0" err="1"/>
                  <a:t>diagnosis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D509E3-8247-4BC5-C19F-647E27072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66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45B836-DE03-782C-77E4-A64D89640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 vs. Recall 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84202D-5407-6F74-C8CC-A275D16B0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recall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: </a:t>
            </a:r>
            <a:br>
              <a:rPr lang="de-DE" dirty="0"/>
            </a:br>
            <a:r>
              <a:rPr lang="de-DE" b="1" dirty="0" err="1"/>
              <a:t>threshold</a:t>
            </a:r>
            <a:r>
              <a:rPr lang="de-DE" b="1" dirty="0"/>
              <a:t> </a:t>
            </a:r>
            <a:r>
              <a:rPr lang="de-DE" b="1" dirty="0" err="1"/>
              <a:t>tuning</a:t>
            </a:r>
            <a:r>
              <a:rPr lang="de-DE" b="1" dirty="0"/>
              <a:t> </a:t>
            </a:r>
            <a:r>
              <a:rPr lang="de-DE" dirty="0" err="1"/>
              <a:t>controls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this</a:t>
            </a:r>
            <a:r>
              <a:rPr lang="de-DE" dirty="0"/>
              <a:t> trade-off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ask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matters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CBFBE2-C956-F372-CD65-B1132F17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AF69BA20-7635-BECD-E9F4-D3C4F9F4E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471781"/>
              </p:ext>
            </p:extLst>
          </p:nvPr>
        </p:nvGraphicFramePr>
        <p:xfrm>
          <a:off x="5721530" y="3081565"/>
          <a:ext cx="5632270" cy="1839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6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6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64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64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5217">
                <a:tc>
                  <a:txBody>
                    <a:bodyPr/>
                    <a:lstStyle/>
                    <a:p>
                      <a:r>
                        <a:rPr lang="en-US" sz="1200" dirty="0"/>
                        <a:t>t</a:t>
                      </a:r>
                      <a:r>
                        <a:rPr sz="1200" dirty="0"/>
                        <a:t>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</a:t>
                      </a:r>
                      <a:r>
                        <a:rPr sz="1200" dirty="0"/>
                        <a:t>redicted </a:t>
                      </a:r>
                      <a:r>
                        <a:rPr lang="en-US" sz="1200" dirty="0"/>
                        <a:t>p</a:t>
                      </a:r>
                      <a:r>
                        <a:rPr sz="1200" dirty="0"/>
                        <a:t>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</a:t>
                      </a:r>
                      <a:r>
                        <a:rPr sz="1200" dirty="0"/>
                        <a:t>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</a:t>
                      </a:r>
                      <a:r>
                        <a:rPr sz="1200" dirty="0"/>
                        <a:t>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</a:t>
                      </a:r>
                      <a:r>
                        <a:rPr sz="1200" dirty="0"/>
                        <a:t>nter</a:t>
                      </a:r>
                      <a:r>
                        <a:rPr lang="en-US" sz="1200" dirty="0"/>
                        <a:t>-</a:t>
                      </a:r>
                      <a:r>
                        <a:rPr sz="1200" dirty="0" err="1"/>
                        <a:t>pr</a:t>
                      </a:r>
                      <a:r>
                        <a:rPr lang="en-US" sz="1200" dirty="0" err="1"/>
                        <a:t>e</a:t>
                      </a:r>
                      <a:r>
                        <a:rPr sz="1200" dirty="0" err="1"/>
                        <a:t>tation</a:t>
                      </a:r>
                      <a:endParaRPr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217">
                <a:tc>
                  <a:txBody>
                    <a:bodyPr/>
                    <a:lstStyle/>
                    <a:p>
                      <a:r>
                        <a:rPr sz="120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</a:t>
                      </a:r>
                      <a:r>
                        <a:rPr sz="1200" dirty="0"/>
                        <a:t>igh</a:t>
                      </a:r>
                      <a:endParaRPr lang="en-US" sz="1200" dirty="0"/>
                    </a:p>
                    <a:p>
                      <a:r>
                        <a:rPr lang="de-DE" sz="900" dirty="0"/>
                        <a:t>(</a:t>
                      </a:r>
                      <a:r>
                        <a:rPr lang="de-DE" sz="900" dirty="0" err="1"/>
                        <a:t>almost</a:t>
                      </a:r>
                      <a:r>
                        <a:rPr lang="de-DE" sz="900" dirty="0"/>
                        <a:t> </a:t>
                      </a:r>
                      <a:r>
                        <a:rPr lang="de-DE" sz="900" dirty="0" err="1"/>
                        <a:t>everything</a:t>
                      </a:r>
                      <a:r>
                        <a:rPr lang="de-DE" sz="900" dirty="0"/>
                        <a:t> </a:t>
                      </a:r>
                      <a:r>
                        <a:rPr lang="de-DE" sz="900" dirty="0" err="1"/>
                        <a:t>classified</a:t>
                      </a:r>
                      <a:r>
                        <a:rPr lang="de-DE" sz="900" dirty="0"/>
                        <a:t> positive)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</a:t>
                      </a:r>
                      <a:r>
                        <a:rPr sz="1200" dirty="0"/>
                        <a:t>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</a:t>
                      </a:r>
                      <a:r>
                        <a:rPr sz="1200" dirty="0"/>
                        <a:t>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</a:t>
                      </a:r>
                      <a:r>
                        <a:rPr sz="1200" dirty="0"/>
                        <a:t>any false positives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5600">
                <a:tc>
                  <a:txBody>
                    <a:bodyPr/>
                    <a:lstStyle/>
                    <a:p>
                      <a:r>
                        <a:rPr sz="1200" dirty="0"/>
                        <a:t>0.</a:t>
                      </a:r>
                      <a:r>
                        <a:rPr lang="en-US" sz="1200" dirty="0"/>
                        <a:t>8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</a:t>
                      </a:r>
                      <a:r>
                        <a:rPr sz="1200" dirty="0"/>
                        <a:t>ow</a:t>
                      </a:r>
                      <a:endParaRPr lang="en-US" sz="1200" dirty="0"/>
                    </a:p>
                    <a:p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only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almost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sure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cases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classified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positive)</a:t>
                      </a:r>
                      <a:endParaRPr sz="9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</a:t>
                      </a:r>
                      <a:r>
                        <a:rPr sz="1200" dirty="0"/>
                        <a:t>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</a:t>
                      </a:r>
                      <a:r>
                        <a:rPr sz="1200" dirty="0"/>
                        <a:t>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</a:t>
                      </a:r>
                      <a:r>
                        <a:rPr sz="1200" dirty="0"/>
                        <a:t>nly very confident predictions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6FA12785-0D34-E6A2-015A-281A2997A1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688150"/>
              </p:ext>
            </p:extLst>
          </p:nvPr>
        </p:nvGraphicFramePr>
        <p:xfrm>
          <a:off x="5721530" y="5100409"/>
          <a:ext cx="3378928" cy="979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522">
                <a:tc>
                  <a:txBody>
                    <a:bodyPr/>
                    <a:lstStyle/>
                    <a:p>
                      <a:r>
                        <a:rPr lang="en-US" sz="1200" dirty="0"/>
                        <a:t>problem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strategy</a:t>
                      </a:r>
                      <a:endParaRPr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22">
                <a:tc>
                  <a:txBody>
                    <a:bodyPr/>
                    <a:lstStyle/>
                    <a:p>
                      <a:r>
                        <a:rPr lang="de-DE" sz="1200" dirty="0" err="1"/>
                        <a:t>spam</a:t>
                      </a:r>
                      <a:r>
                        <a:rPr lang="de-DE" sz="1200" dirty="0"/>
                        <a:t> </a:t>
                      </a:r>
                      <a:r>
                        <a:rPr lang="de-DE" sz="1200" dirty="0" err="1"/>
                        <a:t>classification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</a:t>
                      </a:r>
                      <a:r>
                        <a:rPr sz="1200" dirty="0"/>
                        <a:t>igh</a:t>
                      </a:r>
                      <a:r>
                        <a:rPr lang="en-US" sz="1200" dirty="0"/>
                        <a:t> precision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22">
                <a:tc>
                  <a:txBody>
                    <a:bodyPr/>
                    <a:lstStyle/>
                    <a:p>
                      <a:r>
                        <a:rPr lang="de-DE" sz="1200" dirty="0" err="1"/>
                        <a:t>cancer</a:t>
                      </a:r>
                      <a:r>
                        <a:rPr lang="de-DE" sz="1200" dirty="0"/>
                        <a:t> </a:t>
                      </a:r>
                      <a:r>
                        <a:rPr lang="de-DE" sz="1200" dirty="0" err="1"/>
                        <a:t>diagnosis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high recall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60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842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Score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harmonic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1 = 2 ×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penalizes</a:t>
                </a:r>
                <a:r>
                  <a:rPr lang="de-DE" dirty="0"/>
                  <a:t> extreme </a:t>
                </a:r>
                <a:r>
                  <a:rPr lang="de-DE" dirty="0" err="1"/>
                  <a:t>imbalance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4D8912-C5A2-D720-0CD1-E6754726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Specificity</a:t>
            </a:r>
            <a:r>
              <a:rPr lang="de-DE" dirty="0"/>
              <a:t> (True Negative Rate)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negatives,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correctly</a:t>
                </a:r>
                <a:r>
                  <a:rPr lang="de-DE" dirty="0"/>
                  <a:t> </a:t>
                </a:r>
                <a:r>
                  <a:rPr lang="de-DE" dirty="0" err="1"/>
                  <a:t>identified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Specificity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  <a:p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paired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recall</a:t>
                </a:r>
                <a:r>
                  <a:rPr lang="de-DE" dirty="0"/>
                  <a:t> (</a:t>
                </a:r>
                <a:r>
                  <a:rPr lang="de-DE" dirty="0" err="1"/>
                  <a:t>sensitivity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858E7B-2407-5225-D354-D4226D581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390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AD085-5FCF-688A-47F5-E4028AA4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Spam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DE4715-F235-B8B8-A094-A4D768145B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7495"/>
                <a:ext cx="10515600" cy="5163980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cenario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classify</a:t>
                </a:r>
                <a:r>
                  <a:rPr lang="de-DE" dirty="0"/>
                  <a:t> </a:t>
                </a:r>
                <a:r>
                  <a:rPr lang="de-DE" dirty="0" err="1"/>
                  <a:t>emails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Spam (positive) </a:t>
                </a:r>
                <a:r>
                  <a:rPr lang="de-DE" dirty="0" err="1"/>
                  <a:t>or</a:t>
                </a:r>
                <a:r>
                  <a:rPr lang="de-DE" dirty="0"/>
                  <a:t> Not Spam (negative)</a:t>
                </a:r>
              </a:p>
              <a:p>
                <a:r>
                  <a:rPr lang="de-DE" dirty="0" err="1"/>
                  <a:t>test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: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100</a:t>
                </a:r>
                <a:r>
                  <a:rPr lang="de-DE" dirty="0"/>
                  <a:t> </a:t>
                </a:r>
                <a:r>
                  <a:rPr lang="de-DE" dirty="0" err="1"/>
                  <a:t>emails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evaluation</a:t>
                </a:r>
                <a:r>
                  <a:rPr lang="de-DE" dirty="0"/>
                  <a:t> </a:t>
                </a:r>
                <a:r>
                  <a:rPr lang="de-DE" dirty="0" err="1"/>
                  <a:t>metrics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accuracy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+45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=0.8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precision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40+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=0.8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recall</a:t>
                </a:r>
                <a:r>
                  <a:rPr lang="de-DE" dirty="0"/>
                  <a:t> (</a:t>
                </a:r>
                <a:r>
                  <a:rPr lang="de-DE" dirty="0" err="1"/>
                  <a:t>percentage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detected</a:t>
                </a:r>
                <a:r>
                  <a:rPr lang="de-DE" dirty="0"/>
                  <a:t> </a:t>
                </a:r>
                <a:r>
                  <a:rPr lang="de-DE" dirty="0" err="1"/>
                  <a:t>spams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40+10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=0.80</m:t>
                    </m:r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dirty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score (</a:t>
                </a:r>
                <a:r>
                  <a:rPr lang="de-DE" dirty="0" err="1"/>
                  <a:t>combination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precision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∙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precision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recall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=0.84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interpretation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high </a:t>
                </a:r>
                <a:r>
                  <a:rPr lang="de-DE" dirty="0" err="1"/>
                  <a:t>precision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few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</a:t>
                </a:r>
                <a:r>
                  <a:rPr lang="de-DE" dirty="0" err="1"/>
                  <a:t>alarms</a:t>
                </a:r>
                <a:endParaRPr lang="de-DE" dirty="0"/>
              </a:p>
              <a:p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recall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missed</a:t>
                </a:r>
                <a:endParaRPr lang="de-DE" dirty="0"/>
              </a:p>
              <a:p>
                <a:r>
                  <a:rPr lang="de-DE" dirty="0" err="1"/>
                  <a:t>accuracy</a:t>
                </a:r>
                <a:r>
                  <a:rPr lang="de-DE" dirty="0"/>
                  <a:t> </a:t>
                </a:r>
                <a:r>
                  <a:rPr lang="de-DE" dirty="0" err="1"/>
                  <a:t>alone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not </a:t>
                </a:r>
                <a:r>
                  <a:rPr lang="de-DE" dirty="0" err="1"/>
                  <a:t>sufficient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DE4715-F235-B8B8-A094-A4D768145B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7495"/>
                <a:ext cx="10515600" cy="5163980"/>
              </a:xfrm>
              <a:blipFill>
                <a:blip r:embed="rId2"/>
                <a:stretch>
                  <a:fillRect l="-724" t="-1716" b="-17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D535-66EF-858E-7AB1-91BD6B37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5EF327-519C-B87E-953D-52CF437E5131}"/>
              </a:ext>
            </a:extLst>
          </p:cNvPr>
          <p:cNvSpPr txBox="1"/>
          <p:nvPr/>
        </p:nvSpPr>
        <p:spPr>
          <a:xfrm>
            <a:off x="8984313" y="1406769"/>
            <a:ext cx="1917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confusion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: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16A6955F-D5F4-5B0B-E851-C4085B9C1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700367"/>
              </p:ext>
            </p:extLst>
          </p:nvPr>
        </p:nvGraphicFramePr>
        <p:xfrm>
          <a:off x="8078875" y="1776101"/>
          <a:ext cx="3727940" cy="129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978">
                  <a:extLst>
                    <a:ext uri="{9D8B030D-6E8A-4147-A177-3AD203B41FA5}">
                      <a16:colId xmlns:a16="http://schemas.microsoft.com/office/drawing/2014/main" val="3191300630"/>
                    </a:ext>
                  </a:extLst>
                </a:gridCol>
                <a:gridCol w="1014883">
                  <a:extLst>
                    <a:ext uri="{9D8B030D-6E8A-4147-A177-3AD203B41FA5}">
                      <a16:colId xmlns:a16="http://schemas.microsoft.com/office/drawing/2014/main" val="3988278271"/>
                    </a:ext>
                  </a:extLst>
                </a:gridCol>
                <a:gridCol w="1055079">
                  <a:extLst>
                    <a:ext uri="{9D8B030D-6E8A-4147-A177-3AD203B41FA5}">
                      <a16:colId xmlns:a16="http://schemas.microsoft.com/office/drawing/2014/main" val="3769724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Not Spam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74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40 (TP)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10 (FN)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061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Not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5 (FP)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45 (TN)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384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868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ROC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Curve</a:t>
                </a:r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AD4B36-A164-A513-CF0F-93BF146948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225209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b="1" dirty="0"/>
                  <a:t>R</a:t>
                </a:r>
                <a:r>
                  <a:rPr lang="de-DE" dirty="0"/>
                  <a:t>eceiver </a:t>
                </a:r>
                <a:r>
                  <a:rPr lang="de-DE" b="1" dirty="0"/>
                  <a:t>O</a:t>
                </a:r>
                <a:r>
                  <a:rPr lang="de-DE" dirty="0"/>
                  <a:t>perating </a:t>
                </a:r>
                <a:r>
                  <a:rPr lang="de-DE" b="1" dirty="0" err="1"/>
                  <a:t>C</a:t>
                </a:r>
                <a:r>
                  <a:rPr lang="de-DE" dirty="0" err="1"/>
                  <a:t>haracteristic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plots</a:t>
                </a:r>
                <a:r>
                  <a:rPr lang="de-DE" dirty="0"/>
                  <a:t> True Positive Rate (Recall) vs. </a:t>
                </a:r>
                <a:r>
                  <a:rPr lang="de-DE" dirty="0" err="1"/>
                  <a:t>False</a:t>
                </a:r>
                <a:r>
                  <a:rPr lang="de-DE" dirty="0"/>
                  <a:t> Positive Rate (FPR)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FPR</m:t>
                      </m:r>
                      <m:r>
                        <a:rPr lang="de-DE" dirty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key</a:t>
                </a:r>
                <a:r>
                  <a:rPr lang="de-DE" dirty="0"/>
                  <a:t>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shows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all </a:t>
                </a:r>
                <a:r>
                  <a:rPr lang="de-DE" dirty="0" err="1"/>
                  <a:t>thresholds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better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curve</a:t>
                </a:r>
                <a:r>
                  <a:rPr lang="de-DE" dirty="0"/>
                  <a:t> </a:t>
                </a:r>
                <a:r>
                  <a:rPr lang="de-DE" dirty="0" err="1"/>
                  <a:t>closer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top-</a:t>
                </a:r>
                <a:r>
                  <a:rPr lang="de-DE" dirty="0" err="1"/>
                  <a:t>left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AD4B36-A164-A513-CF0F-93BF146948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225209" cy="4351338"/>
              </a:xfrm>
              <a:blipFill>
                <a:blip r:embed="rId3"/>
                <a:stretch>
                  <a:fillRect l="-1663" t="-350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97F6CD-B282-9987-FAF8-E0E49222D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41B7B2-BA96-7A8F-3F92-425E4D822D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37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AUC</m:t>
                    </m:r>
                  </m:oMath>
                </a14:m>
                <a:r>
                  <a:rPr lang="de-DE" dirty="0"/>
                  <a:t> (Area Under </a:t>
                </a:r>
                <a:r>
                  <a:rPr lang="de-DE" dirty="0" err="1"/>
                  <a:t>Curve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2FA62-AFE8-97FD-F94D-041043157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definition</a:t>
            </a:r>
            <a:r>
              <a:rPr lang="de-DE" dirty="0"/>
              <a:t>: </a:t>
            </a:r>
            <a:r>
              <a:rPr lang="de-DE" dirty="0" err="1"/>
              <a:t>area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ROC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interpretation</a:t>
            </a:r>
            <a:r>
              <a:rPr lang="de-DE" dirty="0"/>
              <a:t>:</a:t>
            </a:r>
          </a:p>
          <a:p>
            <a:r>
              <a:rPr lang="de-DE" dirty="0"/>
              <a:t>1.0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perfect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0.5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guessing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advantage</a:t>
            </a:r>
            <a:r>
              <a:rPr lang="de-DE" dirty="0"/>
              <a:t>: </a:t>
            </a:r>
            <a:r>
              <a:rPr lang="de-DE" dirty="0" err="1"/>
              <a:t>threshold</a:t>
            </a:r>
            <a:r>
              <a:rPr lang="de-DE" dirty="0"/>
              <a:t>-independent </a:t>
            </a:r>
            <a:r>
              <a:rPr lang="de-DE" dirty="0" err="1"/>
              <a:t>evaluation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F2D3F-511C-A1CD-387B-C259F3B7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7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AE5A77-7807-FB10-86A7-E66BFAF88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Precision-Recall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DD589B-C44F-B5E2-13DD-B060C0FE6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vs.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(ROC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overly</a:t>
            </a:r>
            <a:r>
              <a:rPr lang="de-DE" dirty="0"/>
              <a:t> </a:t>
            </a:r>
            <a:r>
              <a:rPr lang="de-DE" dirty="0" err="1"/>
              <a:t>optimistic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skewed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</a:p>
          <a:p>
            <a:r>
              <a:rPr lang="de-DE" dirty="0"/>
              <a:t>99% </a:t>
            </a:r>
            <a:r>
              <a:rPr lang="de-DE" dirty="0" err="1"/>
              <a:t>are</a:t>
            </a:r>
            <a:r>
              <a:rPr lang="de-DE" dirty="0"/>
              <a:t> „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spam</a:t>
            </a:r>
            <a:r>
              <a:rPr lang="de-DE" dirty="0"/>
              <a:t>“,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says</a:t>
            </a:r>
            <a:r>
              <a:rPr lang="de-DE" dirty="0"/>
              <a:t> „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spam</a:t>
            </a:r>
            <a:r>
              <a:rPr lang="de-DE" dirty="0"/>
              <a:t>“</a:t>
            </a:r>
          </a:p>
          <a:p>
            <a:r>
              <a:rPr lang="de-DE" dirty="0"/>
              <a:t>ROC </a:t>
            </a:r>
            <a:r>
              <a:rPr lang="de-DE" dirty="0" err="1"/>
              <a:t>may</a:t>
            </a:r>
            <a:r>
              <a:rPr lang="de-DE" dirty="0"/>
              <a:t> still </a:t>
            </a:r>
            <a:r>
              <a:rPr lang="de-DE" dirty="0" err="1"/>
              <a:t>look</a:t>
            </a:r>
            <a:r>
              <a:rPr lang="de-DE" dirty="0"/>
              <a:t> „</a:t>
            </a:r>
            <a:r>
              <a:rPr lang="de-DE" dirty="0" err="1"/>
              <a:t>good</a:t>
            </a:r>
            <a:r>
              <a:rPr lang="de-DE" dirty="0"/>
              <a:t>“ (</a:t>
            </a:r>
            <a:r>
              <a:rPr lang="de-DE" dirty="0" err="1"/>
              <a:t>respects</a:t>
            </a:r>
            <a:r>
              <a:rPr lang="de-DE" dirty="0"/>
              <a:t> TN)</a:t>
            </a:r>
          </a:p>
          <a:p>
            <a:r>
              <a:rPr lang="de-DE" dirty="0"/>
              <a:t>but </a:t>
            </a:r>
            <a:r>
              <a:rPr lang="de-DE" dirty="0" err="1"/>
              <a:t>precision</a:t>
            </a:r>
            <a:r>
              <a:rPr lang="de-DE" dirty="0"/>
              <a:t> </a:t>
            </a:r>
            <a:r>
              <a:rPr lang="de-DE" dirty="0" err="1"/>
              <a:t>bad</a:t>
            </a:r>
            <a:r>
              <a:rPr lang="de-DE" dirty="0"/>
              <a:t> (not </a:t>
            </a:r>
            <a:r>
              <a:rPr lang="de-DE" dirty="0" err="1"/>
              <a:t>def</a:t>
            </a:r>
            <a:r>
              <a:rPr lang="de-DE" dirty="0"/>
              <a:t>.), </a:t>
            </a:r>
            <a:r>
              <a:rPr lang="de-DE" dirty="0" err="1"/>
              <a:t>recall</a:t>
            </a:r>
            <a:r>
              <a:rPr lang="de-DE" dirty="0"/>
              <a:t> = 0 </a:t>
            </a:r>
          </a:p>
          <a:p>
            <a:r>
              <a:rPr lang="de-DE" dirty="0">
                <a:sym typeface="Wingdings" panose="05000000000000000000" pitchFamily="2" charset="2"/>
              </a:rPr>
              <a:t>PR </a:t>
            </a:r>
            <a:r>
              <a:rPr lang="de-DE" dirty="0" err="1">
                <a:sym typeface="Wingdings" panose="05000000000000000000" pitchFamily="2" charset="2"/>
              </a:rPr>
              <a:t>curve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detects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that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problem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ignores</a:t>
            </a:r>
            <a:r>
              <a:rPr lang="de-DE" dirty="0">
                <a:sym typeface="Wingdings" panose="05000000000000000000" pitchFamily="2" charset="2"/>
              </a:rPr>
              <a:t> TN)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71902D-C299-208A-FD4D-E603B9EC6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5B3FAAF5-E46E-BCBE-8F26-F139A495E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267895"/>
              </p:ext>
            </p:extLst>
          </p:nvPr>
        </p:nvGraphicFramePr>
        <p:xfrm>
          <a:off x="7625860" y="4676956"/>
          <a:ext cx="3727940" cy="129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978">
                  <a:extLst>
                    <a:ext uri="{9D8B030D-6E8A-4147-A177-3AD203B41FA5}">
                      <a16:colId xmlns:a16="http://schemas.microsoft.com/office/drawing/2014/main" val="3191300630"/>
                    </a:ext>
                  </a:extLst>
                </a:gridCol>
                <a:gridCol w="1014883">
                  <a:extLst>
                    <a:ext uri="{9D8B030D-6E8A-4147-A177-3AD203B41FA5}">
                      <a16:colId xmlns:a16="http://schemas.microsoft.com/office/drawing/2014/main" val="3988278271"/>
                    </a:ext>
                  </a:extLst>
                </a:gridCol>
                <a:gridCol w="1055079">
                  <a:extLst>
                    <a:ext uri="{9D8B030D-6E8A-4147-A177-3AD203B41FA5}">
                      <a16:colId xmlns:a16="http://schemas.microsoft.com/office/drawing/2014/main" val="3769724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b="0" dirty="0" err="1"/>
                        <a:t>Predicted</a:t>
                      </a:r>
                      <a:r>
                        <a:rPr lang="de-DE" sz="1500" b="0" dirty="0"/>
                        <a:t> Not Spam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74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0 (TP)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1 (FN)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061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500" dirty="0"/>
                        <a:t>Actual Not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0 (FP)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500" dirty="0"/>
                        <a:t>99 (TN)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384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620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D893E5-6005-7A60-A9A5-E3C03FFDD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608FB1-F872-F65B-C0F8-E0F0A9B00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suffice</a:t>
            </a:r>
            <a:endParaRPr lang="de-DE" dirty="0"/>
          </a:p>
          <a:p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F1, PR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positives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negatives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objective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EA8324-8C47-8782-354C-AACA8357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739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BAA91-B4AB-D7A8-5204-1807894D2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B4B339-ACF2-ABEC-4B70-D439F4E4E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predictions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errors</a:t>
            </a:r>
            <a:r>
              <a:rPr lang="de-DE" dirty="0"/>
              <a:t>: </a:t>
            </a:r>
            <a:r>
              <a:rPr lang="de-DE" dirty="0" err="1"/>
              <a:t>deviations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i="1" dirty="0"/>
              <a:t>How </a:t>
            </a:r>
            <a:r>
              <a:rPr lang="de-DE" i="1" dirty="0" err="1"/>
              <a:t>wrong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outliers</a:t>
            </a:r>
            <a:r>
              <a:rPr lang="de-DE" dirty="0"/>
              <a:t> 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penalize</a:t>
            </a:r>
            <a:r>
              <a:rPr lang="de-DE" dirty="0"/>
              <a:t> large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heavily</a:t>
            </a:r>
            <a:r>
              <a:rPr lang="de-DE" dirty="0"/>
              <a:t>)</a:t>
            </a:r>
          </a:p>
          <a:p>
            <a:r>
              <a:rPr lang="de-DE" dirty="0" err="1"/>
              <a:t>interpretability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4B64DB-1A78-8170-8CF6-34EB5124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589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9E6C4-BB79-A75A-D19E-577170C24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Error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cy-GB" dirty="0"/>
                  <a:t>residual (error): difference between actual and predicted value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residual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cy-GB" dirty="0"/>
              </a:p>
              <a:p>
                <a:pPr marL="0" indent="0">
                  <a:buNone/>
                </a:pPr>
                <a:endParaRPr lang="cy-GB" dirty="0"/>
              </a:p>
              <a:p>
                <a:r>
                  <a:rPr lang="cy-GB" dirty="0"/>
                  <a:t>positive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underestimation</a:t>
                </a:r>
              </a:p>
              <a:p>
                <a:r>
                  <a:rPr lang="cy-GB" dirty="0"/>
                  <a:t>negative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overestimation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:r>
                  <a:rPr lang="cy-GB" dirty="0"/>
                  <a:t>mean residual shows general under- or overestimation: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cy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36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B7E126-F5C0-E2F3-41CD-17A82A90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1933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</a:t>
                </a:r>
                <a:r>
                  <a:rPr lang="de-DE" dirty="0" err="1"/>
                  <a:t>Squared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heavily</a:t>
                </a:r>
                <a:endParaRPr lang="de-DE" dirty="0"/>
              </a:p>
              <a:p>
                <a:r>
                  <a:rPr lang="de-DE" dirty="0"/>
                  <a:t>smooth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Root Mean Squared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square</a:t>
                </a:r>
                <a:r>
                  <a:rPr lang="de-DE" dirty="0"/>
                  <a:t> root </a:t>
                </a:r>
                <a:r>
                  <a:rPr lang="de-DE" dirty="0" err="1"/>
                  <a:t>of</a:t>
                </a:r>
                <a:r>
                  <a:rPr lang="de-DE" dirty="0"/>
                  <a:t> MSE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RM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SE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same </a:t>
                </a:r>
                <a:r>
                  <a:rPr lang="de-DE" dirty="0" err="1"/>
                  <a:t>units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target</a:t>
                </a:r>
                <a:r>
                  <a:rPr lang="de-DE" dirty="0"/>
                  <a:t> variable</a:t>
                </a:r>
              </a:p>
              <a:p>
                <a:r>
                  <a:rPr lang="de-DE" dirty="0" err="1"/>
                  <a:t>interpretation</a:t>
                </a:r>
                <a:r>
                  <a:rPr lang="de-DE" dirty="0"/>
                  <a:t>: </a:t>
                </a: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size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977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72C798-06FD-AA0C-3EC5-B4237747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35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absolute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 and </a:t>
                </a:r>
                <a:r>
                  <a:rPr lang="de-DE" dirty="0" err="1"/>
                  <a:t>actual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endParaRPr lang="de-DE" dirty="0"/>
              </a:p>
              <a:p>
                <a:r>
                  <a:rPr lang="de-DE" dirty="0"/>
                  <a:t>robust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r>
                  <a:rPr lang="de-DE" dirty="0" err="1"/>
                  <a:t>does</a:t>
                </a:r>
                <a:r>
                  <a:rPr lang="de-DE" dirty="0"/>
                  <a:t> not </a:t>
                </a:r>
                <a:r>
                  <a:rPr lang="de-DE" dirty="0" err="1"/>
                  <a:t>strongly</a:t>
                </a:r>
                <a:r>
                  <a:rPr lang="de-DE" dirty="0"/>
                  <a:t>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686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/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aka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blipFill>
                <a:blip r:embed="rId4"/>
                <a:stretch>
                  <a:fillRect l="-3488" t="-6667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vs.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/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treats</a:t>
                </a:r>
                <a:r>
                  <a:rPr lang="de-DE" dirty="0"/>
                  <a:t> all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equally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/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rule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thumb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matters</a:t>
                </a: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1ADCD5-93B5-F838-E051-EC558F1D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916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Coefficient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Determination)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r>
                  <a:rPr lang="de-DE" dirty="0"/>
                  <a:t> </a:t>
                </a:r>
                <a:r>
                  <a:rPr lang="de-DE" dirty="0" err="1"/>
                  <a:t>explained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interpretation</a:t>
                </a:r>
                <a:r>
                  <a:rPr lang="de-DE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perfect</a:t>
                </a:r>
                <a:r>
                  <a:rPr lang="de-DE" dirty="0"/>
                  <a:t> fit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same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predicting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worse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:r>
                  <a:rPr lang="de-DE" dirty="0" err="1"/>
                  <a:t>baseline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3D3E92-381D-ADE9-855B-370F9E59F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748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</a:t>
                </a:r>
                <a:r>
                  <a:rPr lang="de-DE" dirty="0" err="1"/>
                  <a:t>Percentage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expressed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percentage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MAPE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undefined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biased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314C82-9918-8849-25F2-956C7A0A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4458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70B72-63A2-8E8A-01BF-015E961D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robust, </a:t>
                </a:r>
                <a:r>
                  <a:rPr lang="de-DE" dirty="0" err="1"/>
                  <a:t>interpretable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explains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: relative </a:t>
                </a:r>
                <a:r>
                  <a:rPr lang="de-DE" dirty="0" err="1"/>
                  <a:t>error</a:t>
                </a:r>
                <a:r>
                  <a:rPr lang="de-DE" dirty="0"/>
                  <a:t> (%)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key</a:t>
                </a:r>
                <a:r>
                  <a:rPr lang="de-DE" dirty="0"/>
                  <a:t> </a:t>
                </a:r>
                <a:r>
                  <a:rPr lang="de-DE" dirty="0" err="1"/>
                  <a:t>question</a:t>
                </a:r>
                <a:r>
                  <a:rPr lang="de-DE" dirty="0"/>
                  <a:t>: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matter </a:t>
                </a:r>
                <a:r>
                  <a:rPr lang="de-DE" dirty="0" err="1"/>
                  <a:t>most</a:t>
                </a:r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044B24-EA2A-2ADC-3781-1A2B91DB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/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absolute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increase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increasing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blipFill>
                <a:blip r:embed="rId3"/>
                <a:stretch>
                  <a:fillRect l="-3012" t="-6579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/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relative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be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careful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small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blipFill>
                <a:blip r:embed="rId4"/>
                <a:stretch>
                  <a:fillRect l="-3448" t="-7895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5DF8BDC7-7E0E-4C5B-0CF2-2CC38FDDA5BE}"/>
              </a:ext>
            </a:extLst>
          </p:cNvPr>
          <p:cNvSpPr/>
          <p:nvPr/>
        </p:nvSpPr>
        <p:spPr>
          <a:xfrm rot="10800000">
            <a:off x="6571621" y="1825625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505BFAED-DD49-4211-7184-53485A1D7096}"/>
              </a:ext>
            </a:extLst>
          </p:cNvPr>
          <p:cNvSpPr/>
          <p:nvPr/>
        </p:nvSpPr>
        <p:spPr>
          <a:xfrm rot="10800000">
            <a:off x="6571620" y="3429000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341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Point </a:t>
            </a:r>
            <a:r>
              <a:rPr lang="de-DE" dirty="0" err="1"/>
              <a:t>Estimates</a:t>
            </a:r>
            <a:r>
              <a:rPr lang="de-DE" dirty="0"/>
              <a:t> vs. Full PDF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2387" indent="0">
              <a:buNone/>
              <a:tabLst>
                <a:tab pos="227013" algn="l"/>
              </a:tabLst>
            </a:pPr>
            <a:r>
              <a:rPr lang="de-DE" sz="2600" dirty="0"/>
              <a:t>all </a:t>
            </a:r>
            <a:r>
              <a:rPr lang="de-DE" sz="2600" dirty="0" err="1"/>
              <a:t>considered</a:t>
            </a:r>
            <a:r>
              <a:rPr lang="de-DE" sz="2600" dirty="0"/>
              <a:t> </a:t>
            </a:r>
            <a:r>
              <a:rPr lang="de-DE" sz="2600" dirty="0" err="1"/>
              <a:t>metrics</a:t>
            </a:r>
            <a:r>
              <a:rPr lang="de-DE" sz="2600" dirty="0"/>
              <a:t> </a:t>
            </a:r>
            <a:r>
              <a:rPr lang="de-DE" sz="2600" dirty="0" err="1"/>
              <a:t>describe</a:t>
            </a:r>
            <a:r>
              <a:rPr lang="de-DE" sz="2600" dirty="0"/>
              <a:t> </a:t>
            </a:r>
            <a:r>
              <a:rPr lang="de-DE" sz="2600" dirty="0" err="1"/>
              <a:t>point</a:t>
            </a:r>
            <a:r>
              <a:rPr lang="de-DE" sz="2600" dirty="0"/>
              <a:t> </a:t>
            </a:r>
            <a:r>
              <a:rPr lang="de-DE" sz="2600" dirty="0" err="1"/>
              <a:t>estimates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de-DE" sz="2600" dirty="0" err="1"/>
              <a:t>typically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mean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median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assumed</a:t>
            </a:r>
            <a:r>
              <a:rPr lang="de-DE" sz="2600" dirty="0"/>
              <a:t> </a:t>
            </a:r>
            <a:r>
              <a:rPr lang="de-DE" sz="2600" dirty="0" err="1"/>
              <a:t>probability</a:t>
            </a:r>
            <a:r>
              <a:rPr lang="de-DE" sz="2600" dirty="0"/>
              <a:t> </a:t>
            </a:r>
            <a:r>
              <a:rPr lang="de-DE" sz="2600" dirty="0" err="1"/>
              <a:t>distribution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endParaRPr lang="en-GB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en-GB" sz="2600" dirty="0"/>
              <a:t>metrics for evaluation of predictions of full individual (i.e., for each observation) probability distributions </a:t>
            </a:r>
            <a:r>
              <a:rPr lang="en-GB" sz="2600" dirty="0">
                <a:hlinkClick r:id="rId2"/>
              </a:rPr>
              <a:t>a bit tricky</a:t>
            </a:r>
            <a:endParaRPr lang="en-DE" sz="260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E2E805B-644B-313B-692C-5E01C3B8B14D}"/>
              </a:ext>
            </a:extLst>
          </p:cNvPr>
          <p:cNvSpPr txBox="1"/>
          <p:nvPr/>
        </p:nvSpPr>
        <p:spPr>
          <a:xfrm>
            <a:off x="742321" y="4417358"/>
            <a:ext cx="10707357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discussed</a:t>
            </a:r>
            <a:r>
              <a:rPr lang="de-DE" sz="2400" dirty="0"/>
              <a:t>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full</a:t>
            </a:r>
            <a:r>
              <a:rPr lang="de-DE" sz="2400" dirty="0"/>
              <a:t> individual PDFs </a:t>
            </a:r>
            <a:r>
              <a:rPr lang="de-DE" sz="2400" dirty="0" err="1"/>
              <a:t>typically</a:t>
            </a:r>
            <a:r>
              <a:rPr lang="de-DE" sz="2400" dirty="0"/>
              <a:t> </a:t>
            </a:r>
            <a:r>
              <a:rPr lang="de-DE" sz="2400" dirty="0" err="1"/>
              <a:t>requires</a:t>
            </a:r>
            <a:r>
              <a:rPr lang="de-DE" sz="2400" dirty="0"/>
              <a:t>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additional </a:t>
            </a:r>
            <a:r>
              <a:rPr lang="de-DE" sz="2400" dirty="0" err="1"/>
              <a:t>parameters</a:t>
            </a:r>
            <a:endParaRPr lang="de-DE" sz="2400" dirty="0"/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mean</a:t>
            </a:r>
            <a:r>
              <a:rPr lang="de-DE" sz="2400" dirty="0"/>
              <a:t> </a:t>
            </a:r>
            <a:r>
              <a:rPr lang="de-DE" sz="2400" dirty="0" err="1"/>
              <a:t>estimate</a:t>
            </a:r>
            <a:r>
              <a:rPr lang="de-DE" sz="2400" dirty="0"/>
              <a:t>, </a:t>
            </a:r>
            <a:r>
              <a:rPr lang="de-DE" sz="2400" dirty="0" err="1"/>
              <a:t>homoscedasticity</a:t>
            </a:r>
            <a:r>
              <a:rPr lang="de-DE" sz="2400" dirty="0"/>
              <a:t> </a:t>
            </a:r>
            <a:r>
              <a:rPr lang="de-DE" sz="2400" dirty="0" err="1"/>
              <a:t>assumption</a:t>
            </a:r>
            <a:r>
              <a:rPr lang="de-DE" sz="2400" dirty="0"/>
              <a:t>, and </a:t>
            </a:r>
            <a:r>
              <a:rPr lang="de-DE" sz="2400" dirty="0" err="1"/>
              <a:t>assumption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underlying</a:t>
            </a:r>
            <a:r>
              <a:rPr lang="de-DE" sz="2400" dirty="0"/>
              <a:t> PDF (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example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in linear </a:t>
            </a:r>
            <a:r>
              <a:rPr lang="de-DE" sz="2400" dirty="0" err="1"/>
              <a:t>regression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not </a:t>
            </a:r>
            <a:r>
              <a:rPr lang="de-DE" sz="2400" dirty="0" err="1">
                <a:sym typeface="Wingdings" pitchFamily="2" charset="2"/>
              </a:rPr>
              <a:t>truly</a:t>
            </a:r>
            <a:r>
              <a:rPr lang="de-DE" sz="2400" dirty="0">
                <a:sym typeface="Wingdings" pitchFamily="2" charset="2"/>
              </a:rPr>
              <a:t> individual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68BF4-AD63-4F4C-B852-8AE16A56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Histogram of CDF Observations</a:t>
            </a:r>
            <a:endParaRPr lang="en-DE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395004B0-6592-F449-91D7-BF3B2F9A4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538B77-FECF-1646-98C9-3DB6CA58E52D}"/>
              </a:ext>
            </a:extLst>
          </p:cNvPr>
          <p:cNvGrpSpPr/>
          <p:nvPr/>
        </p:nvGrpSpPr>
        <p:grpSpPr>
          <a:xfrm>
            <a:off x="592367" y="1895704"/>
            <a:ext cx="2696010" cy="4190226"/>
            <a:chOff x="7560009" y="1527716"/>
            <a:chExt cx="2696010" cy="419022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82FDB3-2026-E244-8F15-E59F4DF94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60009" y="1527716"/>
              <a:ext cx="2696010" cy="202347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7FCD682-F850-514D-BB44-C6C6EABD8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0009" y="3677422"/>
              <a:ext cx="2696010" cy="202347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BD5DD5-A542-F54F-A6BF-5365CDBB3F27}"/>
                </a:ext>
              </a:extLst>
            </p:cNvPr>
            <p:cNvSpPr/>
            <p:nvPr/>
          </p:nvSpPr>
          <p:spPr>
            <a:xfrm>
              <a:off x="7561860" y="5544789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D68A52C-9283-8B4E-B746-D5B48BB5731B}"/>
                </a:ext>
              </a:extLst>
            </p:cNvPr>
            <p:cNvSpPr/>
            <p:nvPr/>
          </p:nvSpPr>
          <p:spPr>
            <a:xfrm>
              <a:off x="7586014" y="3428875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A81CB9C7-64BB-6746-95A0-B386152B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5982"/>
            <a:ext cx="4046189" cy="303683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6A3EA3F-128E-5545-9BDF-D44861E360C5}"/>
              </a:ext>
            </a:extLst>
          </p:cNvPr>
          <p:cNvSpPr txBox="1"/>
          <p:nvPr/>
        </p:nvSpPr>
        <p:spPr>
          <a:xfrm>
            <a:off x="3288377" y="2158287"/>
            <a:ext cx="1786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</a:t>
            </a:r>
            <a:r>
              <a:rPr lang="en-DE" dirty="0"/>
              <a:t>redicted PDF</a:t>
            </a:r>
          </a:p>
          <a:p>
            <a:r>
              <a:rPr lang="en-DE" dirty="0">
                <a:sym typeface="Wingdings" pitchFamily="2" charset="2"/>
              </a:rPr>
              <a:t> predicted CDF</a:t>
            </a:r>
            <a:endParaRPr lang="en-DE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56D7B23-B5E3-344C-9128-B609D0C1978F}"/>
              </a:ext>
            </a:extLst>
          </p:cNvPr>
          <p:cNvCxnSpPr>
            <a:cxnSpLocks/>
          </p:cNvCxnSpPr>
          <p:nvPr/>
        </p:nvCxnSpPr>
        <p:spPr>
          <a:xfrm flipH="1">
            <a:off x="2085278" y="2430872"/>
            <a:ext cx="1203099" cy="373746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B71AC01-CD5C-F44C-9C87-EC8707602D18}"/>
              </a:ext>
            </a:extLst>
          </p:cNvPr>
          <p:cNvCxnSpPr/>
          <p:nvPr/>
        </p:nvCxnSpPr>
        <p:spPr>
          <a:xfrm flipH="1">
            <a:off x="2486722" y="2804618"/>
            <a:ext cx="1326995" cy="151090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479826B-02BD-EB43-9645-3DF700111BED}"/>
              </a:ext>
            </a:extLst>
          </p:cNvPr>
          <p:cNvSpPr txBox="1"/>
          <p:nvPr/>
        </p:nvSpPr>
        <p:spPr>
          <a:xfrm>
            <a:off x="2686827" y="5974055"/>
            <a:ext cx="2123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  <a:r>
              <a:rPr lang="en-DE" dirty="0"/>
              <a:t>bservation (</a:t>
            </a:r>
            <a:r>
              <a:rPr lang="en-DE"/>
              <a:t>target)</a:t>
            </a: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</a:t>
            </a:r>
            <a:endParaRPr lang="en-DE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65311EA-CA0E-5C41-8E61-C1001196611A}"/>
              </a:ext>
            </a:extLst>
          </p:cNvPr>
          <p:cNvCxnSpPr>
            <a:stCxn id="35" idx="1"/>
          </p:cNvCxnSpPr>
          <p:nvPr/>
        </p:nvCxnSpPr>
        <p:spPr>
          <a:xfrm flipH="1" flipV="1">
            <a:off x="1527717" y="5311043"/>
            <a:ext cx="1159110" cy="986178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554657-190E-B547-AFE4-3EDDAA7D9D30}"/>
              </a:ext>
            </a:extLst>
          </p:cNvPr>
          <p:cNvCxnSpPr>
            <a:cxnSpLocks/>
          </p:cNvCxnSpPr>
          <p:nvPr/>
        </p:nvCxnSpPr>
        <p:spPr>
          <a:xfrm flipV="1">
            <a:off x="1542424" y="4490453"/>
            <a:ext cx="4444039" cy="815037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D6DE3E8-BCDD-F546-8B1D-E1C5B428E7FA}"/>
              </a:ext>
            </a:extLst>
          </p:cNvPr>
          <p:cNvSpPr/>
          <p:nvPr/>
        </p:nvSpPr>
        <p:spPr>
          <a:xfrm>
            <a:off x="5986463" y="4714480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93AB2B-8AAD-F54A-9A9E-BABE912A99E2}"/>
              </a:ext>
            </a:extLst>
          </p:cNvPr>
          <p:cNvSpPr txBox="1"/>
          <p:nvPr/>
        </p:nvSpPr>
        <p:spPr>
          <a:xfrm>
            <a:off x="618372" y="1508799"/>
            <a:ext cx="3452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</a:t>
            </a:r>
            <a:r>
              <a:rPr lang="en-DE" dirty="0"/>
              <a:t>ndividual prediction/observation: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0478C1-6821-2440-B5C8-8010F6948CFD}"/>
              </a:ext>
            </a:extLst>
          </p:cNvPr>
          <p:cNvSpPr txBox="1"/>
          <p:nvPr/>
        </p:nvSpPr>
        <p:spPr>
          <a:xfrm>
            <a:off x="6321719" y="1566650"/>
            <a:ext cx="382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many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all) </a:t>
            </a:r>
            <a:r>
              <a:rPr lang="de-DE" dirty="0" err="1"/>
              <a:t>predictions</a:t>
            </a:r>
            <a:r>
              <a:rPr lang="de-DE" dirty="0"/>
              <a:t>/</a:t>
            </a:r>
            <a:r>
              <a:rPr lang="de-DE" dirty="0" err="1"/>
              <a:t>observations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5415B2-6340-A44B-84AB-8C9C4EEF63F5}"/>
              </a:ext>
            </a:extLst>
          </p:cNvPr>
          <p:cNvSpPr txBox="1"/>
          <p:nvPr/>
        </p:nvSpPr>
        <p:spPr>
          <a:xfrm>
            <a:off x="6321719" y="5303024"/>
            <a:ext cx="52760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subtlety for discrete PDFs:</a:t>
            </a:r>
          </a:p>
          <a:p>
            <a:r>
              <a:rPr lang="en-GB" dirty="0"/>
              <a:t>histogram filled using random numbers according to the CDF intervals (e.g., for 3 actual sales: random pick between discrete CDF values for 2 and 3)</a:t>
            </a:r>
          </a:p>
        </p:txBody>
      </p:sp>
    </p:spTree>
    <p:extLst>
      <p:ext uri="{BB962C8B-B14F-4D97-AF65-F5344CB8AC3E}">
        <p14:creationId xmlns:p14="http://schemas.microsoft.com/office/powerpoint/2010/main" val="1249479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18D56-8C96-054B-8EE2-FB33A798E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CDF Histogram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B1D448-DAED-744D-8DBF-B148FF77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28</a:t>
            </a:fld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BD803D1-8F96-D577-7F38-912A09A94324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180796" y="5410337"/>
            <a:ext cx="4043344" cy="9239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000" dirty="0"/>
              <a:t>quantitative evaluation: measure</a:t>
            </a:r>
            <a:r>
              <a:rPr lang="en-DE" sz="2000" dirty="0"/>
              <a:t> deviation from uniform distribution</a:t>
            </a:r>
            <a:r>
              <a:rPr lang="en-GB" sz="2000" dirty="0"/>
              <a:t> (e.g., e</a:t>
            </a:r>
            <a:r>
              <a:rPr lang="en-DE" sz="2000" dirty="0"/>
              <a:t>arth mover</a:t>
            </a:r>
            <a:r>
              <a:rPr lang="en-GB" sz="2000" dirty="0"/>
              <a:t>’s</a:t>
            </a:r>
            <a:r>
              <a:rPr lang="en-DE" sz="2000" dirty="0"/>
              <a:t> distance</a:t>
            </a:r>
            <a:r>
              <a:rPr lang="en-GB" sz="2000" dirty="0"/>
              <a:t>)</a:t>
            </a:r>
            <a:endParaRPr lang="en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B21024-8438-114A-AFBC-5C3FEEAF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961" y="3913785"/>
            <a:ext cx="3269670" cy="2454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85BD47-6694-094E-9ACF-72C91256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69" y="3828507"/>
            <a:ext cx="3265603" cy="2450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AD3458-6FEA-7046-B284-6906C8F36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69" y="1432146"/>
            <a:ext cx="3265603" cy="24509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A4B7FA-4E30-954A-8AA9-29B3BF3041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030" y="1432146"/>
            <a:ext cx="3265603" cy="2450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E4F686-F18B-E14C-B2A8-309008AB9379}"/>
              </a:ext>
            </a:extLst>
          </p:cNvPr>
          <p:cNvSpPr txBox="1"/>
          <p:nvPr/>
        </p:nvSpPr>
        <p:spPr>
          <a:xfrm>
            <a:off x="5181966" y="2228671"/>
            <a:ext cx="1898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i</a:t>
            </a:r>
            <a:r>
              <a:rPr lang="en-DE" sz="2400" dirty="0"/>
              <a:t>f all is fine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67A783-B598-3545-AC00-D25E4E1FA8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3198" y="2690336"/>
            <a:ext cx="3265603" cy="24509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DD56EC-3130-B547-B17D-BF2E532D40AB}"/>
              </a:ext>
            </a:extLst>
          </p:cNvPr>
          <p:cNvSpPr/>
          <p:nvPr/>
        </p:nvSpPr>
        <p:spPr>
          <a:xfrm>
            <a:off x="4274266" y="495831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9111A4-F7AC-9746-8FC1-97E1FC3FFE09}"/>
              </a:ext>
            </a:extLst>
          </p:cNvPr>
          <p:cNvSpPr/>
          <p:nvPr/>
        </p:nvSpPr>
        <p:spPr>
          <a:xfrm>
            <a:off x="407501" y="363601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D33122-C2BD-3D46-B686-0963A33B6CBB}"/>
              </a:ext>
            </a:extLst>
          </p:cNvPr>
          <p:cNvSpPr/>
          <p:nvPr/>
        </p:nvSpPr>
        <p:spPr>
          <a:xfrm>
            <a:off x="407501" y="607592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56BB36-C36E-EB49-B60A-036174645816}"/>
              </a:ext>
            </a:extLst>
          </p:cNvPr>
          <p:cNvSpPr/>
          <p:nvPr/>
        </p:nvSpPr>
        <p:spPr>
          <a:xfrm>
            <a:off x="8227858" y="6150311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2901A2-EBB1-FC43-A8F2-3C25AB314B49}"/>
              </a:ext>
            </a:extLst>
          </p:cNvPr>
          <p:cNvSpPr/>
          <p:nvPr/>
        </p:nvSpPr>
        <p:spPr>
          <a:xfrm>
            <a:off x="8224140" y="374377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5949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5DEAA4-BA4C-8A23-F61A-C3A76B7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195037-3F13-BCEF-284A-84F355225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</a:t>
            </a:r>
            <a:r>
              <a:rPr lang="de-DE" sz="2600" dirty="0" err="1"/>
              <a:t>understand</a:t>
            </a:r>
            <a:r>
              <a:rPr lang="de-DE" sz="2600" dirty="0"/>
              <a:t> </a:t>
            </a:r>
            <a:r>
              <a:rPr lang="de-DE" sz="2600" dirty="0" err="1"/>
              <a:t>which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drive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r>
              <a:rPr lang="de-DE" sz="2600" dirty="0" err="1"/>
              <a:t>improves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interpretability</a:t>
            </a:r>
            <a:endParaRPr lang="de-DE" sz="2600" dirty="0"/>
          </a:p>
          <a:p>
            <a:r>
              <a:rPr lang="de-DE" sz="2600" dirty="0" err="1"/>
              <a:t>helps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feature </a:t>
            </a:r>
            <a:r>
              <a:rPr lang="de-DE" sz="2600" dirty="0" err="1"/>
              <a:t>selection</a:t>
            </a:r>
            <a:r>
              <a:rPr lang="de-DE" sz="2600" dirty="0"/>
              <a:t>, </a:t>
            </a:r>
            <a:r>
              <a:rPr lang="de-DE" sz="2600" dirty="0" err="1"/>
              <a:t>debugging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, </a:t>
            </a:r>
            <a:r>
              <a:rPr lang="de-DE" sz="2600" dirty="0" err="1"/>
              <a:t>trust</a:t>
            </a:r>
            <a:r>
              <a:rPr lang="de-DE" sz="2600" dirty="0"/>
              <a:t> &amp; </a:t>
            </a:r>
            <a:r>
              <a:rPr lang="de-DE" sz="2600" dirty="0" err="1"/>
              <a:t>transparency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distinguish</a:t>
            </a:r>
            <a:r>
              <a:rPr lang="de-DE" sz="2600" dirty="0"/>
              <a:t>:</a:t>
            </a:r>
          </a:p>
          <a:p>
            <a:r>
              <a:rPr lang="de-DE" sz="2600" dirty="0"/>
              <a:t>model-</a:t>
            </a:r>
            <a:r>
              <a:rPr lang="de-DE" sz="2600" dirty="0" err="1"/>
              <a:t>specific</a:t>
            </a:r>
            <a:r>
              <a:rPr lang="de-DE" sz="2600" dirty="0"/>
              <a:t> (</a:t>
            </a:r>
            <a:r>
              <a:rPr lang="de-DE" sz="2600" dirty="0" err="1"/>
              <a:t>built</a:t>
            </a:r>
            <a:r>
              <a:rPr lang="de-DE" sz="2600" dirty="0"/>
              <a:t>-in) vs. model-</a:t>
            </a:r>
            <a:r>
              <a:rPr lang="de-DE" sz="2600" dirty="0" err="1"/>
              <a:t>agnostic</a:t>
            </a:r>
            <a:r>
              <a:rPr lang="de-DE" sz="2600" dirty="0"/>
              <a:t> (external) </a:t>
            </a:r>
            <a:r>
              <a:rPr lang="de-DE" sz="2600" dirty="0" err="1"/>
              <a:t>methods</a:t>
            </a:r>
            <a:endParaRPr lang="de-DE" sz="2600" dirty="0"/>
          </a:p>
          <a:p>
            <a:r>
              <a:rPr lang="de-DE" sz="2600" dirty="0"/>
              <a:t>global (</a:t>
            </a:r>
            <a:r>
              <a:rPr lang="de-DE" sz="2600" dirty="0" err="1"/>
              <a:t>overall</a:t>
            </a:r>
            <a:r>
              <a:rPr lang="de-DE" sz="2600" dirty="0"/>
              <a:t> 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across</a:t>
            </a:r>
            <a:r>
              <a:rPr lang="de-DE" sz="2600" dirty="0"/>
              <a:t> </a:t>
            </a:r>
            <a:r>
              <a:rPr lang="de-DE" sz="2600" dirty="0" err="1"/>
              <a:t>dataset</a:t>
            </a:r>
            <a:r>
              <a:rPr lang="de-DE" sz="2600" dirty="0"/>
              <a:t>) vs. </a:t>
            </a:r>
            <a:r>
              <a:rPr lang="de-DE" sz="2600" dirty="0" err="1"/>
              <a:t>local</a:t>
            </a:r>
            <a:r>
              <a:rPr lang="de-DE" sz="2600" dirty="0"/>
              <a:t> (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single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) </a:t>
            </a:r>
            <a:r>
              <a:rPr lang="de-DE" sz="2600" dirty="0" err="1"/>
              <a:t>importance</a:t>
            </a:r>
            <a:r>
              <a:rPr lang="de-DE" sz="2600" dirty="0"/>
              <a:t> (</a:t>
            </a:r>
            <a:r>
              <a:rPr lang="de-DE" sz="2600" dirty="0" err="1"/>
              <a:t>example</a:t>
            </a:r>
            <a:r>
              <a:rPr lang="de-DE" sz="2600" dirty="0"/>
              <a:t>: </a:t>
            </a:r>
            <a:r>
              <a:rPr lang="de-DE" sz="2600" dirty="0" err="1"/>
              <a:t>age</a:t>
            </a:r>
            <a:r>
              <a:rPr lang="de-DE" sz="2600" dirty="0"/>
              <a:t> </a:t>
            </a:r>
            <a:r>
              <a:rPr lang="de-DE" sz="2600" dirty="0" err="1"/>
              <a:t>may</a:t>
            </a:r>
            <a:r>
              <a:rPr lang="de-DE" sz="2600" dirty="0"/>
              <a:t>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globally</a:t>
            </a:r>
            <a:r>
              <a:rPr lang="de-DE" sz="2600" dirty="0"/>
              <a:t> </a:t>
            </a:r>
            <a:r>
              <a:rPr lang="de-DE" sz="2600" dirty="0" err="1"/>
              <a:t>important</a:t>
            </a:r>
            <a:r>
              <a:rPr lang="de-DE" sz="2600" dirty="0"/>
              <a:t>, but not </a:t>
            </a:r>
            <a:r>
              <a:rPr lang="de-DE" sz="2600" dirty="0" err="1"/>
              <a:t>important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specific</a:t>
            </a:r>
            <a:r>
              <a:rPr lang="de-DE" sz="2600" dirty="0"/>
              <a:t> individual)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F2DE91-44B5-7437-B66B-01E8FD66C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2650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linear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=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(larger absolute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influence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important</a:t>
                </a:r>
                <a:r>
                  <a:rPr lang="de-DE" dirty="0"/>
                  <a:t>: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scaled</a:t>
                </a:r>
                <a:endParaRPr lang="de-DE" dirty="0"/>
              </a:p>
              <a:p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captures</a:t>
                </a:r>
                <a:r>
                  <a:rPr lang="de-DE" dirty="0"/>
                  <a:t> 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tree-based</a:t>
                </a:r>
                <a:r>
                  <a:rPr lang="de-DE" dirty="0"/>
                  <a:t> feature </a:t>
                </a:r>
                <a:r>
                  <a:rPr lang="de-DE" dirty="0" err="1"/>
                  <a:t>importance</a:t>
                </a:r>
                <a:r>
                  <a:rPr lang="de-DE" dirty="0"/>
                  <a:t> (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decision</a:t>
                </a:r>
                <a:r>
                  <a:rPr lang="de-DE" dirty="0"/>
                  <a:t> </a:t>
                </a:r>
                <a:r>
                  <a:rPr lang="de-DE" dirty="0" err="1"/>
                  <a:t>trees</a:t>
                </a:r>
                <a:r>
                  <a:rPr lang="de-DE" dirty="0"/>
                  <a:t>, </a:t>
                </a:r>
                <a:r>
                  <a:rPr lang="de-DE" dirty="0" err="1"/>
                  <a:t>random</a:t>
                </a:r>
                <a:r>
                  <a:rPr lang="de-DE" dirty="0"/>
                  <a:t> </a:t>
                </a:r>
                <a:r>
                  <a:rPr lang="de-DE" dirty="0" err="1"/>
                  <a:t>forests</a:t>
                </a:r>
                <a:r>
                  <a:rPr lang="de-DE" dirty="0"/>
                  <a:t>,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boosting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</a:t>
                </a:r>
                <a:r>
                  <a:rPr lang="de-DE" dirty="0" err="1"/>
                  <a:t>based</a:t>
                </a:r>
                <a:r>
                  <a:rPr lang="de-DE" dirty="0"/>
                  <a:t> on </a:t>
                </a:r>
                <a:r>
                  <a:rPr lang="de-DE" dirty="0" err="1"/>
                  <a:t>reduction</a:t>
                </a:r>
                <a:r>
                  <a:rPr lang="de-DE" dirty="0"/>
                  <a:t> in </a:t>
                </a:r>
                <a:r>
                  <a:rPr lang="de-DE" dirty="0" err="1"/>
                  <a:t>impurity</a:t>
                </a:r>
                <a:r>
                  <a:rPr lang="de-DE" dirty="0"/>
                  <a:t> (e.g., Gini,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captures</a:t>
                </a:r>
                <a:r>
                  <a:rPr lang="de-DE" dirty="0"/>
                  <a:t> non-linear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r>
                  <a:rPr lang="de-DE" dirty="0"/>
                  <a:t>but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favor</a:t>
                </a:r>
                <a:r>
                  <a:rPr lang="de-DE" dirty="0"/>
                  <a:t> high-</a:t>
                </a:r>
                <a:r>
                  <a:rPr lang="de-DE" dirty="0" err="1"/>
                  <a:t>cardinality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  <a:blipFill>
                <a:blip r:embed="rId2"/>
                <a:stretch>
                  <a:fillRect l="-1190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C81FAC-0E05-A074-D6B8-617252253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4364" y="2002955"/>
            <a:ext cx="4877636" cy="363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most</a:t>
            </a:r>
            <a:r>
              <a:rPr lang="de-DE" dirty="0"/>
              <a:t> prominent </a:t>
            </a:r>
            <a:r>
              <a:rPr lang="de-DE" dirty="0" err="1"/>
              <a:t>method</a:t>
            </a:r>
            <a:r>
              <a:rPr lang="de-DE" dirty="0"/>
              <a:t>: </a:t>
            </a:r>
            <a:r>
              <a:rPr lang="de-DE" dirty="0" err="1"/>
              <a:t>permutation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shuffle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feature </a:t>
            </a:r>
            <a:r>
              <a:rPr lang="de-DE" dirty="0">
                <a:sym typeface="Wingdings" pitchFamily="2" charset="2"/>
              </a:rPr>
              <a:t>and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drop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shuffle</a:t>
            </a:r>
            <a:r>
              <a:rPr lang="de-DE" dirty="0"/>
              <a:t> feature </a:t>
            </a:r>
            <a:r>
              <a:rPr lang="de-DE" dirty="0" err="1"/>
              <a:t>values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decrease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larger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understand</a:t>
            </a: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</a:t>
            </a:r>
            <a:r>
              <a:rPr lang="de-DE" dirty="0" err="1"/>
              <a:t>affected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8C850A-2E65-EAAC-4E6D-2559DA3B2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CC42CD-2218-86C2-EE10-2373721FE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explaining</a:t>
            </a:r>
            <a:r>
              <a:rPr lang="de-DE" sz="2600" dirty="0"/>
              <a:t> individual </a:t>
            </a:r>
            <a:r>
              <a:rPr lang="de-DE" sz="2600" dirty="0" err="1"/>
              <a:t>predictions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/>
              <a:t>Why </a:t>
            </a:r>
            <a:r>
              <a:rPr lang="de-DE" sz="2600" dirty="0" err="1"/>
              <a:t>did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make</a:t>
            </a:r>
            <a:r>
              <a:rPr lang="de-DE" sz="2600" dirty="0"/>
              <a:t> </a:t>
            </a:r>
            <a:r>
              <a:rPr lang="de-DE" sz="2600" i="1" dirty="0" err="1"/>
              <a:t>this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?</a:t>
            </a:r>
          </a:p>
          <a:p>
            <a:r>
              <a:rPr lang="de-DE" sz="2600" dirty="0" err="1"/>
              <a:t>builds</a:t>
            </a:r>
            <a:r>
              <a:rPr lang="de-DE" sz="2600" dirty="0"/>
              <a:t> </a:t>
            </a:r>
            <a:r>
              <a:rPr lang="de-DE" sz="2600" dirty="0" err="1"/>
              <a:t>trust</a:t>
            </a:r>
            <a:r>
              <a:rPr lang="de-DE" sz="2600" dirty="0"/>
              <a:t> in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decisions</a:t>
            </a:r>
            <a:endParaRPr lang="de-DE" sz="2600" dirty="0"/>
          </a:p>
          <a:p>
            <a:r>
              <a:rPr lang="de-DE" sz="2600" dirty="0" err="1"/>
              <a:t>critical</a:t>
            </a:r>
            <a:r>
              <a:rPr lang="de-DE" sz="2600" dirty="0"/>
              <a:t> in </a:t>
            </a:r>
            <a:r>
              <a:rPr lang="de-DE" sz="2600" dirty="0" err="1"/>
              <a:t>healthcare</a:t>
            </a:r>
            <a:r>
              <a:rPr lang="de-DE" sz="2600" dirty="0"/>
              <a:t>, </a:t>
            </a:r>
            <a:r>
              <a:rPr lang="de-DE" sz="2600" dirty="0" err="1"/>
              <a:t>finance</a:t>
            </a:r>
            <a:r>
              <a:rPr lang="de-DE" sz="2600" dirty="0"/>
              <a:t>, legal </a:t>
            </a:r>
            <a:r>
              <a:rPr lang="de-DE" sz="2600" dirty="0" err="1"/>
              <a:t>systems</a:t>
            </a:r>
            <a:r>
              <a:rPr lang="de-DE" sz="2600" dirty="0"/>
              <a:t>, …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straight</a:t>
            </a:r>
            <a:r>
              <a:rPr lang="de-DE" sz="2600" dirty="0"/>
              <a:t>-forward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trees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linear </a:t>
            </a:r>
            <a:r>
              <a:rPr lang="de-DE" sz="2600" dirty="0" err="1"/>
              <a:t>models</a:t>
            </a:r>
            <a:endParaRPr lang="de-DE" sz="2600" dirty="0"/>
          </a:p>
          <a:p>
            <a:pPr marL="0" indent="0">
              <a:buNone/>
            </a:pPr>
            <a:r>
              <a:rPr lang="de-DE" sz="2600" dirty="0"/>
              <a:t>but not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en-DE" sz="2600"/>
              <a:t>complex models like </a:t>
            </a:r>
            <a:r>
              <a:rPr lang="de-DE" sz="2600" dirty="0" err="1"/>
              <a:t>neural</a:t>
            </a:r>
            <a:r>
              <a:rPr lang="de-DE" sz="2600" dirty="0"/>
              <a:t> </a:t>
            </a:r>
            <a:r>
              <a:rPr lang="de-DE" sz="2600" dirty="0" err="1"/>
              <a:t>networks</a:t>
            </a:r>
            <a:r>
              <a:rPr lang="de-DE" sz="2600" dirty="0"/>
              <a:t> (</a:t>
            </a:r>
            <a:r>
              <a:rPr lang="de-DE" sz="2600" dirty="0" err="1"/>
              <a:t>black</a:t>
            </a:r>
            <a:r>
              <a:rPr lang="de-DE" sz="2600" dirty="0"/>
              <a:t>-box </a:t>
            </a:r>
            <a:r>
              <a:rPr lang="de-DE" sz="2600" dirty="0" err="1"/>
              <a:t>models</a:t>
            </a:r>
            <a:r>
              <a:rPr lang="de-DE" sz="2600" dirty="0"/>
              <a:t>)</a:t>
            </a:r>
            <a:endParaRPr lang="en-DE" sz="260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</a:t>
            </a:r>
            <a:r>
              <a:rPr lang="en-DE" sz="2600">
                <a:sym typeface="Wingdings" pitchFamily="2" charset="2"/>
              </a:rPr>
              <a:t>eed for model-agnostic methods to explain black-box models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3095A7-AFC5-9DD6-A9AB-7D472B5B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B8883-5FA0-0D93-AB7B-59418CC757AC}"/>
              </a:ext>
            </a:extLst>
          </p:cNvPr>
          <p:cNvSpPr txBox="1"/>
          <p:nvPr/>
        </p:nvSpPr>
        <p:spPr>
          <a:xfrm>
            <a:off x="6169688" y="136525"/>
            <a:ext cx="589754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do not confuse explainability with causality</a:t>
            </a: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explanations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misleading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563601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dirty="0"/>
              <a:t>LIME (</a:t>
            </a:r>
            <a:r>
              <a:rPr lang="de-DE" sz="3600" dirty="0" err="1"/>
              <a:t>Local</a:t>
            </a:r>
            <a:r>
              <a:rPr lang="de-DE" sz="3600" dirty="0"/>
              <a:t> </a:t>
            </a:r>
            <a:r>
              <a:rPr lang="de-DE" sz="3600" dirty="0" err="1"/>
              <a:t>Interpretable</a:t>
            </a:r>
            <a:r>
              <a:rPr lang="de-DE" sz="3600" dirty="0"/>
              <a:t> Model-</a:t>
            </a:r>
            <a:r>
              <a:rPr lang="de-DE" sz="3600" dirty="0" err="1"/>
              <a:t>Agnostic</a:t>
            </a:r>
            <a:r>
              <a:rPr lang="de-DE" sz="3600" dirty="0"/>
              <a:t> </a:t>
            </a:r>
            <a:r>
              <a:rPr lang="de-DE" sz="3600" dirty="0" err="1"/>
              <a:t>Explanations</a:t>
            </a:r>
            <a:r>
              <a:rPr lang="de-DE" sz="36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985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idea</a:t>
            </a:r>
            <a:r>
              <a:rPr lang="de-DE" sz="2600" dirty="0"/>
              <a:t>: </a:t>
            </a:r>
            <a:r>
              <a:rPr lang="de-DE" sz="2600" dirty="0" err="1"/>
              <a:t>approximate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locally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simple </a:t>
            </a:r>
            <a:r>
              <a:rPr lang="de-DE" sz="2600" dirty="0" err="1"/>
              <a:t>model</a:t>
            </a:r>
            <a:r>
              <a:rPr lang="de-DE" sz="2600" dirty="0"/>
              <a:t> (aka </a:t>
            </a:r>
            <a:r>
              <a:rPr lang="en-DE" sz="2600"/>
              <a:t>local</a:t>
            </a:r>
            <a:r>
              <a:rPr lang="de-DE" sz="2600" dirty="0"/>
              <a:t> </a:t>
            </a:r>
            <a:r>
              <a:rPr lang="en-DE" sz="2600"/>
              <a:t>surrogate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sample </a:t>
            </a:r>
            <a:r>
              <a:rPr lang="de-DE" sz="2600" dirty="0" err="1"/>
              <a:t>nearby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 err="1"/>
              <a:t>points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 err="1"/>
              <a:t>get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fit </a:t>
            </a:r>
            <a:r>
              <a:rPr lang="de-DE" sz="2600" dirty="0" err="1"/>
              <a:t>interpretable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(e.g., linear)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output</a:t>
            </a:r>
            <a:r>
              <a:rPr lang="de-DE" sz="2600" dirty="0"/>
              <a:t>: feature </a:t>
            </a:r>
            <a:r>
              <a:rPr lang="de-DE" sz="2600" dirty="0" err="1"/>
              <a:t>contributions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5E91A85-C4A1-0324-B6C9-5C2ECB26E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2" y="1870075"/>
            <a:ext cx="4455268" cy="332377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5FA8E57-2FE6-125F-8192-B6476B159FEC}"/>
              </a:ext>
            </a:extLst>
          </p:cNvPr>
          <p:cNvSpPr txBox="1"/>
          <p:nvPr/>
        </p:nvSpPr>
        <p:spPr>
          <a:xfrm>
            <a:off x="9036817" y="5373233"/>
            <a:ext cx="3155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discretization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bins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285E06-B5AA-24A1-B0E6-AAE8389835EB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8752114" y="4833257"/>
            <a:ext cx="284703" cy="770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(</a:t>
            </a:r>
            <a:r>
              <a:rPr lang="de-DE" dirty="0" err="1"/>
              <a:t>SHapley</a:t>
            </a:r>
            <a:r>
              <a:rPr lang="de-DE" dirty="0"/>
              <a:t> Additive </a:t>
            </a:r>
            <a:r>
              <a:rPr lang="de-DE" dirty="0" err="1"/>
              <a:t>exPlanations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1626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game </a:t>
            </a:r>
            <a:r>
              <a:rPr lang="de-DE" dirty="0" err="1"/>
              <a:t>theory</a:t>
            </a:r>
            <a:r>
              <a:rPr lang="de-DE" dirty="0"/>
              <a:t> (Shapley </a:t>
            </a:r>
            <a:r>
              <a:rPr lang="de-DE" dirty="0" err="1"/>
              <a:t>values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: fair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output</a:t>
            </a:r>
            <a:r>
              <a:rPr lang="de-DE" dirty="0"/>
              <a:t>: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per feature, </a:t>
            </a:r>
            <a:r>
              <a:rPr lang="de-DE" dirty="0" err="1"/>
              <a:t>sum</a:t>
            </a:r>
            <a:r>
              <a:rPr lang="de-DE" dirty="0"/>
              <a:t> =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  <a:p>
            <a:r>
              <a:rPr lang="de-DE" dirty="0"/>
              <a:t>positive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higher</a:t>
            </a:r>
            <a:endParaRPr lang="de-DE" dirty="0"/>
          </a:p>
          <a:p>
            <a:r>
              <a:rPr lang="de-DE" dirty="0"/>
              <a:t>negative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lower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consistent</a:t>
            </a:r>
            <a:r>
              <a:rPr lang="de-DE" dirty="0"/>
              <a:t> and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grounded</a:t>
            </a:r>
            <a:r>
              <a:rPr lang="de-DE" dirty="0"/>
              <a:t>,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E8699BF-ECC2-0E8F-6EC6-530813F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412" y="4853355"/>
            <a:ext cx="9215175" cy="212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30F40DE-0323-3D7E-4D2B-3B8ED381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Global SHAP Explanation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C44D65-016E-B997-B58D-6CEB3F4D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AB1392C-AA49-CB1A-B78D-DF2EB23C8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279" y="2084144"/>
            <a:ext cx="8337441" cy="477385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ECADB20-0A60-6F6A-FA8A-F6D9E284F3E8}"/>
              </a:ext>
            </a:extLst>
          </p:cNvPr>
          <p:cNvSpPr txBox="1"/>
          <p:nvPr/>
        </p:nvSpPr>
        <p:spPr>
          <a:xfrm>
            <a:off x="838199" y="1591701"/>
            <a:ext cx="5257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local</a:t>
            </a:r>
            <a:r>
              <a:rPr lang="de-DE" sz="2600" dirty="0"/>
              <a:t> SHAP </a:t>
            </a:r>
            <a:r>
              <a:rPr lang="de-DE" sz="2600" dirty="0" err="1"/>
              <a:t>values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6082472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4F494-7D90-4A70-D801-C542A6239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 vs. SHAP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11E63-E68E-FFDD-8197-B8A37C815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LIME:</a:t>
            </a:r>
          </a:p>
          <a:p>
            <a:r>
              <a:rPr lang="de-DE" dirty="0" err="1"/>
              <a:t>faster</a:t>
            </a:r>
            <a:r>
              <a:rPr lang="de-DE" dirty="0"/>
              <a:t>, simpler</a:t>
            </a:r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SHAP:</a:t>
            </a:r>
          </a:p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consistent</a:t>
            </a:r>
            <a:endParaRPr lang="de-DE" dirty="0"/>
          </a:p>
          <a:p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heavier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trade-off: </a:t>
            </a:r>
            <a:r>
              <a:rPr lang="de-DE" dirty="0" err="1"/>
              <a:t>speed</a:t>
            </a:r>
            <a:r>
              <a:rPr lang="de-DE" dirty="0"/>
              <a:t> vs.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guarantees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complicate</a:t>
            </a:r>
            <a:r>
              <a:rPr lang="de-DE" dirty="0"/>
              <a:t> </a:t>
            </a:r>
            <a:r>
              <a:rPr lang="de-DE" dirty="0" err="1"/>
              <a:t>interpretation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F1D70-CD6B-0328-DCD5-268045638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2821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1694</Words>
  <Application>Microsoft Office PowerPoint</Application>
  <PresentationFormat>Breitbild</PresentationFormat>
  <Paragraphs>386</Paragraphs>
  <Slides>36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Wingdings</vt:lpstr>
      <vt:lpstr>Office Theme</vt:lpstr>
      <vt:lpstr>Model Evaluation</vt:lpstr>
      <vt:lpstr>Model Evaluation</vt:lpstr>
      <vt:lpstr>Evaluation Scenarios </vt:lpstr>
      <vt:lpstr>Classification Metrics</vt:lpstr>
      <vt:lpstr>Confusion Matrix</vt:lpstr>
      <vt:lpstr>Accuracy</vt:lpstr>
      <vt:lpstr>Precision</vt:lpstr>
      <vt:lpstr>Recall (Sensitivity)</vt:lpstr>
      <vt:lpstr>Precision vs. Recall Trade-off</vt:lpstr>
      <vt:lpstr>F1 Score</vt:lpstr>
      <vt:lpstr>Specificity (True Negative Rate)</vt:lpstr>
      <vt:lpstr>Example: Spam Classification</vt:lpstr>
      <vt:lpstr>ROC Curve</vt:lpstr>
      <vt:lpstr>AUC (Area Under Curve)</vt:lpstr>
      <vt:lpstr>Precision-Recall Curve</vt:lpstr>
      <vt:lpstr>Choosing the Right Metric</vt:lpstr>
      <vt:lpstr>Regression Metrics</vt:lpstr>
      <vt:lpstr>Error Basics</vt:lpstr>
      <vt:lpstr>Mean Squared Error (MSE)</vt:lpstr>
      <vt:lpstr>Root Mean Squared Error (RMSE)</vt:lpstr>
      <vt:lpstr>Mean Absolute Error (MAE)</vt:lpstr>
      <vt:lpstr>MAE vs. MSE/RMSE</vt:lpstr>
      <vt:lpstr>R² (Coefficient of Determination)</vt:lpstr>
      <vt:lpstr>Mean Absolute Percentage Error (MAPE)</vt:lpstr>
      <vt:lpstr>Choosing the Right Metric</vt:lpstr>
      <vt:lpstr>Point Estimates vs. Full PDF</vt:lpstr>
      <vt:lpstr>Histogram of CDF Observations</vt:lpstr>
      <vt:lpstr>Interpretation of CDF Histogram</vt:lpstr>
      <vt:lpstr>Feature Importance</vt:lpstr>
      <vt:lpstr>Model-Specific Importance</vt:lpstr>
      <vt:lpstr>Model-Agnostic Explainability</vt:lpstr>
      <vt:lpstr>Local Explainability</vt:lpstr>
      <vt:lpstr>LIME (Local Interpretable Model-Agnostic Explanations)</vt:lpstr>
      <vt:lpstr>SHAP (SHapley Additive exPlanations)</vt:lpstr>
      <vt:lpstr>Global SHAP Explanation</vt:lpstr>
      <vt:lpstr>LIME vs. SHAP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Steidel, Stefan</cp:lastModifiedBy>
  <cp:revision>125</cp:revision>
  <dcterms:created xsi:type="dcterms:W3CDTF">2025-01-08T09:27:30Z</dcterms:created>
  <dcterms:modified xsi:type="dcterms:W3CDTF">2026-05-04T20:47:53Z</dcterms:modified>
</cp:coreProperties>
</file>