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66" r:id="rId3"/>
    <p:sldId id="299" r:id="rId4"/>
    <p:sldId id="268" r:id="rId5"/>
    <p:sldId id="300" r:id="rId6"/>
    <p:sldId id="269" r:id="rId7"/>
    <p:sldId id="301" r:id="rId8"/>
    <p:sldId id="302" r:id="rId9"/>
    <p:sldId id="303" r:id="rId10"/>
    <p:sldId id="270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73" r:id="rId19"/>
    <p:sldId id="311" r:id="rId20"/>
    <p:sldId id="274" r:id="rId21"/>
    <p:sldId id="312" r:id="rId22"/>
    <p:sldId id="313" r:id="rId23"/>
    <p:sldId id="315" r:id="rId24"/>
    <p:sldId id="316" r:id="rId25"/>
    <p:sldId id="272" r:id="rId26"/>
    <p:sldId id="663" r:id="rId27"/>
    <p:sldId id="615" r:id="rId28"/>
    <p:sldId id="317" r:id="rId29"/>
    <p:sldId id="279" r:id="rId30"/>
    <p:sldId id="280" r:id="rId31"/>
    <p:sldId id="324" r:id="rId32"/>
    <p:sldId id="282" r:id="rId33"/>
    <p:sldId id="281" r:id="rId34"/>
    <p:sldId id="32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8" autoAdjust="0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09.07052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Evaluation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6CBE6C5-FF71-FE69-AF96-EB26512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metrics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metrics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feature </a:t>
            </a:r>
            <a:r>
              <a:rPr lang="de-DE" dirty="0" err="1"/>
              <a:t>importance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explainability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hypothesis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(separate </a:t>
            </a:r>
            <a:r>
              <a:rPr lang="de-DE" dirty="0" err="1"/>
              <a:t>slide</a:t>
            </a:r>
            <a:r>
              <a:rPr lang="de-DE" dirty="0"/>
              <a:t> deck)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0118-42C4-0F41-5612-17227D0CB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Scenarios </a:t>
            </a:r>
            <a:endParaRPr lang="en-DE" dirty="0"/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6E20920F-B47E-760E-5843-5D1830A3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loss function in training: proxy for later test accuracy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validation</a:t>
            </a:r>
            <a:r>
              <a:rPr lang="de-DE" dirty="0"/>
              <a:t>: </a:t>
            </a:r>
            <a:r>
              <a:rPr lang="en-GB" dirty="0"/>
              <a:t>decide on acceptance of model changes by means of accuracy measure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improved model vs baseline (current best)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test</a:t>
            </a:r>
            <a:r>
              <a:rPr lang="de-DE" dirty="0"/>
              <a:t> </a:t>
            </a:r>
            <a:r>
              <a:rPr lang="en-GB" dirty="0"/>
              <a:t>(i.e., out-of-sample) accuracy of predictions: the final goal</a:t>
            </a: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D337D-9FEE-AC0F-54C9-AE8B1187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857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0CD86-1FBA-63C4-0B98-0D566F71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Classification </a:t>
            </a:r>
            <a:r>
              <a:rPr lang="de-DE" dirty="0" err="1"/>
              <a:t>Metrics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8059522-DA13-61AB-9D10-9CFA80A00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different </a:t>
            </a:r>
            <a:r>
              <a:rPr lang="de-DE" dirty="0" err="1"/>
              <a:t>problems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different </a:t>
            </a:r>
            <a:r>
              <a:rPr lang="de-DE" dirty="0" err="1"/>
              <a:t>metrics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choice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on:</a:t>
            </a:r>
          </a:p>
          <a:p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imbalance</a:t>
            </a:r>
            <a:endParaRPr lang="de-DE" dirty="0"/>
          </a:p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errors</a:t>
            </a:r>
            <a:endParaRPr lang="de-DE" dirty="0"/>
          </a:p>
          <a:p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goals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spam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vs. </a:t>
            </a:r>
            <a:r>
              <a:rPr lang="de-DE" dirty="0" err="1"/>
              <a:t>disease</a:t>
            </a:r>
            <a:r>
              <a:rPr lang="de-DE" dirty="0"/>
              <a:t> </a:t>
            </a:r>
            <a:r>
              <a:rPr lang="de-DE" dirty="0" err="1"/>
              <a:t>diagnosis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different </a:t>
            </a:r>
            <a:r>
              <a:rPr lang="de-DE" dirty="0" err="1"/>
              <a:t>priorities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DA5B15-496B-C1D4-91C0-FE7F2D53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71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848ED-31AA-2F2E-D3F3-968FB209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Confusion</a:t>
            </a:r>
            <a:r>
              <a:rPr lang="de-DE" dirty="0"/>
              <a:t> Matrix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E4721-DF82-C6E0-2D00-B48EE2803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foundation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r>
              <a:rPr lang="de-DE" dirty="0"/>
              <a:t> </a:t>
            </a:r>
            <a:r>
              <a:rPr lang="de-DE" dirty="0" err="1"/>
              <a:t>metrics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classification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derived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four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418EE3-AA8A-D4D3-75D5-B74CDA43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898A83B-5145-AE73-C6C4-162F572C1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572819"/>
              </p:ext>
            </p:extLst>
          </p:nvPr>
        </p:nvGraphicFramePr>
        <p:xfrm>
          <a:off x="838200" y="3224054"/>
          <a:ext cx="10515600" cy="1554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417384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44748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465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2400" dirty="0">
                        <a:ln>
                          <a:noFill/>
                        </a:ln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ln>
                            <a:noFill/>
                          </a:ln>
                          <a:effectLst/>
                        </a:rPr>
                        <a:t>predicted</a:t>
                      </a:r>
                      <a:r>
                        <a:rPr lang="de-DE" sz="2400" b="1" dirty="0">
                          <a:ln>
                            <a:noFill/>
                          </a:ln>
                          <a:effectLst/>
                        </a:rPr>
                        <a:t> positive</a:t>
                      </a:r>
                      <a:endParaRPr lang="de-DE" sz="2400" dirty="0">
                        <a:ln>
                          <a:noFill/>
                        </a:ln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ln>
                            <a:noFill/>
                          </a:ln>
                          <a:effectLst/>
                        </a:rPr>
                        <a:t>predicted</a:t>
                      </a:r>
                      <a:r>
                        <a:rPr lang="de-DE" sz="2400" b="1" dirty="0">
                          <a:ln>
                            <a:noFill/>
                          </a:ln>
                          <a:effectLst/>
                        </a:rPr>
                        <a:t> negative</a:t>
                      </a:r>
                      <a:endParaRPr lang="de-DE" sz="2400" dirty="0">
                        <a:ln>
                          <a:noFill/>
                        </a:ln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57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ln>
                            <a:noFill/>
                          </a:ln>
                          <a:effectLst/>
                        </a:rPr>
                        <a:t>actual</a:t>
                      </a:r>
                      <a:r>
                        <a:rPr lang="de-DE" sz="2400" b="1" dirty="0">
                          <a:ln>
                            <a:noFill/>
                          </a:ln>
                          <a:effectLst/>
                        </a:rPr>
                        <a:t> positive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>
                          <a:ln>
                            <a:noFill/>
                          </a:ln>
                          <a:effectLst/>
                        </a:rPr>
                        <a:t>True Positive (TP)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>
                          <a:ln>
                            <a:noFill/>
                          </a:ln>
                          <a:effectLst/>
                        </a:rPr>
                        <a:t>False Negative (FN)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823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ln>
                            <a:noFill/>
                          </a:ln>
                          <a:effectLst/>
                        </a:rPr>
                        <a:t>actual</a:t>
                      </a:r>
                      <a:r>
                        <a:rPr lang="de-DE" sz="2400" b="1" dirty="0">
                          <a:ln>
                            <a:noFill/>
                          </a:ln>
                          <a:effectLst/>
                        </a:rPr>
                        <a:t> negative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ln>
                            <a:noFill/>
                          </a:ln>
                          <a:effectLst/>
                        </a:rPr>
                        <a:t>False</a:t>
                      </a:r>
                      <a:r>
                        <a:rPr lang="de-DE" sz="2400" dirty="0">
                          <a:ln>
                            <a:noFill/>
                          </a:ln>
                          <a:effectLst/>
                        </a:rPr>
                        <a:t> Positive (FP)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>
                          <a:ln>
                            <a:noFill/>
                          </a:ln>
                          <a:effectLst/>
                        </a:rPr>
                        <a:t>True Negative (TN)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08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3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EAC883-915A-D579-C4E3-3D97B44E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Accuracy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4689AF4-BA0A-86FC-F129-38F6861EC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: </a:t>
                </a:r>
                <a:r>
                  <a:rPr lang="de-DE" dirty="0" err="1"/>
                  <a:t>proportion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 </a:t>
                </a:r>
                <a:r>
                  <a:rPr lang="de-DE" dirty="0" err="1"/>
                  <a:t>predictions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ccuracy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= (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FP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FN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endParaRPr lang="de-DE" dirty="0"/>
              </a:p>
              <a:p>
                <a:r>
                  <a:rPr lang="de-DE" dirty="0"/>
                  <a:t>simple and intuitive</a:t>
                </a:r>
              </a:p>
              <a:p>
                <a:r>
                  <a:rPr lang="de-DE" dirty="0"/>
                  <a:t>but </a:t>
                </a:r>
                <a:r>
                  <a:rPr lang="de-DE" dirty="0" err="1"/>
                  <a:t>misleading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imbalanced</a:t>
                </a:r>
                <a:r>
                  <a:rPr lang="de-DE" dirty="0"/>
                  <a:t> </a:t>
                </a:r>
                <a:r>
                  <a:rPr lang="de-DE" dirty="0" err="1"/>
                  <a:t>datasets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4689AF4-BA0A-86FC-F129-38F6861EC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7100D6-F5D1-C95D-3778-6C8461E6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89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B0A6D-4963-1893-30D0-1ED7F1BF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4265C7F-BBC2-F2AA-4612-451673E06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: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predicted</a:t>
                </a:r>
                <a:r>
                  <a:rPr lang="de-DE" dirty="0"/>
                  <a:t> positives,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correct</a:t>
                </a:r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br>
                  <a:rPr lang="de-D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dirty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recision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/ (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FP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endParaRPr lang="de-DE" dirty="0"/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false</a:t>
                </a:r>
                <a:r>
                  <a:rPr lang="de-DE" dirty="0"/>
                  <a:t> positives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costly</a:t>
                </a:r>
                <a:endParaRPr lang="de-DE" dirty="0"/>
              </a:p>
              <a:p>
                <a:r>
                  <a:rPr lang="de-DE" dirty="0" err="1"/>
                  <a:t>example</a:t>
                </a:r>
                <a:r>
                  <a:rPr lang="de-DE" dirty="0"/>
                  <a:t>: email </a:t>
                </a:r>
                <a:r>
                  <a:rPr lang="de-DE" dirty="0" err="1"/>
                  <a:t>spam</a:t>
                </a:r>
                <a:r>
                  <a:rPr lang="de-DE" dirty="0"/>
                  <a:t> </a:t>
                </a:r>
                <a:r>
                  <a:rPr lang="de-DE" dirty="0" err="1"/>
                  <a:t>filter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4265C7F-BBC2-F2AA-4612-451673E06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E3D358-B374-F2EC-4C5D-E76B5597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85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86186-9FAE-B297-BC16-F0F02802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Recall (</a:t>
            </a:r>
            <a:r>
              <a:rPr lang="de-DE" dirty="0" err="1"/>
              <a:t>Sensitivity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6076410-61E7-81FF-B351-A97401321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: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actual</a:t>
                </a:r>
                <a:r>
                  <a:rPr lang="de-DE" dirty="0"/>
                  <a:t> positives,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detected</a:t>
                </a:r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br>
                  <a:rPr lang="de-D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dirty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ecall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/ (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FN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missing</a:t>
                </a:r>
                <a:r>
                  <a:rPr lang="de-DE" dirty="0"/>
                  <a:t> positives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costly</a:t>
                </a:r>
                <a:endParaRPr lang="de-DE" dirty="0"/>
              </a:p>
              <a:p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medical</a:t>
                </a:r>
                <a:r>
                  <a:rPr lang="de-DE" dirty="0"/>
                  <a:t> </a:t>
                </a:r>
                <a:r>
                  <a:rPr lang="de-DE" dirty="0" err="1"/>
                  <a:t>diagnosis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6076410-61E7-81FF-B351-A97401321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D509E3-8247-4BC5-C19F-647E2707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76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45B836-DE03-782C-77E4-A64D8964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Precision vs. Recall Trade-off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84202D-5407-6F74-C8CC-A275D16B0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recall</a:t>
            </a:r>
            <a:endParaRPr lang="de-DE" dirty="0"/>
          </a:p>
          <a:p>
            <a:r>
              <a:rPr lang="de-DE" dirty="0" err="1"/>
              <a:t>increasing</a:t>
            </a:r>
            <a:r>
              <a:rPr lang="de-DE" dirty="0"/>
              <a:t> </a:t>
            </a:r>
            <a:r>
              <a:rPr lang="de-DE" dirty="0" err="1"/>
              <a:t>recall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precision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threshold</a:t>
            </a:r>
            <a:r>
              <a:rPr lang="de-DE" dirty="0"/>
              <a:t> </a:t>
            </a:r>
            <a:r>
              <a:rPr lang="de-DE" dirty="0" err="1"/>
              <a:t>tuning</a:t>
            </a:r>
            <a:r>
              <a:rPr lang="de-DE" dirty="0"/>
              <a:t> </a:t>
            </a:r>
            <a:r>
              <a:rPr lang="de-DE" dirty="0" err="1"/>
              <a:t>controls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trade-off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ask</a:t>
            </a:r>
            <a:r>
              <a:rPr lang="de-DE" dirty="0"/>
              <a:t>: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CBFBE2-C956-F372-CD65-B1132F17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84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63DE613-A82F-6152-DB77-0D8A6EA8B8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 Score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63DE613-A82F-6152-DB77-0D8A6EA8B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50BBB8-62AC-61C3-F060-DEEDDD0296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: </a:t>
                </a:r>
                <a:r>
                  <a:rPr lang="de-DE" dirty="0" err="1"/>
                  <a:t>harmonic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precision</a:t>
                </a:r>
                <a:r>
                  <a:rPr lang="de-DE" dirty="0"/>
                  <a:t> and </a:t>
                </a:r>
                <a:r>
                  <a:rPr lang="de-DE" dirty="0" err="1"/>
                  <a:t>recall</a:t>
                </a:r>
                <a:endParaRPr lang="de-DE" dirty="0"/>
              </a:p>
              <a:p>
                <a:pPr marL="0" indent="0">
                  <a:buNone/>
                </a:pPr>
                <a:br>
                  <a:rPr lang="de-D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1 = 2 × (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) / (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a:rPr lang="de-DE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penalizes</a:t>
                </a:r>
                <a:r>
                  <a:rPr lang="de-DE" dirty="0"/>
                  <a:t> extreme </a:t>
                </a:r>
                <a:r>
                  <a:rPr lang="de-DE" dirty="0" err="1"/>
                  <a:t>imbalance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precision</a:t>
                </a:r>
                <a:r>
                  <a:rPr lang="de-DE" dirty="0"/>
                  <a:t> and </a:t>
                </a:r>
                <a:r>
                  <a:rPr lang="de-DE" dirty="0" err="1"/>
                  <a:t>recall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balance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precision</a:t>
                </a:r>
                <a:r>
                  <a:rPr lang="de-DE" dirty="0"/>
                  <a:t> and </a:t>
                </a:r>
                <a:r>
                  <a:rPr lang="de-DE" dirty="0" err="1"/>
                  <a:t>recall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needed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50BBB8-62AC-61C3-F060-DEEDDD029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8CC8B6-0789-F2A8-0979-F7382262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707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D8912-C5A2-D720-0CD1-E6754726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Specificity</a:t>
            </a:r>
            <a:r>
              <a:rPr lang="de-DE" dirty="0"/>
              <a:t> (True Negative Rate)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D4ABED-1244-7AE0-78EB-50A1A664E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definition</a:t>
                </a:r>
                <a:r>
                  <a:rPr lang="de-DE" dirty="0"/>
                  <a:t>: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actual</a:t>
                </a:r>
                <a:r>
                  <a:rPr lang="de-DE" dirty="0"/>
                  <a:t> negatives,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correctly</a:t>
                </a:r>
                <a:r>
                  <a:rPr lang="de-DE" dirty="0"/>
                  <a:t> </a:t>
                </a:r>
                <a:r>
                  <a:rPr lang="de-DE" dirty="0" err="1"/>
                  <a:t>identified</a:t>
                </a:r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br>
                  <a:rPr lang="de-DE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i="0" dirty="0" smtClean="0">
                          <a:latin typeface="Cambria Math" panose="02040503050406030204" pitchFamily="18" charset="0"/>
                        </a:rPr>
                        <m:t>Specificity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/ (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TN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de-DE" i="0" dirty="0">
                          <a:latin typeface="Cambria Math" panose="02040503050406030204" pitchFamily="18" charset="0"/>
                        </a:rPr>
                        <m:t>FP</m:t>
                      </m:r>
                      <m:r>
                        <a:rPr lang="de-DE" i="0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false</a:t>
                </a:r>
                <a:r>
                  <a:rPr lang="de-DE" dirty="0"/>
                  <a:t> positives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critical</a:t>
                </a:r>
                <a:endParaRPr lang="de-DE" dirty="0"/>
              </a:p>
              <a:p>
                <a:r>
                  <a:rPr lang="de-DE" dirty="0" err="1"/>
                  <a:t>often</a:t>
                </a:r>
                <a:r>
                  <a:rPr lang="de-DE" dirty="0"/>
                  <a:t> </a:t>
                </a:r>
                <a:r>
                  <a:rPr lang="de-DE" dirty="0" err="1"/>
                  <a:t>paired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recall</a:t>
                </a:r>
                <a:r>
                  <a:rPr lang="de-DE" dirty="0"/>
                  <a:t> (</a:t>
                </a:r>
                <a:r>
                  <a:rPr lang="de-DE" dirty="0" err="1"/>
                  <a:t>sensitivity</a:t>
                </a:r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D4ABED-1244-7AE0-78EB-50A1A664E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858E7B-2407-5225-D354-D4226D581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39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C0C34B7-CBD9-7FCF-1767-613D5A63EF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ROC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Curve</a:t>
                </a:r>
                <a:endParaRPr lang="de-DE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C0C34B7-CBD9-7FCF-1767-613D5A63E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AD4B36-A164-A513-CF0F-93BF14694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252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Receiver Operating </a:t>
            </a:r>
            <a:r>
              <a:rPr lang="de-DE" dirty="0" err="1"/>
              <a:t>Characteristic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plots</a:t>
            </a:r>
            <a:r>
              <a:rPr lang="de-DE" dirty="0"/>
              <a:t> True Positive Rate (Recall) vs. </a:t>
            </a:r>
            <a:r>
              <a:rPr lang="de-DE" dirty="0" err="1"/>
              <a:t>False</a:t>
            </a:r>
            <a:r>
              <a:rPr lang="de-DE" dirty="0"/>
              <a:t> Positive Rate (FPR)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all </a:t>
            </a:r>
            <a:r>
              <a:rPr lang="de-DE" dirty="0" err="1"/>
              <a:t>thresholds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curve</a:t>
            </a:r>
            <a:r>
              <a:rPr lang="de-DE" dirty="0"/>
              <a:t> </a:t>
            </a:r>
            <a:r>
              <a:rPr lang="de-DE" dirty="0" err="1"/>
              <a:t>closer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top-</a:t>
            </a:r>
            <a:r>
              <a:rPr lang="de-DE" dirty="0" err="1"/>
              <a:t>left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97F6CD-B282-9987-FAF8-E0E49222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41B7B2-BA96-7A8F-3F92-425E4D822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3409" y="1227759"/>
            <a:ext cx="5128591" cy="512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3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02A5C0-EE47-8FD2-58EE-9904CFAC173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AUC</m:t>
                    </m:r>
                  </m:oMath>
                </a14:m>
                <a:r>
                  <a:rPr lang="de-DE" dirty="0"/>
                  <a:t> (Area Under </a:t>
                </a:r>
                <a:r>
                  <a:rPr lang="de-DE" dirty="0" err="1"/>
                  <a:t>Curve</a:t>
                </a:r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102A5C0-EE47-8FD2-58EE-9904CFAC1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62FA62-AFE8-97FD-F94D-041043157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definition</a:t>
            </a:r>
            <a:r>
              <a:rPr lang="de-DE" dirty="0"/>
              <a:t>: </a:t>
            </a:r>
            <a:r>
              <a:rPr lang="de-DE" dirty="0" err="1"/>
              <a:t>area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ROC </a:t>
            </a:r>
            <a:r>
              <a:rPr lang="de-DE" dirty="0" err="1"/>
              <a:t>curve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interpretation</a:t>
            </a:r>
            <a:r>
              <a:rPr lang="de-DE" dirty="0"/>
              <a:t>:</a:t>
            </a:r>
          </a:p>
          <a:p>
            <a:r>
              <a:rPr lang="de-DE" dirty="0"/>
              <a:t>1.0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perfect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0.5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guessing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advantage</a:t>
            </a:r>
            <a:r>
              <a:rPr lang="de-DE" dirty="0"/>
              <a:t>: </a:t>
            </a:r>
            <a:r>
              <a:rPr lang="de-DE" dirty="0" err="1"/>
              <a:t>threshold</a:t>
            </a:r>
            <a:r>
              <a:rPr lang="de-DE" dirty="0"/>
              <a:t>-independent </a:t>
            </a:r>
            <a:r>
              <a:rPr lang="de-DE" dirty="0" err="1"/>
              <a:t>evaluation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3F2D3F-511C-A1CD-387B-C259F3B7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AE5A77-7807-FB10-86A7-E66BFAF8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Precision-Recall </a:t>
            </a:r>
            <a:r>
              <a:rPr lang="de-DE" dirty="0" err="1"/>
              <a:t>Curve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DD589B-C44F-B5E2-13DD-B060C0FE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 vs. </a:t>
            </a:r>
            <a:r>
              <a:rPr lang="de-DE" dirty="0" err="1"/>
              <a:t>recall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imbalanced</a:t>
            </a:r>
            <a:r>
              <a:rPr lang="de-DE" dirty="0"/>
              <a:t> </a:t>
            </a:r>
            <a:r>
              <a:rPr lang="de-DE" dirty="0" err="1"/>
              <a:t>datasets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(ROC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overly</a:t>
            </a:r>
            <a:r>
              <a:rPr lang="de-DE" dirty="0"/>
              <a:t> </a:t>
            </a:r>
            <a:r>
              <a:rPr lang="de-DE" dirty="0" err="1"/>
              <a:t>optimistic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classes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skewed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71902D-C299-208A-FD4D-E603B9EC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620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D893E5-6005-7A60-A9A5-E3C03FFD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Right </a:t>
            </a:r>
            <a:r>
              <a:rPr lang="de-DE" dirty="0" err="1"/>
              <a:t>Metric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608FB1-F872-F65B-C0F8-E0F0A9B0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balanced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suffice</a:t>
            </a:r>
            <a:endParaRPr lang="de-DE" dirty="0"/>
          </a:p>
          <a:p>
            <a:r>
              <a:rPr lang="de-DE" dirty="0" err="1"/>
              <a:t>imbalanced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F1, PR </a:t>
            </a:r>
            <a:r>
              <a:rPr lang="de-DE" dirty="0" err="1"/>
              <a:t>curve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high </a:t>
            </a:r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false</a:t>
            </a:r>
            <a:r>
              <a:rPr lang="de-DE" dirty="0"/>
              <a:t> positives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precision</a:t>
            </a:r>
            <a:endParaRPr lang="de-DE" dirty="0"/>
          </a:p>
          <a:p>
            <a:r>
              <a:rPr lang="de-DE" dirty="0"/>
              <a:t>high </a:t>
            </a:r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false</a:t>
            </a:r>
            <a:r>
              <a:rPr lang="de-DE" dirty="0"/>
              <a:t> negatives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recall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rule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thumb</a:t>
            </a:r>
            <a:r>
              <a:rPr lang="de-DE" dirty="0"/>
              <a:t>: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objective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A8324-8C47-8782-354C-AACA8357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73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6BAA91-B4AB-D7A8-5204-1807894D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Regression </a:t>
            </a:r>
            <a:r>
              <a:rPr lang="de-DE" dirty="0" err="1"/>
              <a:t>Metrics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B4B339-ACF2-ABEC-4B70-D439F4E4E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predictions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errors</a:t>
            </a:r>
            <a:r>
              <a:rPr lang="de-DE" dirty="0"/>
              <a:t>: </a:t>
            </a:r>
            <a:r>
              <a:rPr lang="de-DE" dirty="0" err="1"/>
              <a:t>deviations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predicted</a:t>
            </a:r>
            <a:r>
              <a:rPr lang="de-DE" dirty="0"/>
              <a:t> and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i="1" dirty="0"/>
              <a:t>How </a:t>
            </a:r>
            <a:r>
              <a:rPr lang="de-DE" i="1" dirty="0" err="1"/>
              <a:t>wrong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predictions</a:t>
            </a:r>
            <a:r>
              <a:rPr lang="de-DE" dirty="0"/>
              <a:t>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choice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metric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on:</a:t>
            </a:r>
          </a:p>
          <a:p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outliers</a:t>
            </a:r>
            <a:r>
              <a:rPr lang="de-DE" dirty="0"/>
              <a:t> (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penalize</a:t>
            </a:r>
            <a:r>
              <a:rPr lang="de-DE" dirty="0"/>
              <a:t> large </a:t>
            </a:r>
            <a:r>
              <a:rPr lang="de-DE" dirty="0" err="1"/>
              <a:t>errors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heavily</a:t>
            </a:r>
            <a:r>
              <a:rPr lang="de-DE" dirty="0"/>
              <a:t>)</a:t>
            </a:r>
          </a:p>
          <a:p>
            <a:r>
              <a:rPr lang="de-DE" dirty="0" err="1"/>
              <a:t>interpretability</a:t>
            </a:r>
            <a:endParaRPr lang="de-DE" dirty="0"/>
          </a:p>
          <a:p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goals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4B64DB-1A78-8170-8CF6-34EB5124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589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9E6C4-BB79-A75A-D19E-577170C2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Error Basics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A935C5C-78AE-94BF-1B1B-F10D1BD892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cy-GB" dirty="0"/>
                  <a:t>residual (error): difference between actual and predicted value</a:t>
                </a:r>
              </a:p>
              <a:p>
                <a:pPr marL="0" indent="0">
                  <a:buNone/>
                </a:pPr>
                <a:endParaRPr lang="cy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residual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cy-GB" dirty="0"/>
              </a:p>
              <a:p>
                <a:pPr marL="0" indent="0">
                  <a:buNone/>
                </a:pPr>
                <a:endParaRPr lang="cy-GB" dirty="0"/>
              </a:p>
              <a:p>
                <a:r>
                  <a:rPr lang="cy-GB" dirty="0"/>
                  <a:t>positive </a:t>
                </a:r>
                <a:r>
                  <a:rPr lang="cy-GB" dirty="0">
                    <a:sym typeface="Wingdings" pitchFamily="2" charset="2"/>
                  </a:rPr>
                  <a:t></a:t>
                </a:r>
                <a:r>
                  <a:rPr lang="cy-GB" dirty="0"/>
                  <a:t> underestimation</a:t>
                </a:r>
              </a:p>
              <a:p>
                <a:r>
                  <a:rPr lang="cy-GB" dirty="0"/>
                  <a:t>negative </a:t>
                </a:r>
                <a:r>
                  <a:rPr lang="cy-GB" dirty="0">
                    <a:sym typeface="Wingdings" pitchFamily="2" charset="2"/>
                  </a:rPr>
                  <a:t></a:t>
                </a:r>
                <a:r>
                  <a:rPr lang="cy-GB" dirty="0"/>
                  <a:t> overestimation</a:t>
                </a:r>
              </a:p>
              <a:p>
                <a:pPr marL="0" indent="0">
                  <a:buNone/>
                </a:pPr>
                <a:endParaRPr lang="cy-GB" dirty="0"/>
              </a:p>
              <a:p>
                <a:pPr marL="0" indent="0">
                  <a:buNone/>
                </a:pPr>
                <a:r>
                  <a:rPr lang="cy-GB" dirty="0"/>
                  <a:t>mean residual shows general under- or overestimation: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cy-GB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A935C5C-78AE-94BF-1B1B-F10D1BD89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36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B7E126-F5C0-E2F3-41CD-17A82A90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193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7D48AAE-28AC-8C0A-807E-EECDA41513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Mean </a:t>
                </a:r>
                <a:r>
                  <a:rPr lang="de-DE" dirty="0" err="1"/>
                  <a:t>Squared</a:t>
                </a:r>
                <a:r>
                  <a:rPr lang="de-DE" dirty="0"/>
                  <a:t> Error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MSE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F7D48AAE-28AC-8C0A-807E-EECDA4151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91121AB-A03C-208B-AADC-CE8997A83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d</a:t>
                </a:r>
                <a:r>
                  <a:rPr lang="de-DE" dirty="0" err="1"/>
                  <a:t>efinition</a:t>
                </a:r>
                <a:r>
                  <a:rPr lang="de-DE" dirty="0"/>
                  <a:t>: </a:t>
                </a:r>
                <a:r>
                  <a:rPr lang="de-DE" dirty="0" err="1"/>
                  <a:t>average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penalizes</a:t>
                </a:r>
                <a:r>
                  <a:rPr lang="de-DE" dirty="0"/>
                  <a:t> large </a:t>
                </a:r>
                <a:r>
                  <a:rPr lang="de-DE" dirty="0" err="1"/>
                  <a:t>errors</a:t>
                </a:r>
                <a:r>
                  <a:rPr lang="de-DE" dirty="0"/>
                  <a:t> </a:t>
                </a:r>
                <a:r>
                  <a:rPr lang="de-DE" dirty="0" err="1"/>
                  <a:t>heavily</a:t>
                </a:r>
                <a:endParaRPr lang="de-DE" dirty="0"/>
              </a:p>
              <a:p>
                <a:r>
                  <a:rPr lang="de-DE" dirty="0"/>
                  <a:t>smooth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optimization</a:t>
                </a:r>
                <a:endParaRPr lang="de-DE" dirty="0"/>
              </a:p>
              <a:p>
                <a:r>
                  <a:rPr lang="de-DE" dirty="0"/>
                  <a:t>sensitive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outliers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91121AB-A03C-208B-AADC-CE8997A83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82E0FE-E0D6-E071-273A-26AAA32F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2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07CC83C-2591-EF88-216A-CD9FB54E207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Root Mean Squared Error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RMSE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107CC83C-2591-EF88-216A-CD9FB54E20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32EEFA-3D9C-9BE5-4908-C1AF675E7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d</a:t>
                </a:r>
                <a:r>
                  <a:rPr lang="de-DE" dirty="0" err="1"/>
                  <a:t>efinition</a:t>
                </a:r>
                <a:r>
                  <a:rPr lang="de-DE" dirty="0"/>
                  <a:t>: </a:t>
                </a:r>
                <a:r>
                  <a:rPr lang="de-DE" dirty="0" err="1"/>
                  <a:t>square</a:t>
                </a:r>
                <a:r>
                  <a:rPr lang="de-DE" dirty="0"/>
                  <a:t> root </a:t>
                </a:r>
                <a:r>
                  <a:rPr lang="de-DE" dirty="0" err="1"/>
                  <a:t>of</a:t>
                </a:r>
                <a:r>
                  <a:rPr lang="de-DE" dirty="0"/>
                  <a:t> MSE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RM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SE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de-D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same </a:t>
                </a:r>
                <a:r>
                  <a:rPr lang="de-DE" dirty="0" err="1"/>
                  <a:t>units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target</a:t>
                </a:r>
                <a:r>
                  <a:rPr lang="de-DE" dirty="0"/>
                  <a:t> variable</a:t>
                </a:r>
              </a:p>
              <a:p>
                <a:r>
                  <a:rPr lang="de-DE" dirty="0" err="1"/>
                  <a:t>interpretation</a:t>
                </a:r>
                <a:r>
                  <a:rPr lang="de-DE" dirty="0"/>
                  <a:t>: </a:t>
                </a:r>
                <a:r>
                  <a:rPr lang="de-DE" dirty="0" err="1"/>
                  <a:t>typical</a:t>
                </a:r>
                <a:r>
                  <a:rPr lang="de-DE" dirty="0"/>
                  <a:t> </a:t>
                </a:r>
                <a:r>
                  <a:rPr lang="de-DE" dirty="0" err="1"/>
                  <a:t>size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prediction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32EEFA-3D9C-9BE5-4908-C1AF675E7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6977" b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72C798-06FD-AA0C-3EC5-B4237747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35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63B14969-5D2F-0A75-063E-EC6133ED95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Mean Absolute Error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MAE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63B14969-5D2F-0A75-063E-EC6133ED9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427EC5-B335-3C38-197A-EC3CE02AC2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d</a:t>
                </a:r>
                <a:r>
                  <a:rPr lang="de-DE" dirty="0" err="1"/>
                  <a:t>efinition</a:t>
                </a:r>
                <a:r>
                  <a:rPr lang="de-DE" dirty="0"/>
                  <a:t>: </a:t>
                </a:r>
                <a:r>
                  <a:rPr lang="de-DE" dirty="0" err="1"/>
                  <a:t>average</a:t>
                </a:r>
                <a:r>
                  <a:rPr lang="de-DE" dirty="0"/>
                  <a:t> absolute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predictions</a:t>
                </a:r>
                <a:r>
                  <a:rPr lang="de-DE" dirty="0"/>
                  <a:t> and </a:t>
                </a:r>
                <a:r>
                  <a:rPr lang="de-DE" dirty="0" err="1"/>
                  <a:t>actual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AE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easy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interpret</a:t>
                </a:r>
                <a:endParaRPr lang="de-DE" dirty="0"/>
              </a:p>
              <a:p>
                <a:r>
                  <a:rPr lang="de-DE" dirty="0"/>
                  <a:t>robust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outliers</a:t>
                </a:r>
                <a:endParaRPr lang="de-DE" dirty="0"/>
              </a:p>
              <a:p>
                <a:r>
                  <a:rPr lang="de-DE" dirty="0" err="1"/>
                  <a:t>does</a:t>
                </a:r>
                <a:r>
                  <a:rPr lang="de-DE" dirty="0"/>
                  <a:t> not </a:t>
                </a:r>
                <a:r>
                  <a:rPr lang="de-DE" dirty="0" err="1"/>
                  <a:t>strongly</a:t>
                </a:r>
                <a:r>
                  <a:rPr lang="de-DE" dirty="0"/>
                  <a:t> </a:t>
                </a:r>
                <a:r>
                  <a:rPr lang="de-DE" dirty="0" err="1"/>
                  <a:t>penalize</a:t>
                </a:r>
                <a:r>
                  <a:rPr lang="de-DE" dirty="0"/>
                  <a:t> large </a:t>
                </a:r>
                <a:r>
                  <a:rPr lang="de-DE" dirty="0" err="1"/>
                  <a:t>errors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427EC5-B335-3C38-197A-EC3CE02AC2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6686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032D6F-8295-C9EE-5CC7-B13B7372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98A1206-3813-4D35-6E8B-E32957E98230}"/>
                  </a:ext>
                </a:extLst>
              </p:cNvPr>
              <p:cNvSpPr txBox="1"/>
              <p:nvPr/>
            </p:nvSpPr>
            <p:spPr>
              <a:xfrm>
                <a:off x="4280598" y="2592476"/>
                <a:ext cx="1071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aka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MA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98A1206-3813-4D35-6E8B-E32957E98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98" y="2592476"/>
                <a:ext cx="1071768" cy="369332"/>
              </a:xfrm>
              <a:prstGeom prst="rect">
                <a:avLst/>
              </a:prstGeom>
              <a:blipFill>
                <a:blip r:embed="rId4"/>
                <a:stretch>
                  <a:fillRect l="-3488" t="-6667" b="-2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110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4B67BE7-4ED6-E248-C13C-B775A4861D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MAE</m:t>
                    </m:r>
                  </m:oMath>
                </a14:m>
                <a:r>
                  <a:rPr lang="de-DE" dirty="0"/>
                  <a:t> vs.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MSE</m:t>
                    </m:r>
                  </m:oMath>
                </a14:m>
                <a:r>
                  <a:rPr lang="de-DE" dirty="0"/>
                  <a:t>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RMSE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E4B67BE7-4ED6-E248-C13C-B775A4861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14EFA76-9EBA-DFD5-0C58-80405D39A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mtClean="0">
                        <a:latin typeface="Cambria Math" panose="02040503050406030204" pitchFamily="18" charset="0"/>
                      </a:rPr>
                      <m:t>MAE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treats</a:t>
                </a:r>
                <a:r>
                  <a:rPr lang="de-DE" dirty="0"/>
                  <a:t> all </a:t>
                </a:r>
                <a:r>
                  <a:rPr lang="de-DE" dirty="0" err="1"/>
                  <a:t>errors</a:t>
                </a:r>
                <a:r>
                  <a:rPr lang="de-DE" dirty="0"/>
                  <a:t> </a:t>
                </a:r>
                <a:r>
                  <a:rPr lang="de-DE" dirty="0" err="1"/>
                  <a:t>equally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de-DE" dirty="0"/>
                  <a:t>/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penalize</a:t>
                </a:r>
                <a:r>
                  <a:rPr lang="de-DE" dirty="0"/>
                  <a:t> large </a:t>
                </a:r>
                <a:r>
                  <a:rPr lang="de-DE" dirty="0" err="1"/>
                  <a:t>errors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rule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thumb</a:t>
                </a:r>
                <a:r>
                  <a:rPr lang="de-DE" dirty="0"/>
                  <a:t>:</a:t>
                </a:r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MAE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robustness</a:t>
                </a:r>
                <a:r>
                  <a:rPr lang="de-DE" dirty="0"/>
                  <a:t> </a:t>
                </a:r>
                <a:r>
                  <a:rPr lang="de-DE" dirty="0" err="1"/>
                  <a:t>matters</a:t>
                </a:r>
                <a:endParaRPr lang="de-DE" dirty="0"/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large </a:t>
                </a:r>
                <a:r>
                  <a:rPr lang="de-DE" dirty="0" err="1"/>
                  <a:t>errors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critical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14EFA76-9EBA-DFD5-0C58-80405D39A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1ADCD5-93B5-F838-E051-EC558F1D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916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B03AEC2-8A63-BEA2-D100-04B0AC8C3F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i="0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Coefficient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Determination)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B03AEC2-8A63-BEA2-D100-04B0AC8C3F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B2671EC-D2E3-7708-BA55-1696C447D2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d</a:t>
                </a:r>
                <a:r>
                  <a:rPr lang="de-DE" dirty="0" err="1"/>
                  <a:t>efinition</a:t>
                </a:r>
                <a:r>
                  <a:rPr lang="de-DE" dirty="0"/>
                  <a:t>: </a:t>
                </a:r>
                <a:r>
                  <a:rPr lang="de-DE" dirty="0" err="1"/>
                  <a:t>proportion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variance</a:t>
                </a:r>
                <a:r>
                  <a:rPr lang="de-DE" dirty="0"/>
                  <a:t> </a:t>
                </a:r>
                <a:r>
                  <a:rPr lang="de-DE" dirty="0" err="1"/>
                  <a:t>explained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de-D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de-D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interpretation</a:t>
                </a:r>
                <a:r>
                  <a:rPr lang="de-DE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perfect</a:t>
                </a:r>
                <a:r>
                  <a:rPr lang="de-DE" dirty="0"/>
                  <a:t> fit</a:t>
                </a:r>
              </a:p>
              <a:p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same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predicting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&lt; 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worse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:r>
                  <a:rPr lang="de-DE" dirty="0" err="1"/>
                  <a:t>baseline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B2671EC-D2E3-7708-BA55-1696C447D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3D3E92-381D-ADE9-855B-370F9E59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748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7BC06C3-67E0-729B-9304-F60785D3AA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Mean Absolute </a:t>
                </a:r>
                <a:r>
                  <a:rPr lang="de-DE" dirty="0" err="1"/>
                  <a:t>Percentage</a:t>
                </a:r>
                <a:r>
                  <a:rPr lang="de-DE" dirty="0"/>
                  <a:t> Error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MAPE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7BC06C3-67E0-729B-9304-F60785D3A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1C8ABCD-7CC0-7EC4-0241-5502F37CA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d</a:t>
                </a:r>
                <a:r>
                  <a:rPr lang="de-DE" dirty="0" err="1"/>
                  <a:t>efinition</a:t>
                </a:r>
                <a:r>
                  <a:rPr lang="de-DE" dirty="0"/>
                  <a:t>: </a:t>
                </a:r>
                <a:r>
                  <a:rPr lang="de-DE" dirty="0" err="1"/>
                  <a:t>error</a:t>
                </a:r>
                <a:r>
                  <a:rPr lang="de-DE" dirty="0"/>
                  <a:t> </a:t>
                </a:r>
                <a:r>
                  <a:rPr lang="de-DE" dirty="0" err="1"/>
                  <a:t>expressed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percentage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MAPE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de-D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easy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interpret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de-DE" dirty="0"/>
                  <a:t>)</a:t>
                </a:r>
              </a:p>
              <a:p>
                <a:pPr/>
                <a:r>
                  <a:rPr lang="de-DE" dirty="0" err="1"/>
                  <a:t>undefined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biased</a:t>
                </a:r>
                <a:r>
                  <a:rPr lang="de-DE" dirty="0"/>
                  <a:t> </a:t>
                </a:r>
                <a:r>
                  <a:rPr lang="de-DE" dirty="0" err="1"/>
                  <a:t>toward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1C8ABCD-7CC0-7EC4-0241-5502F37CA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314C82-9918-8849-25F2-956C7A0A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445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70B72-63A2-8E8A-01BF-015E961D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Choosing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Right </a:t>
            </a:r>
            <a:r>
              <a:rPr lang="de-DE" dirty="0" err="1"/>
              <a:t>Metric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33D2745-2CB6-D37D-C5FA-17A1FA415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MAE</m:t>
                    </m:r>
                  </m:oMath>
                </a14:m>
                <a:r>
                  <a:rPr lang="de-DE" dirty="0"/>
                  <a:t>: robust, </a:t>
                </a:r>
                <a:r>
                  <a:rPr lang="de-DE" dirty="0" err="1"/>
                  <a:t>interpretable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RMSE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penalizes</a:t>
                </a:r>
                <a:r>
                  <a:rPr lang="de-DE" dirty="0"/>
                  <a:t> large </a:t>
                </a:r>
                <a:r>
                  <a:rPr lang="de-DE" dirty="0" err="1"/>
                  <a:t>errors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de-DE" i="0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explains</a:t>
                </a:r>
                <a:r>
                  <a:rPr lang="de-DE" dirty="0"/>
                  <a:t> </a:t>
                </a:r>
                <a:r>
                  <a:rPr lang="de-DE" dirty="0" err="1"/>
                  <a:t>variance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MAPE</m:t>
                    </m:r>
                  </m:oMath>
                </a14:m>
                <a:r>
                  <a:rPr lang="de-DE" dirty="0"/>
                  <a:t>: relative </a:t>
                </a:r>
                <a:r>
                  <a:rPr lang="de-DE" dirty="0" err="1"/>
                  <a:t>error</a:t>
                </a:r>
                <a:r>
                  <a:rPr lang="de-DE" dirty="0"/>
                  <a:t> (%)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key</a:t>
                </a:r>
                <a:r>
                  <a:rPr lang="de-DE" dirty="0"/>
                  <a:t> </a:t>
                </a:r>
                <a:r>
                  <a:rPr lang="de-DE" dirty="0" err="1"/>
                  <a:t>question</a:t>
                </a:r>
                <a:r>
                  <a:rPr lang="de-DE" dirty="0"/>
                  <a:t>: </a:t>
                </a:r>
                <a:r>
                  <a:rPr lang="de-DE" dirty="0" err="1"/>
                  <a:t>What</a:t>
                </a:r>
                <a:r>
                  <a:rPr lang="de-DE" dirty="0"/>
                  <a:t> </a:t>
                </a:r>
                <a:r>
                  <a:rPr lang="de-DE" dirty="0" err="1"/>
                  <a:t>kind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r>
                  <a:rPr lang="de-DE" dirty="0"/>
                  <a:t> matter </a:t>
                </a:r>
                <a:r>
                  <a:rPr lang="de-DE" dirty="0" err="1"/>
                  <a:t>most</a:t>
                </a:r>
                <a:r>
                  <a:rPr lang="de-DE" dirty="0"/>
                  <a:t>?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33D2745-2CB6-D37D-C5FA-17A1FA415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044B24-EA2A-2ADC-3781-1A2B91DB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AACF11E-C6E8-F06D-0AE3-A8434F371BAA}"/>
                  </a:ext>
                </a:extLst>
              </p:cNvPr>
              <p:cNvSpPr txBox="1"/>
              <p:nvPr/>
            </p:nvSpPr>
            <p:spPr>
              <a:xfrm>
                <a:off x="7158984" y="1870075"/>
                <a:ext cx="4196470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absolute </a:t>
                </a:r>
                <a:r>
                  <a:rPr lang="de-DE" sz="2800" dirty="0" err="1"/>
                  <a:t>metrics</a:t>
                </a:r>
                <a:r>
                  <a:rPr lang="de-DE" sz="2800" dirty="0"/>
                  <a:t>:</a:t>
                </a:r>
              </a:p>
              <a:p>
                <a:r>
                  <a:rPr lang="de-DE" sz="2800" dirty="0" err="1"/>
                  <a:t>increase</a:t>
                </a:r>
                <a:r>
                  <a:rPr lang="de-DE" sz="2800" dirty="0"/>
                  <a:t> </a:t>
                </a:r>
                <a:r>
                  <a:rPr lang="de-DE" sz="2800" dirty="0" err="1"/>
                  <a:t>with</a:t>
                </a:r>
                <a:r>
                  <a:rPr lang="de-DE" sz="2800" dirty="0"/>
                  <a:t> </a:t>
                </a:r>
                <a:r>
                  <a:rPr lang="de-DE" sz="2800" dirty="0" err="1"/>
                  <a:t>increasing</a:t>
                </a:r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AACF11E-C6E8-F06D-0AE3-A8434F37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984" y="1870075"/>
                <a:ext cx="4196470" cy="954107"/>
              </a:xfrm>
              <a:prstGeom prst="rect">
                <a:avLst/>
              </a:prstGeom>
              <a:blipFill>
                <a:blip r:embed="rId3"/>
                <a:stretch>
                  <a:fillRect l="-3012" t="-6579" b="-184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A5D3417-FC39-7216-E656-020E4EC94BBC}"/>
                  </a:ext>
                </a:extLst>
              </p:cNvPr>
              <p:cNvSpPr txBox="1"/>
              <p:nvPr/>
            </p:nvSpPr>
            <p:spPr>
              <a:xfrm>
                <a:off x="7158984" y="3429000"/>
                <a:ext cx="367350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800" dirty="0"/>
                  <a:t>relative </a:t>
                </a:r>
                <a:r>
                  <a:rPr lang="de-DE" sz="2800" dirty="0" err="1"/>
                  <a:t>metrics</a:t>
                </a:r>
                <a:r>
                  <a:rPr lang="de-DE" sz="2800" dirty="0"/>
                  <a:t>:</a:t>
                </a:r>
              </a:p>
              <a:p>
                <a:r>
                  <a:rPr lang="de-DE" sz="2800" dirty="0" err="1"/>
                  <a:t>be</a:t>
                </a:r>
                <a:r>
                  <a:rPr lang="de-DE" sz="2800" dirty="0"/>
                  <a:t> </a:t>
                </a:r>
                <a:r>
                  <a:rPr lang="de-DE" sz="2800" dirty="0" err="1"/>
                  <a:t>careful</a:t>
                </a:r>
                <a:r>
                  <a:rPr lang="de-DE" sz="2800" dirty="0"/>
                  <a:t> </a:t>
                </a:r>
                <a:r>
                  <a:rPr lang="de-DE" sz="2800" dirty="0" err="1"/>
                  <a:t>with</a:t>
                </a:r>
                <a:r>
                  <a:rPr lang="de-DE" sz="2800" dirty="0"/>
                  <a:t> </a:t>
                </a:r>
                <a:r>
                  <a:rPr lang="de-DE" sz="2800" dirty="0" err="1"/>
                  <a:t>small</a:t>
                </a:r>
                <a:r>
                  <a:rPr lang="de-DE" sz="2800" dirty="0"/>
                  <a:t> </a:t>
                </a:r>
                <a14:m>
                  <m:oMath xmlns:m="http://schemas.openxmlformats.org/officeDocument/2006/math"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A5D3417-FC39-7216-E656-020E4EC94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8984" y="3429000"/>
                <a:ext cx="3673506" cy="954107"/>
              </a:xfrm>
              <a:prstGeom prst="rect">
                <a:avLst/>
              </a:prstGeom>
              <a:blipFill>
                <a:blip r:embed="rId4"/>
                <a:stretch>
                  <a:fillRect l="-3448" t="-7895" b="-184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eschweifte Klammer links 6">
            <a:extLst>
              <a:ext uri="{FF2B5EF4-FFF2-40B4-BE49-F238E27FC236}">
                <a16:creationId xmlns:a16="http://schemas.microsoft.com/office/drawing/2014/main" id="{5DF8BDC7-7E0E-4C5B-0CF2-2CC38FDDA5BE}"/>
              </a:ext>
            </a:extLst>
          </p:cNvPr>
          <p:cNvSpPr/>
          <p:nvPr/>
        </p:nvSpPr>
        <p:spPr>
          <a:xfrm rot="10800000">
            <a:off x="6571621" y="1825625"/>
            <a:ext cx="321547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505BFAED-DD49-4211-7184-53485A1D7096}"/>
              </a:ext>
            </a:extLst>
          </p:cNvPr>
          <p:cNvSpPr/>
          <p:nvPr/>
        </p:nvSpPr>
        <p:spPr>
          <a:xfrm rot="10800000">
            <a:off x="6571620" y="3429000"/>
            <a:ext cx="321547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34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01F250-668E-1F2D-259B-F5E2D23A0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Point </a:t>
            </a:r>
            <a:r>
              <a:rPr lang="de-DE" dirty="0" err="1"/>
              <a:t>Estimates</a:t>
            </a:r>
            <a:r>
              <a:rPr lang="de-DE" dirty="0"/>
              <a:t> vs. Full PDF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F3B1EE-D2A0-998F-FFA3-80C2A5645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387" indent="0">
              <a:buNone/>
              <a:tabLst>
                <a:tab pos="227013" algn="l"/>
              </a:tabLst>
            </a:pPr>
            <a:r>
              <a:rPr lang="de-DE" sz="2600" dirty="0"/>
              <a:t>all </a:t>
            </a:r>
            <a:r>
              <a:rPr lang="de-DE" sz="2600" dirty="0" err="1"/>
              <a:t>considered</a:t>
            </a:r>
            <a:r>
              <a:rPr lang="de-DE" sz="2600" dirty="0"/>
              <a:t> </a:t>
            </a:r>
            <a:r>
              <a:rPr lang="de-DE" sz="2600" dirty="0" err="1"/>
              <a:t>metrics</a:t>
            </a:r>
            <a:r>
              <a:rPr lang="de-DE" sz="2600" dirty="0"/>
              <a:t> </a:t>
            </a:r>
            <a:r>
              <a:rPr lang="de-DE" sz="2600" dirty="0" err="1"/>
              <a:t>describe</a:t>
            </a:r>
            <a:r>
              <a:rPr lang="de-DE" sz="2600" dirty="0"/>
              <a:t> </a:t>
            </a:r>
            <a:r>
              <a:rPr lang="de-DE" sz="2600" dirty="0" err="1"/>
              <a:t>point</a:t>
            </a:r>
            <a:r>
              <a:rPr lang="de-DE" sz="2600" dirty="0"/>
              <a:t> </a:t>
            </a:r>
            <a:r>
              <a:rPr lang="de-DE" sz="2600" dirty="0" err="1"/>
              <a:t>estimates</a:t>
            </a:r>
            <a:endParaRPr lang="de-DE" sz="2600" dirty="0"/>
          </a:p>
          <a:p>
            <a:pPr marL="52387" indent="0">
              <a:buNone/>
              <a:tabLst>
                <a:tab pos="227013" algn="l"/>
              </a:tabLst>
            </a:pPr>
            <a:r>
              <a:rPr lang="de-DE" sz="2600" dirty="0" err="1"/>
              <a:t>typically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mean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median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assumed</a:t>
            </a:r>
            <a:r>
              <a:rPr lang="de-DE" sz="2600" dirty="0"/>
              <a:t> </a:t>
            </a:r>
            <a:r>
              <a:rPr lang="de-DE" sz="2600" dirty="0" err="1"/>
              <a:t>probability</a:t>
            </a:r>
            <a:r>
              <a:rPr lang="de-DE" sz="2600" dirty="0"/>
              <a:t> </a:t>
            </a:r>
            <a:r>
              <a:rPr lang="de-DE" sz="2600" dirty="0" err="1"/>
              <a:t>distribution</a:t>
            </a:r>
            <a:endParaRPr lang="de-DE" sz="2600" dirty="0"/>
          </a:p>
          <a:p>
            <a:pPr marL="52387" indent="0">
              <a:buNone/>
              <a:tabLst>
                <a:tab pos="227013" algn="l"/>
              </a:tabLst>
            </a:pPr>
            <a:endParaRPr lang="en-GB" sz="2600" dirty="0"/>
          </a:p>
          <a:p>
            <a:pPr marL="52387" indent="0">
              <a:buNone/>
              <a:tabLst>
                <a:tab pos="227013" algn="l"/>
              </a:tabLst>
            </a:pPr>
            <a:r>
              <a:rPr lang="en-GB" sz="2600" dirty="0"/>
              <a:t>metrics for evaluation of predictions of full individual (i.e., for each observation) probability distributions </a:t>
            </a:r>
            <a:r>
              <a:rPr lang="en-GB" sz="2600" dirty="0">
                <a:hlinkClick r:id="rId2"/>
              </a:rPr>
              <a:t>a bit tricky</a:t>
            </a:r>
            <a:endParaRPr lang="en-DE" sz="260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8D7B7A-6D3D-D991-E71F-4A80F919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E2E805B-644B-313B-692C-5E01C3B8B14D}"/>
              </a:ext>
            </a:extLst>
          </p:cNvPr>
          <p:cNvSpPr txBox="1"/>
          <p:nvPr/>
        </p:nvSpPr>
        <p:spPr>
          <a:xfrm>
            <a:off x="742321" y="4417358"/>
            <a:ext cx="10707357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discussed</a:t>
            </a:r>
            <a:r>
              <a:rPr lang="de-DE" sz="2400" dirty="0"/>
              <a:t> </a:t>
            </a:r>
            <a:r>
              <a:rPr lang="de-DE" sz="2400" dirty="0" err="1"/>
              <a:t>before</a:t>
            </a:r>
            <a:r>
              <a:rPr lang="de-DE" sz="2400" dirty="0"/>
              <a:t>, </a:t>
            </a:r>
            <a:r>
              <a:rPr lang="de-DE" sz="2400" dirty="0" err="1"/>
              <a:t>estimation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full</a:t>
            </a:r>
            <a:r>
              <a:rPr lang="de-DE" sz="2400" dirty="0"/>
              <a:t> individual PDFs </a:t>
            </a:r>
            <a:r>
              <a:rPr lang="de-DE" sz="2400" dirty="0" err="1"/>
              <a:t>typically</a:t>
            </a:r>
            <a:r>
              <a:rPr lang="de-DE" sz="2400" dirty="0"/>
              <a:t> </a:t>
            </a:r>
            <a:r>
              <a:rPr lang="de-DE" sz="2400" dirty="0" err="1"/>
              <a:t>requires</a:t>
            </a:r>
            <a:r>
              <a:rPr lang="de-DE" sz="2400" dirty="0"/>
              <a:t> </a:t>
            </a:r>
            <a:r>
              <a:rPr lang="de-DE" sz="2400" dirty="0" err="1"/>
              <a:t>estimation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additional </a:t>
            </a:r>
            <a:r>
              <a:rPr lang="de-DE" sz="2400" dirty="0" err="1"/>
              <a:t>parameters</a:t>
            </a:r>
            <a:endParaRPr lang="de-DE" sz="2400" dirty="0"/>
          </a:p>
          <a:p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mean</a:t>
            </a:r>
            <a:r>
              <a:rPr lang="de-DE" sz="2400" dirty="0"/>
              <a:t> </a:t>
            </a:r>
            <a:r>
              <a:rPr lang="de-DE" sz="2400" dirty="0" err="1"/>
              <a:t>estimate</a:t>
            </a:r>
            <a:r>
              <a:rPr lang="de-DE" sz="2400" dirty="0"/>
              <a:t>, </a:t>
            </a:r>
            <a:r>
              <a:rPr lang="de-DE" sz="2400" dirty="0" err="1"/>
              <a:t>homoscedasticity</a:t>
            </a:r>
            <a:r>
              <a:rPr lang="de-DE" sz="2400" dirty="0"/>
              <a:t> </a:t>
            </a:r>
            <a:r>
              <a:rPr lang="de-DE" sz="2400" dirty="0" err="1"/>
              <a:t>assumption</a:t>
            </a:r>
            <a:r>
              <a:rPr lang="de-DE" sz="2400" dirty="0"/>
              <a:t>, and </a:t>
            </a:r>
            <a:r>
              <a:rPr lang="de-DE" sz="2400" dirty="0" err="1"/>
              <a:t>assumption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underlying</a:t>
            </a:r>
            <a:r>
              <a:rPr lang="de-DE" sz="2400" dirty="0"/>
              <a:t> PDF (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example</a:t>
            </a:r>
            <a:r>
              <a:rPr lang="de-DE" sz="2400" dirty="0"/>
              <a:t> </a:t>
            </a:r>
            <a:r>
              <a:rPr lang="de-DE" sz="2400" dirty="0" err="1"/>
              <a:t>Gaussian</a:t>
            </a:r>
            <a:r>
              <a:rPr lang="de-DE" sz="2400" dirty="0"/>
              <a:t> in linear </a:t>
            </a:r>
            <a:r>
              <a:rPr lang="de-DE" sz="2400" dirty="0" err="1"/>
              <a:t>regression</a:t>
            </a:r>
            <a:r>
              <a:rPr lang="de-DE" sz="2400" dirty="0"/>
              <a:t>) </a:t>
            </a:r>
            <a:r>
              <a:rPr lang="de-DE" sz="2400" dirty="0">
                <a:sym typeface="Wingdings" pitchFamily="2" charset="2"/>
              </a:rPr>
              <a:t>not </a:t>
            </a:r>
            <a:r>
              <a:rPr lang="de-DE" sz="2400" dirty="0" err="1">
                <a:sym typeface="Wingdings" pitchFamily="2" charset="2"/>
              </a:rPr>
              <a:t>truly</a:t>
            </a:r>
            <a:r>
              <a:rPr lang="de-DE" sz="2400" dirty="0">
                <a:sym typeface="Wingdings" pitchFamily="2" charset="2"/>
              </a:rPr>
              <a:t> individual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963045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68BF4-AD63-4F4C-B852-8AE16A56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Histogram of CDF Observations</a:t>
            </a:r>
            <a:endParaRPr lang="en-DE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95004B0-6592-F449-91D7-BF3B2F9A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240F-EAFE-E84F-B44C-6D7A08E0E409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538B77-FECF-1646-98C9-3DB6CA58E52D}"/>
              </a:ext>
            </a:extLst>
          </p:cNvPr>
          <p:cNvGrpSpPr/>
          <p:nvPr/>
        </p:nvGrpSpPr>
        <p:grpSpPr>
          <a:xfrm>
            <a:off x="592367" y="1895704"/>
            <a:ext cx="2696010" cy="4190226"/>
            <a:chOff x="7560009" y="1527716"/>
            <a:chExt cx="2696010" cy="419022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382FDB3-2026-E244-8F15-E59F4DF94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0009" y="1527716"/>
              <a:ext cx="2696010" cy="202347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7FCD682-F850-514D-BB44-C6C6EABD8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0009" y="3677422"/>
              <a:ext cx="2696010" cy="202347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D5DD5-A542-F54F-A6BF-5365CDBB3F27}"/>
                </a:ext>
              </a:extLst>
            </p:cNvPr>
            <p:cNvSpPr/>
            <p:nvPr/>
          </p:nvSpPr>
          <p:spPr>
            <a:xfrm>
              <a:off x="7561860" y="5544789"/>
              <a:ext cx="232472" cy="173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68A52C-9283-8B4E-B746-D5B48BB5731B}"/>
                </a:ext>
              </a:extLst>
            </p:cNvPr>
            <p:cNvSpPr/>
            <p:nvPr/>
          </p:nvSpPr>
          <p:spPr>
            <a:xfrm>
              <a:off x="7586014" y="3428875"/>
              <a:ext cx="232472" cy="1731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81CB9C7-64BB-6746-95A0-B386152BF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5982"/>
            <a:ext cx="4046189" cy="303683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6A3EA3F-128E-5545-9BDF-D44861E360C5}"/>
              </a:ext>
            </a:extLst>
          </p:cNvPr>
          <p:cNvSpPr txBox="1"/>
          <p:nvPr/>
        </p:nvSpPr>
        <p:spPr>
          <a:xfrm>
            <a:off x="3288377" y="2158287"/>
            <a:ext cx="1786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DE" dirty="0"/>
              <a:t>redicted PDF</a:t>
            </a:r>
          </a:p>
          <a:p>
            <a:r>
              <a:rPr lang="en-DE" dirty="0">
                <a:sym typeface="Wingdings" pitchFamily="2" charset="2"/>
              </a:rPr>
              <a:t> predicted CDF</a:t>
            </a:r>
            <a:endParaRPr lang="en-DE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6D7B23-B5E3-344C-9128-B609D0C1978F}"/>
              </a:ext>
            </a:extLst>
          </p:cNvPr>
          <p:cNvCxnSpPr>
            <a:cxnSpLocks/>
          </p:cNvCxnSpPr>
          <p:nvPr/>
        </p:nvCxnSpPr>
        <p:spPr>
          <a:xfrm flipH="1">
            <a:off x="2085278" y="2430872"/>
            <a:ext cx="1203099" cy="373746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71AC01-CD5C-F44C-9C87-EC8707602D18}"/>
              </a:ext>
            </a:extLst>
          </p:cNvPr>
          <p:cNvCxnSpPr/>
          <p:nvPr/>
        </p:nvCxnSpPr>
        <p:spPr>
          <a:xfrm flipH="1">
            <a:off x="2486722" y="2804618"/>
            <a:ext cx="1326995" cy="151090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479826B-02BD-EB43-9645-3DF700111BED}"/>
              </a:ext>
            </a:extLst>
          </p:cNvPr>
          <p:cNvSpPr txBox="1"/>
          <p:nvPr/>
        </p:nvSpPr>
        <p:spPr>
          <a:xfrm>
            <a:off x="2686827" y="5974055"/>
            <a:ext cx="2123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</a:t>
            </a:r>
            <a:r>
              <a:rPr lang="en-DE" dirty="0"/>
              <a:t>bservation (</a:t>
            </a:r>
            <a:r>
              <a:rPr lang="en-DE"/>
              <a:t>target)</a:t>
            </a:r>
            <a:endParaRPr lang="de-DE" dirty="0"/>
          </a:p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sample</a:t>
            </a:r>
            <a:endParaRPr lang="en-DE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65311EA-CA0E-5C41-8E61-C1001196611A}"/>
              </a:ext>
            </a:extLst>
          </p:cNvPr>
          <p:cNvCxnSpPr>
            <a:stCxn id="35" idx="1"/>
          </p:cNvCxnSpPr>
          <p:nvPr/>
        </p:nvCxnSpPr>
        <p:spPr>
          <a:xfrm flipH="1" flipV="1">
            <a:off x="1527717" y="5311043"/>
            <a:ext cx="1159110" cy="98617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554657-190E-B547-AFE4-3EDDAA7D9D30}"/>
              </a:ext>
            </a:extLst>
          </p:cNvPr>
          <p:cNvCxnSpPr>
            <a:cxnSpLocks/>
          </p:cNvCxnSpPr>
          <p:nvPr/>
        </p:nvCxnSpPr>
        <p:spPr>
          <a:xfrm flipV="1">
            <a:off x="1542424" y="4490453"/>
            <a:ext cx="4444039" cy="815037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D6DE3E8-BCDD-F546-8B1D-E1C5B428E7FA}"/>
              </a:ext>
            </a:extLst>
          </p:cNvPr>
          <p:cNvSpPr/>
          <p:nvPr/>
        </p:nvSpPr>
        <p:spPr>
          <a:xfrm>
            <a:off x="5986463" y="4714480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93AB2B-8AAD-F54A-9A9E-BABE912A99E2}"/>
              </a:ext>
            </a:extLst>
          </p:cNvPr>
          <p:cNvSpPr txBox="1"/>
          <p:nvPr/>
        </p:nvSpPr>
        <p:spPr>
          <a:xfrm>
            <a:off x="618372" y="1508799"/>
            <a:ext cx="3452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</a:t>
            </a:r>
            <a:r>
              <a:rPr lang="en-DE" dirty="0"/>
              <a:t>ndividual prediction/observation: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478C1-6821-2440-B5C8-8010F6948CFD}"/>
              </a:ext>
            </a:extLst>
          </p:cNvPr>
          <p:cNvSpPr txBox="1"/>
          <p:nvPr/>
        </p:nvSpPr>
        <p:spPr>
          <a:xfrm>
            <a:off x="6321719" y="1566650"/>
            <a:ext cx="382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many</a:t>
            </a:r>
            <a:r>
              <a:rPr lang="de-DE" dirty="0"/>
              <a:t> (</a:t>
            </a:r>
            <a:r>
              <a:rPr lang="de-DE" dirty="0" err="1"/>
              <a:t>or</a:t>
            </a:r>
            <a:r>
              <a:rPr lang="de-DE" dirty="0"/>
              <a:t> all) </a:t>
            </a:r>
            <a:r>
              <a:rPr lang="de-DE" dirty="0" err="1"/>
              <a:t>predictions</a:t>
            </a:r>
            <a:r>
              <a:rPr lang="de-DE" dirty="0"/>
              <a:t>/</a:t>
            </a:r>
            <a:r>
              <a:rPr lang="de-DE" dirty="0" err="1"/>
              <a:t>observations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415B2-6340-A44B-84AB-8C9C4EEF63F5}"/>
              </a:ext>
            </a:extLst>
          </p:cNvPr>
          <p:cNvSpPr txBox="1"/>
          <p:nvPr/>
        </p:nvSpPr>
        <p:spPr>
          <a:xfrm>
            <a:off x="6321719" y="5303024"/>
            <a:ext cx="5276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subtlety for discrete PDFs:</a:t>
            </a:r>
          </a:p>
          <a:p>
            <a:r>
              <a:rPr lang="en-GB" dirty="0"/>
              <a:t>histogram filled using random numbers according to the CDF intervals (e.g., for 3 actual sales: random pick between discrete CDF values for 2 and 3)</a:t>
            </a:r>
          </a:p>
        </p:txBody>
      </p:sp>
    </p:spTree>
    <p:extLst>
      <p:ext uri="{BB962C8B-B14F-4D97-AF65-F5344CB8AC3E}">
        <p14:creationId xmlns:p14="http://schemas.microsoft.com/office/powerpoint/2010/main" val="124947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818D56-8C96-054B-8EE2-FB33A798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Interpretation of CDF Histogram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B1D448-DAED-744D-8DBF-B148FF77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240F-EAFE-E84F-B44C-6D7A08E0E409}" type="slidenum">
              <a:rPr lang="en-US" smtClean="0"/>
              <a:t>27</a:t>
            </a:fld>
            <a:endParaRPr lang="en-US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BD803D1-8F96-D577-7F38-912A09A9432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180796" y="5410337"/>
            <a:ext cx="4043344" cy="9239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000" dirty="0"/>
              <a:t>quantitative evaluation: measure</a:t>
            </a:r>
            <a:r>
              <a:rPr lang="en-DE" sz="2000" dirty="0"/>
              <a:t> deviation from uniform distribution</a:t>
            </a:r>
            <a:r>
              <a:rPr lang="en-GB" sz="2000" dirty="0"/>
              <a:t> (e.g., e</a:t>
            </a:r>
            <a:r>
              <a:rPr lang="en-DE" sz="2000" dirty="0"/>
              <a:t>arth mover</a:t>
            </a:r>
            <a:r>
              <a:rPr lang="en-GB" sz="2000" dirty="0"/>
              <a:t>’s</a:t>
            </a:r>
            <a:r>
              <a:rPr lang="en-DE" sz="2000" dirty="0"/>
              <a:t> distance</a:t>
            </a:r>
            <a:r>
              <a:rPr lang="en-GB" sz="2000" dirty="0"/>
              <a:t>)</a:t>
            </a:r>
            <a:endParaRPr lang="en-D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21024-8438-114A-AFBC-5C3FEEAF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61" y="3913785"/>
            <a:ext cx="3269670" cy="245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5BD47-6694-094E-9ACF-72C91256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69" y="3828507"/>
            <a:ext cx="3265603" cy="2450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AD3458-6FEA-7046-B284-6906C8F36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69" y="1432146"/>
            <a:ext cx="3265603" cy="2450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A4B7FA-4E30-954A-8AA9-29B3BF304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030" y="1432146"/>
            <a:ext cx="3265603" cy="2450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E4F686-F18B-E14C-B2A8-309008AB9379}"/>
              </a:ext>
            </a:extLst>
          </p:cNvPr>
          <p:cNvSpPr txBox="1"/>
          <p:nvPr/>
        </p:nvSpPr>
        <p:spPr>
          <a:xfrm>
            <a:off x="5181966" y="2228671"/>
            <a:ext cx="1898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i</a:t>
            </a:r>
            <a:r>
              <a:rPr lang="en-DE" sz="2400" dirty="0"/>
              <a:t>f all is fine 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67A783-B598-3545-AC00-D25E4E1FA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3198" y="2690336"/>
            <a:ext cx="3265603" cy="24509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DD56EC-3130-B547-B17D-BF2E532D40AB}"/>
              </a:ext>
            </a:extLst>
          </p:cNvPr>
          <p:cNvSpPr/>
          <p:nvPr/>
        </p:nvSpPr>
        <p:spPr>
          <a:xfrm>
            <a:off x="4274266" y="4958314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111A4-F7AC-9746-8FC1-97E1FC3FFE09}"/>
              </a:ext>
            </a:extLst>
          </p:cNvPr>
          <p:cNvSpPr/>
          <p:nvPr/>
        </p:nvSpPr>
        <p:spPr>
          <a:xfrm>
            <a:off x="407501" y="3636017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D33122-C2BD-3D46-B686-0963A33B6CBB}"/>
              </a:ext>
            </a:extLst>
          </p:cNvPr>
          <p:cNvSpPr/>
          <p:nvPr/>
        </p:nvSpPr>
        <p:spPr>
          <a:xfrm>
            <a:off x="407501" y="6075924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56BB36-C36E-EB49-B60A-036174645816}"/>
              </a:ext>
            </a:extLst>
          </p:cNvPr>
          <p:cNvSpPr/>
          <p:nvPr/>
        </p:nvSpPr>
        <p:spPr>
          <a:xfrm>
            <a:off x="8227858" y="6150311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2901A2-EBB1-FC43-A8F2-3C25AB314B49}"/>
              </a:ext>
            </a:extLst>
          </p:cNvPr>
          <p:cNvSpPr/>
          <p:nvPr/>
        </p:nvSpPr>
        <p:spPr>
          <a:xfrm>
            <a:off x="8224140" y="3743777"/>
            <a:ext cx="369732" cy="258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949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DEAA4-BA4C-8A23-F61A-C3A76B7E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Importance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195037-3F13-BCEF-284A-84F35522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goal</a:t>
            </a:r>
            <a:r>
              <a:rPr lang="de-DE" sz="2600" dirty="0"/>
              <a:t>: </a:t>
            </a:r>
            <a:r>
              <a:rPr lang="de-DE" sz="2600" dirty="0" err="1"/>
              <a:t>understand</a:t>
            </a:r>
            <a:r>
              <a:rPr lang="de-DE" sz="2600" dirty="0"/>
              <a:t> </a:t>
            </a:r>
            <a:r>
              <a:rPr lang="de-DE" sz="2600" dirty="0" err="1"/>
              <a:t>which</a:t>
            </a:r>
            <a:r>
              <a:rPr lang="de-DE" sz="2600" dirty="0"/>
              <a:t> </a:t>
            </a:r>
            <a:r>
              <a:rPr lang="de-DE" sz="2600" dirty="0" err="1"/>
              <a:t>inputs</a:t>
            </a:r>
            <a:r>
              <a:rPr lang="de-DE" sz="2600" dirty="0"/>
              <a:t> </a:t>
            </a:r>
            <a:r>
              <a:rPr lang="de-DE" sz="2600" dirty="0" err="1"/>
              <a:t>drive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predictions</a:t>
            </a:r>
            <a:endParaRPr lang="de-DE" sz="2600" dirty="0"/>
          </a:p>
          <a:p>
            <a:r>
              <a:rPr lang="de-DE" sz="2600" dirty="0" err="1"/>
              <a:t>improves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interpretability</a:t>
            </a:r>
            <a:endParaRPr lang="de-DE" sz="2600" dirty="0"/>
          </a:p>
          <a:p>
            <a:r>
              <a:rPr lang="de-DE" sz="2600" dirty="0" err="1"/>
              <a:t>helps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feature </a:t>
            </a:r>
            <a:r>
              <a:rPr lang="de-DE" sz="2600" dirty="0" err="1"/>
              <a:t>selection</a:t>
            </a:r>
            <a:r>
              <a:rPr lang="de-DE" sz="2600" dirty="0"/>
              <a:t>, </a:t>
            </a:r>
            <a:r>
              <a:rPr lang="de-DE" sz="2600" dirty="0" err="1"/>
              <a:t>debugging</a:t>
            </a:r>
            <a:r>
              <a:rPr lang="de-DE" sz="2600" dirty="0"/>
              <a:t> </a:t>
            </a:r>
            <a:r>
              <a:rPr lang="de-DE" sz="2600" dirty="0" err="1"/>
              <a:t>models</a:t>
            </a:r>
            <a:r>
              <a:rPr lang="de-DE" sz="2600" dirty="0"/>
              <a:t>, </a:t>
            </a:r>
            <a:r>
              <a:rPr lang="de-DE" sz="2600" dirty="0" err="1"/>
              <a:t>trust</a:t>
            </a:r>
            <a:r>
              <a:rPr lang="de-DE" sz="2600" dirty="0"/>
              <a:t> &amp; </a:t>
            </a:r>
            <a:r>
              <a:rPr lang="de-DE" sz="2600" dirty="0" err="1"/>
              <a:t>transparency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distinguish</a:t>
            </a:r>
            <a:r>
              <a:rPr lang="de-DE" sz="2600" dirty="0"/>
              <a:t>:</a:t>
            </a:r>
          </a:p>
          <a:p>
            <a:r>
              <a:rPr lang="de-DE" sz="2600" dirty="0"/>
              <a:t>model-</a:t>
            </a:r>
            <a:r>
              <a:rPr lang="de-DE" sz="2600" dirty="0" err="1"/>
              <a:t>specific</a:t>
            </a:r>
            <a:r>
              <a:rPr lang="de-DE" sz="2600" dirty="0"/>
              <a:t> (</a:t>
            </a:r>
            <a:r>
              <a:rPr lang="de-DE" sz="2600" dirty="0" err="1"/>
              <a:t>built</a:t>
            </a:r>
            <a:r>
              <a:rPr lang="de-DE" sz="2600" dirty="0"/>
              <a:t>-in) vs. model-</a:t>
            </a:r>
            <a:r>
              <a:rPr lang="de-DE" sz="2600" dirty="0" err="1"/>
              <a:t>agnostic</a:t>
            </a:r>
            <a:r>
              <a:rPr lang="de-DE" sz="2600" dirty="0"/>
              <a:t> (external) </a:t>
            </a:r>
            <a:r>
              <a:rPr lang="de-DE" sz="2600" dirty="0" err="1"/>
              <a:t>methods</a:t>
            </a:r>
            <a:endParaRPr lang="de-DE" sz="2600" dirty="0"/>
          </a:p>
          <a:p>
            <a:r>
              <a:rPr lang="de-DE" sz="2600" dirty="0"/>
              <a:t>global (</a:t>
            </a:r>
            <a:r>
              <a:rPr lang="de-DE" sz="2600" dirty="0" err="1"/>
              <a:t>overall</a:t>
            </a:r>
            <a:r>
              <a:rPr lang="de-DE" sz="2600" dirty="0"/>
              <a:t> </a:t>
            </a:r>
            <a:r>
              <a:rPr lang="de-DE" sz="2600" dirty="0" err="1"/>
              <a:t>influence</a:t>
            </a:r>
            <a:r>
              <a:rPr lang="de-DE" sz="2600" dirty="0"/>
              <a:t> </a:t>
            </a:r>
            <a:r>
              <a:rPr lang="de-DE" sz="2600" dirty="0" err="1"/>
              <a:t>across</a:t>
            </a:r>
            <a:r>
              <a:rPr lang="de-DE" sz="2600" dirty="0"/>
              <a:t> </a:t>
            </a:r>
            <a:r>
              <a:rPr lang="de-DE" sz="2600" dirty="0" err="1"/>
              <a:t>dataset</a:t>
            </a:r>
            <a:r>
              <a:rPr lang="de-DE" sz="2600" dirty="0"/>
              <a:t>) vs. </a:t>
            </a:r>
            <a:r>
              <a:rPr lang="de-DE" sz="2600" dirty="0" err="1"/>
              <a:t>local</a:t>
            </a:r>
            <a:r>
              <a:rPr lang="de-DE" sz="2600" dirty="0"/>
              <a:t> (</a:t>
            </a:r>
            <a:r>
              <a:rPr lang="de-DE" sz="2600" dirty="0" err="1"/>
              <a:t>influence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a </a:t>
            </a:r>
            <a:r>
              <a:rPr lang="de-DE" sz="2600" dirty="0" err="1"/>
              <a:t>single</a:t>
            </a:r>
            <a:r>
              <a:rPr lang="de-DE" sz="2600" dirty="0"/>
              <a:t> </a:t>
            </a:r>
            <a:r>
              <a:rPr lang="de-DE" sz="2600" dirty="0" err="1"/>
              <a:t>prediction</a:t>
            </a:r>
            <a:r>
              <a:rPr lang="de-DE" sz="2600" dirty="0"/>
              <a:t>) </a:t>
            </a:r>
            <a:r>
              <a:rPr lang="de-DE" sz="2600" dirty="0" err="1"/>
              <a:t>importance</a:t>
            </a:r>
            <a:r>
              <a:rPr lang="de-DE" sz="2600" dirty="0"/>
              <a:t> (</a:t>
            </a:r>
            <a:r>
              <a:rPr lang="de-DE" sz="2600" dirty="0" err="1"/>
              <a:t>example</a:t>
            </a:r>
            <a:r>
              <a:rPr lang="de-DE" sz="2600" dirty="0"/>
              <a:t>: </a:t>
            </a:r>
            <a:r>
              <a:rPr lang="de-DE" sz="2600" dirty="0" err="1"/>
              <a:t>age</a:t>
            </a:r>
            <a:r>
              <a:rPr lang="de-DE" sz="2600" dirty="0"/>
              <a:t> </a:t>
            </a:r>
            <a:r>
              <a:rPr lang="de-DE" sz="2600" dirty="0" err="1"/>
              <a:t>may</a:t>
            </a:r>
            <a:r>
              <a:rPr lang="de-DE" sz="2600" dirty="0"/>
              <a:t> </a:t>
            </a:r>
            <a:r>
              <a:rPr lang="de-DE" sz="2600" dirty="0" err="1"/>
              <a:t>be</a:t>
            </a:r>
            <a:r>
              <a:rPr lang="de-DE" sz="2600" dirty="0"/>
              <a:t> </a:t>
            </a:r>
            <a:r>
              <a:rPr lang="de-DE" sz="2600" dirty="0" err="1"/>
              <a:t>globally</a:t>
            </a:r>
            <a:r>
              <a:rPr lang="de-DE" sz="2600" dirty="0"/>
              <a:t> </a:t>
            </a:r>
            <a:r>
              <a:rPr lang="de-DE" sz="2600" dirty="0" err="1"/>
              <a:t>important</a:t>
            </a:r>
            <a:r>
              <a:rPr lang="de-DE" sz="2600" dirty="0"/>
              <a:t>, but not </a:t>
            </a:r>
            <a:r>
              <a:rPr lang="de-DE" sz="2600" dirty="0" err="1"/>
              <a:t>important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a </a:t>
            </a:r>
            <a:r>
              <a:rPr lang="de-DE" sz="2600" dirty="0" err="1"/>
              <a:t>specific</a:t>
            </a:r>
            <a:r>
              <a:rPr lang="de-DE" sz="2600" dirty="0"/>
              <a:t> individual)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F2DE91-44B5-7437-B66B-01E8FD66C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2650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5687C-3D76-45C0-405C-128B9073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Importance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7ACC007-E966-C8DC-8020-739D15E8A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linear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coefficients</a:t>
                </a:r>
                <a:endParaRPr lang="de-DE" dirty="0"/>
              </a:p>
              <a:p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importance</a:t>
                </a:r>
                <a:r>
                  <a:rPr lang="de-DE" dirty="0"/>
                  <a:t> = </a:t>
                </a:r>
                <a:r>
                  <a:rPr lang="de-DE" dirty="0" err="1"/>
                  <a:t>magnitude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coefficients</a:t>
                </a:r>
                <a:r>
                  <a:rPr lang="de-DE" dirty="0"/>
                  <a:t> (larger absolute </a:t>
                </a:r>
                <a:r>
                  <a:rPr lang="de-DE" dirty="0" err="1"/>
                  <a:t>value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stronger</a:t>
                </a:r>
                <a:r>
                  <a:rPr lang="de-DE" dirty="0"/>
                  <a:t> </a:t>
                </a:r>
                <a:r>
                  <a:rPr lang="de-DE" dirty="0" err="1"/>
                  <a:t>influence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important</a:t>
                </a:r>
                <a:r>
                  <a:rPr lang="de-DE" dirty="0"/>
                  <a:t>: </a:t>
                </a:r>
                <a:r>
                  <a:rPr lang="de-DE" dirty="0" err="1"/>
                  <a:t>features</a:t>
                </a:r>
                <a:r>
                  <a:rPr lang="de-DE" dirty="0"/>
                  <a:t>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scaled</a:t>
                </a:r>
                <a:endParaRPr lang="de-DE" dirty="0"/>
              </a:p>
              <a:p>
                <a:r>
                  <a:rPr lang="de-DE" dirty="0" err="1"/>
                  <a:t>only</a:t>
                </a:r>
                <a:r>
                  <a:rPr lang="de-DE" dirty="0"/>
                  <a:t> </a:t>
                </a:r>
                <a:r>
                  <a:rPr lang="de-DE" dirty="0" err="1"/>
                  <a:t>captures</a:t>
                </a:r>
                <a:r>
                  <a:rPr lang="de-DE" dirty="0"/>
                  <a:t> linear </a:t>
                </a:r>
                <a:r>
                  <a:rPr lang="de-DE" dirty="0" err="1"/>
                  <a:t>relationships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tree-based</a:t>
                </a:r>
                <a:r>
                  <a:rPr lang="de-DE" dirty="0"/>
                  <a:t> feature </a:t>
                </a:r>
                <a:r>
                  <a:rPr lang="de-DE" dirty="0" err="1"/>
                  <a:t>importance</a:t>
                </a:r>
                <a:r>
                  <a:rPr lang="de-DE" dirty="0"/>
                  <a:t> (</a:t>
                </a:r>
                <a:r>
                  <a:rPr lang="de-DE" dirty="0" err="1"/>
                  <a:t>used</a:t>
                </a:r>
                <a:r>
                  <a:rPr lang="de-DE" dirty="0"/>
                  <a:t> in </a:t>
                </a:r>
                <a:r>
                  <a:rPr lang="de-DE" dirty="0" err="1"/>
                  <a:t>decision</a:t>
                </a:r>
                <a:r>
                  <a:rPr lang="de-DE" dirty="0"/>
                  <a:t> </a:t>
                </a:r>
                <a:r>
                  <a:rPr lang="de-DE" dirty="0" err="1"/>
                  <a:t>trees</a:t>
                </a:r>
                <a:r>
                  <a:rPr lang="de-DE" dirty="0"/>
                  <a:t>, </a:t>
                </a:r>
                <a:r>
                  <a:rPr lang="de-DE" dirty="0" err="1"/>
                  <a:t>random</a:t>
                </a:r>
                <a:r>
                  <a:rPr lang="de-DE" dirty="0"/>
                  <a:t> </a:t>
                </a:r>
                <a:r>
                  <a:rPr lang="de-DE" dirty="0" err="1"/>
                  <a:t>forests</a:t>
                </a:r>
                <a:r>
                  <a:rPr lang="de-DE" dirty="0"/>
                  <a:t>, </a:t>
                </a:r>
                <a:r>
                  <a:rPr lang="de-DE" dirty="0" err="1"/>
                  <a:t>gradient</a:t>
                </a:r>
                <a:r>
                  <a:rPr lang="de-DE" dirty="0"/>
                  <a:t> </a:t>
                </a:r>
                <a:r>
                  <a:rPr lang="de-DE" dirty="0" err="1"/>
                  <a:t>boosting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importance</a:t>
                </a:r>
                <a:r>
                  <a:rPr lang="de-DE" dirty="0"/>
                  <a:t> </a:t>
                </a:r>
                <a:r>
                  <a:rPr lang="de-DE" dirty="0" err="1"/>
                  <a:t>based</a:t>
                </a:r>
                <a:r>
                  <a:rPr lang="de-DE" dirty="0"/>
                  <a:t> on </a:t>
                </a:r>
                <a:r>
                  <a:rPr lang="de-DE" dirty="0" err="1"/>
                  <a:t>reduction</a:t>
                </a:r>
                <a:r>
                  <a:rPr lang="de-DE" dirty="0"/>
                  <a:t> in </a:t>
                </a:r>
                <a:r>
                  <a:rPr lang="de-DE" dirty="0" err="1"/>
                  <a:t>impurity</a:t>
                </a:r>
                <a:r>
                  <a:rPr lang="de-DE" dirty="0"/>
                  <a:t> (e.g., Gini,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MSE</m:t>
                    </m:r>
                  </m:oMath>
                </a14:m>
                <a:r>
                  <a:rPr lang="de-DE" dirty="0"/>
                  <a:t>)</a:t>
                </a:r>
              </a:p>
              <a:p>
                <a:r>
                  <a:rPr lang="de-DE" dirty="0" err="1"/>
                  <a:t>captures</a:t>
                </a:r>
                <a:r>
                  <a:rPr lang="de-DE" dirty="0"/>
                  <a:t> non-linear </a:t>
                </a:r>
                <a:r>
                  <a:rPr lang="de-DE" dirty="0" err="1"/>
                  <a:t>relationships</a:t>
                </a:r>
                <a:endParaRPr lang="de-DE" dirty="0"/>
              </a:p>
              <a:p>
                <a:r>
                  <a:rPr lang="de-DE" dirty="0"/>
                  <a:t>but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favor</a:t>
                </a:r>
                <a:r>
                  <a:rPr lang="de-DE" dirty="0"/>
                  <a:t> high-</a:t>
                </a:r>
                <a:r>
                  <a:rPr lang="de-DE" dirty="0" err="1"/>
                  <a:t>cardinality</a:t>
                </a:r>
                <a:r>
                  <a:rPr lang="de-DE" dirty="0"/>
                  <a:t> </a:t>
                </a:r>
                <a:r>
                  <a:rPr lang="de-DE" dirty="0" err="1"/>
                  <a:t>features</a:t>
                </a: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7ACC007-E966-C8DC-8020-739D15E8A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FEA500-EB45-413A-5886-C05A459D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124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54931-0074-968B-0202-B8819C36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Agnostic</a:t>
            </a:r>
            <a:r>
              <a:rPr lang="de-DE" dirty="0"/>
              <a:t> </a:t>
            </a:r>
            <a:r>
              <a:rPr lang="de-DE" dirty="0" err="1"/>
              <a:t>Explainability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CB5DF1-2981-0D12-9EED-56F57405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most</a:t>
            </a:r>
            <a:r>
              <a:rPr lang="de-DE" dirty="0"/>
              <a:t> prominent </a:t>
            </a:r>
            <a:r>
              <a:rPr lang="de-DE" dirty="0" err="1"/>
              <a:t>method</a:t>
            </a:r>
            <a:r>
              <a:rPr lang="de-DE" dirty="0"/>
              <a:t>: </a:t>
            </a:r>
            <a:r>
              <a:rPr lang="de-DE" dirty="0" err="1"/>
              <a:t>permutation</a:t>
            </a:r>
            <a:r>
              <a:rPr lang="de-DE" dirty="0"/>
              <a:t> </a:t>
            </a:r>
            <a:r>
              <a:rPr lang="de-DE" dirty="0" err="1"/>
              <a:t>importance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: </a:t>
            </a:r>
            <a:r>
              <a:rPr lang="de-DE" dirty="0" err="1"/>
              <a:t>shuffle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feature </a:t>
            </a:r>
            <a:r>
              <a:rPr lang="de-DE" dirty="0">
                <a:sym typeface="Wingdings" pitchFamily="2" charset="2"/>
              </a:rPr>
              <a:t>and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drop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shuffle</a:t>
            </a:r>
            <a:r>
              <a:rPr lang="de-DE" dirty="0"/>
              <a:t> feature </a:t>
            </a:r>
            <a:r>
              <a:rPr lang="de-DE" dirty="0" err="1"/>
              <a:t>values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decrease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larger </a:t>
            </a:r>
            <a:r>
              <a:rPr lang="de-DE" dirty="0" err="1"/>
              <a:t>drop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feature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easy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</a:t>
            </a:r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computationally</a:t>
            </a:r>
            <a:r>
              <a:rPr lang="de-DE" dirty="0"/>
              <a:t> expensive and </a:t>
            </a:r>
            <a:r>
              <a:rPr lang="de-DE" dirty="0" err="1"/>
              <a:t>affected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correlated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503E83-F57E-257D-4E6A-26E3EC94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67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C850A-2E65-EAAC-4E6D-2559DA3B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Explainability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CC42CD-2218-86C2-EE10-2373721F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explaining</a:t>
            </a:r>
            <a:r>
              <a:rPr lang="de-DE" sz="2600" dirty="0"/>
              <a:t> individual </a:t>
            </a:r>
            <a:r>
              <a:rPr lang="de-DE" sz="2600" dirty="0" err="1"/>
              <a:t>predictions</a:t>
            </a:r>
            <a:r>
              <a:rPr lang="de-DE" sz="2600" dirty="0"/>
              <a:t>:</a:t>
            </a:r>
          </a:p>
          <a:p>
            <a:pPr marL="0" indent="0">
              <a:buNone/>
            </a:pPr>
            <a:r>
              <a:rPr lang="de-DE" sz="2600" dirty="0"/>
              <a:t>Why </a:t>
            </a:r>
            <a:r>
              <a:rPr lang="de-DE" sz="2600" dirty="0" err="1"/>
              <a:t>did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make</a:t>
            </a:r>
            <a:r>
              <a:rPr lang="de-DE" sz="2600" dirty="0"/>
              <a:t> </a:t>
            </a:r>
            <a:r>
              <a:rPr lang="de-DE" sz="2600" i="1" dirty="0" err="1"/>
              <a:t>this</a:t>
            </a:r>
            <a:r>
              <a:rPr lang="de-DE" sz="2600" dirty="0"/>
              <a:t> </a:t>
            </a:r>
            <a:r>
              <a:rPr lang="de-DE" sz="2600" dirty="0" err="1"/>
              <a:t>prediction</a:t>
            </a:r>
            <a:r>
              <a:rPr lang="de-DE" sz="2600" dirty="0"/>
              <a:t>?</a:t>
            </a:r>
          </a:p>
          <a:p>
            <a:r>
              <a:rPr lang="de-DE" sz="2600" dirty="0" err="1"/>
              <a:t>builds</a:t>
            </a:r>
            <a:r>
              <a:rPr lang="de-DE" sz="2600" dirty="0"/>
              <a:t> </a:t>
            </a:r>
            <a:r>
              <a:rPr lang="de-DE" sz="2600" dirty="0" err="1"/>
              <a:t>trust</a:t>
            </a:r>
            <a:r>
              <a:rPr lang="de-DE" sz="2600" dirty="0"/>
              <a:t> in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decisions</a:t>
            </a:r>
            <a:endParaRPr lang="de-DE" sz="2600" dirty="0"/>
          </a:p>
          <a:p>
            <a:r>
              <a:rPr lang="de-DE" sz="2600" dirty="0" err="1"/>
              <a:t>critical</a:t>
            </a:r>
            <a:r>
              <a:rPr lang="de-DE" sz="2600" dirty="0"/>
              <a:t> in </a:t>
            </a:r>
            <a:r>
              <a:rPr lang="de-DE" sz="2600" dirty="0" err="1"/>
              <a:t>healthcare</a:t>
            </a:r>
            <a:r>
              <a:rPr lang="de-DE" sz="2600" dirty="0"/>
              <a:t>, </a:t>
            </a:r>
            <a:r>
              <a:rPr lang="de-DE" sz="2600" dirty="0" err="1"/>
              <a:t>finance</a:t>
            </a:r>
            <a:r>
              <a:rPr lang="de-DE" sz="2600" dirty="0"/>
              <a:t>, legal </a:t>
            </a:r>
            <a:r>
              <a:rPr lang="de-DE" sz="2600" dirty="0" err="1"/>
              <a:t>systems</a:t>
            </a:r>
            <a:r>
              <a:rPr lang="de-DE" sz="2600" dirty="0"/>
              <a:t>, …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straight</a:t>
            </a:r>
            <a:r>
              <a:rPr lang="de-DE" sz="2600" dirty="0"/>
              <a:t>-forward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trees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linear </a:t>
            </a:r>
            <a:r>
              <a:rPr lang="de-DE" sz="2600" dirty="0" err="1"/>
              <a:t>models</a:t>
            </a:r>
            <a:endParaRPr lang="de-DE" sz="2600" dirty="0"/>
          </a:p>
          <a:p>
            <a:pPr marL="0" indent="0">
              <a:buNone/>
            </a:pPr>
            <a:r>
              <a:rPr lang="de-DE" sz="2600" dirty="0"/>
              <a:t>but not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en-DE" sz="2600"/>
              <a:t>complex models like </a:t>
            </a:r>
            <a:r>
              <a:rPr lang="de-DE" sz="2600" dirty="0" err="1"/>
              <a:t>neural</a:t>
            </a:r>
            <a:r>
              <a:rPr lang="de-DE" sz="2600" dirty="0"/>
              <a:t> </a:t>
            </a:r>
            <a:r>
              <a:rPr lang="de-DE" sz="2600" dirty="0" err="1"/>
              <a:t>networks</a:t>
            </a:r>
            <a:r>
              <a:rPr lang="de-DE" sz="2600" dirty="0"/>
              <a:t> (</a:t>
            </a:r>
            <a:r>
              <a:rPr lang="de-DE" sz="2600" dirty="0" err="1"/>
              <a:t>black</a:t>
            </a:r>
            <a:r>
              <a:rPr lang="de-DE" sz="2600" dirty="0"/>
              <a:t>-box </a:t>
            </a:r>
            <a:r>
              <a:rPr lang="de-DE" sz="2600" dirty="0" err="1"/>
              <a:t>models</a:t>
            </a:r>
            <a:r>
              <a:rPr lang="de-DE" sz="2600" dirty="0"/>
              <a:t>)</a:t>
            </a:r>
            <a:endParaRPr lang="en-DE" sz="2600"/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 n</a:t>
            </a:r>
            <a:r>
              <a:rPr lang="en-DE" sz="2600">
                <a:sym typeface="Wingdings" pitchFamily="2" charset="2"/>
              </a:rPr>
              <a:t>eed for model-agnostic methods to explain black-box models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3095A7-AFC5-9DD6-A9AB-7D472B5B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31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AAB8883-5FA0-0D93-AB7B-59418CC757AC}"/>
              </a:ext>
            </a:extLst>
          </p:cNvPr>
          <p:cNvSpPr txBox="1"/>
          <p:nvPr/>
        </p:nvSpPr>
        <p:spPr>
          <a:xfrm>
            <a:off x="6169688" y="136525"/>
            <a:ext cx="589754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/>
              <a:t>do not confuse explainability with causality</a:t>
            </a:r>
          </a:p>
          <a:p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explanations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misleading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56360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9F2F3-7D06-9C50-F62E-390ABF38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/>
              <a:t>LIME (</a:t>
            </a:r>
            <a:r>
              <a:rPr lang="de-DE" sz="3600" dirty="0" err="1"/>
              <a:t>Local</a:t>
            </a:r>
            <a:r>
              <a:rPr lang="de-DE" sz="3600" dirty="0"/>
              <a:t> </a:t>
            </a:r>
            <a:r>
              <a:rPr lang="de-DE" sz="3600" dirty="0" err="1"/>
              <a:t>Interpretable</a:t>
            </a:r>
            <a:r>
              <a:rPr lang="de-DE" sz="3600" dirty="0"/>
              <a:t> Model-</a:t>
            </a:r>
            <a:r>
              <a:rPr lang="de-DE" sz="3600" dirty="0" err="1"/>
              <a:t>Agnostic</a:t>
            </a:r>
            <a:r>
              <a:rPr lang="de-DE" sz="3600" dirty="0"/>
              <a:t> </a:t>
            </a:r>
            <a:r>
              <a:rPr lang="de-DE" sz="3600" dirty="0" err="1"/>
              <a:t>Explanations</a:t>
            </a:r>
            <a:r>
              <a:rPr lang="de-DE" sz="3600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F0507C-EE63-C14B-A96E-8F8C408B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idea</a:t>
            </a:r>
            <a:r>
              <a:rPr lang="de-DE" sz="2600" dirty="0"/>
              <a:t>: </a:t>
            </a:r>
            <a:r>
              <a:rPr lang="de-DE" sz="2600" dirty="0" err="1"/>
              <a:t>approximate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locally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simple </a:t>
            </a:r>
            <a:r>
              <a:rPr lang="de-DE" sz="2600" dirty="0" err="1"/>
              <a:t>model</a:t>
            </a:r>
            <a:r>
              <a:rPr lang="de-DE" sz="2600" dirty="0"/>
              <a:t> (aka </a:t>
            </a:r>
            <a:r>
              <a:rPr lang="en-DE" sz="2600"/>
              <a:t>local</a:t>
            </a:r>
            <a:r>
              <a:rPr lang="de-DE" sz="2600" dirty="0"/>
              <a:t> </a:t>
            </a:r>
            <a:r>
              <a:rPr lang="en-DE" sz="2600"/>
              <a:t>surrogate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/>
              <a:t>sample </a:t>
            </a:r>
            <a:r>
              <a:rPr lang="de-DE" sz="2600" dirty="0" err="1"/>
              <a:t>nearby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r>
              <a:rPr lang="de-DE" sz="2600" dirty="0"/>
              <a:t> </a:t>
            </a:r>
            <a:r>
              <a:rPr lang="de-DE" sz="2600" dirty="0" err="1"/>
              <a:t>points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 err="1"/>
              <a:t>get</a:t>
            </a:r>
            <a:r>
              <a:rPr lang="de-DE" sz="2600" dirty="0"/>
              <a:t> </a:t>
            </a:r>
            <a:r>
              <a:rPr lang="de-DE" sz="2600" dirty="0" err="1"/>
              <a:t>predictions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/>
              <a:t>fit </a:t>
            </a:r>
            <a:r>
              <a:rPr lang="de-DE" sz="2600" dirty="0" err="1"/>
              <a:t>interpretable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(e.g., linear)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output</a:t>
            </a:r>
            <a:r>
              <a:rPr lang="de-DE" sz="2600" dirty="0"/>
              <a:t>: feature </a:t>
            </a:r>
            <a:r>
              <a:rPr lang="de-DE" sz="2600" dirty="0" err="1"/>
              <a:t>contributions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one</a:t>
            </a:r>
            <a:r>
              <a:rPr lang="de-DE" sz="2600" dirty="0"/>
              <a:t> </a:t>
            </a:r>
            <a:r>
              <a:rPr lang="de-DE" sz="2600" dirty="0" err="1"/>
              <a:t>prediction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DA568B-A2BE-4961-6F31-A0E7D6D2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766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843E4B-7E71-2104-D4DE-DC5C7937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SHAP (</a:t>
            </a:r>
            <a:r>
              <a:rPr lang="de-DE" dirty="0" err="1"/>
              <a:t>SHapley</a:t>
            </a:r>
            <a:r>
              <a:rPr lang="de-DE" dirty="0"/>
              <a:t> Additive </a:t>
            </a:r>
            <a:r>
              <a:rPr lang="de-DE" dirty="0" err="1"/>
              <a:t>exPlanations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6D45B7-29AE-432E-6394-F1B22942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game </a:t>
            </a:r>
            <a:r>
              <a:rPr lang="de-DE" dirty="0" err="1"/>
              <a:t>theory</a:t>
            </a:r>
            <a:r>
              <a:rPr lang="de-DE" dirty="0"/>
              <a:t> (Shapley </a:t>
            </a:r>
            <a:r>
              <a:rPr lang="de-DE" dirty="0" err="1"/>
              <a:t>values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: fair </a:t>
            </a:r>
            <a:r>
              <a:rPr lang="de-DE" dirty="0" err="1"/>
              <a:t>contribution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feature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output</a:t>
            </a:r>
            <a:r>
              <a:rPr lang="de-DE" dirty="0"/>
              <a:t>:</a:t>
            </a:r>
          </a:p>
          <a:p>
            <a:r>
              <a:rPr lang="de-DE" dirty="0" err="1"/>
              <a:t>contribution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per feature</a:t>
            </a:r>
          </a:p>
          <a:p>
            <a:r>
              <a:rPr lang="de-DE" dirty="0" err="1"/>
              <a:t>sum</a:t>
            </a:r>
            <a:r>
              <a:rPr lang="de-DE" dirty="0"/>
              <a:t> =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prediction</a:t>
            </a:r>
            <a:endParaRPr lang="de-DE" dirty="0"/>
          </a:p>
          <a:p>
            <a:r>
              <a:rPr lang="de-DE" dirty="0"/>
              <a:t>positive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pushes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higher</a:t>
            </a:r>
            <a:endParaRPr lang="de-DE" dirty="0"/>
          </a:p>
          <a:p>
            <a:r>
              <a:rPr lang="de-DE" dirty="0"/>
              <a:t>negative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pushes</a:t>
            </a:r>
            <a:r>
              <a:rPr lang="de-DE" dirty="0"/>
              <a:t>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lower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dirty="0" err="1"/>
              <a:t>consistent</a:t>
            </a:r>
            <a:r>
              <a:rPr lang="de-DE" dirty="0"/>
              <a:t> and </a:t>
            </a:r>
            <a:r>
              <a:rPr lang="de-DE" dirty="0" err="1"/>
              <a:t>theoretically</a:t>
            </a:r>
            <a:r>
              <a:rPr lang="de-DE" dirty="0"/>
              <a:t> </a:t>
            </a:r>
            <a:r>
              <a:rPr lang="de-DE" dirty="0" err="1"/>
              <a:t>grounded</a:t>
            </a:r>
            <a:r>
              <a:rPr lang="de-DE" dirty="0"/>
              <a:t>,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6DBBC4-8F62-F70D-BD00-F3E97C83A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5982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4F494-7D90-4A70-D801-C542A623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LIME vs. SHAP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211E63-E68E-FFDD-8197-B8A37C815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/>
              <a:t>LIME:</a:t>
            </a:r>
          </a:p>
          <a:p>
            <a:r>
              <a:rPr lang="de-DE" dirty="0" err="1"/>
              <a:t>faster</a:t>
            </a:r>
            <a:r>
              <a:rPr lang="de-DE" dirty="0"/>
              <a:t>, simpler</a:t>
            </a:r>
          </a:p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SHAP:</a:t>
            </a:r>
          </a:p>
          <a:p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consistent</a:t>
            </a:r>
            <a:endParaRPr lang="de-DE" dirty="0"/>
          </a:p>
          <a:p>
            <a:r>
              <a:rPr lang="de-DE" dirty="0" err="1"/>
              <a:t>computationally</a:t>
            </a:r>
            <a:r>
              <a:rPr lang="de-DE" dirty="0"/>
              <a:t> </a:t>
            </a:r>
            <a:r>
              <a:rPr lang="de-DE" dirty="0" err="1"/>
              <a:t>heavier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trade-off: </a:t>
            </a:r>
            <a:r>
              <a:rPr lang="de-DE" dirty="0" err="1"/>
              <a:t>speed</a:t>
            </a:r>
            <a:r>
              <a:rPr lang="de-DE" dirty="0"/>
              <a:t> vs. </a:t>
            </a:r>
            <a:r>
              <a:rPr lang="de-DE" dirty="0" err="1"/>
              <a:t>theoretical</a:t>
            </a:r>
            <a:r>
              <a:rPr lang="de-DE" dirty="0"/>
              <a:t> </a:t>
            </a:r>
            <a:r>
              <a:rPr lang="de-DE" dirty="0" err="1"/>
              <a:t>guarantees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: </a:t>
            </a:r>
            <a:r>
              <a:rPr lang="de-DE" dirty="0" err="1"/>
              <a:t>correlated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complicate</a:t>
            </a:r>
            <a:r>
              <a:rPr lang="de-DE" dirty="0"/>
              <a:t> </a:t>
            </a:r>
            <a:r>
              <a:rPr lang="de-DE" dirty="0" err="1"/>
              <a:t>interpretation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BF1D70-CD6B-0328-DCD5-26804563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821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1411</Words>
  <Application>Microsoft Macintosh PowerPoint</Application>
  <PresentationFormat>Breitbild</PresentationFormat>
  <Paragraphs>320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Wingdings</vt:lpstr>
      <vt:lpstr>Office Theme</vt:lpstr>
      <vt:lpstr>Model Evaluation</vt:lpstr>
      <vt:lpstr>Model Evaluation</vt:lpstr>
      <vt:lpstr>Evaluation Scenarios </vt:lpstr>
      <vt:lpstr>Classification Metrics</vt:lpstr>
      <vt:lpstr>Confusion Matrix</vt:lpstr>
      <vt:lpstr>Accuracy</vt:lpstr>
      <vt:lpstr>Precision</vt:lpstr>
      <vt:lpstr>Recall (Sensitivity)</vt:lpstr>
      <vt:lpstr>Precision vs. Recall Trade-off</vt:lpstr>
      <vt:lpstr>F1 Score</vt:lpstr>
      <vt:lpstr>Specificity (True Negative Rate)</vt:lpstr>
      <vt:lpstr>ROC Curve</vt:lpstr>
      <vt:lpstr>AUC (Area Under Curve)</vt:lpstr>
      <vt:lpstr>Precision-Recall Curve</vt:lpstr>
      <vt:lpstr>Choosing the Right Metric</vt:lpstr>
      <vt:lpstr>Regression Metrics</vt:lpstr>
      <vt:lpstr>Error Basics</vt:lpstr>
      <vt:lpstr>Mean Squared Error (MSE)</vt:lpstr>
      <vt:lpstr>Root Mean Squared Error (RMSE)</vt:lpstr>
      <vt:lpstr>Mean Absolute Error (MAE)</vt:lpstr>
      <vt:lpstr>MAE vs. MSE/RMSE</vt:lpstr>
      <vt:lpstr>R² (Coefficient of Determination)</vt:lpstr>
      <vt:lpstr>Mean Absolute Percentage Error (MAPE)</vt:lpstr>
      <vt:lpstr>Choosing the Right Metric</vt:lpstr>
      <vt:lpstr>Point Estimates vs. Full PDF</vt:lpstr>
      <vt:lpstr>Histogram of CDF Observations</vt:lpstr>
      <vt:lpstr>Interpretation of CDF Histogram</vt:lpstr>
      <vt:lpstr>Feature Importance</vt:lpstr>
      <vt:lpstr>Model-Specific Importance</vt:lpstr>
      <vt:lpstr>Model-Agnostic Explainability</vt:lpstr>
      <vt:lpstr>Local Explainability</vt:lpstr>
      <vt:lpstr>LIME (Local Interpretable Model-Agnostic Explanations)</vt:lpstr>
      <vt:lpstr>SHAP (SHapley Additive exPlanations)</vt:lpstr>
      <vt:lpstr>LIME vs. SHAP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117</cp:revision>
  <dcterms:created xsi:type="dcterms:W3CDTF">2025-01-08T09:27:30Z</dcterms:created>
  <dcterms:modified xsi:type="dcterms:W3CDTF">2026-04-25T10:30:13Z</dcterms:modified>
</cp:coreProperties>
</file>